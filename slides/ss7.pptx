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60"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3" r:id="rId34"/>
    <p:sldId id="294" r:id="rId35"/>
    <p:sldId id="295" r:id="rId36"/>
    <p:sldId id="296" r:id="rId37"/>
    <p:sldId id="297" r:id="rId38"/>
    <p:sldId id="298" r:id="rId39"/>
    <p:sldId id="299" r:id="rId40"/>
    <p:sldId id="300" r:id="rId41"/>
    <p:sldId id="301" r:id="rId42"/>
    <p:sldId id="302" r:id="rId43"/>
    <p:sldId id="30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A8562E-3BC6-4880-8EB6-004DB7D677E9}" v="2" dt="2026-09-25T12:53:07.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28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madou BALDE" userId="1a0c099b-15fb-45c5-ad03-17ba900e4250" providerId="ADAL" clId="{962A2AA3-E420-4656-A32E-CB6DEAF28EA4}"/>
    <pc:docChg chg="undo redo custSel addSld delSld modSld">
      <pc:chgData name="Mamadou BALDE" userId="1a0c099b-15fb-45c5-ad03-17ba900e4250" providerId="ADAL" clId="{962A2AA3-E420-4656-A32E-CB6DEAF28EA4}" dt="2026-09-25T12:55:23.748" v="146" actId="478"/>
      <pc:docMkLst>
        <pc:docMk/>
      </pc:docMkLst>
      <pc:sldChg chg="modNotesTx">
        <pc:chgData name="Mamadou BALDE" userId="1a0c099b-15fb-45c5-ad03-17ba900e4250" providerId="ADAL" clId="{962A2AA3-E420-4656-A32E-CB6DEAF28EA4}" dt="2026-09-25T11:48:54.707" v="125" actId="6549"/>
        <pc:sldMkLst>
          <pc:docMk/>
          <pc:sldMk cId="0" sldId="256"/>
        </pc:sldMkLst>
      </pc:sldChg>
      <pc:sldChg chg="modSp mod">
        <pc:chgData name="Mamadou BALDE" userId="1a0c099b-15fb-45c5-ad03-17ba900e4250" providerId="ADAL" clId="{962A2AA3-E420-4656-A32E-CB6DEAF28EA4}" dt="2026-09-25T11:05:49.857" v="52" actId="20577"/>
        <pc:sldMkLst>
          <pc:docMk/>
          <pc:sldMk cId="0" sldId="258"/>
        </pc:sldMkLst>
        <pc:spChg chg="mod">
          <ac:chgData name="Mamadou BALDE" userId="1a0c099b-15fb-45c5-ad03-17ba900e4250" providerId="ADAL" clId="{962A2AA3-E420-4656-A32E-CB6DEAF28EA4}" dt="2026-09-25T11:05:49.857" v="52" actId="20577"/>
          <ac:spMkLst>
            <pc:docMk/>
            <pc:sldMk cId="0" sldId="258"/>
            <ac:spMk id="3" creationId="{00000000-0000-0000-0000-000000000000}"/>
          </ac:spMkLst>
        </pc:spChg>
        <pc:spChg chg="mod">
          <ac:chgData name="Mamadou BALDE" userId="1a0c099b-15fb-45c5-ad03-17ba900e4250" providerId="ADAL" clId="{962A2AA3-E420-4656-A32E-CB6DEAF28EA4}" dt="2026-09-25T11:04:40.653" v="5" actId="20577"/>
          <ac:spMkLst>
            <pc:docMk/>
            <pc:sldMk cId="0" sldId="258"/>
            <ac:spMk id="6" creationId="{00000000-0000-0000-0000-000000000000}"/>
          </ac:spMkLst>
        </pc:spChg>
        <pc:spChg chg="mod">
          <ac:chgData name="Mamadou BALDE" userId="1a0c099b-15fb-45c5-ad03-17ba900e4250" providerId="ADAL" clId="{962A2AA3-E420-4656-A32E-CB6DEAF28EA4}" dt="2026-09-25T11:04:44.682" v="16" actId="20577"/>
          <ac:spMkLst>
            <pc:docMk/>
            <pc:sldMk cId="0" sldId="258"/>
            <ac:spMk id="8" creationId="{00000000-0000-0000-0000-000000000000}"/>
          </ac:spMkLst>
        </pc:spChg>
        <pc:spChg chg="mod">
          <ac:chgData name="Mamadou BALDE" userId="1a0c099b-15fb-45c5-ad03-17ba900e4250" providerId="ADAL" clId="{962A2AA3-E420-4656-A32E-CB6DEAF28EA4}" dt="2026-09-25T11:04:47.786" v="23" actId="20577"/>
          <ac:spMkLst>
            <pc:docMk/>
            <pc:sldMk cId="0" sldId="258"/>
            <ac:spMk id="10" creationId="{00000000-0000-0000-0000-000000000000}"/>
          </ac:spMkLst>
        </pc:spChg>
        <pc:spChg chg="mod">
          <ac:chgData name="Mamadou BALDE" userId="1a0c099b-15fb-45c5-ad03-17ba900e4250" providerId="ADAL" clId="{962A2AA3-E420-4656-A32E-CB6DEAF28EA4}" dt="2026-09-25T11:04:51.446" v="33" actId="20577"/>
          <ac:spMkLst>
            <pc:docMk/>
            <pc:sldMk cId="0" sldId="258"/>
            <ac:spMk id="12" creationId="{00000000-0000-0000-0000-000000000000}"/>
          </ac:spMkLst>
        </pc:spChg>
        <pc:spChg chg="mod">
          <ac:chgData name="Mamadou BALDE" userId="1a0c099b-15fb-45c5-ad03-17ba900e4250" providerId="ADAL" clId="{962A2AA3-E420-4656-A32E-CB6DEAF28EA4}" dt="2026-09-25T11:04:56.215" v="39" actId="20577"/>
          <ac:spMkLst>
            <pc:docMk/>
            <pc:sldMk cId="0" sldId="258"/>
            <ac:spMk id="14" creationId="{00000000-0000-0000-0000-000000000000}"/>
          </ac:spMkLst>
        </pc:spChg>
      </pc:sldChg>
      <pc:sldChg chg="add del">
        <pc:chgData name="Mamadou BALDE" userId="1a0c099b-15fb-45c5-ad03-17ba900e4250" providerId="ADAL" clId="{962A2AA3-E420-4656-A32E-CB6DEAF28EA4}" dt="2026-09-25T11:05:50.624" v="53" actId="47"/>
        <pc:sldMkLst>
          <pc:docMk/>
          <pc:sldMk cId="0" sldId="259"/>
        </pc:sldMkLst>
      </pc:sldChg>
      <pc:sldChg chg="del">
        <pc:chgData name="Mamadou BALDE" userId="1a0c099b-15fb-45c5-ad03-17ba900e4250" providerId="ADAL" clId="{962A2AA3-E420-4656-A32E-CB6DEAF28EA4}" dt="2026-09-25T11:05:58.042" v="54" actId="47"/>
        <pc:sldMkLst>
          <pc:docMk/>
          <pc:sldMk cId="0" sldId="261"/>
        </pc:sldMkLst>
      </pc:sldChg>
      <pc:sldChg chg="del">
        <pc:chgData name="Mamadou BALDE" userId="1a0c099b-15fb-45c5-ad03-17ba900e4250" providerId="ADAL" clId="{962A2AA3-E420-4656-A32E-CB6DEAF28EA4}" dt="2026-09-25T11:06:05.867" v="55" actId="47"/>
        <pc:sldMkLst>
          <pc:docMk/>
          <pc:sldMk cId="0" sldId="262"/>
        </pc:sldMkLst>
      </pc:sldChg>
      <pc:sldChg chg="del">
        <pc:chgData name="Mamadou BALDE" userId="1a0c099b-15fb-45c5-ad03-17ba900e4250" providerId="ADAL" clId="{962A2AA3-E420-4656-A32E-CB6DEAF28EA4}" dt="2026-09-25T11:06:08.156" v="56" actId="47"/>
        <pc:sldMkLst>
          <pc:docMk/>
          <pc:sldMk cId="0" sldId="263"/>
        </pc:sldMkLst>
      </pc:sldChg>
      <pc:sldChg chg="delSp modSp mod">
        <pc:chgData name="Mamadou BALDE" userId="1a0c099b-15fb-45c5-ad03-17ba900e4250" providerId="ADAL" clId="{962A2AA3-E420-4656-A32E-CB6DEAF28EA4}" dt="2026-09-25T12:53:36.391" v="136" actId="478"/>
        <pc:sldMkLst>
          <pc:docMk/>
          <pc:sldMk cId="0" sldId="264"/>
        </pc:sldMkLst>
        <pc:spChg chg="mod">
          <ac:chgData name="Mamadou BALDE" userId="1a0c099b-15fb-45c5-ad03-17ba900e4250" providerId="ADAL" clId="{962A2AA3-E420-4656-A32E-CB6DEAF28EA4}" dt="2026-09-25T11:06:12.938" v="58" actId="20577"/>
          <ac:spMkLst>
            <pc:docMk/>
            <pc:sldMk cId="0" sldId="264"/>
            <ac:spMk id="4" creationId="{00000000-0000-0000-0000-000000000000}"/>
          </ac:spMkLst>
        </pc:spChg>
        <pc:spChg chg="del">
          <ac:chgData name="Mamadou BALDE" userId="1a0c099b-15fb-45c5-ad03-17ba900e4250" providerId="ADAL" clId="{962A2AA3-E420-4656-A32E-CB6DEAF28EA4}" dt="2026-09-25T12:53:36.391" v="136" actId="478"/>
          <ac:spMkLst>
            <pc:docMk/>
            <pc:sldMk cId="0" sldId="264"/>
            <ac:spMk id="7" creationId="{00000000-0000-0000-0000-000000000000}"/>
          </ac:spMkLst>
        </pc:spChg>
      </pc:sldChg>
      <pc:sldChg chg="modSp mod">
        <pc:chgData name="Mamadou BALDE" userId="1a0c099b-15fb-45c5-ad03-17ba900e4250" providerId="ADAL" clId="{962A2AA3-E420-4656-A32E-CB6DEAF28EA4}" dt="2026-09-25T12:52:27.135" v="128" actId="113"/>
        <pc:sldMkLst>
          <pc:docMk/>
          <pc:sldMk cId="0" sldId="265"/>
        </pc:sldMkLst>
        <pc:spChg chg="mod">
          <ac:chgData name="Mamadou BALDE" userId="1a0c099b-15fb-45c5-ad03-17ba900e4250" providerId="ADAL" clId="{962A2AA3-E420-4656-A32E-CB6DEAF28EA4}" dt="2026-09-25T12:52:27.135" v="128" actId="113"/>
          <ac:spMkLst>
            <pc:docMk/>
            <pc:sldMk cId="0" sldId="265"/>
            <ac:spMk id="7" creationId="{00000000-0000-0000-0000-000000000000}"/>
          </ac:spMkLst>
        </pc:spChg>
        <pc:picChg chg="mod">
          <ac:chgData name="Mamadou BALDE" userId="1a0c099b-15fb-45c5-ad03-17ba900e4250" providerId="ADAL" clId="{962A2AA3-E420-4656-A32E-CB6DEAF28EA4}" dt="2026-09-25T11:06:38.289" v="60" actId="14100"/>
          <ac:picMkLst>
            <pc:docMk/>
            <pc:sldMk cId="0" sldId="265"/>
            <ac:picMk id="5" creationId="{00000000-0000-0000-0000-000000000000}"/>
          </ac:picMkLst>
        </pc:picChg>
      </pc:sldChg>
      <pc:sldChg chg="addSp modSp mod">
        <pc:chgData name="Mamadou BALDE" userId="1a0c099b-15fb-45c5-ad03-17ba900e4250" providerId="ADAL" clId="{962A2AA3-E420-4656-A32E-CB6DEAF28EA4}" dt="2026-09-25T12:53:11.373" v="135" actId="113"/>
        <pc:sldMkLst>
          <pc:docMk/>
          <pc:sldMk cId="0" sldId="268"/>
        </pc:sldMkLst>
        <pc:spChg chg="mod">
          <ac:chgData name="Mamadou BALDE" userId="1a0c099b-15fb-45c5-ad03-17ba900e4250" providerId="ADAL" clId="{962A2AA3-E420-4656-A32E-CB6DEAF28EA4}" dt="2026-09-25T12:53:11.373" v="135" actId="113"/>
          <ac:spMkLst>
            <pc:docMk/>
            <pc:sldMk cId="0" sldId="268"/>
            <ac:spMk id="7" creationId="{00000000-0000-0000-0000-000000000000}"/>
          </ac:spMkLst>
        </pc:spChg>
        <pc:graphicFrameChg chg="add mod">
          <ac:chgData name="Mamadou BALDE" userId="1a0c099b-15fb-45c5-ad03-17ba900e4250" providerId="ADAL" clId="{962A2AA3-E420-4656-A32E-CB6DEAF28EA4}" dt="2026-09-25T12:53:07.270" v="134"/>
          <ac:graphicFrameMkLst>
            <pc:docMk/>
            <pc:sldMk cId="0" sldId="268"/>
            <ac:graphicFrameMk id="8" creationId="{9000D723-B233-8AB1-93A1-5301A19061FA}"/>
          </ac:graphicFrameMkLst>
        </pc:graphicFrameChg>
        <pc:picChg chg="mod">
          <ac:chgData name="Mamadou BALDE" userId="1a0c099b-15fb-45c5-ad03-17ba900e4250" providerId="ADAL" clId="{962A2AA3-E420-4656-A32E-CB6DEAF28EA4}" dt="2026-09-25T11:13:23.537" v="62" actId="14100"/>
          <ac:picMkLst>
            <pc:docMk/>
            <pc:sldMk cId="0" sldId="268"/>
            <ac:picMk id="5" creationId="{00000000-0000-0000-0000-000000000000}"/>
          </ac:picMkLst>
        </pc:picChg>
      </pc:sldChg>
      <pc:sldChg chg="delSp modSp mod">
        <pc:chgData name="Mamadou BALDE" userId="1a0c099b-15fb-45c5-ad03-17ba900e4250" providerId="ADAL" clId="{962A2AA3-E420-4656-A32E-CB6DEAF28EA4}" dt="2026-09-25T12:53:43.173" v="137" actId="478"/>
        <pc:sldMkLst>
          <pc:docMk/>
          <pc:sldMk cId="0" sldId="273"/>
        </pc:sldMkLst>
        <pc:spChg chg="mod">
          <ac:chgData name="Mamadou BALDE" userId="1a0c099b-15fb-45c5-ad03-17ba900e4250" providerId="ADAL" clId="{962A2AA3-E420-4656-A32E-CB6DEAF28EA4}" dt="2026-09-25T11:16:22.998" v="64" actId="20577"/>
          <ac:spMkLst>
            <pc:docMk/>
            <pc:sldMk cId="0" sldId="273"/>
            <ac:spMk id="4" creationId="{00000000-0000-0000-0000-000000000000}"/>
          </ac:spMkLst>
        </pc:spChg>
        <pc:spChg chg="del">
          <ac:chgData name="Mamadou BALDE" userId="1a0c099b-15fb-45c5-ad03-17ba900e4250" providerId="ADAL" clId="{962A2AA3-E420-4656-A32E-CB6DEAF28EA4}" dt="2026-09-25T12:53:43.173" v="137" actId="478"/>
          <ac:spMkLst>
            <pc:docMk/>
            <pc:sldMk cId="0" sldId="273"/>
            <ac:spMk id="7" creationId="{00000000-0000-0000-0000-000000000000}"/>
          </ac:spMkLst>
        </pc:spChg>
      </pc:sldChg>
      <pc:sldChg chg="delSp modSp mod">
        <pc:chgData name="Mamadou BALDE" userId="1a0c099b-15fb-45c5-ad03-17ba900e4250" providerId="ADAL" clId="{962A2AA3-E420-4656-A32E-CB6DEAF28EA4}" dt="2026-09-25T12:54:01.627" v="138" actId="478"/>
        <pc:sldMkLst>
          <pc:docMk/>
          <pc:sldMk cId="0" sldId="278"/>
        </pc:sldMkLst>
        <pc:spChg chg="mod">
          <ac:chgData name="Mamadou BALDE" userId="1a0c099b-15fb-45c5-ad03-17ba900e4250" providerId="ADAL" clId="{962A2AA3-E420-4656-A32E-CB6DEAF28EA4}" dt="2026-09-25T11:20:01.145" v="66" actId="20577"/>
          <ac:spMkLst>
            <pc:docMk/>
            <pc:sldMk cId="0" sldId="278"/>
            <ac:spMk id="4" creationId="{00000000-0000-0000-0000-000000000000}"/>
          </ac:spMkLst>
        </pc:spChg>
        <pc:spChg chg="del">
          <ac:chgData name="Mamadou BALDE" userId="1a0c099b-15fb-45c5-ad03-17ba900e4250" providerId="ADAL" clId="{962A2AA3-E420-4656-A32E-CB6DEAF28EA4}" dt="2026-09-25T12:54:01.627" v="138" actId="478"/>
          <ac:spMkLst>
            <pc:docMk/>
            <pc:sldMk cId="0" sldId="278"/>
            <ac:spMk id="7" creationId="{00000000-0000-0000-0000-000000000000}"/>
          </ac:spMkLst>
        </pc:spChg>
      </pc:sldChg>
      <pc:sldChg chg="delSp modSp mod">
        <pc:chgData name="Mamadou BALDE" userId="1a0c099b-15fb-45c5-ad03-17ba900e4250" providerId="ADAL" clId="{962A2AA3-E420-4656-A32E-CB6DEAF28EA4}" dt="2026-09-25T12:54:14.438" v="139" actId="478"/>
        <pc:sldMkLst>
          <pc:docMk/>
          <pc:sldMk cId="0" sldId="282"/>
        </pc:sldMkLst>
        <pc:spChg chg="mod">
          <ac:chgData name="Mamadou BALDE" userId="1a0c099b-15fb-45c5-ad03-17ba900e4250" providerId="ADAL" clId="{962A2AA3-E420-4656-A32E-CB6DEAF28EA4}" dt="2026-09-25T11:23:16.229" v="68" actId="20577"/>
          <ac:spMkLst>
            <pc:docMk/>
            <pc:sldMk cId="0" sldId="282"/>
            <ac:spMk id="4" creationId="{00000000-0000-0000-0000-000000000000}"/>
          </ac:spMkLst>
        </pc:spChg>
        <pc:spChg chg="del">
          <ac:chgData name="Mamadou BALDE" userId="1a0c099b-15fb-45c5-ad03-17ba900e4250" providerId="ADAL" clId="{962A2AA3-E420-4656-A32E-CB6DEAF28EA4}" dt="2026-09-25T12:54:14.438" v="139" actId="478"/>
          <ac:spMkLst>
            <pc:docMk/>
            <pc:sldMk cId="0" sldId="282"/>
            <ac:spMk id="7" creationId="{00000000-0000-0000-0000-000000000000}"/>
          </ac:spMkLst>
        </pc:spChg>
      </pc:sldChg>
      <pc:sldChg chg="delSp modSp mod">
        <pc:chgData name="Mamadou BALDE" userId="1a0c099b-15fb-45c5-ad03-17ba900e4250" providerId="ADAL" clId="{962A2AA3-E420-4656-A32E-CB6DEAF28EA4}" dt="2026-09-25T12:54:26.842" v="140" actId="478"/>
        <pc:sldMkLst>
          <pc:docMk/>
          <pc:sldMk cId="0" sldId="286"/>
        </pc:sldMkLst>
        <pc:spChg chg="mod">
          <ac:chgData name="Mamadou BALDE" userId="1a0c099b-15fb-45c5-ad03-17ba900e4250" providerId="ADAL" clId="{962A2AA3-E420-4656-A32E-CB6DEAF28EA4}" dt="2026-09-25T11:25:32.882" v="70" actId="20577"/>
          <ac:spMkLst>
            <pc:docMk/>
            <pc:sldMk cId="0" sldId="286"/>
            <ac:spMk id="4" creationId="{00000000-0000-0000-0000-000000000000}"/>
          </ac:spMkLst>
        </pc:spChg>
        <pc:spChg chg="del">
          <ac:chgData name="Mamadou BALDE" userId="1a0c099b-15fb-45c5-ad03-17ba900e4250" providerId="ADAL" clId="{962A2AA3-E420-4656-A32E-CB6DEAF28EA4}" dt="2026-09-25T12:54:26.842" v="140" actId="478"/>
          <ac:spMkLst>
            <pc:docMk/>
            <pc:sldMk cId="0" sldId="286"/>
            <ac:spMk id="7" creationId="{00000000-0000-0000-0000-000000000000}"/>
          </ac:spMkLst>
        </pc:spChg>
      </pc:sldChg>
      <pc:sldChg chg="delSp modSp mod">
        <pc:chgData name="Mamadou BALDE" userId="1a0c099b-15fb-45c5-ad03-17ba900e4250" providerId="ADAL" clId="{962A2AA3-E420-4656-A32E-CB6DEAF28EA4}" dt="2026-09-25T12:54:35.988" v="141" actId="478"/>
        <pc:sldMkLst>
          <pc:docMk/>
          <pc:sldMk cId="0" sldId="288"/>
        </pc:sldMkLst>
        <pc:spChg chg="mod">
          <ac:chgData name="Mamadou BALDE" userId="1a0c099b-15fb-45c5-ad03-17ba900e4250" providerId="ADAL" clId="{962A2AA3-E420-4656-A32E-CB6DEAF28EA4}" dt="2026-09-25T11:25:47.341" v="72" actId="20577"/>
          <ac:spMkLst>
            <pc:docMk/>
            <pc:sldMk cId="0" sldId="288"/>
            <ac:spMk id="4" creationId="{00000000-0000-0000-0000-000000000000}"/>
          </ac:spMkLst>
        </pc:spChg>
        <pc:spChg chg="del">
          <ac:chgData name="Mamadou BALDE" userId="1a0c099b-15fb-45c5-ad03-17ba900e4250" providerId="ADAL" clId="{962A2AA3-E420-4656-A32E-CB6DEAF28EA4}" dt="2026-09-25T12:54:35.988" v="141" actId="478"/>
          <ac:spMkLst>
            <pc:docMk/>
            <pc:sldMk cId="0" sldId="288"/>
            <ac:spMk id="7" creationId="{00000000-0000-0000-0000-000000000000}"/>
          </ac:spMkLst>
        </pc:spChg>
      </pc:sldChg>
      <pc:sldChg chg="delSp modSp mod">
        <pc:chgData name="Mamadou BALDE" userId="1a0c099b-15fb-45c5-ad03-17ba900e4250" providerId="ADAL" clId="{962A2AA3-E420-4656-A32E-CB6DEAF28EA4}" dt="2026-09-25T12:54:49.809" v="142" actId="478"/>
        <pc:sldMkLst>
          <pc:docMk/>
          <pc:sldMk cId="0" sldId="291"/>
        </pc:sldMkLst>
        <pc:spChg chg="mod">
          <ac:chgData name="Mamadou BALDE" userId="1a0c099b-15fb-45c5-ad03-17ba900e4250" providerId="ADAL" clId="{962A2AA3-E420-4656-A32E-CB6DEAF28EA4}" dt="2026-09-25T11:26:29.631" v="74" actId="20577"/>
          <ac:spMkLst>
            <pc:docMk/>
            <pc:sldMk cId="0" sldId="291"/>
            <ac:spMk id="4" creationId="{00000000-0000-0000-0000-000000000000}"/>
          </ac:spMkLst>
        </pc:spChg>
        <pc:spChg chg="del">
          <ac:chgData name="Mamadou BALDE" userId="1a0c099b-15fb-45c5-ad03-17ba900e4250" providerId="ADAL" clId="{962A2AA3-E420-4656-A32E-CB6DEAF28EA4}" dt="2026-09-25T12:54:49.809" v="142" actId="478"/>
          <ac:spMkLst>
            <pc:docMk/>
            <pc:sldMk cId="0" sldId="291"/>
            <ac:spMk id="7" creationId="{00000000-0000-0000-0000-000000000000}"/>
          </ac:spMkLst>
        </pc:spChg>
      </pc:sldChg>
      <pc:sldChg chg="modSp del mod">
        <pc:chgData name="Mamadou BALDE" userId="1a0c099b-15fb-45c5-ad03-17ba900e4250" providerId="ADAL" clId="{962A2AA3-E420-4656-A32E-CB6DEAF28EA4}" dt="2026-09-25T11:27:07.851" v="101" actId="47"/>
        <pc:sldMkLst>
          <pc:docMk/>
          <pc:sldMk cId="0" sldId="292"/>
        </pc:sldMkLst>
        <pc:spChg chg="mod">
          <ac:chgData name="Mamadou BALDE" userId="1a0c099b-15fb-45c5-ad03-17ba900e4250" providerId="ADAL" clId="{962A2AA3-E420-4656-A32E-CB6DEAF28EA4}" dt="2026-09-25T11:26:46.416" v="100" actId="20577"/>
          <ac:spMkLst>
            <pc:docMk/>
            <pc:sldMk cId="0" sldId="292"/>
            <ac:spMk id="4" creationId="{00000000-0000-0000-0000-000000000000}"/>
          </ac:spMkLst>
        </pc:spChg>
      </pc:sldChg>
      <pc:sldChg chg="delSp modSp mod">
        <pc:chgData name="Mamadou BALDE" userId="1a0c099b-15fb-45c5-ad03-17ba900e4250" providerId="ADAL" clId="{962A2AA3-E420-4656-A32E-CB6DEAF28EA4}" dt="2026-09-25T12:55:04.735" v="143" actId="478"/>
        <pc:sldMkLst>
          <pc:docMk/>
          <pc:sldMk cId="0" sldId="297"/>
        </pc:sldMkLst>
        <pc:spChg chg="mod">
          <ac:chgData name="Mamadou BALDE" userId="1a0c099b-15fb-45c5-ad03-17ba900e4250" providerId="ADAL" clId="{962A2AA3-E420-4656-A32E-CB6DEAF28EA4}" dt="2026-09-25T11:27:48.218" v="103" actId="20577"/>
          <ac:spMkLst>
            <pc:docMk/>
            <pc:sldMk cId="0" sldId="297"/>
            <ac:spMk id="4" creationId="{00000000-0000-0000-0000-000000000000}"/>
          </ac:spMkLst>
        </pc:spChg>
        <pc:spChg chg="del">
          <ac:chgData name="Mamadou BALDE" userId="1a0c099b-15fb-45c5-ad03-17ba900e4250" providerId="ADAL" clId="{962A2AA3-E420-4656-A32E-CB6DEAF28EA4}" dt="2026-09-25T12:55:04.735" v="143" actId="478"/>
          <ac:spMkLst>
            <pc:docMk/>
            <pc:sldMk cId="0" sldId="297"/>
            <ac:spMk id="7" creationId="{00000000-0000-0000-0000-000000000000}"/>
          </ac:spMkLst>
        </pc:spChg>
      </pc:sldChg>
      <pc:sldChg chg="modSp mod">
        <pc:chgData name="Mamadou BALDE" userId="1a0c099b-15fb-45c5-ad03-17ba900e4250" providerId="ADAL" clId="{962A2AA3-E420-4656-A32E-CB6DEAF28EA4}" dt="2026-09-25T12:55:13.670" v="145" actId="20577"/>
        <pc:sldMkLst>
          <pc:docMk/>
          <pc:sldMk cId="0" sldId="298"/>
        </pc:sldMkLst>
        <pc:spChg chg="mod">
          <ac:chgData name="Mamadou BALDE" userId="1a0c099b-15fb-45c5-ad03-17ba900e4250" providerId="ADAL" clId="{962A2AA3-E420-4656-A32E-CB6DEAF28EA4}" dt="2026-09-25T12:55:13.670" v="145" actId="20577"/>
          <ac:spMkLst>
            <pc:docMk/>
            <pc:sldMk cId="0" sldId="298"/>
            <ac:spMk id="14" creationId="{00000000-0000-0000-0000-000000000000}"/>
          </ac:spMkLst>
        </pc:spChg>
      </pc:sldChg>
      <pc:sldChg chg="delSp modSp mod">
        <pc:chgData name="Mamadou BALDE" userId="1a0c099b-15fb-45c5-ad03-17ba900e4250" providerId="ADAL" clId="{962A2AA3-E420-4656-A32E-CB6DEAF28EA4}" dt="2026-09-25T12:55:23.748" v="146" actId="478"/>
        <pc:sldMkLst>
          <pc:docMk/>
          <pc:sldMk cId="0" sldId="301"/>
        </pc:sldMkLst>
        <pc:spChg chg="mod">
          <ac:chgData name="Mamadou BALDE" userId="1a0c099b-15fb-45c5-ad03-17ba900e4250" providerId="ADAL" clId="{962A2AA3-E420-4656-A32E-CB6DEAF28EA4}" dt="2026-09-25T11:28:12.520" v="106" actId="20577"/>
          <ac:spMkLst>
            <pc:docMk/>
            <pc:sldMk cId="0" sldId="301"/>
            <ac:spMk id="4" creationId="{00000000-0000-0000-0000-000000000000}"/>
          </ac:spMkLst>
        </pc:spChg>
        <pc:spChg chg="del">
          <ac:chgData name="Mamadou BALDE" userId="1a0c099b-15fb-45c5-ad03-17ba900e4250" providerId="ADAL" clId="{962A2AA3-E420-4656-A32E-CB6DEAF28EA4}" dt="2026-09-25T12:55:23.748" v="146" actId="478"/>
          <ac:spMkLst>
            <pc:docMk/>
            <pc:sldMk cId="0" sldId="301"/>
            <ac:spMk id="7" creationId="{00000000-0000-0000-0000-000000000000}"/>
          </ac:spMkLst>
        </pc:spChg>
      </pc:sldChg>
      <pc:sldChg chg="modSp mod">
        <pc:chgData name="Mamadou BALDE" userId="1a0c099b-15fb-45c5-ad03-17ba900e4250" providerId="ADAL" clId="{962A2AA3-E420-4656-A32E-CB6DEAF28EA4}" dt="2026-09-25T11:28:27.475" v="119" actId="20577"/>
        <pc:sldMkLst>
          <pc:docMk/>
          <pc:sldMk cId="0" sldId="302"/>
        </pc:sldMkLst>
        <pc:spChg chg="mod">
          <ac:chgData name="Mamadou BALDE" userId="1a0c099b-15fb-45c5-ad03-17ba900e4250" providerId="ADAL" clId="{962A2AA3-E420-4656-A32E-CB6DEAF28EA4}" dt="2026-09-25T11:28:27.475" v="119" actId="20577"/>
          <ac:spMkLst>
            <pc:docMk/>
            <pc:sldMk cId="0" sldId="302"/>
            <ac:spMk id="3" creationId="{00000000-0000-0000-0000-000000000000}"/>
          </ac:spMkLst>
        </pc:spChg>
      </pc:sldChg>
      <pc:sldChg chg="del">
        <pc:chgData name="Mamadou BALDE" userId="1a0c099b-15fb-45c5-ad03-17ba900e4250" providerId="ADAL" clId="{962A2AA3-E420-4656-A32E-CB6DEAF28EA4}" dt="2026-09-25T11:28:34.661" v="120" actId="47"/>
        <pc:sldMkLst>
          <pc:docMk/>
          <pc:sldMk cId="0" sldId="303"/>
        </pc:sldMkLst>
      </pc:sldChg>
      <pc:sldChg chg="delSp modSp mod modNotesTx">
        <pc:chgData name="Mamadou BALDE" userId="1a0c099b-15fb-45c5-ad03-17ba900e4250" providerId="ADAL" clId="{962A2AA3-E420-4656-A32E-CB6DEAF28EA4}" dt="2026-09-25T11:39:27.045" v="124" actId="20577"/>
        <pc:sldMkLst>
          <pc:docMk/>
          <pc:sldMk cId="0" sldId="304"/>
        </pc:sldMkLst>
        <pc:spChg chg="del mod">
          <ac:chgData name="Mamadou BALDE" userId="1a0c099b-15fb-45c5-ad03-17ba900e4250" providerId="ADAL" clId="{962A2AA3-E420-4656-A32E-CB6DEAF28EA4}" dt="2026-09-25T11:28:47.604" v="123"/>
          <ac:spMkLst>
            <pc:docMk/>
            <pc:sldMk cId="0" sldId="304"/>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7511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BLOCK 2   ·   MACHINE LEARNING</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1938528"/>
            <a:ext cx="11057839" cy="1280160"/>
          </a:xfrm>
          <a:prstGeom prst="rect">
            <a:avLst/>
          </a:prstGeom>
          <a:noFill/>
        </p:spPr>
        <p:txBody>
          <a:bodyPr wrap="square" lIns="0" tIns="0" rIns="0" bIns="0" anchor="t">
            <a:spAutoFit/>
          </a:bodyPr>
          <a:lstStyle/>
          <a:p>
            <a:pPr algn="l"/>
            <a:r>
              <a:rPr sz="4000" b="1" i="0">
                <a:solidFill>
                  <a:srgbClr val="FFFFFF"/>
                </a:solidFill>
                <a:latin typeface="Cambria"/>
              </a:rPr>
              <a:t>Ensembles, Interpretation &amp; Error Analysis</a:t>
            </a:r>
          </a:p>
        </p:txBody>
      </p:sp>
      <p:sp>
        <p:nvSpPr>
          <p:cNvPr id="5" name="TextBox 4"/>
          <p:cNvSpPr txBox="1"/>
          <p:nvPr/>
        </p:nvSpPr>
        <p:spPr>
          <a:xfrm>
            <a:off x="566928" y="3383280"/>
            <a:ext cx="8314639" cy="137160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Today the models get better and the questions get harder. By the end you will have a champion, and you will know which of its rivals it genuinely beat - and who it fails.</a:t>
            </a:r>
          </a:p>
        </p:txBody>
      </p:sp>
      <p:cxnSp>
        <p:nvCxnSpPr>
          <p:cNvPr id="6" name="Connector 5"/>
          <p:cNvCxnSpPr/>
          <p:nvPr/>
        </p:nvCxnSpPr>
        <p:spPr>
          <a:xfrm>
            <a:off x="566928" y="495604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5175504"/>
            <a:ext cx="11057839" cy="457200"/>
          </a:xfrm>
          <a:prstGeom prst="rect">
            <a:avLst/>
          </a:prstGeom>
          <a:noFill/>
        </p:spPr>
        <p:txBody>
          <a:bodyPr wrap="square" lIns="0" tIns="0" rIns="0" bIns="0" anchor="t">
            <a:spAutoFit/>
          </a:bodyPr>
          <a:lstStyle/>
          <a:p>
            <a:pPr algn="l"/>
            <a:r>
              <a:rPr sz="1400" b="1" i="0">
                <a:solidFill>
                  <a:srgbClr val="E9A93D"/>
                </a:solidFill>
                <a:latin typeface="Calibri"/>
              </a:rPr>
              <a:t>Session 7   ·   4 hours contact   ·   deliverable M6, graded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Session 5 ended without a winner.</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The tree scored higher on AUC and could not produce a usable ranking. The logistic model ranked cleanly and scored lower. We left it there. Today we settle it - and the tie-breaker will not be accuracy.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507831"/>
          </a:xfrm>
          <a:prstGeom prst="rect">
            <a:avLst/>
          </a:prstGeom>
          <a:noFill/>
        </p:spPr>
        <p:txBody>
          <a:bodyPr wrap="square" lIns="0" tIns="0" rIns="0" bIns="0" anchor="t">
            <a:spAutoFit/>
          </a:bodyPr>
          <a:lstStyle/>
          <a:p>
            <a:pPr algn="l"/>
            <a:r>
              <a:rPr sz="3300" b="1" i="0" dirty="0">
                <a:solidFill>
                  <a:srgbClr val="12233A"/>
                </a:solidFill>
                <a:latin typeface="Cambria"/>
              </a:rPr>
              <a:t>What you will be able to do</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Objective 4 is the one that separates a model from a system.</a:t>
            </a:r>
          </a:p>
        </p:txBody>
      </p:sp>
      <p:sp>
        <p:nvSpPr>
          <p:cNvPr id="5" name="Rounded Rectangle 4"/>
          <p:cNvSpPr/>
          <p:nvPr/>
        </p:nvSpPr>
        <p:spPr>
          <a:xfrm>
            <a:off x="566928" y="2103120"/>
            <a:ext cx="11057839" cy="733348"/>
          </a:xfrm>
          <a:prstGeom prst="roundRect">
            <a:avLst>
              <a:gd name="adj" fmla="val 17456"/>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331935"/>
            <a:ext cx="10472623" cy="275717"/>
          </a:xfrm>
          <a:prstGeom prst="rect">
            <a:avLst/>
          </a:prstGeom>
          <a:noFill/>
        </p:spPr>
        <p:txBody>
          <a:bodyPr wrap="square" lIns="0" tIns="0" rIns="0" bIns="0" anchor="ctr">
            <a:spAutoFit/>
          </a:bodyPr>
          <a:lstStyle/>
          <a:p>
            <a:pPr algn="l">
              <a:lnSpc>
                <a:spcPct val="120000"/>
              </a:lnSpc>
            </a:pPr>
            <a:r>
              <a:rPr sz="1600" b="1" i="0" dirty="0">
                <a:solidFill>
                  <a:srgbClr val="A8443A"/>
                </a:solidFill>
                <a:latin typeface="Calibri"/>
              </a:rPr>
              <a:t>1  </a:t>
            </a:r>
            <a:r>
              <a:rPr sz="1600" b="0" i="0" dirty="0">
                <a:solidFill>
                  <a:srgbClr val="2B3440"/>
                </a:solidFill>
                <a:latin typeface="Calibri"/>
              </a:rPr>
              <a:t>Explain why bagging and boosting reduce error differently, and predict which one degrades when you add trees.  </a:t>
            </a:r>
          </a:p>
        </p:txBody>
      </p:sp>
      <p:sp>
        <p:nvSpPr>
          <p:cNvPr id="7" name="Rounded Rectangle 6"/>
          <p:cNvSpPr/>
          <p:nvPr/>
        </p:nvSpPr>
        <p:spPr>
          <a:xfrm>
            <a:off x="566928" y="2982772"/>
            <a:ext cx="11057839" cy="733348"/>
          </a:xfrm>
          <a:prstGeom prst="roundRect">
            <a:avLst>
              <a:gd name="adj" fmla="val 17456"/>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211587"/>
            <a:ext cx="10472623" cy="275717"/>
          </a:xfrm>
          <a:prstGeom prst="rect">
            <a:avLst/>
          </a:prstGeom>
          <a:noFill/>
        </p:spPr>
        <p:txBody>
          <a:bodyPr wrap="square" lIns="0" tIns="0" rIns="0" bIns="0" anchor="ctr">
            <a:spAutoFit/>
          </a:bodyPr>
          <a:lstStyle/>
          <a:p>
            <a:pPr algn="l">
              <a:lnSpc>
                <a:spcPct val="120000"/>
              </a:lnSpc>
            </a:pPr>
            <a:r>
              <a:rPr sz="1600" b="1" i="0" dirty="0">
                <a:solidFill>
                  <a:srgbClr val="A8443A"/>
                </a:solidFill>
                <a:latin typeface="Calibri"/>
              </a:rPr>
              <a:t>2  </a:t>
            </a:r>
            <a:r>
              <a:rPr sz="1600" b="0" i="0" dirty="0">
                <a:solidFill>
                  <a:srgbClr val="2B3440"/>
                </a:solidFill>
                <a:latin typeface="Calibri"/>
              </a:rPr>
              <a:t>Benchmark several models under one protocol and say which differences are real. </a:t>
            </a:r>
          </a:p>
        </p:txBody>
      </p:sp>
      <p:sp>
        <p:nvSpPr>
          <p:cNvPr id="9" name="Rounded Rectangle 8"/>
          <p:cNvSpPr/>
          <p:nvPr/>
        </p:nvSpPr>
        <p:spPr>
          <a:xfrm>
            <a:off x="566928" y="3862425"/>
            <a:ext cx="11057839" cy="733348"/>
          </a:xfrm>
          <a:prstGeom prst="roundRect">
            <a:avLst>
              <a:gd name="adj" fmla="val 17456"/>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091240"/>
            <a:ext cx="10472623" cy="275717"/>
          </a:xfrm>
          <a:prstGeom prst="rect">
            <a:avLst/>
          </a:prstGeom>
          <a:noFill/>
        </p:spPr>
        <p:txBody>
          <a:bodyPr wrap="square" lIns="0" tIns="0" rIns="0" bIns="0" anchor="ctr">
            <a:spAutoFit/>
          </a:bodyPr>
          <a:lstStyle/>
          <a:p>
            <a:pPr algn="l">
              <a:lnSpc>
                <a:spcPct val="120000"/>
              </a:lnSpc>
            </a:pPr>
            <a:r>
              <a:rPr sz="1600" b="1" i="0" dirty="0">
                <a:solidFill>
                  <a:srgbClr val="A8443A"/>
                </a:solidFill>
                <a:latin typeface="Calibri"/>
              </a:rPr>
              <a:t>3  </a:t>
            </a:r>
            <a:r>
              <a:rPr sz="1600" b="0" i="0" dirty="0">
                <a:solidFill>
                  <a:srgbClr val="2B3440"/>
                </a:solidFill>
                <a:latin typeface="Calibri"/>
              </a:rPr>
              <a:t>Read permutation importance and partial dependence, and state what neither of them proves. </a:t>
            </a:r>
          </a:p>
        </p:txBody>
      </p:sp>
      <p:sp>
        <p:nvSpPr>
          <p:cNvPr id="11" name="Rounded Rectangle 10"/>
          <p:cNvSpPr/>
          <p:nvPr/>
        </p:nvSpPr>
        <p:spPr>
          <a:xfrm>
            <a:off x="566928" y="4742078"/>
            <a:ext cx="11057839" cy="733348"/>
          </a:xfrm>
          <a:prstGeom prst="roundRect">
            <a:avLst>
              <a:gd name="adj" fmla="val 17456"/>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970893"/>
            <a:ext cx="10472623" cy="275717"/>
          </a:xfrm>
          <a:prstGeom prst="rect">
            <a:avLst/>
          </a:prstGeom>
          <a:noFill/>
        </p:spPr>
        <p:txBody>
          <a:bodyPr wrap="square" lIns="0" tIns="0" rIns="0" bIns="0" anchor="ctr">
            <a:spAutoFit/>
          </a:bodyPr>
          <a:lstStyle/>
          <a:p>
            <a:pPr algn="l">
              <a:lnSpc>
                <a:spcPct val="120000"/>
              </a:lnSpc>
            </a:pPr>
            <a:r>
              <a:rPr sz="1600" b="1" i="0" dirty="0">
                <a:solidFill>
                  <a:srgbClr val="A8443A"/>
                </a:solidFill>
                <a:latin typeface="Calibri"/>
              </a:rPr>
              <a:t>4  </a:t>
            </a:r>
            <a:r>
              <a:rPr sz="1600" b="0" i="0" dirty="0">
                <a:solidFill>
                  <a:srgbClr val="2B3440"/>
                </a:solidFill>
                <a:latin typeface="Calibri"/>
              </a:rPr>
              <a:t>Measure subgroup performance and reason about who a model fails.  </a:t>
            </a:r>
          </a:p>
        </p:txBody>
      </p:sp>
      <p:sp>
        <p:nvSpPr>
          <p:cNvPr id="13" name="Rounded Rectangle 12"/>
          <p:cNvSpPr/>
          <p:nvPr/>
        </p:nvSpPr>
        <p:spPr>
          <a:xfrm>
            <a:off x="566928" y="5621731"/>
            <a:ext cx="11057839" cy="733348"/>
          </a:xfrm>
          <a:prstGeom prst="roundRect">
            <a:avLst>
              <a:gd name="adj" fmla="val 17456"/>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5850546"/>
            <a:ext cx="10472623" cy="275717"/>
          </a:xfrm>
          <a:prstGeom prst="rect">
            <a:avLst/>
          </a:prstGeom>
          <a:noFill/>
        </p:spPr>
        <p:txBody>
          <a:bodyPr wrap="square" lIns="0" tIns="0" rIns="0" bIns="0" anchor="ctr">
            <a:spAutoFit/>
          </a:bodyPr>
          <a:lstStyle/>
          <a:p>
            <a:pPr algn="l">
              <a:lnSpc>
                <a:spcPct val="120000"/>
              </a:lnSpc>
            </a:pPr>
            <a:r>
              <a:rPr sz="1600" b="1" i="0" dirty="0">
                <a:solidFill>
                  <a:srgbClr val="A8443A"/>
                </a:solidFill>
                <a:latin typeface="Calibri"/>
              </a:rPr>
              <a:t>5  </a:t>
            </a:r>
            <a:r>
              <a:rPr sz="1600" b="0" i="0" dirty="0">
                <a:solidFill>
                  <a:srgbClr val="2B3440"/>
                </a:solidFill>
                <a:latin typeface="Calibri"/>
              </a:rPr>
              <a:t>Write a Model Card that says when the model should not be used.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An ensemble is not a better model. It is many worse models, disagreeing usefully.</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Hold that sentence through §2. The disagreement is not a defect to be minimised - it is the raw material, and we will measure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1993392"/>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2600" b="1" dirty="0">
                <a:solidFill>
                  <a:srgbClr val="12233A"/>
                </a:solidFill>
                <a:latin typeface="Calibri"/>
              </a:rPr>
              <a:t>1</a:t>
            </a:r>
            <a:endParaRPr sz="2600" b="1" i="0" dirty="0">
              <a:solidFill>
                <a:srgbClr val="12233A"/>
              </a:solidFill>
              <a:latin typeface="Calibri"/>
            </a:endParaRP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Bagging, built by hand</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Thirty deliberately overfitted trees, each on its own bootstrap resample. Then we average them.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Why an ensemble beats its members</a:t>
            </a:r>
          </a:p>
        </p:txBody>
      </p:sp>
      <p:sp>
        <p:nvSpPr>
          <p:cNvPr id="4" name="Rounded Rectangle 3"/>
          <p:cNvSpPr/>
          <p:nvPr/>
        </p:nvSpPr>
        <p:spPr>
          <a:xfrm>
            <a:off x="566928" y="1700784"/>
            <a:ext cx="11057839" cy="3926204"/>
          </a:xfrm>
          <a:prstGeom prst="roundRect">
            <a:avLst>
              <a:gd name="adj" fmla="val 3260"/>
            </a:avLst>
          </a:prstGeom>
          <a:solidFill>
            <a:srgbClr val="FC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global_picture.png"/>
          <p:cNvPicPr>
            <a:picLocks noChangeAspect="1"/>
          </p:cNvPicPr>
          <p:nvPr/>
        </p:nvPicPr>
        <p:blipFill>
          <a:blip r:embed="rId2"/>
          <a:stretch>
            <a:fillRect/>
          </a:stretch>
        </p:blipFill>
        <p:spPr>
          <a:xfrm>
            <a:off x="2988677" y="1730535"/>
            <a:ext cx="6216692" cy="3868163"/>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797959"/>
            <a:ext cx="10472623" cy="742767"/>
          </a:xfrm>
          <a:prstGeom prst="rect">
            <a:avLst/>
          </a:prstGeom>
          <a:noFill/>
        </p:spPr>
        <p:txBody>
          <a:bodyPr wrap="square" lIns="0" tIns="0" rIns="0" bIns="0" anchor="ctr">
            <a:spAutoFit/>
          </a:bodyPr>
          <a:lstStyle/>
          <a:p>
            <a:pPr algn="l">
              <a:lnSpc>
                <a:spcPct val="122000"/>
              </a:lnSpc>
            </a:pPr>
            <a:r>
              <a:rPr sz="1350" b="0" i="0" dirty="0">
                <a:solidFill>
                  <a:srgbClr val="2B3440"/>
                </a:solidFill>
                <a:latin typeface="Calibri"/>
              </a:rPr>
              <a:t>Six people each with a hand on a different part of an elephant, each labelled a model; the elephant labelled *some unknown distribution*. No individual is wrong - each is </a:t>
            </a:r>
            <a:r>
              <a:rPr sz="1350" b="1" i="0" dirty="0">
                <a:solidFill>
                  <a:srgbClr val="A8443A"/>
                </a:solidFill>
                <a:latin typeface="Calibri"/>
              </a:rPr>
              <a:t>partial, and partial in a different direction</a:t>
            </a:r>
            <a:r>
              <a:rPr sz="1350" b="0" i="0" dirty="0">
                <a:solidFill>
                  <a:srgbClr val="2B3440"/>
                </a:solidFill>
                <a:latin typeface="Calibri"/>
              </a:rPr>
              <a:t>. That last clause is the condition under which averaging helps at all: if every model erred in the </a:t>
            </a:r>
            <a:r>
              <a:rPr sz="1350" b="1" i="0" dirty="0">
                <a:solidFill>
                  <a:srgbClr val="2B3440"/>
                </a:solidFill>
                <a:latin typeface="Calibri"/>
              </a:rPr>
              <a:t>same</a:t>
            </a:r>
            <a:r>
              <a:rPr sz="1350" b="0" i="0" dirty="0">
                <a:solidFill>
                  <a:srgbClr val="2B3440"/>
                </a:solidFill>
                <a:latin typeface="Calibri"/>
              </a:rPr>
              <a:t> direction, averaging would preserve the error exactly.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Predict before you run</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Collect both in writing before the cell runs.</a:t>
            </a:r>
          </a:p>
        </p:txBody>
      </p:sp>
      <p:sp>
        <p:nvSpPr>
          <p:cNvPr id="5" name="Rounded Rectangle 4"/>
          <p:cNvSpPr/>
          <p:nvPr/>
        </p:nvSpPr>
        <p:spPr>
          <a:xfrm>
            <a:off x="566928" y="2103120"/>
            <a:ext cx="11057839" cy="786384"/>
          </a:xfrm>
          <a:prstGeom prst="roundRect">
            <a:avLst>
              <a:gd name="adj" fmla="val 16279"/>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603503"/>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We fit </a:t>
            </a:r>
            <a:r>
              <a:rPr sz="1600" b="1" i="0">
                <a:solidFill>
                  <a:srgbClr val="A8443A"/>
                </a:solidFill>
                <a:latin typeface="Calibri"/>
              </a:rPr>
              <a:t>30 unbounded decision trees</a:t>
            </a:r>
            <a:r>
              <a:rPr sz="1600" b="0" i="0">
                <a:solidFill>
                  <a:srgbClr val="2B3440"/>
                </a:solidFill>
                <a:latin typeface="Calibri"/>
              </a:rPr>
              <a:t>, each on its own bootstrap resample of the training fold.</a:t>
            </a:r>
          </a:p>
        </p:txBody>
      </p:sp>
      <p:sp>
        <p:nvSpPr>
          <p:cNvPr id="7" name="Rounded Rectangle 6"/>
          <p:cNvSpPr/>
          <p:nvPr/>
        </p:nvSpPr>
        <p:spPr>
          <a:xfrm>
            <a:off x="566928" y="3035808"/>
            <a:ext cx="11057839" cy="786384"/>
          </a:xfrm>
          <a:prstGeom prst="roundRect">
            <a:avLst>
              <a:gd name="adj" fmla="val 16279"/>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127248"/>
            <a:ext cx="10472623" cy="603503"/>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Unbounded on purpose: each one is deliberately overfitted, so each is high-variance.</a:t>
            </a:r>
          </a:p>
        </p:txBody>
      </p:sp>
      <p:sp>
        <p:nvSpPr>
          <p:cNvPr id="9" name="Rounded Rectangle 8"/>
          <p:cNvSpPr/>
          <p:nvPr/>
        </p:nvSpPr>
        <p:spPr>
          <a:xfrm>
            <a:off x="566928" y="3968496"/>
            <a:ext cx="11057839" cy="786384"/>
          </a:xfrm>
          <a:prstGeom prst="roundRect">
            <a:avLst>
              <a:gd name="adj" fmla="val 16279"/>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059935"/>
            <a:ext cx="10472623" cy="603503"/>
          </a:xfrm>
          <a:prstGeom prst="rect">
            <a:avLst/>
          </a:prstGeom>
          <a:noFill/>
        </p:spPr>
        <p:txBody>
          <a:bodyPr wrap="square" lIns="0" tIns="0" rIns="0" bIns="0" anchor="ctr">
            <a:spAutoFit/>
          </a:bodyPr>
          <a:lstStyle/>
          <a:p>
            <a:pPr algn="l">
              <a:lnSpc>
                <a:spcPct val="120000"/>
              </a:lnSpc>
            </a:pPr>
            <a:r>
              <a:rPr sz="1600" b="1" i="0">
                <a:solidFill>
                  <a:srgbClr val="A8443A"/>
                </a:solidFill>
                <a:latin typeface="Calibri"/>
              </a:rPr>
              <a:t>Write down two numbers:  </a:t>
            </a:r>
            <a:r>
              <a:rPr sz="1600" b="0" i="0">
                <a:solidFill>
                  <a:srgbClr val="2B3440"/>
                </a:solidFill>
                <a:latin typeface="Calibri"/>
              </a:rPr>
              <a:t>the mean AUC of the 30 individual trees, and the AUC of their averaged prediction.</a:t>
            </a:r>
          </a:p>
        </p:txBody>
      </p:sp>
      <p:sp>
        <p:nvSpPr>
          <p:cNvPr id="11" name="Rounded Rectangle 10"/>
          <p:cNvSpPr/>
          <p:nvPr/>
        </p:nvSpPr>
        <p:spPr>
          <a:xfrm>
            <a:off x="566928" y="4901183"/>
            <a:ext cx="11057839" cy="786384"/>
          </a:xfrm>
          <a:prstGeom prst="roundRect">
            <a:avLst>
              <a:gd name="adj" fmla="val 16279"/>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992623"/>
            <a:ext cx="10472623" cy="603503"/>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Most people put the two within 0.02 of each other.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Bagging, in eight lines</a:t>
            </a:r>
          </a:p>
        </p:txBody>
      </p:sp>
      <p:sp>
        <p:nvSpPr>
          <p:cNvPr id="4" name="Rounded Rectangle 3"/>
          <p:cNvSpPr/>
          <p:nvPr/>
        </p:nvSpPr>
        <p:spPr>
          <a:xfrm>
            <a:off x="566928" y="1865376"/>
            <a:ext cx="11057839" cy="2560320"/>
          </a:xfrm>
          <a:prstGeom prst="roundRect">
            <a:avLst>
              <a:gd name="adj" fmla="val 3571"/>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2048256"/>
            <a:ext cx="10399471" cy="2194560"/>
          </a:xfrm>
          <a:prstGeom prst="rect">
            <a:avLst/>
          </a:prstGeom>
          <a:noFill/>
        </p:spPr>
        <p:txBody>
          <a:bodyPr wrap="square" lIns="0" tIns="0" rIns="0" bIns="0" anchor="t">
            <a:spAutoFit/>
          </a:bodyPr>
          <a:lstStyle/>
          <a:p>
            <a:pPr algn="l">
              <a:lnSpc>
                <a:spcPct val="132000"/>
              </a:lnSpc>
            </a:pPr>
            <a:r>
              <a:rPr sz="1450" b="0" i="0">
                <a:solidFill>
                  <a:srgbClr val="12233A"/>
                </a:solidFill>
                <a:latin typeface="Courier New"/>
              </a:rPr>
              <a:t>for b in range(30):</a:t>
            </a:r>
          </a:p>
          <a:p>
            <a:pPr algn="l">
              <a:lnSpc>
                <a:spcPct val="132000"/>
              </a:lnSpc>
            </a:pPr>
            <a:r>
              <a:rPr sz="1450" b="0" i="0">
                <a:solidFill>
                  <a:srgbClr val="12233A"/>
                </a:solidFill>
                <a:latin typeface="Courier New"/>
              </a:rPr>
              <a:t>    idx = rng.integers(0, len(X_tr), len(X_tr))   # with replacement</a:t>
            </a:r>
          </a:p>
          <a:p>
            <a:pPr algn="l">
              <a:lnSpc>
                <a:spcPct val="132000"/>
              </a:lnSpc>
            </a:pPr>
            <a:r>
              <a:rPr sz="1450" b="0" i="0">
                <a:solidFill>
                  <a:srgbClr val="12233A"/>
                </a:solidFill>
                <a:latin typeface="Courier New"/>
              </a:rPr>
              <a:t>    tree = Pipeline([("prep", make_preprocessor()),</a:t>
            </a:r>
          </a:p>
          <a:p>
            <a:pPr algn="l">
              <a:lnSpc>
                <a:spcPct val="132000"/>
              </a:lnSpc>
            </a:pPr>
            <a:r>
              <a:rPr sz="1450" b="0" i="0">
                <a:solidFill>
                  <a:srgbClr val="12233A"/>
                </a:solidFill>
                <a:latin typeface="Courier New"/>
              </a:rPr>
              <a:t>                     ("model", DecisionTreeClassifier(random_state=b))])</a:t>
            </a:r>
          </a:p>
          <a:p>
            <a:pPr algn="l">
              <a:lnSpc>
                <a:spcPct val="132000"/>
              </a:lnSpc>
            </a:pPr>
            <a:r>
              <a:rPr sz="1450" b="0" i="0">
                <a:solidFill>
                  <a:srgbClr val="12233A"/>
                </a:solidFill>
                <a:latin typeface="Courier New"/>
              </a:rPr>
              <a:t>    tree.fit(X_tr.iloc[idx], y_tr.iloc[idx])</a:t>
            </a:r>
          </a:p>
          <a:p>
            <a:pPr algn="l">
              <a:lnSpc>
                <a:spcPct val="132000"/>
              </a:lnSpc>
            </a:pPr>
            <a:r>
              <a:rPr sz="1450" b="0" i="0">
                <a:solidFill>
                  <a:srgbClr val="12233A"/>
                </a:solidFill>
                <a:latin typeface="Courier New"/>
              </a:rPr>
              <a:t>    tree_preds.append(tree.predict_proba(X_te)[:, 1])</a:t>
            </a:r>
          </a:p>
          <a:p>
            <a:pPr algn="l">
              <a:lnSpc>
                <a:spcPct val="132000"/>
              </a:lnSpc>
            </a:pPr>
            <a:endParaRPr sz="1450" b="0" i="0">
              <a:solidFill>
                <a:srgbClr val="12233A"/>
              </a:solidFill>
              <a:latin typeface="Courier New"/>
            </a:endParaRPr>
          </a:p>
          <a:p>
            <a:pPr algn="l">
              <a:lnSpc>
                <a:spcPct val="132000"/>
              </a:lnSpc>
            </a:pPr>
            <a:r>
              <a:rPr sz="1450" b="0" i="0">
                <a:solidFill>
                  <a:srgbClr val="12233A"/>
                </a:solidFill>
                <a:latin typeface="Courier New"/>
              </a:rPr>
              <a:t>roc_auc_score(y_te, np.array(tree_preds).mean(axis=0))</a:t>
            </a:r>
          </a:p>
        </p:txBody>
      </p:sp>
      <p:sp>
        <p:nvSpPr>
          <p:cNvPr id="6" name="Rounded Rectangle 5"/>
          <p:cNvSpPr/>
          <p:nvPr/>
        </p:nvSpPr>
        <p:spPr>
          <a:xfrm>
            <a:off x="566928" y="4645152"/>
            <a:ext cx="11057839" cy="1700784"/>
          </a:xfrm>
          <a:prstGeom prst="roundRect">
            <a:avLst>
              <a:gd name="adj" fmla="val 7526"/>
            </a:avLst>
          </a:prstGeom>
          <a:solidFill>
            <a:srgbClr val="F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4773168"/>
            <a:ext cx="10472623" cy="1444752"/>
          </a:xfrm>
          <a:prstGeom prst="rect">
            <a:avLst/>
          </a:prstGeom>
          <a:noFill/>
        </p:spPr>
        <p:txBody>
          <a:bodyPr wrap="square" lIns="0" tIns="0" rIns="0" bIns="0" anchor="t">
            <a:spAutoFit/>
          </a:bodyPr>
          <a:lstStyle/>
          <a:p>
            <a:pPr algn="l">
              <a:lnSpc>
                <a:spcPct val="128000"/>
              </a:lnSpc>
            </a:pPr>
            <a:r>
              <a:rPr sz="1550" b="0" i="0">
                <a:solidFill>
                  <a:srgbClr val="2B3440"/>
                </a:solidFill>
                <a:latin typeface="Calibri"/>
              </a:rPr>
              <a:t>Two sources of randomness and nothing else: which rows each tree sees, and the tree's own tie-breaking. No tree is better than any other, and none of them sees more data than the original.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The mechanism, before the numbers</a:t>
            </a:r>
          </a:p>
        </p:txBody>
      </p:sp>
      <p:sp>
        <p:nvSpPr>
          <p:cNvPr id="4" name="Rounded Rectangle 3"/>
          <p:cNvSpPr/>
          <p:nvPr/>
        </p:nvSpPr>
        <p:spPr>
          <a:xfrm>
            <a:off x="566928" y="1700784"/>
            <a:ext cx="11057839" cy="3926204"/>
          </a:xfrm>
          <a:prstGeom prst="roundRect">
            <a:avLst>
              <a:gd name="adj" fmla="val 3260"/>
            </a:avLst>
          </a:prstGeom>
          <a:solidFill>
            <a:srgbClr val="FC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agging.png"/>
          <p:cNvPicPr>
            <a:picLocks noChangeAspect="1"/>
          </p:cNvPicPr>
          <p:nvPr/>
        </p:nvPicPr>
        <p:blipFill>
          <a:blip r:embed="rId2"/>
          <a:stretch>
            <a:fillRect/>
          </a:stretch>
        </p:blipFill>
        <p:spPr>
          <a:xfrm>
            <a:off x="2645009" y="1721944"/>
            <a:ext cx="6891753" cy="3878300"/>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924692"/>
            <a:ext cx="10472623" cy="489301"/>
          </a:xfrm>
          <a:prstGeom prst="rect">
            <a:avLst/>
          </a:prstGeom>
          <a:noFill/>
        </p:spPr>
        <p:txBody>
          <a:bodyPr wrap="square" lIns="0" tIns="0" rIns="0" bIns="0" anchor="ctr">
            <a:spAutoFit/>
          </a:bodyPr>
          <a:lstStyle/>
          <a:p>
            <a:pPr algn="l">
              <a:lnSpc>
                <a:spcPct val="122000"/>
              </a:lnSpc>
            </a:pPr>
            <a:r>
              <a:rPr sz="1350" b="0" i="0" dirty="0">
                <a:solidFill>
                  <a:srgbClr val="2B3440"/>
                </a:solidFill>
                <a:latin typeface="Calibri"/>
              </a:rPr>
              <a:t>Resample the training data </a:t>
            </a:r>
            <a:r>
              <a:rPr sz="1350" b="1" i="0" dirty="0">
                <a:solidFill>
                  <a:srgbClr val="A8443A"/>
                </a:solidFill>
                <a:latin typeface="Calibri"/>
              </a:rPr>
              <a:t>with replacement</a:t>
            </a:r>
            <a:r>
              <a:rPr sz="1350" b="0" i="0" dirty="0">
                <a:solidFill>
                  <a:srgbClr val="2B3440"/>
                </a:solidFill>
                <a:latin typeface="Calibri"/>
              </a:rPr>
              <a:t> to get several different datasets; fit one model on each, in parallel and in isolation; combine the predictions by averaging or voting. Nothing here sees more data than the original - the only new ingredient is that each model sees a </a:t>
            </a:r>
            <a:r>
              <a:rPr sz="1350" b="1" i="0" dirty="0">
                <a:solidFill>
                  <a:srgbClr val="2B3440"/>
                </a:solidFill>
                <a:latin typeface="Calibri"/>
              </a:rPr>
              <a:t>different</a:t>
            </a:r>
            <a:r>
              <a:rPr sz="1350" b="0" i="0" dirty="0">
                <a:solidFill>
                  <a:srgbClr val="2B3440"/>
                </a:solidFill>
                <a:latin typeface="Calibri"/>
              </a:rPr>
              <a:t> subset.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Thirty trees, then their average</a:t>
            </a:r>
          </a:p>
        </p:txBody>
      </p:sp>
      <p:sp>
        <p:nvSpPr>
          <p:cNvPr id="4" name="Rounded Rectangle 3"/>
          <p:cNvSpPr/>
          <p:nvPr/>
        </p:nvSpPr>
        <p:spPr>
          <a:xfrm>
            <a:off x="566928" y="1956816"/>
            <a:ext cx="4617720" cy="4398264"/>
          </a:xfrm>
          <a:prstGeom prst="roundRect">
            <a:avLst>
              <a:gd name="adj" fmla="val 2910"/>
            </a:avLst>
          </a:prstGeom>
          <a:solidFill>
            <a:srgbClr val="F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A9660B"/>
                </a:solidFill>
                <a:latin typeface="Cambria"/>
              </a:rPr>
              <a:t>0.897</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AUC of the averaged prediction, against </a:t>
            </a:r>
            <a:r>
              <a:rPr sz="1450" b="1" i="0">
                <a:solidFill>
                  <a:srgbClr val="A8443A"/>
                </a:solidFill>
                <a:latin typeface="Calibri"/>
              </a:rPr>
              <a:t>0.769</a:t>
            </a:r>
            <a:r>
              <a:rPr sz="1450" b="0" i="0">
                <a:solidFill>
                  <a:srgbClr val="6E7A8A"/>
                </a:solidFill>
                <a:latin typeface="Calibri"/>
              </a:rPr>
              <a:t> for the mean individual tree</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Individual trees: mean AUC </a:t>
            </a:r>
            <a:r>
              <a:rPr sz="1600" b="1" i="0">
                <a:solidFill>
                  <a:srgbClr val="A8443A"/>
                </a:solidFill>
                <a:latin typeface="Calibri"/>
              </a:rPr>
              <a:t>0.7694</a:t>
            </a:r>
            <a:r>
              <a:rPr sz="1600" b="0" i="0">
                <a:solidFill>
                  <a:srgbClr val="2B3440"/>
                </a:solidFill>
                <a:latin typeface="Calibri"/>
              </a:rPr>
              <a:t>, sd 0.0100, range 0.7517 to 0.7884. Every one of them is mediocre.</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Averaging them gives </a:t>
            </a:r>
            <a:r>
              <a:rPr sz="1600" b="1" i="0">
                <a:solidFill>
                  <a:srgbClr val="A8443A"/>
                </a:solidFill>
                <a:latin typeface="Calibri"/>
              </a:rPr>
              <a:t>0.8973</a:t>
            </a:r>
            <a:r>
              <a:rPr sz="1600" b="0" i="0">
                <a:solidFill>
                  <a:srgbClr val="2B3440"/>
                </a:solidFill>
                <a:latin typeface="Calibri"/>
              </a:rPr>
              <a:t> - a gain of about 0.13, from no new data, no better trees and no tuning.</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1" i="0">
                <a:solidFill>
                  <a:srgbClr val="A8443A"/>
                </a:solidFill>
                <a:latin typeface="Calibri"/>
              </a:rPr>
              <a:t>The gain is bought entirely with disagreement.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Where the gain comes from</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Steep at first, then a plateau. More trees never hurt a bagged model - they simply stop helping.</a:t>
            </a:r>
          </a:p>
        </p:txBody>
      </p:sp>
      <p:sp>
        <p:nvSpPr>
          <p:cNvPr id="5" name="Rectangle 4"/>
          <p:cNvSpPr/>
          <p:nvPr/>
        </p:nvSpPr>
        <p:spPr>
          <a:xfrm>
            <a:off x="566928" y="2139696"/>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6305519" cy="310896"/>
          </a:xfrm>
          <a:prstGeom prst="rect">
            <a:avLst/>
          </a:prstGeom>
          <a:noFill/>
        </p:spPr>
        <p:txBody>
          <a:bodyPr wrap="square" lIns="0" tIns="0" rIns="0" bIns="0" anchor="ctr">
            <a:spAutoFit/>
          </a:bodyPr>
          <a:lstStyle/>
          <a:p>
            <a:pPr algn="l"/>
            <a:r>
              <a:rPr sz="1300" b="1" i="0">
                <a:solidFill>
                  <a:srgbClr val="A8443A"/>
                </a:solidFill>
                <a:latin typeface="Calibri"/>
              </a:rPr>
              <a:t>Trees averaged</a:t>
            </a:r>
          </a:p>
        </p:txBody>
      </p:sp>
      <p:sp>
        <p:nvSpPr>
          <p:cNvPr id="7" name="TextBox 6"/>
          <p:cNvSpPr txBox="1"/>
          <p:nvPr/>
        </p:nvSpPr>
        <p:spPr>
          <a:xfrm>
            <a:off x="7366223" y="2194560"/>
            <a:ext cx="4093951" cy="310896"/>
          </a:xfrm>
          <a:prstGeom prst="rect">
            <a:avLst/>
          </a:prstGeom>
          <a:noFill/>
        </p:spPr>
        <p:txBody>
          <a:bodyPr wrap="square" lIns="0" tIns="0" rIns="0" bIns="0" anchor="ctr">
            <a:spAutoFit/>
          </a:bodyPr>
          <a:lstStyle/>
          <a:p>
            <a:pPr algn="l"/>
            <a:r>
              <a:rPr sz="1300" b="1" i="0">
                <a:solidFill>
                  <a:srgbClr val="A8443A"/>
                </a:solidFill>
                <a:latin typeface="Calibri"/>
              </a:rPr>
              <a:t>AUC</a:t>
            </a:r>
          </a:p>
        </p:txBody>
      </p:sp>
      <p:sp>
        <p:nvSpPr>
          <p:cNvPr id="8" name="Rectangle 7"/>
          <p:cNvSpPr/>
          <p:nvPr/>
        </p:nvSpPr>
        <p:spPr>
          <a:xfrm>
            <a:off x="566928" y="2560320"/>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615184"/>
            <a:ext cx="6305519" cy="475488"/>
          </a:xfrm>
          <a:prstGeom prst="rect">
            <a:avLst/>
          </a:prstGeom>
          <a:noFill/>
        </p:spPr>
        <p:txBody>
          <a:bodyPr wrap="square" lIns="0" tIns="0" rIns="0" bIns="0" anchor="ctr">
            <a:spAutoFit/>
          </a:bodyPr>
          <a:lstStyle/>
          <a:p>
            <a:pPr algn="r"/>
            <a:r>
              <a:rPr sz="1400" b="0" i="0">
                <a:solidFill>
                  <a:srgbClr val="2B3440"/>
                </a:solidFill>
                <a:latin typeface="Calibri"/>
              </a:rPr>
              <a:t>1</a:t>
            </a:r>
          </a:p>
        </p:txBody>
      </p:sp>
      <p:sp>
        <p:nvSpPr>
          <p:cNvPr id="10" name="TextBox 9"/>
          <p:cNvSpPr txBox="1"/>
          <p:nvPr/>
        </p:nvSpPr>
        <p:spPr>
          <a:xfrm>
            <a:off x="7366223" y="2615184"/>
            <a:ext cx="4093951" cy="475488"/>
          </a:xfrm>
          <a:prstGeom prst="rect">
            <a:avLst/>
          </a:prstGeom>
          <a:noFill/>
        </p:spPr>
        <p:txBody>
          <a:bodyPr wrap="square" lIns="0" tIns="0" rIns="0" bIns="0" anchor="ctr">
            <a:spAutoFit/>
          </a:bodyPr>
          <a:lstStyle/>
          <a:p>
            <a:pPr algn="r"/>
            <a:r>
              <a:rPr sz="1400" b="0" i="0">
                <a:solidFill>
                  <a:srgbClr val="2B3440"/>
                </a:solidFill>
                <a:latin typeface="Calibri"/>
              </a:rPr>
              <a:t>0.7855</a:t>
            </a:r>
          </a:p>
        </p:txBody>
      </p:sp>
      <p:sp>
        <p:nvSpPr>
          <p:cNvPr id="11" name="Rectangle 10"/>
          <p:cNvSpPr/>
          <p:nvPr/>
        </p:nvSpPr>
        <p:spPr>
          <a:xfrm>
            <a:off x="566928" y="3145536"/>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200400"/>
            <a:ext cx="6305519" cy="475488"/>
          </a:xfrm>
          <a:prstGeom prst="rect">
            <a:avLst/>
          </a:prstGeom>
          <a:noFill/>
        </p:spPr>
        <p:txBody>
          <a:bodyPr wrap="square" lIns="0" tIns="0" rIns="0" bIns="0" anchor="ctr">
            <a:spAutoFit/>
          </a:bodyPr>
          <a:lstStyle/>
          <a:p>
            <a:pPr algn="r"/>
            <a:r>
              <a:rPr sz="1400" b="0" i="0">
                <a:solidFill>
                  <a:srgbClr val="2B3440"/>
                </a:solidFill>
                <a:latin typeface="Calibri"/>
              </a:rPr>
              <a:t>3</a:t>
            </a:r>
          </a:p>
        </p:txBody>
      </p:sp>
      <p:sp>
        <p:nvSpPr>
          <p:cNvPr id="13" name="TextBox 12"/>
          <p:cNvSpPr txBox="1"/>
          <p:nvPr/>
        </p:nvSpPr>
        <p:spPr>
          <a:xfrm>
            <a:off x="7366223" y="3200400"/>
            <a:ext cx="4093951" cy="475488"/>
          </a:xfrm>
          <a:prstGeom prst="rect">
            <a:avLst/>
          </a:prstGeom>
          <a:noFill/>
        </p:spPr>
        <p:txBody>
          <a:bodyPr wrap="square" lIns="0" tIns="0" rIns="0" bIns="0" anchor="ctr">
            <a:spAutoFit/>
          </a:bodyPr>
          <a:lstStyle/>
          <a:p>
            <a:pPr algn="r"/>
            <a:r>
              <a:rPr sz="1400" b="0" i="0">
                <a:solidFill>
                  <a:srgbClr val="2B3440"/>
                </a:solidFill>
                <a:latin typeface="Calibri"/>
              </a:rPr>
              <a:t>0.8425</a:t>
            </a:r>
          </a:p>
        </p:txBody>
      </p:sp>
      <p:sp>
        <p:nvSpPr>
          <p:cNvPr id="14" name="Rectangle 13"/>
          <p:cNvSpPr/>
          <p:nvPr/>
        </p:nvSpPr>
        <p:spPr>
          <a:xfrm>
            <a:off x="566928" y="3730752"/>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785615"/>
            <a:ext cx="6305519" cy="475488"/>
          </a:xfrm>
          <a:prstGeom prst="rect">
            <a:avLst/>
          </a:prstGeom>
          <a:noFill/>
        </p:spPr>
        <p:txBody>
          <a:bodyPr wrap="square" lIns="0" tIns="0" rIns="0" bIns="0" anchor="ctr">
            <a:spAutoFit/>
          </a:bodyPr>
          <a:lstStyle/>
          <a:p>
            <a:pPr algn="r"/>
            <a:r>
              <a:rPr sz="1400" b="0" i="0">
                <a:solidFill>
                  <a:srgbClr val="2B3440"/>
                </a:solidFill>
                <a:latin typeface="Calibri"/>
              </a:rPr>
              <a:t>10</a:t>
            </a:r>
          </a:p>
        </p:txBody>
      </p:sp>
      <p:sp>
        <p:nvSpPr>
          <p:cNvPr id="16" name="TextBox 15"/>
          <p:cNvSpPr txBox="1"/>
          <p:nvPr/>
        </p:nvSpPr>
        <p:spPr>
          <a:xfrm>
            <a:off x="7366223" y="3785615"/>
            <a:ext cx="4093951" cy="475488"/>
          </a:xfrm>
          <a:prstGeom prst="rect">
            <a:avLst/>
          </a:prstGeom>
          <a:noFill/>
        </p:spPr>
        <p:txBody>
          <a:bodyPr wrap="square" lIns="0" tIns="0" rIns="0" bIns="0" anchor="ctr">
            <a:spAutoFit/>
          </a:bodyPr>
          <a:lstStyle/>
          <a:p>
            <a:pPr algn="r"/>
            <a:r>
              <a:rPr sz="1400" b="0" i="0">
                <a:solidFill>
                  <a:srgbClr val="2B3440"/>
                </a:solidFill>
                <a:latin typeface="Calibri"/>
              </a:rPr>
              <a:t>0.8855</a:t>
            </a:r>
          </a:p>
        </p:txBody>
      </p:sp>
      <p:sp>
        <p:nvSpPr>
          <p:cNvPr id="17" name="Rectangle 16"/>
          <p:cNvSpPr/>
          <p:nvPr/>
        </p:nvSpPr>
        <p:spPr>
          <a:xfrm>
            <a:off x="566928" y="4315968"/>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370831"/>
            <a:ext cx="6305519" cy="475488"/>
          </a:xfrm>
          <a:prstGeom prst="rect">
            <a:avLst/>
          </a:prstGeom>
          <a:noFill/>
        </p:spPr>
        <p:txBody>
          <a:bodyPr wrap="square" lIns="0" tIns="0" rIns="0" bIns="0" anchor="ctr">
            <a:spAutoFit/>
          </a:bodyPr>
          <a:lstStyle/>
          <a:p>
            <a:pPr algn="r"/>
            <a:r>
              <a:rPr sz="1400" b="1" i="0">
                <a:solidFill>
                  <a:srgbClr val="A9660B"/>
                </a:solidFill>
                <a:latin typeface="Calibri"/>
              </a:rPr>
              <a:t>30</a:t>
            </a:r>
          </a:p>
        </p:txBody>
      </p:sp>
      <p:sp>
        <p:nvSpPr>
          <p:cNvPr id="19" name="TextBox 18"/>
          <p:cNvSpPr txBox="1"/>
          <p:nvPr/>
        </p:nvSpPr>
        <p:spPr>
          <a:xfrm>
            <a:off x="7366223" y="4370831"/>
            <a:ext cx="4093951" cy="475488"/>
          </a:xfrm>
          <a:prstGeom prst="rect">
            <a:avLst/>
          </a:prstGeom>
          <a:noFill/>
        </p:spPr>
        <p:txBody>
          <a:bodyPr wrap="square" lIns="0" tIns="0" rIns="0" bIns="0" anchor="ctr">
            <a:spAutoFit/>
          </a:bodyPr>
          <a:lstStyle/>
          <a:p>
            <a:pPr algn="r"/>
            <a:r>
              <a:rPr sz="1400" b="1" i="0">
                <a:solidFill>
                  <a:srgbClr val="A9660B"/>
                </a:solidFill>
                <a:latin typeface="Calibri"/>
              </a:rPr>
              <a:t>0.8973</a:t>
            </a:r>
          </a:p>
        </p:txBody>
      </p:sp>
      <p:sp>
        <p:nvSpPr>
          <p:cNvPr id="20" name="Rectangle 19"/>
          <p:cNvSpPr/>
          <p:nvPr/>
        </p:nvSpPr>
        <p:spPr>
          <a:xfrm>
            <a:off x="566928" y="4901183"/>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956047"/>
            <a:ext cx="6305519" cy="475488"/>
          </a:xfrm>
          <a:prstGeom prst="rect">
            <a:avLst/>
          </a:prstGeom>
          <a:noFill/>
        </p:spPr>
        <p:txBody>
          <a:bodyPr wrap="square" lIns="0" tIns="0" rIns="0" bIns="0" anchor="ctr">
            <a:spAutoFit/>
          </a:bodyPr>
          <a:lstStyle/>
          <a:p>
            <a:pPr algn="l"/>
            <a:r>
              <a:rPr sz="1400" b="0" i="0">
                <a:solidFill>
                  <a:srgbClr val="2B3440"/>
                </a:solidFill>
                <a:latin typeface="Calibri"/>
              </a:rPr>
              <a:t>sklearn RandomForest(30)</a:t>
            </a:r>
          </a:p>
        </p:txBody>
      </p:sp>
      <p:sp>
        <p:nvSpPr>
          <p:cNvPr id="22" name="TextBox 21"/>
          <p:cNvSpPr txBox="1"/>
          <p:nvPr/>
        </p:nvSpPr>
        <p:spPr>
          <a:xfrm>
            <a:off x="7366223" y="4956047"/>
            <a:ext cx="4093951" cy="475488"/>
          </a:xfrm>
          <a:prstGeom prst="rect">
            <a:avLst/>
          </a:prstGeom>
          <a:noFill/>
        </p:spPr>
        <p:txBody>
          <a:bodyPr wrap="square" lIns="0" tIns="0" rIns="0" bIns="0" anchor="ctr">
            <a:spAutoFit/>
          </a:bodyPr>
          <a:lstStyle/>
          <a:p>
            <a:pPr algn="r"/>
            <a:r>
              <a:rPr sz="1400" b="0" i="0">
                <a:solidFill>
                  <a:srgbClr val="2B3440"/>
                </a:solidFill>
                <a:latin typeface="Calibri"/>
              </a:rPr>
              <a:t>0.9080</a:t>
            </a:r>
          </a:p>
        </p:txBody>
      </p:sp>
      <p:sp>
        <p:nvSpPr>
          <p:cNvPr id="23" name="Rounded Rectangle 22"/>
          <p:cNvSpPr/>
          <p:nvPr/>
        </p:nvSpPr>
        <p:spPr>
          <a:xfrm>
            <a:off x="566928" y="5779008"/>
            <a:ext cx="11057839" cy="603504"/>
          </a:xfrm>
          <a:prstGeom prst="roundRect">
            <a:avLst>
              <a:gd name="adj" fmla="val 21212"/>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sklearn does slightly better because it also samples features at each split, which decorrelates the trees further. Same idea, applied twice.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Why each tree is deliberately unbounded</a:t>
            </a:r>
          </a:p>
        </p:txBody>
      </p:sp>
      <p:sp>
        <p:nvSpPr>
          <p:cNvPr id="4" name="Rounded Rectangle 3"/>
          <p:cNvSpPr/>
          <p:nvPr/>
        </p:nvSpPr>
        <p:spPr>
          <a:xfrm>
            <a:off x="566928" y="1700784"/>
            <a:ext cx="11057839" cy="3926204"/>
          </a:xfrm>
          <a:prstGeom prst="roundRect">
            <a:avLst>
              <a:gd name="adj" fmla="val 3260"/>
            </a:avLst>
          </a:prstGeom>
          <a:solidFill>
            <a:srgbClr val="FC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ecision-tree-overfitting.png"/>
          <p:cNvPicPr>
            <a:picLocks noChangeAspect="1"/>
          </p:cNvPicPr>
          <p:nvPr/>
        </p:nvPicPr>
        <p:blipFill>
          <a:blip r:embed="rId2"/>
          <a:stretch>
            <a:fillRect/>
          </a:stretch>
        </p:blipFill>
        <p:spPr>
          <a:xfrm>
            <a:off x="1202283" y="1828800"/>
            <a:ext cx="9787127" cy="3670172"/>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819013"/>
            <a:ext cx="10472623" cy="700658"/>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An unbounded tree carves the plane into pieces small enough to describe noise. On its own that is a failure - it is the collapse from Session 5. Here it is the </a:t>
            </a:r>
            <a:r>
              <a:rPr sz="1350" b="1" i="0">
                <a:solidFill>
                  <a:srgbClr val="A8443A"/>
                </a:solidFill>
                <a:latin typeface="Calibri"/>
              </a:rPr>
              <a:t>point</a:t>
            </a:r>
            <a:r>
              <a:rPr sz="1350" b="0" i="0">
                <a:solidFill>
                  <a:srgbClr val="2B3440"/>
                </a:solidFill>
                <a:latin typeface="Calibri"/>
              </a:rPr>
              <a:t>: a high-variance model is one that disagrees with a differently trained copy of itself, and disagreement is what averaging consumes. Try this with thirty depth-2 trees and the gain disappears.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The raw material</a:t>
            </a:r>
          </a:p>
        </p:txBody>
      </p:sp>
      <p:sp>
        <p:nvSpPr>
          <p:cNvPr id="4" name="Rounded Rectangle 3"/>
          <p:cNvSpPr/>
          <p:nvPr/>
        </p:nvSpPr>
        <p:spPr>
          <a:xfrm>
            <a:off x="566928" y="1956816"/>
            <a:ext cx="4617720" cy="4398264"/>
          </a:xfrm>
          <a:prstGeom prst="roundRect">
            <a:avLst>
              <a:gd name="adj" fmla="val 2910"/>
            </a:avLst>
          </a:prstGeom>
          <a:solidFill>
            <a:srgbClr val="F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A9660B"/>
                </a:solidFill>
                <a:latin typeface="Cambria"/>
              </a:rPr>
              <a:t>0.2283</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mean standard deviation </a:t>
            </a:r>
            <a:r>
              <a:rPr sz="1450" b="1" i="0">
                <a:solidFill>
                  <a:srgbClr val="A8443A"/>
                </a:solidFill>
                <a:latin typeface="Calibri"/>
              </a:rPr>
              <a:t>between trees</a:t>
            </a:r>
            <a:r>
              <a:rPr sz="1450" b="0" i="0">
                <a:solidFill>
                  <a:srgbClr val="6E7A8A"/>
                </a:solidFill>
                <a:latin typeface="Calibri"/>
              </a:rPr>
              <a:t>, per listing</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For a typical listing, the thirty trees disagree by about 0.23 in predicted probability.</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That disagreement is not noise to be removed. It is what averaging consumes.</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1" i="0">
                <a:solidFill>
                  <a:srgbClr val="A8443A"/>
                </a:solidFill>
                <a:latin typeface="Calibri"/>
              </a:rPr>
              <a:t>If all thirty trees agreed, averaging would change nothing.</a:t>
            </a:r>
            <a:r>
              <a:rPr sz="1600" b="0" i="0">
                <a:solidFill>
                  <a:srgbClr val="2B3440"/>
                </a:solidFill>
                <a:latin typeface="Calibri"/>
              </a:rPr>
              <a:t> Try this with thirty depth-2 trees and the gain disappears.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1993392"/>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2600" b="1" dirty="0">
                <a:solidFill>
                  <a:srgbClr val="12233A"/>
                </a:solidFill>
                <a:latin typeface="Calibri"/>
              </a:rPr>
              <a:t>2</a:t>
            </a:r>
            <a:endParaRPr sz="2600" b="1" i="0" dirty="0">
              <a:solidFill>
                <a:srgbClr val="12233A"/>
              </a:solidFill>
              <a:latin typeface="Calibri"/>
            </a:endParaRP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Boosting, and the opposite failure mode</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Same family of weak learners, chained instead of averaged - and the behaviour reverses.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Two ways to combine trees</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The difference in one word: dependence.</a:t>
            </a:r>
          </a:p>
        </p:txBody>
      </p:sp>
      <p:sp>
        <p:nvSpPr>
          <p:cNvPr id="5" name="Rounded Rectangle 4"/>
          <p:cNvSpPr/>
          <p:nvPr/>
        </p:nvSpPr>
        <p:spPr>
          <a:xfrm>
            <a:off x="566928" y="2157984"/>
            <a:ext cx="5373471" cy="4197096"/>
          </a:xfrm>
          <a:prstGeom prst="roundRect">
            <a:avLst>
              <a:gd name="adj" fmla="val 3050"/>
            </a:avLst>
          </a:prstGeom>
          <a:solidFill>
            <a:srgbClr val="F8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340864"/>
            <a:ext cx="4824831" cy="493776"/>
          </a:xfrm>
          <a:prstGeom prst="rect">
            <a:avLst/>
          </a:prstGeom>
          <a:noFill/>
        </p:spPr>
        <p:txBody>
          <a:bodyPr wrap="square" lIns="0" tIns="0" rIns="0" bIns="0" anchor="ctr">
            <a:spAutoFit/>
          </a:bodyPr>
          <a:lstStyle/>
          <a:p>
            <a:pPr algn="l"/>
            <a:r>
              <a:rPr sz="1700" b="1" i="0">
                <a:solidFill>
                  <a:srgbClr val="9E2B25"/>
                </a:solidFill>
                <a:latin typeface="Cambria"/>
              </a:rPr>
              <a:t>Boosting  ·  sequential</a:t>
            </a:r>
          </a:p>
        </p:txBody>
      </p:sp>
      <p:sp>
        <p:nvSpPr>
          <p:cNvPr id="7" name="TextBox 6"/>
          <p:cNvSpPr txBox="1"/>
          <p:nvPr/>
        </p:nvSpPr>
        <p:spPr>
          <a:xfrm>
            <a:off x="841247" y="2889504"/>
            <a:ext cx="4824831" cy="777240"/>
          </a:xfrm>
          <a:prstGeom prst="rect">
            <a:avLst/>
          </a:prstGeom>
          <a:noFill/>
        </p:spPr>
        <p:txBody>
          <a:bodyPr wrap="square" lIns="0" tIns="0" rIns="0" bIns="0" anchor="t">
            <a:spAutoFit/>
          </a:bodyPr>
          <a:lstStyle/>
          <a:p>
            <a:pPr algn="l"/>
            <a:r>
              <a:rPr sz="3400" b="1" i="0">
                <a:solidFill>
                  <a:srgbClr val="9E2B25"/>
                </a:solidFill>
                <a:latin typeface="Cambria"/>
              </a:rPr>
              <a:t>each corrects the last</a:t>
            </a:r>
          </a:p>
        </p:txBody>
      </p:sp>
      <p:sp>
        <p:nvSpPr>
          <p:cNvPr id="8" name="TextBox 7"/>
          <p:cNvSpPr txBox="1"/>
          <p:nvPr/>
        </p:nvSpPr>
        <p:spPr>
          <a:xfrm>
            <a:off x="841247" y="3858768"/>
            <a:ext cx="4824831" cy="507492"/>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Every tree is fitted to what the previous ones got wrong.</a:t>
            </a:r>
          </a:p>
        </p:txBody>
      </p:sp>
      <p:sp>
        <p:nvSpPr>
          <p:cNvPr id="9" name="TextBox 8"/>
          <p:cNvSpPr txBox="1"/>
          <p:nvPr/>
        </p:nvSpPr>
        <p:spPr>
          <a:xfrm>
            <a:off x="841247" y="4439412"/>
            <a:ext cx="4824831" cy="507492"/>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The trees are </a:t>
            </a:r>
            <a:r>
              <a:rPr sz="1450" b="1" i="0">
                <a:solidFill>
                  <a:srgbClr val="A8443A"/>
                </a:solidFill>
                <a:latin typeface="Calibri"/>
              </a:rPr>
              <a:t>dependent</a:t>
            </a:r>
            <a:r>
              <a:rPr sz="1450" b="0" i="0">
                <a:solidFill>
                  <a:srgbClr val="2B3440"/>
                </a:solidFill>
                <a:latin typeface="Calibri"/>
              </a:rPr>
              <a:t> by construction.</a:t>
            </a:r>
          </a:p>
        </p:txBody>
      </p:sp>
      <p:sp>
        <p:nvSpPr>
          <p:cNvPr id="10" name="TextBox 9"/>
          <p:cNvSpPr txBox="1"/>
          <p:nvPr/>
        </p:nvSpPr>
        <p:spPr>
          <a:xfrm>
            <a:off x="841247" y="5020056"/>
            <a:ext cx="4824831" cy="507492"/>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Past some point the corrections start fitting noise.</a:t>
            </a:r>
          </a:p>
        </p:txBody>
      </p:sp>
      <p:sp>
        <p:nvSpPr>
          <p:cNvPr id="11" name="TextBox 10"/>
          <p:cNvSpPr txBox="1"/>
          <p:nvPr/>
        </p:nvSpPr>
        <p:spPr>
          <a:xfrm>
            <a:off x="841247" y="5600700"/>
            <a:ext cx="4824831" cy="507492"/>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So </a:t>
            </a:r>
            <a:r>
              <a:rPr sz="1350" b="0" i="0">
                <a:solidFill>
                  <a:srgbClr val="2B3440"/>
                </a:solidFill>
                <a:latin typeface="Courier New"/>
              </a:rPr>
              <a:t>n_estimators</a:t>
            </a:r>
            <a:r>
              <a:rPr sz="1450" b="0" i="0">
                <a:solidFill>
                  <a:srgbClr val="2B3440"/>
                </a:solidFill>
                <a:latin typeface="Calibri"/>
              </a:rPr>
              <a:t> is a parameter you can overshoot.</a:t>
            </a:r>
          </a:p>
        </p:txBody>
      </p:sp>
      <p:sp>
        <p:nvSpPr>
          <p:cNvPr id="12" name="Rounded Rectangle 11"/>
          <p:cNvSpPr/>
          <p:nvPr/>
        </p:nvSpPr>
        <p:spPr>
          <a:xfrm>
            <a:off x="6251295" y="2157984"/>
            <a:ext cx="5373471" cy="4197096"/>
          </a:xfrm>
          <a:prstGeom prst="roundRect">
            <a:avLst>
              <a:gd name="adj" fmla="val 3050"/>
            </a:avLst>
          </a:prstGeom>
          <a:solidFill>
            <a:srgbClr val="EF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25615" y="2340864"/>
            <a:ext cx="4824831" cy="493776"/>
          </a:xfrm>
          <a:prstGeom prst="rect">
            <a:avLst/>
          </a:prstGeom>
          <a:noFill/>
        </p:spPr>
        <p:txBody>
          <a:bodyPr wrap="square" lIns="0" tIns="0" rIns="0" bIns="0" anchor="ctr">
            <a:spAutoFit/>
          </a:bodyPr>
          <a:lstStyle/>
          <a:p>
            <a:pPr algn="l"/>
            <a:r>
              <a:rPr sz="1700" b="1" i="0">
                <a:solidFill>
                  <a:srgbClr val="1F6F5C"/>
                </a:solidFill>
                <a:latin typeface="Cambria"/>
              </a:rPr>
              <a:t>Bagging  ·  parallel</a:t>
            </a:r>
          </a:p>
        </p:txBody>
      </p:sp>
      <p:sp>
        <p:nvSpPr>
          <p:cNvPr id="14" name="TextBox 13"/>
          <p:cNvSpPr txBox="1"/>
          <p:nvPr/>
        </p:nvSpPr>
        <p:spPr>
          <a:xfrm>
            <a:off x="6525615" y="2889504"/>
            <a:ext cx="4824831" cy="777240"/>
          </a:xfrm>
          <a:prstGeom prst="rect">
            <a:avLst/>
          </a:prstGeom>
          <a:noFill/>
        </p:spPr>
        <p:txBody>
          <a:bodyPr wrap="square" lIns="0" tIns="0" rIns="0" bIns="0" anchor="t">
            <a:spAutoFit/>
          </a:bodyPr>
          <a:lstStyle/>
          <a:p>
            <a:pPr algn="l"/>
            <a:r>
              <a:rPr sz="3400" b="1" i="0">
                <a:solidFill>
                  <a:srgbClr val="1F6F5C"/>
                </a:solidFill>
                <a:latin typeface="Cambria"/>
              </a:rPr>
              <a:t>each is independent</a:t>
            </a:r>
          </a:p>
        </p:txBody>
      </p:sp>
      <p:sp>
        <p:nvSpPr>
          <p:cNvPr id="15" name="TextBox 14"/>
          <p:cNvSpPr txBox="1"/>
          <p:nvPr/>
        </p:nvSpPr>
        <p:spPr>
          <a:xfrm>
            <a:off x="6525615" y="3858768"/>
            <a:ext cx="4824831" cy="507492"/>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Every tree is fitted to its own resample, in isolation.</a:t>
            </a:r>
          </a:p>
        </p:txBody>
      </p:sp>
      <p:sp>
        <p:nvSpPr>
          <p:cNvPr id="16" name="TextBox 15"/>
          <p:cNvSpPr txBox="1"/>
          <p:nvPr/>
        </p:nvSpPr>
        <p:spPr>
          <a:xfrm>
            <a:off x="6525615" y="4439412"/>
            <a:ext cx="4824831" cy="507492"/>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The trees are </a:t>
            </a:r>
            <a:r>
              <a:rPr sz="1450" b="1" i="0">
                <a:solidFill>
                  <a:srgbClr val="A8443A"/>
                </a:solidFill>
                <a:latin typeface="Calibri"/>
              </a:rPr>
              <a:t>independent</a:t>
            </a:r>
            <a:r>
              <a:rPr sz="1450" b="0" i="0">
                <a:solidFill>
                  <a:srgbClr val="2B3440"/>
                </a:solidFill>
                <a:latin typeface="Calibri"/>
              </a:rPr>
              <a:t> by construction.</a:t>
            </a:r>
          </a:p>
        </p:txBody>
      </p:sp>
      <p:sp>
        <p:nvSpPr>
          <p:cNvPr id="17" name="TextBox 16"/>
          <p:cNvSpPr txBox="1"/>
          <p:nvPr/>
        </p:nvSpPr>
        <p:spPr>
          <a:xfrm>
            <a:off x="6525615" y="5020056"/>
            <a:ext cx="4824831" cy="507492"/>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More independent estimates to average never hurts.</a:t>
            </a:r>
          </a:p>
        </p:txBody>
      </p:sp>
      <p:sp>
        <p:nvSpPr>
          <p:cNvPr id="18" name="TextBox 17"/>
          <p:cNvSpPr txBox="1"/>
          <p:nvPr/>
        </p:nvSpPr>
        <p:spPr>
          <a:xfrm>
            <a:off x="6525615" y="5600700"/>
            <a:ext cx="4824831" cy="507492"/>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So </a:t>
            </a:r>
            <a:r>
              <a:rPr sz="1350" b="0" i="0">
                <a:solidFill>
                  <a:srgbClr val="2B3440"/>
                </a:solidFill>
                <a:latin typeface="Courier New"/>
              </a:rPr>
              <a:t>n_estimators</a:t>
            </a:r>
            <a:r>
              <a:rPr sz="1450" b="0" i="0">
                <a:solidFill>
                  <a:srgbClr val="2B3440"/>
                </a:solidFill>
                <a:latin typeface="Calibri"/>
              </a:rPr>
              <a:t> is a budget, not a risk.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Adding trees: the two families diverge</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Identical folds, identical preprocessing. Only the combination rule differs.</a:t>
            </a:r>
          </a:p>
        </p:txBody>
      </p:sp>
      <p:sp>
        <p:nvSpPr>
          <p:cNvPr id="5" name="Rectangle 4"/>
          <p:cNvSpPr/>
          <p:nvPr/>
        </p:nvSpPr>
        <p:spPr>
          <a:xfrm>
            <a:off x="566928" y="2139696"/>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2988167" cy="310896"/>
          </a:xfrm>
          <a:prstGeom prst="rect">
            <a:avLst/>
          </a:prstGeom>
          <a:noFill/>
        </p:spPr>
        <p:txBody>
          <a:bodyPr wrap="square" lIns="0" tIns="0" rIns="0" bIns="0" anchor="ctr">
            <a:spAutoFit/>
          </a:bodyPr>
          <a:lstStyle/>
          <a:p>
            <a:pPr algn="l"/>
            <a:r>
              <a:rPr sz="1300" b="1" i="0">
                <a:solidFill>
                  <a:srgbClr val="A8443A"/>
                </a:solidFill>
                <a:latin typeface="Calibri"/>
              </a:rPr>
              <a:t>n_estimators</a:t>
            </a:r>
          </a:p>
        </p:txBody>
      </p:sp>
      <p:sp>
        <p:nvSpPr>
          <p:cNvPr id="7" name="TextBox 6"/>
          <p:cNvSpPr txBox="1"/>
          <p:nvPr/>
        </p:nvSpPr>
        <p:spPr>
          <a:xfrm>
            <a:off x="4048871" y="2194560"/>
            <a:ext cx="3264613" cy="310896"/>
          </a:xfrm>
          <a:prstGeom prst="rect">
            <a:avLst/>
          </a:prstGeom>
          <a:noFill/>
        </p:spPr>
        <p:txBody>
          <a:bodyPr wrap="square" lIns="0" tIns="0" rIns="0" bIns="0" anchor="ctr">
            <a:spAutoFit/>
          </a:bodyPr>
          <a:lstStyle/>
          <a:p>
            <a:pPr algn="l"/>
            <a:r>
              <a:rPr sz="1300" b="1" i="0">
                <a:solidFill>
                  <a:srgbClr val="A8443A"/>
                </a:solidFill>
                <a:latin typeface="Calibri"/>
              </a:rPr>
              <a:t>RandomForest</a:t>
            </a:r>
          </a:p>
        </p:txBody>
      </p:sp>
      <p:sp>
        <p:nvSpPr>
          <p:cNvPr id="8" name="TextBox 7"/>
          <p:cNvSpPr txBox="1"/>
          <p:nvPr/>
        </p:nvSpPr>
        <p:spPr>
          <a:xfrm>
            <a:off x="7642669" y="2194560"/>
            <a:ext cx="3817505" cy="310896"/>
          </a:xfrm>
          <a:prstGeom prst="rect">
            <a:avLst/>
          </a:prstGeom>
          <a:noFill/>
        </p:spPr>
        <p:txBody>
          <a:bodyPr wrap="square" lIns="0" tIns="0" rIns="0" bIns="0" anchor="ctr">
            <a:spAutoFit/>
          </a:bodyPr>
          <a:lstStyle/>
          <a:p>
            <a:pPr algn="l"/>
            <a:r>
              <a:rPr sz="1300" b="1" i="0">
                <a:solidFill>
                  <a:srgbClr val="A8443A"/>
                </a:solidFill>
                <a:latin typeface="Calibri"/>
              </a:rPr>
              <a:t>Boosting (lr = 0.3)</a:t>
            </a:r>
          </a:p>
        </p:txBody>
      </p:sp>
      <p:sp>
        <p:nvSpPr>
          <p:cNvPr id="9" name="Rectangle 8"/>
          <p:cNvSpPr/>
          <p:nvPr/>
        </p:nvSpPr>
        <p:spPr>
          <a:xfrm>
            <a:off x="566928" y="2560320"/>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615184"/>
            <a:ext cx="2988167" cy="475488"/>
          </a:xfrm>
          <a:prstGeom prst="rect">
            <a:avLst/>
          </a:prstGeom>
          <a:noFill/>
        </p:spPr>
        <p:txBody>
          <a:bodyPr wrap="square" lIns="0" tIns="0" rIns="0" bIns="0" anchor="ctr">
            <a:spAutoFit/>
          </a:bodyPr>
          <a:lstStyle/>
          <a:p>
            <a:pPr algn="r"/>
            <a:r>
              <a:rPr sz="1400" b="0" i="0">
                <a:solidFill>
                  <a:srgbClr val="2B3440"/>
                </a:solidFill>
                <a:latin typeface="Calibri"/>
              </a:rPr>
              <a:t>10</a:t>
            </a:r>
          </a:p>
        </p:txBody>
      </p:sp>
      <p:sp>
        <p:nvSpPr>
          <p:cNvPr id="11" name="TextBox 10"/>
          <p:cNvSpPr txBox="1"/>
          <p:nvPr/>
        </p:nvSpPr>
        <p:spPr>
          <a:xfrm>
            <a:off x="4048871" y="2615184"/>
            <a:ext cx="3264613" cy="475488"/>
          </a:xfrm>
          <a:prstGeom prst="rect">
            <a:avLst/>
          </a:prstGeom>
          <a:noFill/>
        </p:spPr>
        <p:txBody>
          <a:bodyPr wrap="square" lIns="0" tIns="0" rIns="0" bIns="0" anchor="ctr">
            <a:spAutoFit/>
          </a:bodyPr>
          <a:lstStyle/>
          <a:p>
            <a:pPr algn="r"/>
            <a:r>
              <a:rPr sz="1400" b="0" i="0">
                <a:solidFill>
                  <a:srgbClr val="2B3440"/>
                </a:solidFill>
                <a:latin typeface="Calibri"/>
              </a:rPr>
              <a:t>0.9062</a:t>
            </a:r>
          </a:p>
        </p:txBody>
      </p:sp>
      <p:sp>
        <p:nvSpPr>
          <p:cNvPr id="12" name="TextBox 11"/>
          <p:cNvSpPr txBox="1"/>
          <p:nvPr/>
        </p:nvSpPr>
        <p:spPr>
          <a:xfrm>
            <a:off x="7642669" y="2615184"/>
            <a:ext cx="3817505" cy="475488"/>
          </a:xfrm>
          <a:prstGeom prst="rect">
            <a:avLst/>
          </a:prstGeom>
          <a:noFill/>
        </p:spPr>
        <p:txBody>
          <a:bodyPr wrap="square" lIns="0" tIns="0" rIns="0" bIns="0" anchor="ctr">
            <a:spAutoFit/>
          </a:bodyPr>
          <a:lstStyle/>
          <a:p>
            <a:pPr algn="r"/>
            <a:r>
              <a:rPr sz="1400" b="0" i="0">
                <a:solidFill>
                  <a:srgbClr val="2B3440"/>
                </a:solidFill>
                <a:latin typeface="Calibri"/>
              </a:rPr>
              <a:t>0.9204</a:t>
            </a:r>
          </a:p>
        </p:txBody>
      </p:sp>
      <p:sp>
        <p:nvSpPr>
          <p:cNvPr id="13" name="Rectangle 12"/>
          <p:cNvSpPr/>
          <p:nvPr/>
        </p:nvSpPr>
        <p:spPr>
          <a:xfrm>
            <a:off x="566928" y="3145536"/>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200400"/>
            <a:ext cx="2988167" cy="475488"/>
          </a:xfrm>
          <a:prstGeom prst="rect">
            <a:avLst/>
          </a:prstGeom>
          <a:noFill/>
        </p:spPr>
        <p:txBody>
          <a:bodyPr wrap="square" lIns="0" tIns="0" rIns="0" bIns="0" anchor="ctr">
            <a:spAutoFit/>
          </a:bodyPr>
          <a:lstStyle/>
          <a:p>
            <a:pPr algn="r"/>
            <a:r>
              <a:rPr sz="1400" b="0" i="0">
                <a:solidFill>
                  <a:srgbClr val="2B3440"/>
                </a:solidFill>
                <a:latin typeface="Calibri"/>
              </a:rPr>
              <a:t>50</a:t>
            </a:r>
          </a:p>
        </p:txBody>
      </p:sp>
      <p:sp>
        <p:nvSpPr>
          <p:cNvPr id="15" name="TextBox 14"/>
          <p:cNvSpPr txBox="1"/>
          <p:nvPr/>
        </p:nvSpPr>
        <p:spPr>
          <a:xfrm>
            <a:off x="4048871" y="3200400"/>
            <a:ext cx="3264613" cy="475488"/>
          </a:xfrm>
          <a:prstGeom prst="rect">
            <a:avLst/>
          </a:prstGeom>
          <a:noFill/>
        </p:spPr>
        <p:txBody>
          <a:bodyPr wrap="square" lIns="0" tIns="0" rIns="0" bIns="0" anchor="ctr">
            <a:spAutoFit/>
          </a:bodyPr>
          <a:lstStyle/>
          <a:p>
            <a:pPr algn="r"/>
            <a:r>
              <a:rPr sz="1400" b="0" i="0">
                <a:solidFill>
                  <a:srgbClr val="2B3440"/>
                </a:solidFill>
                <a:latin typeface="Calibri"/>
              </a:rPr>
              <a:t>0.9188</a:t>
            </a:r>
          </a:p>
        </p:txBody>
      </p:sp>
      <p:sp>
        <p:nvSpPr>
          <p:cNvPr id="16" name="TextBox 15"/>
          <p:cNvSpPr txBox="1"/>
          <p:nvPr/>
        </p:nvSpPr>
        <p:spPr>
          <a:xfrm>
            <a:off x="7642669" y="3200400"/>
            <a:ext cx="3817505" cy="475488"/>
          </a:xfrm>
          <a:prstGeom prst="rect">
            <a:avLst/>
          </a:prstGeom>
          <a:noFill/>
        </p:spPr>
        <p:txBody>
          <a:bodyPr wrap="square" lIns="0" tIns="0" rIns="0" bIns="0" anchor="ctr">
            <a:spAutoFit/>
          </a:bodyPr>
          <a:lstStyle/>
          <a:p>
            <a:pPr algn="r"/>
            <a:r>
              <a:rPr sz="1400" b="0" i="0">
                <a:solidFill>
                  <a:srgbClr val="2B3440"/>
                </a:solidFill>
                <a:latin typeface="Calibri"/>
              </a:rPr>
              <a:t>0.9163</a:t>
            </a:r>
          </a:p>
        </p:txBody>
      </p:sp>
      <p:sp>
        <p:nvSpPr>
          <p:cNvPr id="17" name="Rectangle 16"/>
          <p:cNvSpPr/>
          <p:nvPr/>
        </p:nvSpPr>
        <p:spPr>
          <a:xfrm>
            <a:off x="566928" y="3730752"/>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785615"/>
            <a:ext cx="2988167" cy="475488"/>
          </a:xfrm>
          <a:prstGeom prst="rect">
            <a:avLst/>
          </a:prstGeom>
          <a:noFill/>
        </p:spPr>
        <p:txBody>
          <a:bodyPr wrap="square" lIns="0" tIns="0" rIns="0" bIns="0" anchor="ctr">
            <a:spAutoFit/>
          </a:bodyPr>
          <a:lstStyle/>
          <a:p>
            <a:pPr algn="r"/>
            <a:r>
              <a:rPr sz="1400" b="1" i="0">
                <a:solidFill>
                  <a:srgbClr val="A9660B"/>
                </a:solidFill>
                <a:latin typeface="Calibri"/>
              </a:rPr>
              <a:t>200</a:t>
            </a:r>
          </a:p>
        </p:txBody>
      </p:sp>
      <p:sp>
        <p:nvSpPr>
          <p:cNvPr id="19" name="TextBox 18"/>
          <p:cNvSpPr txBox="1"/>
          <p:nvPr/>
        </p:nvSpPr>
        <p:spPr>
          <a:xfrm>
            <a:off x="4048871" y="3785615"/>
            <a:ext cx="3264613" cy="475488"/>
          </a:xfrm>
          <a:prstGeom prst="rect">
            <a:avLst/>
          </a:prstGeom>
          <a:noFill/>
        </p:spPr>
        <p:txBody>
          <a:bodyPr wrap="square" lIns="0" tIns="0" rIns="0" bIns="0" anchor="ctr">
            <a:spAutoFit/>
          </a:bodyPr>
          <a:lstStyle/>
          <a:p>
            <a:pPr algn="r"/>
            <a:r>
              <a:rPr sz="1400" b="1" i="0">
                <a:solidFill>
                  <a:srgbClr val="A9660B"/>
                </a:solidFill>
                <a:latin typeface="Calibri"/>
              </a:rPr>
              <a:t>0.9216</a:t>
            </a:r>
          </a:p>
        </p:txBody>
      </p:sp>
      <p:sp>
        <p:nvSpPr>
          <p:cNvPr id="20" name="TextBox 19"/>
          <p:cNvSpPr txBox="1"/>
          <p:nvPr/>
        </p:nvSpPr>
        <p:spPr>
          <a:xfrm>
            <a:off x="7642669" y="3785615"/>
            <a:ext cx="3817505" cy="475488"/>
          </a:xfrm>
          <a:prstGeom prst="rect">
            <a:avLst/>
          </a:prstGeom>
          <a:noFill/>
        </p:spPr>
        <p:txBody>
          <a:bodyPr wrap="square" lIns="0" tIns="0" rIns="0" bIns="0" anchor="ctr">
            <a:spAutoFit/>
          </a:bodyPr>
          <a:lstStyle/>
          <a:p>
            <a:pPr algn="r"/>
            <a:r>
              <a:rPr sz="1400" b="1" i="0">
                <a:solidFill>
                  <a:srgbClr val="A9660B"/>
                </a:solidFill>
                <a:latin typeface="Calibri"/>
              </a:rPr>
              <a:t>0.9141</a:t>
            </a:r>
          </a:p>
        </p:txBody>
      </p:sp>
      <p:sp>
        <p:nvSpPr>
          <p:cNvPr id="21" name="Rounded Rectangle 20"/>
          <p:cNvSpPr/>
          <p:nvPr/>
        </p:nvSpPr>
        <p:spPr>
          <a:xfrm>
            <a:off x="566928" y="5779008"/>
            <a:ext cx="11057839" cy="603504"/>
          </a:xfrm>
          <a:prstGeom prst="roundRect">
            <a:avLst>
              <a:gd name="adj" fmla="val 21212"/>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Read the columns in opposite directions. The forest climbs and settles; the booster peaks at 10 trees and then declines.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Boosting at a high learning rate gets worse with more trees.</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0.9204 at ten trees, 0.9141 at two hundred. Nothing is broken and nothing needs fixing except the pair of settings that caused it. This is the single most useful thing to know about boosting, and it is invisible if you only ever try one value.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050" b="1" i="0">
                <a:solidFill>
                  <a:srgbClr val="12233A"/>
                </a:solidFill>
                <a:latin typeface="Cambria"/>
              </a:rPr>
              <a:t>Learning rate and tree count are one coupled decision</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Read the diagonal. A small rate needs many rounds; a large rate needs few.</a:t>
            </a:r>
          </a:p>
        </p:txBody>
      </p:sp>
      <p:sp>
        <p:nvSpPr>
          <p:cNvPr id="5" name="Rectangle 4"/>
          <p:cNvSpPr/>
          <p:nvPr/>
        </p:nvSpPr>
        <p:spPr>
          <a:xfrm>
            <a:off x="566928" y="2139696"/>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2435275" cy="310896"/>
          </a:xfrm>
          <a:prstGeom prst="rect">
            <a:avLst/>
          </a:prstGeom>
          <a:noFill/>
        </p:spPr>
        <p:txBody>
          <a:bodyPr wrap="square" lIns="0" tIns="0" rIns="0" bIns="0" anchor="ctr">
            <a:spAutoFit/>
          </a:bodyPr>
          <a:lstStyle/>
          <a:p>
            <a:pPr algn="l"/>
            <a:r>
              <a:rPr sz="1300" b="1" i="0">
                <a:solidFill>
                  <a:srgbClr val="A8443A"/>
                </a:solidFill>
                <a:latin typeface="Calibri"/>
              </a:rPr>
              <a:t>learning_rate</a:t>
            </a:r>
          </a:p>
        </p:txBody>
      </p:sp>
      <p:sp>
        <p:nvSpPr>
          <p:cNvPr id="7" name="TextBox 6"/>
          <p:cNvSpPr txBox="1"/>
          <p:nvPr/>
        </p:nvSpPr>
        <p:spPr>
          <a:xfrm>
            <a:off x="3495979" y="2194560"/>
            <a:ext cx="2435275" cy="310896"/>
          </a:xfrm>
          <a:prstGeom prst="rect">
            <a:avLst/>
          </a:prstGeom>
          <a:noFill/>
        </p:spPr>
        <p:txBody>
          <a:bodyPr wrap="square" lIns="0" tIns="0" rIns="0" bIns="0" anchor="ctr">
            <a:spAutoFit/>
          </a:bodyPr>
          <a:lstStyle/>
          <a:p>
            <a:pPr algn="l"/>
            <a:r>
              <a:rPr sz="1300" b="1" i="0">
                <a:solidFill>
                  <a:srgbClr val="A8443A"/>
                </a:solidFill>
                <a:latin typeface="Calibri"/>
              </a:rPr>
              <a:t>20 trees</a:t>
            </a:r>
          </a:p>
        </p:txBody>
      </p:sp>
      <p:sp>
        <p:nvSpPr>
          <p:cNvPr id="8" name="TextBox 7"/>
          <p:cNvSpPr txBox="1"/>
          <p:nvPr/>
        </p:nvSpPr>
        <p:spPr>
          <a:xfrm>
            <a:off x="6260439" y="2194560"/>
            <a:ext cx="2435275" cy="310896"/>
          </a:xfrm>
          <a:prstGeom prst="rect">
            <a:avLst/>
          </a:prstGeom>
          <a:noFill/>
        </p:spPr>
        <p:txBody>
          <a:bodyPr wrap="square" lIns="0" tIns="0" rIns="0" bIns="0" anchor="ctr">
            <a:spAutoFit/>
          </a:bodyPr>
          <a:lstStyle/>
          <a:p>
            <a:pPr algn="l"/>
            <a:r>
              <a:rPr sz="1300" b="1" i="0">
                <a:solidFill>
                  <a:srgbClr val="A8443A"/>
                </a:solidFill>
                <a:latin typeface="Calibri"/>
              </a:rPr>
              <a:t>60 trees</a:t>
            </a:r>
          </a:p>
        </p:txBody>
      </p:sp>
      <p:sp>
        <p:nvSpPr>
          <p:cNvPr id="9" name="TextBox 8"/>
          <p:cNvSpPr txBox="1"/>
          <p:nvPr/>
        </p:nvSpPr>
        <p:spPr>
          <a:xfrm>
            <a:off x="9024899" y="2194560"/>
            <a:ext cx="2435275" cy="310896"/>
          </a:xfrm>
          <a:prstGeom prst="rect">
            <a:avLst/>
          </a:prstGeom>
          <a:noFill/>
        </p:spPr>
        <p:txBody>
          <a:bodyPr wrap="square" lIns="0" tIns="0" rIns="0" bIns="0" anchor="ctr">
            <a:spAutoFit/>
          </a:bodyPr>
          <a:lstStyle/>
          <a:p>
            <a:pPr algn="l"/>
            <a:r>
              <a:rPr sz="1300" b="1" i="0">
                <a:solidFill>
                  <a:srgbClr val="A8443A"/>
                </a:solidFill>
                <a:latin typeface="Calibri"/>
              </a:rPr>
              <a:t>150 trees</a:t>
            </a:r>
          </a:p>
        </p:txBody>
      </p:sp>
      <p:sp>
        <p:nvSpPr>
          <p:cNvPr id="10" name="Rectangle 9"/>
          <p:cNvSpPr/>
          <p:nvPr/>
        </p:nvSpPr>
        <p:spPr>
          <a:xfrm>
            <a:off x="566928" y="2560320"/>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615184"/>
            <a:ext cx="2435275" cy="475488"/>
          </a:xfrm>
          <a:prstGeom prst="rect">
            <a:avLst/>
          </a:prstGeom>
          <a:noFill/>
        </p:spPr>
        <p:txBody>
          <a:bodyPr wrap="square" lIns="0" tIns="0" rIns="0" bIns="0" anchor="ctr">
            <a:spAutoFit/>
          </a:bodyPr>
          <a:lstStyle/>
          <a:p>
            <a:pPr algn="r"/>
            <a:r>
              <a:rPr sz="1400" b="0" i="0">
                <a:solidFill>
                  <a:srgbClr val="2B3440"/>
                </a:solidFill>
                <a:latin typeface="Calibri"/>
              </a:rPr>
              <a:t>0.01</a:t>
            </a:r>
          </a:p>
        </p:txBody>
      </p:sp>
      <p:sp>
        <p:nvSpPr>
          <p:cNvPr id="12" name="TextBox 11"/>
          <p:cNvSpPr txBox="1"/>
          <p:nvPr/>
        </p:nvSpPr>
        <p:spPr>
          <a:xfrm>
            <a:off x="3495979" y="2615184"/>
            <a:ext cx="2435275" cy="475488"/>
          </a:xfrm>
          <a:prstGeom prst="rect">
            <a:avLst/>
          </a:prstGeom>
          <a:noFill/>
        </p:spPr>
        <p:txBody>
          <a:bodyPr wrap="square" lIns="0" tIns="0" rIns="0" bIns="0" anchor="ctr">
            <a:spAutoFit/>
          </a:bodyPr>
          <a:lstStyle/>
          <a:p>
            <a:pPr algn="r"/>
            <a:r>
              <a:rPr sz="1400" b="0" i="0">
                <a:solidFill>
                  <a:srgbClr val="2B3440"/>
                </a:solidFill>
                <a:latin typeface="Calibri"/>
              </a:rPr>
              <a:t>0.9145</a:t>
            </a:r>
          </a:p>
        </p:txBody>
      </p:sp>
      <p:sp>
        <p:nvSpPr>
          <p:cNvPr id="13" name="TextBox 12"/>
          <p:cNvSpPr txBox="1"/>
          <p:nvPr/>
        </p:nvSpPr>
        <p:spPr>
          <a:xfrm>
            <a:off x="6260439" y="2615184"/>
            <a:ext cx="2435275" cy="475488"/>
          </a:xfrm>
          <a:prstGeom prst="rect">
            <a:avLst/>
          </a:prstGeom>
          <a:noFill/>
        </p:spPr>
        <p:txBody>
          <a:bodyPr wrap="square" lIns="0" tIns="0" rIns="0" bIns="0" anchor="ctr">
            <a:spAutoFit/>
          </a:bodyPr>
          <a:lstStyle/>
          <a:p>
            <a:pPr algn="r"/>
            <a:r>
              <a:rPr sz="1400" b="0" i="0">
                <a:solidFill>
                  <a:srgbClr val="2B3440"/>
                </a:solidFill>
                <a:latin typeface="Calibri"/>
              </a:rPr>
              <a:t>0.9182</a:t>
            </a:r>
          </a:p>
        </p:txBody>
      </p:sp>
      <p:sp>
        <p:nvSpPr>
          <p:cNvPr id="14" name="TextBox 13"/>
          <p:cNvSpPr txBox="1"/>
          <p:nvPr/>
        </p:nvSpPr>
        <p:spPr>
          <a:xfrm>
            <a:off x="9024899" y="2615184"/>
            <a:ext cx="2435275" cy="475488"/>
          </a:xfrm>
          <a:prstGeom prst="rect">
            <a:avLst/>
          </a:prstGeom>
          <a:noFill/>
        </p:spPr>
        <p:txBody>
          <a:bodyPr wrap="square" lIns="0" tIns="0" rIns="0" bIns="0" anchor="ctr">
            <a:spAutoFit/>
          </a:bodyPr>
          <a:lstStyle/>
          <a:p>
            <a:pPr algn="r"/>
            <a:r>
              <a:rPr sz="1400" b="0" i="0">
                <a:solidFill>
                  <a:srgbClr val="2B3440"/>
                </a:solidFill>
                <a:latin typeface="Calibri"/>
              </a:rPr>
              <a:t>0.9213</a:t>
            </a:r>
          </a:p>
        </p:txBody>
      </p:sp>
      <p:sp>
        <p:nvSpPr>
          <p:cNvPr id="15" name="Rectangle 14"/>
          <p:cNvSpPr/>
          <p:nvPr/>
        </p:nvSpPr>
        <p:spPr>
          <a:xfrm>
            <a:off x="566928" y="3145536"/>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200400"/>
            <a:ext cx="2435275" cy="475488"/>
          </a:xfrm>
          <a:prstGeom prst="rect">
            <a:avLst/>
          </a:prstGeom>
          <a:noFill/>
        </p:spPr>
        <p:txBody>
          <a:bodyPr wrap="square" lIns="0" tIns="0" rIns="0" bIns="0" anchor="ctr">
            <a:spAutoFit/>
          </a:bodyPr>
          <a:lstStyle/>
          <a:p>
            <a:pPr algn="r"/>
            <a:r>
              <a:rPr sz="1400" b="0" i="0">
                <a:solidFill>
                  <a:srgbClr val="2B3440"/>
                </a:solidFill>
                <a:latin typeface="Calibri"/>
              </a:rPr>
              <a:t>0.30</a:t>
            </a:r>
          </a:p>
        </p:txBody>
      </p:sp>
      <p:sp>
        <p:nvSpPr>
          <p:cNvPr id="17" name="TextBox 16"/>
          <p:cNvSpPr txBox="1"/>
          <p:nvPr/>
        </p:nvSpPr>
        <p:spPr>
          <a:xfrm>
            <a:off x="3495979" y="3200400"/>
            <a:ext cx="2435275" cy="475488"/>
          </a:xfrm>
          <a:prstGeom prst="rect">
            <a:avLst/>
          </a:prstGeom>
          <a:noFill/>
        </p:spPr>
        <p:txBody>
          <a:bodyPr wrap="square" lIns="0" tIns="0" rIns="0" bIns="0" anchor="ctr">
            <a:spAutoFit/>
          </a:bodyPr>
          <a:lstStyle/>
          <a:p>
            <a:pPr algn="r"/>
            <a:r>
              <a:rPr sz="1400" b="0" i="0">
                <a:solidFill>
                  <a:srgbClr val="2B3440"/>
                </a:solidFill>
                <a:latin typeface="Calibri"/>
              </a:rPr>
              <a:t>0.9201</a:t>
            </a:r>
          </a:p>
        </p:txBody>
      </p:sp>
      <p:sp>
        <p:nvSpPr>
          <p:cNvPr id="18" name="TextBox 17"/>
          <p:cNvSpPr txBox="1"/>
          <p:nvPr/>
        </p:nvSpPr>
        <p:spPr>
          <a:xfrm>
            <a:off x="6260439" y="3200400"/>
            <a:ext cx="2435275" cy="475488"/>
          </a:xfrm>
          <a:prstGeom prst="rect">
            <a:avLst/>
          </a:prstGeom>
          <a:noFill/>
        </p:spPr>
        <p:txBody>
          <a:bodyPr wrap="square" lIns="0" tIns="0" rIns="0" bIns="0" anchor="ctr">
            <a:spAutoFit/>
          </a:bodyPr>
          <a:lstStyle/>
          <a:p>
            <a:pPr algn="r"/>
            <a:r>
              <a:rPr sz="1400" b="0" i="0">
                <a:solidFill>
                  <a:srgbClr val="2B3440"/>
                </a:solidFill>
                <a:latin typeface="Calibri"/>
              </a:rPr>
              <a:t>0.9171</a:t>
            </a:r>
          </a:p>
        </p:txBody>
      </p:sp>
      <p:sp>
        <p:nvSpPr>
          <p:cNvPr id="19" name="TextBox 18"/>
          <p:cNvSpPr txBox="1"/>
          <p:nvPr/>
        </p:nvSpPr>
        <p:spPr>
          <a:xfrm>
            <a:off x="9024899" y="3200400"/>
            <a:ext cx="2435275" cy="475488"/>
          </a:xfrm>
          <a:prstGeom prst="rect">
            <a:avLst/>
          </a:prstGeom>
          <a:noFill/>
        </p:spPr>
        <p:txBody>
          <a:bodyPr wrap="square" lIns="0" tIns="0" rIns="0" bIns="0" anchor="ctr">
            <a:spAutoFit/>
          </a:bodyPr>
          <a:lstStyle/>
          <a:p>
            <a:pPr algn="r"/>
            <a:r>
              <a:rPr sz="1400" b="0" i="0">
                <a:solidFill>
                  <a:srgbClr val="2B3440"/>
                </a:solidFill>
                <a:latin typeface="Calibri"/>
              </a:rPr>
              <a:t>0.9141</a:t>
            </a:r>
          </a:p>
        </p:txBody>
      </p:sp>
      <p:sp>
        <p:nvSpPr>
          <p:cNvPr id="20" name="Rounded Rectangle 19"/>
          <p:cNvSpPr/>
          <p:nvPr/>
        </p:nvSpPr>
        <p:spPr>
          <a:xfrm>
            <a:off x="566928" y="5779008"/>
            <a:ext cx="11057839" cy="603504"/>
          </a:xfrm>
          <a:prstGeom prst="roundRect">
            <a:avLst>
              <a:gd name="adj" fmla="val 21212"/>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Tuning either one alone is a category error. They are two ways of spending the same budget.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1993392"/>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2600" b="1" dirty="0">
                <a:solidFill>
                  <a:srgbClr val="12233A"/>
                </a:solidFill>
                <a:latin typeface="Calibri"/>
              </a:rPr>
              <a:t>3</a:t>
            </a:r>
            <a:endParaRPr sz="2600" b="1" i="0" dirty="0">
              <a:solidFill>
                <a:srgbClr val="12233A"/>
              </a:solidFill>
              <a:latin typeface="Calibri"/>
            </a:endParaRP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The benchmark, done properly</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Five models, one protocol, identical folds - then Session 6's machinery applied to the result.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Five models, identical folds</a:t>
            </a:r>
          </a:p>
        </p:txBody>
      </p:sp>
      <p:sp>
        <p:nvSpPr>
          <p:cNvPr id="4" name="Rectangle 3"/>
          <p:cNvSpPr/>
          <p:nvPr/>
        </p:nvSpPr>
        <p:spPr>
          <a:xfrm>
            <a:off x="566928" y="1847088"/>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2489480" cy="310896"/>
          </a:xfrm>
          <a:prstGeom prst="rect">
            <a:avLst/>
          </a:prstGeom>
          <a:noFill/>
        </p:spPr>
        <p:txBody>
          <a:bodyPr wrap="square" lIns="0" tIns="0" rIns="0" bIns="0" anchor="ctr">
            <a:spAutoFit/>
          </a:bodyPr>
          <a:lstStyle/>
          <a:p>
            <a:pPr algn="l"/>
            <a:r>
              <a:rPr sz="1300" b="1" i="0">
                <a:solidFill>
                  <a:srgbClr val="A8443A"/>
                </a:solidFill>
                <a:latin typeface="Calibri"/>
              </a:rPr>
              <a:t>Model</a:t>
            </a:r>
          </a:p>
        </p:txBody>
      </p:sp>
      <p:sp>
        <p:nvSpPr>
          <p:cNvPr id="6" name="TextBox 5"/>
          <p:cNvSpPr txBox="1"/>
          <p:nvPr/>
        </p:nvSpPr>
        <p:spPr>
          <a:xfrm>
            <a:off x="3550184" y="1901952"/>
            <a:ext cx="1080148" cy="310896"/>
          </a:xfrm>
          <a:prstGeom prst="rect">
            <a:avLst/>
          </a:prstGeom>
          <a:noFill/>
        </p:spPr>
        <p:txBody>
          <a:bodyPr wrap="square" lIns="0" tIns="0" rIns="0" bIns="0" anchor="ctr">
            <a:spAutoFit/>
          </a:bodyPr>
          <a:lstStyle/>
          <a:p>
            <a:pPr algn="l"/>
            <a:r>
              <a:rPr sz="1300" b="1" i="0">
                <a:solidFill>
                  <a:srgbClr val="A8443A"/>
                </a:solidFill>
                <a:latin typeface="Calibri"/>
              </a:rPr>
              <a:t>AUC</a:t>
            </a:r>
          </a:p>
        </p:txBody>
      </p:sp>
      <p:sp>
        <p:nvSpPr>
          <p:cNvPr id="7" name="TextBox 6"/>
          <p:cNvSpPr txBox="1"/>
          <p:nvPr/>
        </p:nvSpPr>
        <p:spPr>
          <a:xfrm>
            <a:off x="4959517" y="1901952"/>
            <a:ext cx="863328" cy="310896"/>
          </a:xfrm>
          <a:prstGeom prst="rect">
            <a:avLst/>
          </a:prstGeom>
          <a:noFill/>
        </p:spPr>
        <p:txBody>
          <a:bodyPr wrap="square" lIns="0" tIns="0" rIns="0" bIns="0" anchor="ctr">
            <a:spAutoFit/>
          </a:bodyPr>
          <a:lstStyle/>
          <a:p>
            <a:pPr algn="l"/>
            <a:r>
              <a:rPr sz="1300" b="1" i="0">
                <a:solidFill>
                  <a:srgbClr val="A8443A"/>
                </a:solidFill>
                <a:latin typeface="Calibri"/>
              </a:rPr>
              <a:t>sd</a:t>
            </a:r>
          </a:p>
        </p:txBody>
      </p:sp>
      <p:sp>
        <p:nvSpPr>
          <p:cNvPr id="8" name="TextBox 7"/>
          <p:cNvSpPr txBox="1"/>
          <p:nvPr/>
        </p:nvSpPr>
        <p:spPr>
          <a:xfrm>
            <a:off x="6152029" y="1901952"/>
            <a:ext cx="5308145" cy="310896"/>
          </a:xfrm>
          <a:prstGeom prst="rect">
            <a:avLst/>
          </a:prstGeom>
          <a:noFill/>
        </p:spPr>
        <p:txBody>
          <a:bodyPr wrap="square" lIns="0" tIns="0" rIns="0" bIns="0" anchor="ctr">
            <a:spAutoFit/>
          </a:bodyPr>
          <a:lstStyle/>
          <a:p>
            <a:pPr algn="l"/>
            <a:r>
              <a:rPr sz="1300" b="1" i="0">
                <a:solidFill>
                  <a:srgbClr val="A8443A"/>
                </a:solidFill>
                <a:latin typeface="Calibri"/>
              </a:rPr>
              <a:t>per-fold</a:t>
            </a:r>
          </a:p>
        </p:txBody>
      </p:sp>
      <p:sp>
        <p:nvSpPr>
          <p:cNvPr id="9" name="Rectangle 8"/>
          <p:cNvSpPr/>
          <p:nvPr/>
        </p:nvSpPr>
        <p:spPr>
          <a:xfrm>
            <a:off x="566928" y="2267712"/>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22576"/>
            <a:ext cx="2489480" cy="475488"/>
          </a:xfrm>
          <a:prstGeom prst="rect">
            <a:avLst/>
          </a:prstGeom>
          <a:noFill/>
        </p:spPr>
        <p:txBody>
          <a:bodyPr wrap="square" lIns="0" tIns="0" rIns="0" bIns="0" anchor="ctr">
            <a:spAutoFit/>
          </a:bodyPr>
          <a:lstStyle/>
          <a:p>
            <a:pPr algn="l"/>
            <a:r>
              <a:rPr sz="1400" b="0" i="0">
                <a:solidFill>
                  <a:srgbClr val="2B3440"/>
                </a:solidFill>
                <a:latin typeface="Calibri"/>
              </a:rPr>
              <a:t>LogisticRegression</a:t>
            </a:r>
          </a:p>
        </p:txBody>
      </p:sp>
      <p:sp>
        <p:nvSpPr>
          <p:cNvPr id="11" name="TextBox 10"/>
          <p:cNvSpPr txBox="1"/>
          <p:nvPr/>
        </p:nvSpPr>
        <p:spPr>
          <a:xfrm>
            <a:off x="3550184" y="2322576"/>
            <a:ext cx="1080148" cy="475488"/>
          </a:xfrm>
          <a:prstGeom prst="rect">
            <a:avLst/>
          </a:prstGeom>
          <a:noFill/>
        </p:spPr>
        <p:txBody>
          <a:bodyPr wrap="square" lIns="0" tIns="0" rIns="0" bIns="0" anchor="ctr">
            <a:spAutoFit/>
          </a:bodyPr>
          <a:lstStyle/>
          <a:p>
            <a:pPr algn="r"/>
            <a:r>
              <a:rPr sz="1400" b="0" i="0">
                <a:solidFill>
                  <a:srgbClr val="2B3440"/>
                </a:solidFill>
                <a:latin typeface="Calibri"/>
              </a:rPr>
              <a:t>0.8899</a:t>
            </a:r>
          </a:p>
        </p:txBody>
      </p:sp>
      <p:sp>
        <p:nvSpPr>
          <p:cNvPr id="12" name="TextBox 11"/>
          <p:cNvSpPr txBox="1"/>
          <p:nvPr/>
        </p:nvSpPr>
        <p:spPr>
          <a:xfrm>
            <a:off x="4959517" y="2322576"/>
            <a:ext cx="863328" cy="475488"/>
          </a:xfrm>
          <a:prstGeom prst="rect">
            <a:avLst/>
          </a:prstGeom>
          <a:noFill/>
        </p:spPr>
        <p:txBody>
          <a:bodyPr wrap="square" lIns="0" tIns="0" rIns="0" bIns="0" anchor="ctr">
            <a:spAutoFit/>
          </a:bodyPr>
          <a:lstStyle/>
          <a:p>
            <a:pPr algn="r"/>
            <a:r>
              <a:rPr sz="1400" b="0" i="0">
                <a:solidFill>
                  <a:srgbClr val="2B3440"/>
                </a:solidFill>
                <a:latin typeface="Calibri"/>
              </a:rPr>
              <a:t>0.0379</a:t>
            </a:r>
          </a:p>
        </p:txBody>
      </p:sp>
      <p:sp>
        <p:nvSpPr>
          <p:cNvPr id="13" name="TextBox 12"/>
          <p:cNvSpPr txBox="1"/>
          <p:nvPr/>
        </p:nvSpPr>
        <p:spPr>
          <a:xfrm>
            <a:off x="6152029" y="2322576"/>
            <a:ext cx="5308145" cy="475488"/>
          </a:xfrm>
          <a:prstGeom prst="rect">
            <a:avLst/>
          </a:prstGeom>
          <a:noFill/>
        </p:spPr>
        <p:txBody>
          <a:bodyPr wrap="square" lIns="0" tIns="0" rIns="0" bIns="0" anchor="ctr">
            <a:spAutoFit/>
          </a:bodyPr>
          <a:lstStyle/>
          <a:p>
            <a:pPr algn="r"/>
            <a:r>
              <a:rPr sz="1400" b="0" i="0">
                <a:solidFill>
                  <a:srgbClr val="2B3440"/>
                </a:solidFill>
                <a:latin typeface="Calibri"/>
              </a:rPr>
              <a:t>0.825  0.914  0.869  0.918  0.924</a:t>
            </a:r>
          </a:p>
        </p:txBody>
      </p:sp>
      <p:sp>
        <p:nvSpPr>
          <p:cNvPr id="14" name="Rectangle 13"/>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907792"/>
            <a:ext cx="2489480" cy="475488"/>
          </a:xfrm>
          <a:prstGeom prst="rect">
            <a:avLst/>
          </a:prstGeom>
          <a:noFill/>
        </p:spPr>
        <p:txBody>
          <a:bodyPr wrap="square" lIns="0" tIns="0" rIns="0" bIns="0" anchor="ctr">
            <a:spAutoFit/>
          </a:bodyPr>
          <a:lstStyle/>
          <a:p>
            <a:pPr algn="l"/>
            <a:r>
              <a:rPr sz="1400" b="0" i="0">
                <a:solidFill>
                  <a:srgbClr val="2B3440"/>
                </a:solidFill>
                <a:latin typeface="Calibri"/>
              </a:rPr>
              <a:t>Tree (depth 5)</a:t>
            </a:r>
          </a:p>
        </p:txBody>
      </p:sp>
      <p:sp>
        <p:nvSpPr>
          <p:cNvPr id="16" name="TextBox 15"/>
          <p:cNvSpPr txBox="1"/>
          <p:nvPr/>
        </p:nvSpPr>
        <p:spPr>
          <a:xfrm>
            <a:off x="3550184" y="2907792"/>
            <a:ext cx="1080148" cy="475488"/>
          </a:xfrm>
          <a:prstGeom prst="rect">
            <a:avLst/>
          </a:prstGeom>
          <a:noFill/>
        </p:spPr>
        <p:txBody>
          <a:bodyPr wrap="square" lIns="0" tIns="0" rIns="0" bIns="0" anchor="ctr">
            <a:spAutoFit/>
          </a:bodyPr>
          <a:lstStyle/>
          <a:p>
            <a:pPr algn="r"/>
            <a:r>
              <a:rPr sz="1400" b="0" i="0">
                <a:solidFill>
                  <a:srgbClr val="2B3440"/>
                </a:solidFill>
                <a:latin typeface="Calibri"/>
              </a:rPr>
              <a:t>0.9075</a:t>
            </a:r>
          </a:p>
        </p:txBody>
      </p:sp>
      <p:sp>
        <p:nvSpPr>
          <p:cNvPr id="17" name="TextBox 16"/>
          <p:cNvSpPr txBox="1"/>
          <p:nvPr/>
        </p:nvSpPr>
        <p:spPr>
          <a:xfrm>
            <a:off x="4959517" y="2907792"/>
            <a:ext cx="863328" cy="475488"/>
          </a:xfrm>
          <a:prstGeom prst="rect">
            <a:avLst/>
          </a:prstGeom>
          <a:noFill/>
        </p:spPr>
        <p:txBody>
          <a:bodyPr wrap="square" lIns="0" tIns="0" rIns="0" bIns="0" anchor="ctr">
            <a:spAutoFit/>
          </a:bodyPr>
          <a:lstStyle/>
          <a:p>
            <a:pPr algn="r"/>
            <a:r>
              <a:rPr sz="1400" b="0" i="0">
                <a:solidFill>
                  <a:srgbClr val="2B3440"/>
                </a:solidFill>
                <a:latin typeface="Calibri"/>
              </a:rPr>
              <a:t>0.0347</a:t>
            </a:r>
          </a:p>
        </p:txBody>
      </p:sp>
      <p:sp>
        <p:nvSpPr>
          <p:cNvPr id="18" name="TextBox 17"/>
          <p:cNvSpPr txBox="1"/>
          <p:nvPr/>
        </p:nvSpPr>
        <p:spPr>
          <a:xfrm>
            <a:off x="6152029" y="2907792"/>
            <a:ext cx="5308145" cy="475488"/>
          </a:xfrm>
          <a:prstGeom prst="rect">
            <a:avLst/>
          </a:prstGeom>
          <a:noFill/>
        </p:spPr>
        <p:txBody>
          <a:bodyPr wrap="square" lIns="0" tIns="0" rIns="0" bIns="0" anchor="ctr">
            <a:spAutoFit/>
          </a:bodyPr>
          <a:lstStyle/>
          <a:p>
            <a:pPr algn="r"/>
            <a:r>
              <a:rPr sz="1400" b="0" i="0">
                <a:solidFill>
                  <a:srgbClr val="2B3440"/>
                </a:solidFill>
                <a:latin typeface="Calibri"/>
              </a:rPr>
              <a:t>0.856  0.941  0.877  0.924  0.940</a:t>
            </a:r>
          </a:p>
        </p:txBody>
      </p:sp>
      <p:sp>
        <p:nvSpPr>
          <p:cNvPr id="19" name="Rectangle 18"/>
          <p:cNvSpPr/>
          <p:nvPr/>
        </p:nvSpPr>
        <p:spPr>
          <a:xfrm>
            <a:off x="566928" y="3438144"/>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493008"/>
            <a:ext cx="2489480" cy="475488"/>
          </a:xfrm>
          <a:prstGeom prst="rect">
            <a:avLst/>
          </a:prstGeom>
          <a:noFill/>
        </p:spPr>
        <p:txBody>
          <a:bodyPr wrap="square" lIns="0" tIns="0" rIns="0" bIns="0" anchor="ctr">
            <a:spAutoFit/>
          </a:bodyPr>
          <a:lstStyle/>
          <a:p>
            <a:pPr algn="l"/>
            <a:r>
              <a:rPr sz="1400" b="0" i="0">
                <a:solidFill>
                  <a:srgbClr val="2B3440"/>
                </a:solidFill>
                <a:latin typeface="Calibri"/>
              </a:rPr>
              <a:t>RandomForest (200)</a:t>
            </a:r>
          </a:p>
        </p:txBody>
      </p:sp>
      <p:sp>
        <p:nvSpPr>
          <p:cNvPr id="21" name="TextBox 20"/>
          <p:cNvSpPr txBox="1"/>
          <p:nvPr/>
        </p:nvSpPr>
        <p:spPr>
          <a:xfrm>
            <a:off x="3550184" y="3493008"/>
            <a:ext cx="1080148" cy="475488"/>
          </a:xfrm>
          <a:prstGeom prst="rect">
            <a:avLst/>
          </a:prstGeom>
          <a:noFill/>
        </p:spPr>
        <p:txBody>
          <a:bodyPr wrap="square" lIns="0" tIns="0" rIns="0" bIns="0" anchor="ctr">
            <a:spAutoFit/>
          </a:bodyPr>
          <a:lstStyle/>
          <a:p>
            <a:pPr algn="r"/>
            <a:r>
              <a:rPr sz="1400" b="0" i="0">
                <a:solidFill>
                  <a:srgbClr val="2B3440"/>
                </a:solidFill>
                <a:latin typeface="Calibri"/>
              </a:rPr>
              <a:t>0.9216</a:t>
            </a:r>
          </a:p>
        </p:txBody>
      </p:sp>
      <p:sp>
        <p:nvSpPr>
          <p:cNvPr id="22" name="TextBox 21"/>
          <p:cNvSpPr txBox="1"/>
          <p:nvPr/>
        </p:nvSpPr>
        <p:spPr>
          <a:xfrm>
            <a:off x="4959517" y="3493008"/>
            <a:ext cx="863328" cy="475488"/>
          </a:xfrm>
          <a:prstGeom prst="rect">
            <a:avLst/>
          </a:prstGeom>
          <a:noFill/>
        </p:spPr>
        <p:txBody>
          <a:bodyPr wrap="square" lIns="0" tIns="0" rIns="0" bIns="0" anchor="ctr">
            <a:spAutoFit/>
          </a:bodyPr>
          <a:lstStyle/>
          <a:p>
            <a:pPr algn="r"/>
            <a:r>
              <a:rPr sz="1400" b="0" i="0">
                <a:solidFill>
                  <a:srgbClr val="2B3440"/>
                </a:solidFill>
                <a:latin typeface="Calibri"/>
              </a:rPr>
              <a:t>0.0364</a:t>
            </a:r>
          </a:p>
        </p:txBody>
      </p:sp>
      <p:sp>
        <p:nvSpPr>
          <p:cNvPr id="23" name="TextBox 22"/>
          <p:cNvSpPr txBox="1"/>
          <p:nvPr/>
        </p:nvSpPr>
        <p:spPr>
          <a:xfrm>
            <a:off x="6152029" y="3493008"/>
            <a:ext cx="5308145" cy="475488"/>
          </a:xfrm>
          <a:prstGeom prst="rect">
            <a:avLst/>
          </a:prstGeom>
          <a:noFill/>
        </p:spPr>
        <p:txBody>
          <a:bodyPr wrap="square" lIns="0" tIns="0" rIns="0" bIns="0" anchor="ctr">
            <a:spAutoFit/>
          </a:bodyPr>
          <a:lstStyle/>
          <a:p>
            <a:pPr algn="r"/>
            <a:r>
              <a:rPr sz="1400" b="0" i="0">
                <a:solidFill>
                  <a:srgbClr val="2B3440"/>
                </a:solidFill>
                <a:latin typeface="Calibri"/>
              </a:rPr>
              <a:t>0.862  0.950  0.895  0.946  0.954</a:t>
            </a:r>
          </a:p>
        </p:txBody>
      </p:sp>
      <p:sp>
        <p:nvSpPr>
          <p:cNvPr id="24" name="Rectangle 23"/>
          <p:cNvSpPr/>
          <p:nvPr/>
        </p:nvSpPr>
        <p:spPr>
          <a:xfrm>
            <a:off x="566928" y="4023360"/>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078224"/>
            <a:ext cx="2489480" cy="475488"/>
          </a:xfrm>
          <a:prstGeom prst="rect">
            <a:avLst/>
          </a:prstGeom>
          <a:noFill/>
        </p:spPr>
        <p:txBody>
          <a:bodyPr wrap="square" lIns="0" tIns="0" rIns="0" bIns="0" anchor="ctr">
            <a:spAutoFit/>
          </a:bodyPr>
          <a:lstStyle/>
          <a:p>
            <a:pPr algn="l"/>
            <a:r>
              <a:rPr sz="1400" b="1" i="0">
                <a:solidFill>
                  <a:srgbClr val="A9660B"/>
                </a:solidFill>
                <a:latin typeface="Calibri"/>
              </a:rPr>
              <a:t>HistGB (default)</a:t>
            </a:r>
          </a:p>
        </p:txBody>
      </p:sp>
      <p:sp>
        <p:nvSpPr>
          <p:cNvPr id="26" name="TextBox 25"/>
          <p:cNvSpPr txBox="1"/>
          <p:nvPr/>
        </p:nvSpPr>
        <p:spPr>
          <a:xfrm>
            <a:off x="3550184" y="4078224"/>
            <a:ext cx="1080148" cy="475488"/>
          </a:xfrm>
          <a:prstGeom prst="rect">
            <a:avLst/>
          </a:prstGeom>
          <a:noFill/>
        </p:spPr>
        <p:txBody>
          <a:bodyPr wrap="square" lIns="0" tIns="0" rIns="0" bIns="0" anchor="ctr">
            <a:spAutoFit/>
          </a:bodyPr>
          <a:lstStyle/>
          <a:p>
            <a:pPr algn="r"/>
            <a:r>
              <a:rPr sz="1400" b="1" i="0">
                <a:solidFill>
                  <a:srgbClr val="A9660B"/>
                </a:solidFill>
                <a:latin typeface="Calibri"/>
              </a:rPr>
              <a:t>0.9216</a:t>
            </a:r>
          </a:p>
        </p:txBody>
      </p:sp>
      <p:sp>
        <p:nvSpPr>
          <p:cNvPr id="27" name="TextBox 26"/>
          <p:cNvSpPr txBox="1"/>
          <p:nvPr/>
        </p:nvSpPr>
        <p:spPr>
          <a:xfrm>
            <a:off x="4959517" y="4078224"/>
            <a:ext cx="863328" cy="475488"/>
          </a:xfrm>
          <a:prstGeom prst="rect">
            <a:avLst/>
          </a:prstGeom>
          <a:noFill/>
        </p:spPr>
        <p:txBody>
          <a:bodyPr wrap="square" lIns="0" tIns="0" rIns="0" bIns="0" anchor="ctr">
            <a:spAutoFit/>
          </a:bodyPr>
          <a:lstStyle/>
          <a:p>
            <a:pPr algn="r"/>
            <a:r>
              <a:rPr sz="1400" b="1" i="0">
                <a:solidFill>
                  <a:srgbClr val="A9660B"/>
                </a:solidFill>
                <a:latin typeface="Calibri"/>
              </a:rPr>
              <a:t>0.0381</a:t>
            </a:r>
          </a:p>
        </p:txBody>
      </p:sp>
      <p:sp>
        <p:nvSpPr>
          <p:cNvPr id="28" name="TextBox 27"/>
          <p:cNvSpPr txBox="1"/>
          <p:nvPr/>
        </p:nvSpPr>
        <p:spPr>
          <a:xfrm>
            <a:off x="6152029" y="4078224"/>
            <a:ext cx="5308145" cy="475488"/>
          </a:xfrm>
          <a:prstGeom prst="rect">
            <a:avLst/>
          </a:prstGeom>
          <a:noFill/>
        </p:spPr>
        <p:txBody>
          <a:bodyPr wrap="square" lIns="0" tIns="0" rIns="0" bIns="0" anchor="ctr">
            <a:spAutoFit/>
          </a:bodyPr>
          <a:lstStyle/>
          <a:p>
            <a:pPr algn="r"/>
            <a:r>
              <a:rPr sz="1400" b="1" i="0">
                <a:solidFill>
                  <a:srgbClr val="A9660B"/>
                </a:solidFill>
                <a:latin typeface="Calibri"/>
              </a:rPr>
              <a:t>0.863  0.955  0.889  0.946  0.954</a:t>
            </a:r>
          </a:p>
        </p:txBody>
      </p:sp>
      <p:sp>
        <p:nvSpPr>
          <p:cNvPr id="29" name="Rectangle 28"/>
          <p:cNvSpPr/>
          <p:nvPr/>
        </p:nvSpPr>
        <p:spPr>
          <a:xfrm>
            <a:off x="566928" y="4608576"/>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663440"/>
            <a:ext cx="2489480" cy="475488"/>
          </a:xfrm>
          <a:prstGeom prst="rect">
            <a:avLst/>
          </a:prstGeom>
          <a:noFill/>
        </p:spPr>
        <p:txBody>
          <a:bodyPr wrap="square" lIns="0" tIns="0" rIns="0" bIns="0" anchor="ctr">
            <a:spAutoFit/>
          </a:bodyPr>
          <a:lstStyle/>
          <a:p>
            <a:pPr algn="l"/>
            <a:r>
              <a:rPr sz="1400" b="0" i="0">
                <a:solidFill>
                  <a:srgbClr val="2B3440"/>
                </a:solidFill>
                <a:latin typeface="Calibri"/>
              </a:rPr>
              <a:t>XGBoost (200)</a:t>
            </a:r>
          </a:p>
        </p:txBody>
      </p:sp>
      <p:sp>
        <p:nvSpPr>
          <p:cNvPr id="31" name="TextBox 30"/>
          <p:cNvSpPr txBox="1"/>
          <p:nvPr/>
        </p:nvSpPr>
        <p:spPr>
          <a:xfrm>
            <a:off x="3550184" y="4663440"/>
            <a:ext cx="1080148" cy="475488"/>
          </a:xfrm>
          <a:prstGeom prst="rect">
            <a:avLst/>
          </a:prstGeom>
          <a:noFill/>
        </p:spPr>
        <p:txBody>
          <a:bodyPr wrap="square" lIns="0" tIns="0" rIns="0" bIns="0" anchor="ctr">
            <a:spAutoFit/>
          </a:bodyPr>
          <a:lstStyle/>
          <a:p>
            <a:pPr algn="r"/>
            <a:r>
              <a:rPr sz="1400" b="0" i="0">
                <a:solidFill>
                  <a:srgbClr val="2B3440"/>
                </a:solidFill>
                <a:latin typeface="Calibri"/>
              </a:rPr>
              <a:t>0.9193</a:t>
            </a:r>
          </a:p>
        </p:txBody>
      </p:sp>
      <p:sp>
        <p:nvSpPr>
          <p:cNvPr id="32" name="TextBox 31"/>
          <p:cNvSpPr txBox="1"/>
          <p:nvPr/>
        </p:nvSpPr>
        <p:spPr>
          <a:xfrm>
            <a:off x="4959517" y="4663440"/>
            <a:ext cx="863328" cy="475488"/>
          </a:xfrm>
          <a:prstGeom prst="rect">
            <a:avLst/>
          </a:prstGeom>
          <a:noFill/>
        </p:spPr>
        <p:txBody>
          <a:bodyPr wrap="square" lIns="0" tIns="0" rIns="0" bIns="0" anchor="ctr">
            <a:spAutoFit/>
          </a:bodyPr>
          <a:lstStyle/>
          <a:p>
            <a:pPr algn="r"/>
            <a:r>
              <a:rPr sz="1400" b="0" i="0">
                <a:solidFill>
                  <a:srgbClr val="2B3440"/>
                </a:solidFill>
                <a:latin typeface="Calibri"/>
              </a:rPr>
              <a:t>0.0396</a:t>
            </a:r>
          </a:p>
        </p:txBody>
      </p:sp>
      <p:sp>
        <p:nvSpPr>
          <p:cNvPr id="33" name="TextBox 32"/>
          <p:cNvSpPr txBox="1"/>
          <p:nvPr/>
        </p:nvSpPr>
        <p:spPr>
          <a:xfrm>
            <a:off x="6152029" y="4663440"/>
            <a:ext cx="5308145" cy="475488"/>
          </a:xfrm>
          <a:prstGeom prst="rect">
            <a:avLst/>
          </a:prstGeom>
          <a:noFill/>
        </p:spPr>
        <p:txBody>
          <a:bodyPr wrap="square" lIns="0" tIns="0" rIns="0" bIns="0" anchor="ctr">
            <a:spAutoFit/>
          </a:bodyPr>
          <a:lstStyle/>
          <a:p>
            <a:pPr algn="r"/>
            <a:r>
              <a:rPr sz="1400" b="0" i="0">
                <a:solidFill>
                  <a:srgbClr val="2B3440"/>
                </a:solidFill>
                <a:latin typeface="Calibri"/>
              </a:rPr>
              <a:t>0.854  0.953  0.893  0.946  0.951</a:t>
            </a:r>
          </a:p>
        </p:txBody>
      </p:sp>
      <p:sp>
        <p:nvSpPr>
          <p:cNvPr id="34" name="Rounded Rectangle 33"/>
          <p:cNvSpPr/>
          <p:nvPr/>
        </p:nvSpPr>
        <p:spPr>
          <a:xfrm>
            <a:off x="566928" y="5779008"/>
            <a:ext cx="11057839" cy="603504"/>
          </a:xfrm>
          <a:prstGeom prst="roundRect">
            <a:avLst>
              <a:gd name="adj" fmla="val 21212"/>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Before ranking anything: every sd is around 0.037, and the top three means sit inside 0.003 of each other.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Which differences are real?</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Paired per-fold comparison against the best mean, exactly as in Session 6.</a:t>
            </a:r>
          </a:p>
        </p:txBody>
      </p:sp>
      <p:sp>
        <p:nvSpPr>
          <p:cNvPr id="5" name="Rectangle 4"/>
          <p:cNvSpPr/>
          <p:nvPr/>
        </p:nvSpPr>
        <p:spPr>
          <a:xfrm>
            <a:off x="566928" y="2139696"/>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3517020" cy="310896"/>
          </a:xfrm>
          <a:prstGeom prst="rect">
            <a:avLst/>
          </a:prstGeom>
          <a:noFill/>
        </p:spPr>
        <p:txBody>
          <a:bodyPr wrap="square" lIns="0" tIns="0" rIns="0" bIns="0" anchor="ctr">
            <a:spAutoFit/>
          </a:bodyPr>
          <a:lstStyle/>
          <a:p>
            <a:pPr algn="l"/>
            <a:r>
              <a:rPr sz="1300" b="1" i="0">
                <a:solidFill>
                  <a:srgbClr val="A8443A"/>
                </a:solidFill>
                <a:latin typeface="Calibri"/>
              </a:rPr>
              <a:t>HistGB against</a:t>
            </a:r>
          </a:p>
        </p:txBody>
      </p:sp>
      <p:sp>
        <p:nvSpPr>
          <p:cNvPr id="7" name="TextBox 6"/>
          <p:cNvSpPr txBox="1"/>
          <p:nvPr/>
        </p:nvSpPr>
        <p:spPr>
          <a:xfrm>
            <a:off x="4577724" y="2194560"/>
            <a:ext cx="1233336" cy="310896"/>
          </a:xfrm>
          <a:prstGeom prst="rect">
            <a:avLst/>
          </a:prstGeom>
          <a:noFill/>
        </p:spPr>
        <p:txBody>
          <a:bodyPr wrap="square" lIns="0" tIns="0" rIns="0" bIns="0" anchor="ctr">
            <a:spAutoFit/>
          </a:bodyPr>
          <a:lstStyle/>
          <a:p>
            <a:pPr algn="l"/>
            <a:r>
              <a:rPr sz="1300" b="1" i="0">
                <a:solidFill>
                  <a:srgbClr val="A8443A"/>
                </a:solidFill>
                <a:latin typeface="Calibri"/>
              </a:rPr>
              <a:t>diff</a:t>
            </a:r>
          </a:p>
        </p:txBody>
      </p:sp>
      <p:sp>
        <p:nvSpPr>
          <p:cNvPr id="8" name="TextBox 7"/>
          <p:cNvSpPr txBox="1"/>
          <p:nvPr/>
        </p:nvSpPr>
        <p:spPr>
          <a:xfrm>
            <a:off x="6140245" y="2194560"/>
            <a:ext cx="1233336" cy="310896"/>
          </a:xfrm>
          <a:prstGeom prst="rect">
            <a:avLst/>
          </a:prstGeom>
          <a:noFill/>
        </p:spPr>
        <p:txBody>
          <a:bodyPr wrap="square" lIns="0" tIns="0" rIns="0" bIns="0" anchor="ctr">
            <a:spAutoFit/>
          </a:bodyPr>
          <a:lstStyle/>
          <a:p>
            <a:pPr algn="l"/>
            <a:r>
              <a:rPr sz="1300" b="1" i="0">
                <a:solidFill>
                  <a:srgbClr val="A8443A"/>
                </a:solidFill>
                <a:latin typeface="Calibri"/>
              </a:rPr>
              <a:t>signs</a:t>
            </a:r>
          </a:p>
        </p:txBody>
      </p:sp>
      <p:sp>
        <p:nvSpPr>
          <p:cNvPr id="9" name="TextBox 8"/>
          <p:cNvSpPr txBox="1"/>
          <p:nvPr/>
        </p:nvSpPr>
        <p:spPr>
          <a:xfrm>
            <a:off x="7702766" y="2194560"/>
            <a:ext cx="1113142" cy="310896"/>
          </a:xfrm>
          <a:prstGeom prst="rect">
            <a:avLst/>
          </a:prstGeom>
          <a:noFill/>
        </p:spPr>
        <p:txBody>
          <a:bodyPr wrap="square" lIns="0" tIns="0" rIns="0" bIns="0" anchor="ctr">
            <a:spAutoFit/>
          </a:bodyPr>
          <a:lstStyle/>
          <a:p>
            <a:pPr algn="l"/>
            <a:r>
              <a:rPr sz="1300" b="1" i="0">
                <a:solidFill>
                  <a:srgbClr val="A8443A"/>
                </a:solidFill>
                <a:latin typeface="Calibri"/>
              </a:rPr>
              <a:t>p</a:t>
            </a:r>
          </a:p>
        </p:txBody>
      </p:sp>
      <p:sp>
        <p:nvSpPr>
          <p:cNvPr id="10" name="TextBox 9"/>
          <p:cNvSpPr txBox="1"/>
          <p:nvPr/>
        </p:nvSpPr>
        <p:spPr>
          <a:xfrm>
            <a:off x="9145093" y="2194560"/>
            <a:ext cx="2315081" cy="310896"/>
          </a:xfrm>
          <a:prstGeom prst="rect">
            <a:avLst/>
          </a:prstGeom>
          <a:noFill/>
        </p:spPr>
        <p:txBody>
          <a:bodyPr wrap="square" lIns="0" tIns="0" rIns="0" bIns="0" anchor="ctr">
            <a:spAutoFit/>
          </a:bodyPr>
          <a:lstStyle/>
          <a:p>
            <a:pPr algn="l"/>
            <a:r>
              <a:rPr sz="1300" b="1" i="0">
                <a:solidFill>
                  <a:srgbClr val="A8443A"/>
                </a:solidFill>
                <a:latin typeface="Calibri"/>
              </a:rPr>
              <a:t>verdict</a:t>
            </a:r>
          </a:p>
        </p:txBody>
      </p:sp>
      <p:sp>
        <p:nvSpPr>
          <p:cNvPr id="11" name="Rectangle 10"/>
          <p:cNvSpPr/>
          <p:nvPr/>
        </p:nvSpPr>
        <p:spPr>
          <a:xfrm>
            <a:off x="566928" y="2560320"/>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15184"/>
            <a:ext cx="3517020" cy="475488"/>
          </a:xfrm>
          <a:prstGeom prst="rect">
            <a:avLst/>
          </a:prstGeom>
          <a:noFill/>
        </p:spPr>
        <p:txBody>
          <a:bodyPr wrap="square" lIns="0" tIns="0" rIns="0" bIns="0" anchor="ctr">
            <a:spAutoFit/>
          </a:bodyPr>
          <a:lstStyle/>
          <a:p>
            <a:pPr algn="l"/>
            <a:r>
              <a:rPr sz="1400" b="0" i="0">
                <a:solidFill>
                  <a:srgbClr val="2B3440"/>
                </a:solidFill>
                <a:latin typeface="Calibri"/>
              </a:rPr>
              <a:t>LogisticRegression</a:t>
            </a:r>
          </a:p>
        </p:txBody>
      </p:sp>
      <p:sp>
        <p:nvSpPr>
          <p:cNvPr id="13" name="TextBox 12"/>
          <p:cNvSpPr txBox="1"/>
          <p:nvPr/>
        </p:nvSpPr>
        <p:spPr>
          <a:xfrm>
            <a:off x="4577724" y="2615184"/>
            <a:ext cx="1233336" cy="475488"/>
          </a:xfrm>
          <a:prstGeom prst="rect">
            <a:avLst/>
          </a:prstGeom>
          <a:noFill/>
        </p:spPr>
        <p:txBody>
          <a:bodyPr wrap="square" lIns="0" tIns="0" rIns="0" bIns="0" anchor="ctr">
            <a:spAutoFit/>
          </a:bodyPr>
          <a:lstStyle/>
          <a:p>
            <a:pPr algn="r"/>
            <a:r>
              <a:rPr sz="1400" b="0" i="0">
                <a:solidFill>
                  <a:srgbClr val="2B3440"/>
                </a:solidFill>
                <a:latin typeface="Calibri"/>
              </a:rPr>
              <a:t>+0.0317</a:t>
            </a:r>
          </a:p>
        </p:txBody>
      </p:sp>
      <p:sp>
        <p:nvSpPr>
          <p:cNvPr id="14" name="TextBox 13"/>
          <p:cNvSpPr txBox="1"/>
          <p:nvPr/>
        </p:nvSpPr>
        <p:spPr>
          <a:xfrm>
            <a:off x="6140245" y="2615184"/>
            <a:ext cx="1233336" cy="475488"/>
          </a:xfrm>
          <a:prstGeom prst="rect">
            <a:avLst/>
          </a:prstGeom>
          <a:noFill/>
        </p:spPr>
        <p:txBody>
          <a:bodyPr wrap="square" lIns="0" tIns="0" rIns="0" bIns="0" anchor="ctr">
            <a:spAutoFit/>
          </a:bodyPr>
          <a:lstStyle/>
          <a:p>
            <a:pPr algn="r"/>
            <a:r>
              <a:rPr sz="1400" b="0" i="0">
                <a:solidFill>
                  <a:srgbClr val="2B3440"/>
                </a:solidFill>
                <a:latin typeface="Calibri"/>
              </a:rPr>
              <a:t>+++++</a:t>
            </a:r>
          </a:p>
        </p:txBody>
      </p:sp>
      <p:sp>
        <p:nvSpPr>
          <p:cNvPr id="15" name="TextBox 14"/>
          <p:cNvSpPr txBox="1"/>
          <p:nvPr/>
        </p:nvSpPr>
        <p:spPr>
          <a:xfrm>
            <a:off x="7702766" y="2615184"/>
            <a:ext cx="1113142" cy="475488"/>
          </a:xfrm>
          <a:prstGeom prst="rect">
            <a:avLst/>
          </a:prstGeom>
          <a:noFill/>
        </p:spPr>
        <p:txBody>
          <a:bodyPr wrap="square" lIns="0" tIns="0" rIns="0" bIns="0" anchor="ctr">
            <a:spAutoFit/>
          </a:bodyPr>
          <a:lstStyle/>
          <a:p>
            <a:pPr algn="r"/>
            <a:r>
              <a:rPr sz="1400" b="0" i="0">
                <a:solidFill>
                  <a:srgbClr val="2B3440"/>
                </a:solidFill>
                <a:latin typeface="Calibri"/>
              </a:rPr>
              <a:t>0.0011</a:t>
            </a:r>
          </a:p>
        </p:txBody>
      </p:sp>
      <p:sp>
        <p:nvSpPr>
          <p:cNvPr id="16" name="TextBox 15"/>
          <p:cNvSpPr txBox="1"/>
          <p:nvPr/>
        </p:nvSpPr>
        <p:spPr>
          <a:xfrm>
            <a:off x="9145093" y="2615184"/>
            <a:ext cx="2315081" cy="475488"/>
          </a:xfrm>
          <a:prstGeom prst="rect">
            <a:avLst/>
          </a:prstGeom>
          <a:noFill/>
        </p:spPr>
        <p:txBody>
          <a:bodyPr wrap="square" lIns="0" tIns="0" rIns="0" bIns="0" anchor="ctr">
            <a:spAutoFit/>
          </a:bodyPr>
          <a:lstStyle/>
          <a:p>
            <a:pPr algn="l"/>
            <a:r>
              <a:rPr sz="1400" b="0" i="0">
                <a:solidFill>
                  <a:srgbClr val="2B3440"/>
                </a:solidFill>
                <a:latin typeface="Calibri"/>
              </a:rPr>
              <a:t>REAL</a:t>
            </a:r>
          </a:p>
        </p:txBody>
      </p:sp>
      <p:sp>
        <p:nvSpPr>
          <p:cNvPr id="17" name="Rectangle 16"/>
          <p:cNvSpPr/>
          <p:nvPr/>
        </p:nvSpPr>
        <p:spPr>
          <a:xfrm>
            <a:off x="566928" y="3145536"/>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200400"/>
            <a:ext cx="3517020" cy="475488"/>
          </a:xfrm>
          <a:prstGeom prst="rect">
            <a:avLst/>
          </a:prstGeom>
          <a:noFill/>
        </p:spPr>
        <p:txBody>
          <a:bodyPr wrap="square" lIns="0" tIns="0" rIns="0" bIns="0" anchor="ctr">
            <a:spAutoFit/>
          </a:bodyPr>
          <a:lstStyle/>
          <a:p>
            <a:pPr algn="l"/>
            <a:r>
              <a:rPr sz="1400" b="0" i="0">
                <a:solidFill>
                  <a:srgbClr val="2B3440"/>
                </a:solidFill>
                <a:latin typeface="Calibri"/>
              </a:rPr>
              <a:t>Tree (depth 5)</a:t>
            </a:r>
          </a:p>
        </p:txBody>
      </p:sp>
      <p:sp>
        <p:nvSpPr>
          <p:cNvPr id="19" name="TextBox 18"/>
          <p:cNvSpPr txBox="1"/>
          <p:nvPr/>
        </p:nvSpPr>
        <p:spPr>
          <a:xfrm>
            <a:off x="4577724" y="3200400"/>
            <a:ext cx="1233336" cy="475488"/>
          </a:xfrm>
          <a:prstGeom prst="rect">
            <a:avLst/>
          </a:prstGeom>
          <a:noFill/>
        </p:spPr>
        <p:txBody>
          <a:bodyPr wrap="square" lIns="0" tIns="0" rIns="0" bIns="0" anchor="ctr">
            <a:spAutoFit/>
          </a:bodyPr>
          <a:lstStyle/>
          <a:p>
            <a:pPr algn="r"/>
            <a:r>
              <a:rPr sz="1400" b="0" i="0">
                <a:solidFill>
                  <a:srgbClr val="2B3440"/>
                </a:solidFill>
                <a:latin typeface="Calibri"/>
              </a:rPr>
              <a:t>+0.0141</a:t>
            </a:r>
          </a:p>
        </p:txBody>
      </p:sp>
      <p:sp>
        <p:nvSpPr>
          <p:cNvPr id="20" name="TextBox 19"/>
          <p:cNvSpPr txBox="1"/>
          <p:nvPr/>
        </p:nvSpPr>
        <p:spPr>
          <a:xfrm>
            <a:off x="6140245" y="3200400"/>
            <a:ext cx="1233336" cy="475488"/>
          </a:xfrm>
          <a:prstGeom prst="rect">
            <a:avLst/>
          </a:prstGeom>
          <a:noFill/>
        </p:spPr>
        <p:txBody>
          <a:bodyPr wrap="square" lIns="0" tIns="0" rIns="0" bIns="0" anchor="ctr">
            <a:spAutoFit/>
          </a:bodyPr>
          <a:lstStyle/>
          <a:p>
            <a:pPr algn="r"/>
            <a:r>
              <a:rPr sz="1400" b="0" i="0">
                <a:solidFill>
                  <a:srgbClr val="2B3440"/>
                </a:solidFill>
                <a:latin typeface="Calibri"/>
              </a:rPr>
              <a:t>+++++</a:t>
            </a:r>
          </a:p>
        </p:txBody>
      </p:sp>
      <p:sp>
        <p:nvSpPr>
          <p:cNvPr id="21" name="TextBox 20"/>
          <p:cNvSpPr txBox="1"/>
          <p:nvPr/>
        </p:nvSpPr>
        <p:spPr>
          <a:xfrm>
            <a:off x="7702766" y="3200400"/>
            <a:ext cx="1113142" cy="475488"/>
          </a:xfrm>
          <a:prstGeom prst="rect">
            <a:avLst/>
          </a:prstGeom>
          <a:noFill/>
        </p:spPr>
        <p:txBody>
          <a:bodyPr wrap="square" lIns="0" tIns="0" rIns="0" bIns="0" anchor="ctr">
            <a:spAutoFit/>
          </a:bodyPr>
          <a:lstStyle/>
          <a:p>
            <a:pPr algn="r"/>
            <a:r>
              <a:rPr sz="1400" b="0" i="0">
                <a:solidFill>
                  <a:srgbClr val="2B3440"/>
                </a:solidFill>
                <a:latin typeface="Calibri"/>
              </a:rPr>
              <a:t>0.0034</a:t>
            </a:r>
          </a:p>
        </p:txBody>
      </p:sp>
      <p:sp>
        <p:nvSpPr>
          <p:cNvPr id="22" name="TextBox 21"/>
          <p:cNvSpPr txBox="1"/>
          <p:nvPr/>
        </p:nvSpPr>
        <p:spPr>
          <a:xfrm>
            <a:off x="9145093" y="3200400"/>
            <a:ext cx="2315081" cy="475488"/>
          </a:xfrm>
          <a:prstGeom prst="rect">
            <a:avLst/>
          </a:prstGeom>
          <a:noFill/>
        </p:spPr>
        <p:txBody>
          <a:bodyPr wrap="square" lIns="0" tIns="0" rIns="0" bIns="0" anchor="ctr">
            <a:spAutoFit/>
          </a:bodyPr>
          <a:lstStyle/>
          <a:p>
            <a:pPr algn="l"/>
            <a:r>
              <a:rPr sz="1400" b="0" i="0">
                <a:solidFill>
                  <a:srgbClr val="2B3440"/>
                </a:solidFill>
                <a:latin typeface="Calibri"/>
              </a:rPr>
              <a:t>REAL</a:t>
            </a:r>
          </a:p>
        </p:txBody>
      </p:sp>
      <p:sp>
        <p:nvSpPr>
          <p:cNvPr id="23" name="Rectangle 22"/>
          <p:cNvSpPr/>
          <p:nvPr/>
        </p:nvSpPr>
        <p:spPr>
          <a:xfrm>
            <a:off x="566928" y="3730752"/>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785615"/>
            <a:ext cx="3517020" cy="475488"/>
          </a:xfrm>
          <a:prstGeom prst="rect">
            <a:avLst/>
          </a:prstGeom>
          <a:noFill/>
        </p:spPr>
        <p:txBody>
          <a:bodyPr wrap="square" lIns="0" tIns="0" rIns="0" bIns="0" anchor="ctr">
            <a:spAutoFit/>
          </a:bodyPr>
          <a:lstStyle/>
          <a:p>
            <a:pPr algn="l"/>
            <a:r>
              <a:rPr sz="1400" b="1" i="0">
                <a:solidFill>
                  <a:srgbClr val="A9660B"/>
                </a:solidFill>
                <a:latin typeface="Calibri"/>
              </a:rPr>
              <a:t>RandomForest (200)</a:t>
            </a:r>
          </a:p>
        </p:txBody>
      </p:sp>
      <p:sp>
        <p:nvSpPr>
          <p:cNvPr id="25" name="TextBox 24"/>
          <p:cNvSpPr txBox="1"/>
          <p:nvPr/>
        </p:nvSpPr>
        <p:spPr>
          <a:xfrm>
            <a:off x="4577724" y="3785615"/>
            <a:ext cx="1233336" cy="475488"/>
          </a:xfrm>
          <a:prstGeom prst="rect">
            <a:avLst/>
          </a:prstGeom>
          <a:noFill/>
        </p:spPr>
        <p:txBody>
          <a:bodyPr wrap="square" lIns="0" tIns="0" rIns="0" bIns="0" anchor="ctr">
            <a:spAutoFit/>
          </a:bodyPr>
          <a:lstStyle/>
          <a:p>
            <a:pPr algn="r"/>
            <a:r>
              <a:rPr sz="1400" b="1" i="0">
                <a:solidFill>
                  <a:srgbClr val="A9660B"/>
                </a:solidFill>
                <a:latin typeface="Calibri"/>
              </a:rPr>
              <a:t>+0.0001</a:t>
            </a:r>
          </a:p>
        </p:txBody>
      </p:sp>
      <p:sp>
        <p:nvSpPr>
          <p:cNvPr id="26" name="TextBox 25"/>
          <p:cNvSpPr txBox="1"/>
          <p:nvPr/>
        </p:nvSpPr>
        <p:spPr>
          <a:xfrm>
            <a:off x="6140245" y="3785615"/>
            <a:ext cx="1233336" cy="475488"/>
          </a:xfrm>
          <a:prstGeom prst="rect">
            <a:avLst/>
          </a:prstGeom>
          <a:noFill/>
        </p:spPr>
        <p:txBody>
          <a:bodyPr wrap="square" lIns="0" tIns="0" rIns="0" bIns="0" anchor="ctr">
            <a:spAutoFit/>
          </a:bodyPr>
          <a:lstStyle/>
          <a:p>
            <a:pPr algn="r"/>
            <a:r>
              <a:rPr sz="1400" b="1" i="0">
                <a:solidFill>
                  <a:srgbClr val="A9660B"/>
                </a:solidFill>
                <a:latin typeface="Calibri"/>
              </a:rPr>
              <a:t>++--+</a:t>
            </a:r>
          </a:p>
        </p:txBody>
      </p:sp>
      <p:sp>
        <p:nvSpPr>
          <p:cNvPr id="27" name="TextBox 26"/>
          <p:cNvSpPr txBox="1"/>
          <p:nvPr/>
        </p:nvSpPr>
        <p:spPr>
          <a:xfrm>
            <a:off x="7702766" y="3785615"/>
            <a:ext cx="1113142" cy="475488"/>
          </a:xfrm>
          <a:prstGeom prst="rect">
            <a:avLst/>
          </a:prstGeom>
          <a:noFill/>
        </p:spPr>
        <p:txBody>
          <a:bodyPr wrap="square" lIns="0" tIns="0" rIns="0" bIns="0" anchor="ctr">
            <a:spAutoFit/>
          </a:bodyPr>
          <a:lstStyle/>
          <a:p>
            <a:pPr algn="r"/>
            <a:r>
              <a:rPr sz="1400" b="1" i="0">
                <a:solidFill>
                  <a:srgbClr val="A9660B"/>
                </a:solidFill>
                <a:latin typeface="Calibri"/>
              </a:rPr>
              <a:t>0.9746</a:t>
            </a:r>
          </a:p>
        </p:txBody>
      </p:sp>
      <p:sp>
        <p:nvSpPr>
          <p:cNvPr id="28" name="TextBox 27"/>
          <p:cNvSpPr txBox="1"/>
          <p:nvPr/>
        </p:nvSpPr>
        <p:spPr>
          <a:xfrm>
            <a:off x="9145093" y="3785615"/>
            <a:ext cx="2315081" cy="475488"/>
          </a:xfrm>
          <a:prstGeom prst="rect">
            <a:avLst/>
          </a:prstGeom>
          <a:noFill/>
        </p:spPr>
        <p:txBody>
          <a:bodyPr wrap="square" lIns="0" tIns="0" rIns="0" bIns="0" anchor="ctr">
            <a:spAutoFit/>
          </a:bodyPr>
          <a:lstStyle/>
          <a:p>
            <a:pPr algn="l"/>
            <a:r>
              <a:rPr sz="1400" b="1" i="0">
                <a:solidFill>
                  <a:srgbClr val="A9660B"/>
                </a:solidFill>
                <a:latin typeface="Calibri"/>
              </a:rPr>
              <a:t>within noise</a:t>
            </a:r>
          </a:p>
        </p:txBody>
      </p:sp>
      <p:sp>
        <p:nvSpPr>
          <p:cNvPr id="29" name="Rectangle 28"/>
          <p:cNvSpPr/>
          <p:nvPr/>
        </p:nvSpPr>
        <p:spPr>
          <a:xfrm>
            <a:off x="566928" y="4315968"/>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370831"/>
            <a:ext cx="3517020" cy="475488"/>
          </a:xfrm>
          <a:prstGeom prst="rect">
            <a:avLst/>
          </a:prstGeom>
          <a:noFill/>
        </p:spPr>
        <p:txBody>
          <a:bodyPr wrap="square" lIns="0" tIns="0" rIns="0" bIns="0" anchor="ctr">
            <a:spAutoFit/>
          </a:bodyPr>
          <a:lstStyle/>
          <a:p>
            <a:pPr algn="l"/>
            <a:r>
              <a:rPr sz="1400" b="1" i="0">
                <a:solidFill>
                  <a:srgbClr val="A9660B"/>
                </a:solidFill>
                <a:latin typeface="Calibri"/>
              </a:rPr>
              <a:t>XGBoost (200)</a:t>
            </a:r>
          </a:p>
        </p:txBody>
      </p:sp>
      <p:sp>
        <p:nvSpPr>
          <p:cNvPr id="31" name="TextBox 30"/>
          <p:cNvSpPr txBox="1"/>
          <p:nvPr/>
        </p:nvSpPr>
        <p:spPr>
          <a:xfrm>
            <a:off x="4577724" y="4370831"/>
            <a:ext cx="1233336" cy="475488"/>
          </a:xfrm>
          <a:prstGeom prst="rect">
            <a:avLst/>
          </a:prstGeom>
          <a:noFill/>
        </p:spPr>
        <p:txBody>
          <a:bodyPr wrap="square" lIns="0" tIns="0" rIns="0" bIns="0" anchor="ctr">
            <a:spAutoFit/>
          </a:bodyPr>
          <a:lstStyle/>
          <a:p>
            <a:pPr algn="r"/>
            <a:r>
              <a:rPr sz="1400" b="1" i="0">
                <a:solidFill>
                  <a:srgbClr val="A9660B"/>
                </a:solidFill>
                <a:latin typeface="Calibri"/>
              </a:rPr>
              <a:t>+0.0024</a:t>
            </a:r>
          </a:p>
        </p:txBody>
      </p:sp>
      <p:sp>
        <p:nvSpPr>
          <p:cNvPr id="32" name="TextBox 31"/>
          <p:cNvSpPr txBox="1"/>
          <p:nvPr/>
        </p:nvSpPr>
        <p:spPr>
          <a:xfrm>
            <a:off x="6140245" y="4370831"/>
            <a:ext cx="1233336" cy="475488"/>
          </a:xfrm>
          <a:prstGeom prst="rect">
            <a:avLst/>
          </a:prstGeom>
          <a:noFill/>
        </p:spPr>
        <p:txBody>
          <a:bodyPr wrap="square" lIns="0" tIns="0" rIns="0" bIns="0" anchor="ctr">
            <a:spAutoFit/>
          </a:bodyPr>
          <a:lstStyle/>
          <a:p>
            <a:pPr algn="r"/>
            <a:r>
              <a:rPr sz="1400" b="1" i="0">
                <a:solidFill>
                  <a:srgbClr val="A9660B"/>
                </a:solidFill>
                <a:latin typeface="Calibri"/>
              </a:rPr>
              <a:t>++--+</a:t>
            </a:r>
          </a:p>
        </p:txBody>
      </p:sp>
      <p:sp>
        <p:nvSpPr>
          <p:cNvPr id="33" name="TextBox 32"/>
          <p:cNvSpPr txBox="1"/>
          <p:nvPr/>
        </p:nvSpPr>
        <p:spPr>
          <a:xfrm>
            <a:off x="7702766" y="4370831"/>
            <a:ext cx="1113142" cy="475488"/>
          </a:xfrm>
          <a:prstGeom prst="rect">
            <a:avLst/>
          </a:prstGeom>
          <a:noFill/>
        </p:spPr>
        <p:txBody>
          <a:bodyPr wrap="square" lIns="0" tIns="0" rIns="0" bIns="0" anchor="ctr">
            <a:spAutoFit/>
          </a:bodyPr>
          <a:lstStyle/>
          <a:p>
            <a:pPr algn="r"/>
            <a:r>
              <a:rPr sz="1400" b="1" i="0">
                <a:solidFill>
                  <a:srgbClr val="A9660B"/>
                </a:solidFill>
                <a:latin typeface="Calibri"/>
              </a:rPr>
              <a:t>0.3525</a:t>
            </a:r>
          </a:p>
        </p:txBody>
      </p:sp>
      <p:sp>
        <p:nvSpPr>
          <p:cNvPr id="34" name="TextBox 33"/>
          <p:cNvSpPr txBox="1"/>
          <p:nvPr/>
        </p:nvSpPr>
        <p:spPr>
          <a:xfrm>
            <a:off x="9145093" y="4370831"/>
            <a:ext cx="2315081" cy="475488"/>
          </a:xfrm>
          <a:prstGeom prst="rect">
            <a:avLst/>
          </a:prstGeom>
          <a:noFill/>
        </p:spPr>
        <p:txBody>
          <a:bodyPr wrap="square" lIns="0" tIns="0" rIns="0" bIns="0" anchor="ctr">
            <a:spAutoFit/>
          </a:bodyPr>
          <a:lstStyle/>
          <a:p>
            <a:pPr algn="l"/>
            <a:r>
              <a:rPr sz="1400" b="1" i="0">
                <a:solidFill>
                  <a:srgbClr val="A9660B"/>
                </a:solidFill>
                <a:latin typeface="Calibri"/>
              </a:rPr>
              <a:t>within noise</a:t>
            </a:r>
          </a:p>
        </p:txBody>
      </p:sp>
      <p:sp>
        <p:nvSpPr>
          <p:cNvPr id="35" name="Rounded Rectangle 34"/>
          <p:cNvSpPr/>
          <p:nvPr/>
        </p:nvSpPr>
        <p:spPr>
          <a:xfrm>
            <a:off x="566928" y="5779008"/>
            <a:ext cx="11057839" cy="603504"/>
          </a:xfrm>
          <a:prstGeom prst="roundRect">
            <a:avLst>
              <a:gd name="adj" fmla="val 21212"/>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Look at the signs column before the p column. Five agreeing signs, or a mixture - that is the whole test in one glance.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Two real, two illusions</a:t>
            </a:r>
          </a:p>
        </p:txBody>
      </p:sp>
      <p:sp>
        <p:nvSpPr>
          <p:cNvPr id="4" name="Rounded Rectangle 3"/>
          <p:cNvSpPr/>
          <p:nvPr/>
        </p:nvSpPr>
        <p:spPr>
          <a:xfrm>
            <a:off x="566928" y="1956816"/>
            <a:ext cx="4617720" cy="4398264"/>
          </a:xfrm>
          <a:prstGeom prst="roundRect">
            <a:avLst>
              <a:gd name="adj" fmla="val 2910"/>
            </a:avLst>
          </a:prstGeom>
          <a:solidFill>
            <a:srgbClr val="F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A9660B"/>
                </a:solidFill>
                <a:latin typeface="Cambria"/>
              </a:rPr>
              <a:t>+0.0001</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HistGB over RandomForest · p = 0.9746</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The gap between the top two models is </a:t>
            </a:r>
            <a:r>
              <a:rPr sz="1600" b="1" i="0">
                <a:solidFill>
                  <a:srgbClr val="A8443A"/>
                </a:solidFill>
                <a:latin typeface="Calibri"/>
              </a:rPr>
              <a:t>one ten-thousandth</a:t>
            </a:r>
            <a:r>
              <a:rPr sz="1600" b="0" i="0">
                <a:solidFill>
                  <a:srgbClr val="2B3440"/>
                </a:solidFill>
                <a:latin typeface="Calibri"/>
              </a:rPr>
              <a:t>, with signs that do not agree on a direction.</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Ranked by mean AUC they are 1st and 2nd. Tested properly they are indistinguishable.</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1" i="0">
                <a:solidFill>
                  <a:srgbClr val="A8443A"/>
                </a:solidFill>
                <a:latin typeface="Calibri"/>
              </a:rPr>
              <a:t>The ensembles genuinely beat logistic regression and the single tree. They do not beat each other.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1993392"/>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2600" b="1" dirty="0">
                <a:solidFill>
                  <a:srgbClr val="12233A"/>
                </a:solidFill>
                <a:latin typeface="Calibri"/>
              </a:rPr>
              <a:t>4</a:t>
            </a:r>
            <a:endParaRPr sz="2600" b="1" i="0" dirty="0">
              <a:solidFill>
                <a:srgbClr val="12233A"/>
              </a:solidFill>
              <a:latin typeface="Calibri"/>
            </a:endParaRP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Resolving Session 5's cliffhanger</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Two models are tied on AUC. Something has to break the tie, and it will not be accuracy.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The same four models, judged on usability</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The city can inspect 200 listings a month. That is the actual task.</a:t>
            </a:r>
          </a:p>
        </p:txBody>
      </p:sp>
      <p:sp>
        <p:nvSpPr>
          <p:cNvPr id="5" name="Rectangle 4"/>
          <p:cNvSpPr/>
          <p:nvPr/>
        </p:nvSpPr>
        <p:spPr>
          <a:xfrm>
            <a:off x="566928" y="2139696"/>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2647926" cy="310896"/>
          </a:xfrm>
          <a:prstGeom prst="rect">
            <a:avLst/>
          </a:prstGeom>
          <a:noFill/>
        </p:spPr>
        <p:txBody>
          <a:bodyPr wrap="square" lIns="0" tIns="0" rIns="0" bIns="0" anchor="ctr">
            <a:spAutoFit/>
          </a:bodyPr>
          <a:lstStyle/>
          <a:p>
            <a:pPr algn="l"/>
            <a:r>
              <a:rPr sz="1300" b="1" i="0">
                <a:solidFill>
                  <a:srgbClr val="A8443A"/>
                </a:solidFill>
                <a:latin typeface="Calibri"/>
              </a:rPr>
              <a:t>Model</a:t>
            </a:r>
          </a:p>
        </p:txBody>
      </p:sp>
      <p:sp>
        <p:nvSpPr>
          <p:cNvPr id="7" name="TextBox 6"/>
          <p:cNvSpPr txBox="1"/>
          <p:nvPr/>
        </p:nvSpPr>
        <p:spPr>
          <a:xfrm>
            <a:off x="3708630" y="2194560"/>
            <a:ext cx="946720" cy="310896"/>
          </a:xfrm>
          <a:prstGeom prst="rect">
            <a:avLst/>
          </a:prstGeom>
          <a:noFill/>
        </p:spPr>
        <p:txBody>
          <a:bodyPr wrap="square" lIns="0" tIns="0" rIns="0" bIns="0" anchor="ctr">
            <a:spAutoFit/>
          </a:bodyPr>
          <a:lstStyle/>
          <a:p>
            <a:pPr algn="l"/>
            <a:r>
              <a:rPr sz="1300" b="1" i="0">
                <a:solidFill>
                  <a:srgbClr val="A8443A"/>
                </a:solidFill>
                <a:latin typeface="Calibri"/>
              </a:rPr>
              <a:t>AUC</a:t>
            </a:r>
          </a:p>
        </p:txBody>
      </p:sp>
      <p:sp>
        <p:nvSpPr>
          <p:cNvPr id="8" name="TextBox 7"/>
          <p:cNvSpPr txBox="1"/>
          <p:nvPr/>
        </p:nvSpPr>
        <p:spPr>
          <a:xfrm>
            <a:off x="4984535" y="2194560"/>
            <a:ext cx="2009974" cy="310896"/>
          </a:xfrm>
          <a:prstGeom prst="rect">
            <a:avLst/>
          </a:prstGeom>
          <a:noFill/>
        </p:spPr>
        <p:txBody>
          <a:bodyPr wrap="square" lIns="0" tIns="0" rIns="0" bIns="0" anchor="ctr">
            <a:spAutoFit/>
          </a:bodyPr>
          <a:lstStyle/>
          <a:p>
            <a:pPr algn="l"/>
            <a:r>
              <a:rPr sz="1300" b="1" i="0">
                <a:solidFill>
                  <a:srgbClr val="A8443A"/>
                </a:solidFill>
                <a:latin typeface="Calibri"/>
              </a:rPr>
              <a:t>distinct scores</a:t>
            </a:r>
          </a:p>
        </p:txBody>
      </p:sp>
      <p:sp>
        <p:nvSpPr>
          <p:cNvPr id="9" name="TextBox 8"/>
          <p:cNvSpPr txBox="1"/>
          <p:nvPr/>
        </p:nvSpPr>
        <p:spPr>
          <a:xfrm>
            <a:off x="7323693" y="2194560"/>
            <a:ext cx="1797323" cy="310896"/>
          </a:xfrm>
          <a:prstGeom prst="rect">
            <a:avLst/>
          </a:prstGeom>
          <a:noFill/>
        </p:spPr>
        <p:txBody>
          <a:bodyPr wrap="square" lIns="0" tIns="0" rIns="0" bIns="0" anchor="ctr">
            <a:spAutoFit/>
          </a:bodyPr>
          <a:lstStyle/>
          <a:p>
            <a:pPr algn="l"/>
            <a:r>
              <a:rPr sz="1300" b="1" i="0">
                <a:solidFill>
                  <a:srgbClr val="A8443A"/>
                </a:solidFill>
                <a:latin typeface="Calibri"/>
              </a:rPr>
              <a:t>precision@200</a:t>
            </a:r>
          </a:p>
        </p:txBody>
      </p:sp>
      <p:sp>
        <p:nvSpPr>
          <p:cNvPr id="10" name="TextBox 9"/>
          <p:cNvSpPr txBox="1"/>
          <p:nvPr/>
        </p:nvSpPr>
        <p:spPr>
          <a:xfrm>
            <a:off x="9450200" y="2194560"/>
            <a:ext cx="2009974" cy="310896"/>
          </a:xfrm>
          <a:prstGeom prst="rect">
            <a:avLst/>
          </a:prstGeom>
          <a:noFill/>
        </p:spPr>
        <p:txBody>
          <a:bodyPr wrap="square" lIns="0" tIns="0" rIns="0" bIns="0" anchor="ctr">
            <a:spAutoFit/>
          </a:bodyPr>
          <a:lstStyle/>
          <a:p>
            <a:pPr algn="l"/>
            <a:r>
              <a:rPr sz="1300" b="1" i="0">
                <a:solidFill>
                  <a:srgbClr val="A8443A"/>
                </a:solidFill>
                <a:latin typeface="Calibri"/>
              </a:rPr>
              <a:t>tied at the cut</a:t>
            </a:r>
          </a:p>
        </p:txBody>
      </p:sp>
      <p:sp>
        <p:nvSpPr>
          <p:cNvPr id="11" name="Rectangle 10"/>
          <p:cNvSpPr/>
          <p:nvPr/>
        </p:nvSpPr>
        <p:spPr>
          <a:xfrm>
            <a:off x="566928" y="2560320"/>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15184"/>
            <a:ext cx="2647926" cy="475488"/>
          </a:xfrm>
          <a:prstGeom prst="rect">
            <a:avLst/>
          </a:prstGeom>
          <a:noFill/>
        </p:spPr>
        <p:txBody>
          <a:bodyPr wrap="square" lIns="0" tIns="0" rIns="0" bIns="0" anchor="ctr">
            <a:spAutoFit/>
          </a:bodyPr>
          <a:lstStyle/>
          <a:p>
            <a:pPr algn="l"/>
            <a:r>
              <a:rPr sz="1400" b="0" i="0">
                <a:solidFill>
                  <a:srgbClr val="2B3440"/>
                </a:solidFill>
                <a:latin typeface="Calibri"/>
              </a:rPr>
              <a:t>Tree (depth 5)</a:t>
            </a:r>
          </a:p>
        </p:txBody>
      </p:sp>
      <p:sp>
        <p:nvSpPr>
          <p:cNvPr id="13" name="TextBox 12"/>
          <p:cNvSpPr txBox="1"/>
          <p:nvPr/>
        </p:nvSpPr>
        <p:spPr>
          <a:xfrm>
            <a:off x="3708630" y="2615184"/>
            <a:ext cx="946720" cy="475488"/>
          </a:xfrm>
          <a:prstGeom prst="rect">
            <a:avLst/>
          </a:prstGeom>
          <a:noFill/>
        </p:spPr>
        <p:txBody>
          <a:bodyPr wrap="square" lIns="0" tIns="0" rIns="0" bIns="0" anchor="ctr">
            <a:spAutoFit/>
          </a:bodyPr>
          <a:lstStyle/>
          <a:p>
            <a:pPr algn="r"/>
            <a:r>
              <a:rPr sz="1400" b="0" i="0">
                <a:solidFill>
                  <a:srgbClr val="2B3440"/>
                </a:solidFill>
                <a:latin typeface="Calibri"/>
              </a:rPr>
              <a:t>0.9075</a:t>
            </a:r>
          </a:p>
        </p:txBody>
      </p:sp>
      <p:sp>
        <p:nvSpPr>
          <p:cNvPr id="14" name="TextBox 13"/>
          <p:cNvSpPr txBox="1"/>
          <p:nvPr/>
        </p:nvSpPr>
        <p:spPr>
          <a:xfrm>
            <a:off x="4984535" y="2615184"/>
            <a:ext cx="2009974" cy="475488"/>
          </a:xfrm>
          <a:prstGeom prst="rect">
            <a:avLst/>
          </a:prstGeom>
          <a:noFill/>
        </p:spPr>
        <p:txBody>
          <a:bodyPr wrap="square" lIns="0" tIns="0" rIns="0" bIns="0" anchor="ctr">
            <a:spAutoFit/>
          </a:bodyPr>
          <a:lstStyle/>
          <a:p>
            <a:pPr algn="r"/>
            <a:r>
              <a:rPr sz="1400" b="0" i="0">
                <a:solidFill>
                  <a:srgbClr val="2B3440"/>
                </a:solidFill>
                <a:latin typeface="Calibri"/>
              </a:rPr>
              <a:t>104</a:t>
            </a:r>
          </a:p>
        </p:txBody>
      </p:sp>
      <p:sp>
        <p:nvSpPr>
          <p:cNvPr id="15" name="TextBox 14"/>
          <p:cNvSpPr txBox="1"/>
          <p:nvPr/>
        </p:nvSpPr>
        <p:spPr>
          <a:xfrm>
            <a:off x="7323693" y="2615184"/>
            <a:ext cx="1797323" cy="475488"/>
          </a:xfrm>
          <a:prstGeom prst="rect">
            <a:avLst/>
          </a:prstGeom>
          <a:noFill/>
        </p:spPr>
        <p:txBody>
          <a:bodyPr wrap="square" lIns="0" tIns="0" rIns="0" bIns="0" anchor="ctr">
            <a:spAutoFit/>
          </a:bodyPr>
          <a:lstStyle/>
          <a:p>
            <a:pPr algn="r"/>
            <a:r>
              <a:rPr sz="1400" b="0" i="0">
                <a:solidFill>
                  <a:srgbClr val="2B3440"/>
                </a:solidFill>
                <a:latin typeface="Calibri"/>
              </a:rPr>
              <a:t>0.985</a:t>
            </a:r>
          </a:p>
        </p:txBody>
      </p:sp>
      <p:sp>
        <p:nvSpPr>
          <p:cNvPr id="16" name="TextBox 15"/>
          <p:cNvSpPr txBox="1"/>
          <p:nvPr/>
        </p:nvSpPr>
        <p:spPr>
          <a:xfrm>
            <a:off x="9450200" y="2615184"/>
            <a:ext cx="2009974" cy="475488"/>
          </a:xfrm>
          <a:prstGeom prst="rect">
            <a:avLst/>
          </a:prstGeom>
          <a:noFill/>
        </p:spPr>
        <p:txBody>
          <a:bodyPr wrap="square" lIns="0" tIns="0" rIns="0" bIns="0" anchor="ctr">
            <a:spAutoFit/>
          </a:bodyPr>
          <a:lstStyle/>
          <a:p>
            <a:pPr algn="r"/>
            <a:r>
              <a:rPr sz="1400" b="0" i="0">
                <a:solidFill>
                  <a:srgbClr val="2B3440"/>
                </a:solidFill>
                <a:latin typeface="Calibri"/>
              </a:rPr>
              <a:t>337</a:t>
            </a:r>
          </a:p>
        </p:txBody>
      </p:sp>
      <p:sp>
        <p:nvSpPr>
          <p:cNvPr id="17" name="Rectangle 16"/>
          <p:cNvSpPr/>
          <p:nvPr/>
        </p:nvSpPr>
        <p:spPr>
          <a:xfrm>
            <a:off x="566928" y="3145536"/>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200400"/>
            <a:ext cx="2647926" cy="475488"/>
          </a:xfrm>
          <a:prstGeom prst="rect">
            <a:avLst/>
          </a:prstGeom>
          <a:noFill/>
        </p:spPr>
        <p:txBody>
          <a:bodyPr wrap="square" lIns="0" tIns="0" rIns="0" bIns="0" anchor="ctr">
            <a:spAutoFit/>
          </a:bodyPr>
          <a:lstStyle/>
          <a:p>
            <a:pPr algn="l"/>
            <a:r>
              <a:rPr sz="1400" b="0" i="0">
                <a:solidFill>
                  <a:srgbClr val="2B3440"/>
                </a:solidFill>
                <a:latin typeface="Calibri"/>
              </a:rPr>
              <a:t>LogisticRegression</a:t>
            </a:r>
          </a:p>
        </p:txBody>
      </p:sp>
      <p:sp>
        <p:nvSpPr>
          <p:cNvPr id="19" name="TextBox 18"/>
          <p:cNvSpPr txBox="1"/>
          <p:nvPr/>
        </p:nvSpPr>
        <p:spPr>
          <a:xfrm>
            <a:off x="3708630" y="3200400"/>
            <a:ext cx="946720" cy="475488"/>
          </a:xfrm>
          <a:prstGeom prst="rect">
            <a:avLst/>
          </a:prstGeom>
          <a:noFill/>
        </p:spPr>
        <p:txBody>
          <a:bodyPr wrap="square" lIns="0" tIns="0" rIns="0" bIns="0" anchor="ctr">
            <a:spAutoFit/>
          </a:bodyPr>
          <a:lstStyle/>
          <a:p>
            <a:pPr algn="r"/>
            <a:r>
              <a:rPr sz="1400" b="0" i="0">
                <a:solidFill>
                  <a:srgbClr val="2B3440"/>
                </a:solidFill>
                <a:latin typeface="Calibri"/>
              </a:rPr>
              <a:t>0.8899</a:t>
            </a:r>
          </a:p>
        </p:txBody>
      </p:sp>
      <p:sp>
        <p:nvSpPr>
          <p:cNvPr id="20" name="TextBox 19"/>
          <p:cNvSpPr txBox="1"/>
          <p:nvPr/>
        </p:nvSpPr>
        <p:spPr>
          <a:xfrm>
            <a:off x="4984535" y="3200400"/>
            <a:ext cx="2009974" cy="475488"/>
          </a:xfrm>
          <a:prstGeom prst="rect">
            <a:avLst/>
          </a:prstGeom>
          <a:noFill/>
        </p:spPr>
        <p:txBody>
          <a:bodyPr wrap="square" lIns="0" tIns="0" rIns="0" bIns="0" anchor="ctr">
            <a:spAutoFit/>
          </a:bodyPr>
          <a:lstStyle/>
          <a:p>
            <a:pPr algn="r"/>
            <a:r>
              <a:rPr sz="1400" b="0" i="0">
                <a:solidFill>
                  <a:srgbClr val="2B3440"/>
                </a:solidFill>
                <a:latin typeface="Calibri"/>
              </a:rPr>
              <a:t>12,239</a:t>
            </a:r>
          </a:p>
        </p:txBody>
      </p:sp>
      <p:sp>
        <p:nvSpPr>
          <p:cNvPr id="21" name="TextBox 20"/>
          <p:cNvSpPr txBox="1"/>
          <p:nvPr/>
        </p:nvSpPr>
        <p:spPr>
          <a:xfrm>
            <a:off x="7323693" y="3200400"/>
            <a:ext cx="1797323" cy="475488"/>
          </a:xfrm>
          <a:prstGeom prst="rect">
            <a:avLst/>
          </a:prstGeom>
          <a:noFill/>
        </p:spPr>
        <p:txBody>
          <a:bodyPr wrap="square" lIns="0" tIns="0" rIns="0" bIns="0" anchor="ctr">
            <a:spAutoFit/>
          </a:bodyPr>
          <a:lstStyle/>
          <a:p>
            <a:pPr algn="r"/>
            <a:r>
              <a:rPr sz="1400" b="0" i="0">
                <a:solidFill>
                  <a:srgbClr val="2B3440"/>
                </a:solidFill>
                <a:latin typeface="Calibri"/>
              </a:rPr>
              <a:t>0.855</a:t>
            </a:r>
          </a:p>
        </p:txBody>
      </p:sp>
      <p:sp>
        <p:nvSpPr>
          <p:cNvPr id="22" name="TextBox 21"/>
          <p:cNvSpPr txBox="1"/>
          <p:nvPr/>
        </p:nvSpPr>
        <p:spPr>
          <a:xfrm>
            <a:off x="9450200" y="3200400"/>
            <a:ext cx="2009974" cy="475488"/>
          </a:xfrm>
          <a:prstGeom prst="rect">
            <a:avLst/>
          </a:prstGeom>
          <a:noFill/>
        </p:spPr>
        <p:txBody>
          <a:bodyPr wrap="square" lIns="0" tIns="0" rIns="0" bIns="0" anchor="ctr">
            <a:spAutoFit/>
          </a:bodyPr>
          <a:lstStyle/>
          <a:p>
            <a:pPr algn="r"/>
            <a:r>
              <a:rPr sz="1400" b="0" i="0">
                <a:solidFill>
                  <a:srgbClr val="2B3440"/>
                </a:solidFill>
                <a:latin typeface="Calibri"/>
              </a:rPr>
              <a:t>1</a:t>
            </a:r>
          </a:p>
        </p:txBody>
      </p:sp>
      <p:sp>
        <p:nvSpPr>
          <p:cNvPr id="23" name="Rectangle 22"/>
          <p:cNvSpPr/>
          <p:nvPr/>
        </p:nvSpPr>
        <p:spPr>
          <a:xfrm>
            <a:off x="566928" y="3730752"/>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785615"/>
            <a:ext cx="2647926" cy="475488"/>
          </a:xfrm>
          <a:prstGeom prst="rect">
            <a:avLst/>
          </a:prstGeom>
          <a:noFill/>
        </p:spPr>
        <p:txBody>
          <a:bodyPr wrap="square" lIns="0" tIns="0" rIns="0" bIns="0" anchor="ctr">
            <a:spAutoFit/>
          </a:bodyPr>
          <a:lstStyle/>
          <a:p>
            <a:pPr algn="l"/>
            <a:r>
              <a:rPr sz="1400" b="0" i="0">
                <a:solidFill>
                  <a:srgbClr val="2B3440"/>
                </a:solidFill>
                <a:latin typeface="Calibri"/>
              </a:rPr>
              <a:t>RandomForest (200)</a:t>
            </a:r>
          </a:p>
        </p:txBody>
      </p:sp>
      <p:sp>
        <p:nvSpPr>
          <p:cNvPr id="25" name="TextBox 24"/>
          <p:cNvSpPr txBox="1"/>
          <p:nvPr/>
        </p:nvSpPr>
        <p:spPr>
          <a:xfrm>
            <a:off x="3708630" y="3785615"/>
            <a:ext cx="946720" cy="475488"/>
          </a:xfrm>
          <a:prstGeom prst="rect">
            <a:avLst/>
          </a:prstGeom>
          <a:noFill/>
        </p:spPr>
        <p:txBody>
          <a:bodyPr wrap="square" lIns="0" tIns="0" rIns="0" bIns="0" anchor="ctr">
            <a:spAutoFit/>
          </a:bodyPr>
          <a:lstStyle/>
          <a:p>
            <a:pPr algn="r"/>
            <a:r>
              <a:rPr sz="1400" b="0" i="0">
                <a:solidFill>
                  <a:srgbClr val="2B3440"/>
                </a:solidFill>
                <a:latin typeface="Calibri"/>
              </a:rPr>
              <a:t>0.9216</a:t>
            </a:r>
          </a:p>
        </p:txBody>
      </p:sp>
      <p:sp>
        <p:nvSpPr>
          <p:cNvPr id="26" name="TextBox 25"/>
          <p:cNvSpPr txBox="1"/>
          <p:nvPr/>
        </p:nvSpPr>
        <p:spPr>
          <a:xfrm>
            <a:off x="4984535" y="3785615"/>
            <a:ext cx="2009974" cy="475488"/>
          </a:xfrm>
          <a:prstGeom prst="rect">
            <a:avLst/>
          </a:prstGeom>
          <a:noFill/>
        </p:spPr>
        <p:txBody>
          <a:bodyPr wrap="square" lIns="0" tIns="0" rIns="0" bIns="0" anchor="ctr">
            <a:spAutoFit/>
          </a:bodyPr>
          <a:lstStyle/>
          <a:p>
            <a:pPr algn="r"/>
            <a:r>
              <a:rPr sz="1400" b="0" i="0">
                <a:solidFill>
                  <a:srgbClr val="2B3440"/>
                </a:solidFill>
                <a:latin typeface="Calibri"/>
              </a:rPr>
              <a:t>444</a:t>
            </a:r>
          </a:p>
        </p:txBody>
      </p:sp>
      <p:sp>
        <p:nvSpPr>
          <p:cNvPr id="27" name="TextBox 26"/>
          <p:cNvSpPr txBox="1"/>
          <p:nvPr/>
        </p:nvSpPr>
        <p:spPr>
          <a:xfrm>
            <a:off x="7323693" y="3785615"/>
            <a:ext cx="1797323" cy="475488"/>
          </a:xfrm>
          <a:prstGeom prst="rect">
            <a:avLst/>
          </a:prstGeom>
          <a:noFill/>
        </p:spPr>
        <p:txBody>
          <a:bodyPr wrap="square" lIns="0" tIns="0" rIns="0" bIns="0" anchor="ctr">
            <a:spAutoFit/>
          </a:bodyPr>
          <a:lstStyle/>
          <a:p>
            <a:pPr algn="r"/>
            <a:r>
              <a:rPr sz="1400" b="0" i="0">
                <a:solidFill>
                  <a:srgbClr val="2B3440"/>
                </a:solidFill>
                <a:latin typeface="Calibri"/>
              </a:rPr>
              <a:t>0.990</a:t>
            </a:r>
          </a:p>
        </p:txBody>
      </p:sp>
      <p:sp>
        <p:nvSpPr>
          <p:cNvPr id="28" name="TextBox 27"/>
          <p:cNvSpPr txBox="1"/>
          <p:nvPr/>
        </p:nvSpPr>
        <p:spPr>
          <a:xfrm>
            <a:off x="9450200" y="3785615"/>
            <a:ext cx="2009974" cy="475488"/>
          </a:xfrm>
          <a:prstGeom prst="rect">
            <a:avLst/>
          </a:prstGeom>
          <a:noFill/>
        </p:spPr>
        <p:txBody>
          <a:bodyPr wrap="square" lIns="0" tIns="0" rIns="0" bIns="0" anchor="ctr">
            <a:spAutoFit/>
          </a:bodyPr>
          <a:lstStyle/>
          <a:p>
            <a:pPr algn="r"/>
            <a:r>
              <a:rPr sz="1400" b="0" i="0">
                <a:solidFill>
                  <a:srgbClr val="2B3440"/>
                </a:solidFill>
                <a:latin typeface="Calibri"/>
              </a:rPr>
              <a:t>182</a:t>
            </a:r>
          </a:p>
        </p:txBody>
      </p:sp>
      <p:sp>
        <p:nvSpPr>
          <p:cNvPr id="29" name="Rectangle 28"/>
          <p:cNvSpPr/>
          <p:nvPr/>
        </p:nvSpPr>
        <p:spPr>
          <a:xfrm>
            <a:off x="566928" y="4315968"/>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370831"/>
            <a:ext cx="2647926" cy="475488"/>
          </a:xfrm>
          <a:prstGeom prst="rect">
            <a:avLst/>
          </a:prstGeom>
          <a:noFill/>
        </p:spPr>
        <p:txBody>
          <a:bodyPr wrap="square" lIns="0" tIns="0" rIns="0" bIns="0" anchor="ctr">
            <a:spAutoFit/>
          </a:bodyPr>
          <a:lstStyle/>
          <a:p>
            <a:pPr algn="l"/>
            <a:r>
              <a:rPr sz="1400" b="1" i="0">
                <a:solidFill>
                  <a:srgbClr val="A9660B"/>
                </a:solidFill>
                <a:latin typeface="Calibri"/>
              </a:rPr>
              <a:t>HistGB (default)</a:t>
            </a:r>
          </a:p>
        </p:txBody>
      </p:sp>
      <p:sp>
        <p:nvSpPr>
          <p:cNvPr id="31" name="TextBox 30"/>
          <p:cNvSpPr txBox="1"/>
          <p:nvPr/>
        </p:nvSpPr>
        <p:spPr>
          <a:xfrm>
            <a:off x="3708630" y="4370831"/>
            <a:ext cx="946720" cy="475488"/>
          </a:xfrm>
          <a:prstGeom prst="rect">
            <a:avLst/>
          </a:prstGeom>
          <a:noFill/>
        </p:spPr>
        <p:txBody>
          <a:bodyPr wrap="square" lIns="0" tIns="0" rIns="0" bIns="0" anchor="ctr">
            <a:spAutoFit/>
          </a:bodyPr>
          <a:lstStyle/>
          <a:p>
            <a:pPr algn="r"/>
            <a:r>
              <a:rPr sz="1400" b="1" i="0">
                <a:solidFill>
                  <a:srgbClr val="A9660B"/>
                </a:solidFill>
                <a:latin typeface="Calibri"/>
              </a:rPr>
              <a:t>0.9216</a:t>
            </a:r>
          </a:p>
        </p:txBody>
      </p:sp>
      <p:sp>
        <p:nvSpPr>
          <p:cNvPr id="32" name="TextBox 31"/>
          <p:cNvSpPr txBox="1"/>
          <p:nvPr/>
        </p:nvSpPr>
        <p:spPr>
          <a:xfrm>
            <a:off x="4984535" y="4370831"/>
            <a:ext cx="2009974" cy="475488"/>
          </a:xfrm>
          <a:prstGeom prst="rect">
            <a:avLst/>
          </a:prstGeom>
          <a:noFill/>
        </p:spPr>
        <p:txBody>
          <a:bodyPr wrap="square" lIns="0" tIns="0" rIns="0" bIns="0" anchor="ctr">
            <a:spAutoFit/>
          </a:bodyPr>
          <a:lstStyle/>
          <a:p>
            <a:pPr algn="r"/>
            <a:r>
              <a:rPr sz="1400" b="1" i="0">
                <a:solidFill>
                  <a:srgbClr val="A9660B"/>
                </a:solidFill>
                <a:latin typeface="Calibri"/>
              </a:rPr>
              <a:t>11,336</a:t>
            </a:r>
          </a:p>
        </p:txBody>
      </p:sp>
      <p:sp>
        <p:nvSpPr>
          <p:cNvPr id="33" name="TextBox 32"/>
          <p:cNvSpPr txBox="1"/>
          <p:nvPr/>
        </p:nvSpPr>
        <p:spPr>
          <a:xfrm>
            <a:off x="7323693" y="4370831"/>
            <a:ext cx="1797323" cy="475488"/>
          </a:xfrm>
          <a:prstGeom prst="rect">
            <a:avLst/>
          </a:prstGeom>
          <a:noFill/>
        </p:spPr>
        <p:txBody>
          <a:bodyPr wrap="square" lIns="0" tIns="0" rIns="0" bIns="0" anchor="ctr">
            <a:spAutoFit/>
          </a:bodyPr>
          <a:lstStyle/>
          <a:p>
            <a:pPr algn="r"/>
            <a:r>
              <a:rPr sz="1400" b="1" i="0">
                <a:solidFill>
                  <a:srgbClr val="A9660B"/>
                </a:solidFill>
                <a:latin typeface="Calibri"/>
              </a:rPr>
              <a:t>0.985</a:t>
            </a:r>
          </a:p>
        </p:txBody>
      </p:sp>
      <p:sp>
        <p:nvSpPr>
          <p:cNvPr id="34" name="TextBox 33"/>
          <p:cNvSpPr txBox="1"/>
          <p:nvPr/>
        </p:nvSpPr>
        <p:spPr>
          <a:xfrm>
            <a:off x="9450200" y="4370831"/>
            <a:ext cx="2009974" cy="475488"/>
          </a:xfrm>
          <a:prstGeom prst="rect">
            <a:avLst/>
          </a:prstGeom>
          <a:noFill/>
        </p:spPr>
        <p:txBody>
          <a:bodyPr wrap="square" lIns="0" tIns="0" rIns="0" bIns="0" anchor="ctr">
            <a:spAutoFit/>
          </a:bodyPr>
          <a:lstStyle/>
          <a:p>
            <a:pPr algn="r"/>
            <a:r>
              <a:rPr sz="1400" b="1" i="0">
                <a:solidFill>
                  <a:srgbClr val="A9660B"/>
                </a:solidFill>
                <a:latin typeface="Calibri"/>
              </a:rPr>
              <a:t>1</a:t>
            </a:r>
          </a:p>
        </p:txBody>
      </p:sp>
      <p:sp>
        <p:nvSpPr>
          <p:cNvPr id="35" name="Rounded Rectangle 34"/>
          <p:cNvSpPr/>
          <p:nvPr/>
        </p:nvSpPr>
        <p:spPr>
          <a:xfrm>
            <a:off x="566928" y="5779008"/>
            <a:ext cx="11057839" cy="603504"/>
          </a:xfrm>
          <a:prstGeom prst="roundRect">
            <a:avLst>
              <a:gd name="adj" fmla="val 21212"/>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A depth-5 tree has at most 32 leaves, so it can emit at most 32 distinct probabilities. A 200-tree forest can emit multiples of 1/200.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The tie-breaker</a:t>
            </a:r>
          </a:p>
        </p:txBody>
      </p:sp>
      <p:sp>
        <p:nvSpPr>
          <p:cNvPr id="4" name="Rounded Rectangle 3"/>
          <p:cNvSpPr/>
          <p:nvPr/>
        </p:nvSpPr>
        <p:spPr>
          <a:xfrm>
            <a:off x="566928" y="1956816"/>
            <a:ext cx="4617720" cy="4398264"/>
          </a:xfrm>
          <a:prstGeom prst="roundRect">
            <a:avLst>
              <a:gd name="adj" fmla="val 2910"/>
            </a:avLst>
          </a:prstGeom>
          <a:solidFill>
            <a:srgbClr val="F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1F6F5C"/>
                </a:solidFill>
                <a:latin typeface="Cambria"/>
              </a:rPr>
              <a:t>182</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listings tied at the 200th place in the RandomForest ranking</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RandomForest and HistGB have </a:t>
            </a:r>
            <a:r>
              <a:rPr sz="1600" b="1" i="0">
                <a:solidFill>
                  <a:srgbClr val="A8443A"/>
                </a:solidFill>
                <a:latin typeface="Calibri"/>
              </a:rPr>
              <a:t>identical AUC</a:t>
            </a:r>
            <a:r>
              <a:rPr sz="1600" b="0" i="0">
                <a:solidFill>
                  <a:srgbClr val="2B3440"/>
                </a:solidFill>
                <a:latin typeface="Calibri"/>
              </a:rPr>
              <a:t> and p = 0.97. Nothing in the scores separates them.</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But the forest emits 444 distinct values and leaves 182 listings sharing the cut-off. Which 18 get inspected is settled by row order.</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1" i="0">
                <a:solidFill>
                  <a:srgbClr val="A8443A"/>
                </a:solidFill>
                <a:latin typeface="Calibri"/>
              </a:rPr>
              <a:t>HistGB emits 11,336 and produces a fully ordered, appealable list.</a:t>
            </a:r>
            <a:r>
              <a:rPr sz="1600" b="0" i="0">
                <a:solidFill>
                  <a:srgbClr val="2B3440"/>
                </a:solidFill>
                <a:latin typeface="Calibri"/>
              </a:rPr>
              <a:t> That is the reason to ship 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We chose the model that loses no accuracy and can be defended to a host who asks why their address was on the list.</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Not the highest score. Not even a different score. A property of the output that no metric in this course measures, and that the client would have discovered on their first month of inspections.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1993392"/>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2600" b="1" dirty="0">
                <a:solidFill>
                  <a:srgbClr val="12233A"/>
                </a:solidFill>
                <a:latin typeface="Calibri"/>
              </a:rPr>
              <a:t>5</a:t>
            </a:r>
            <a:endParaRPr sz="2600" b="1" i="0" dirty="0">
              <a:solidFill>
                <a:srgbClr val="12233A"/>
              </a:solidFill>
              <a:latin typeface="Calibri"/>
            </a:endParaRP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The industry landscape</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What people actually reach for, and the honest reason why.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Three things you will meet</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The differences between implementations are smaller than the marketing suggests.</a:t>
            </a:r>
          </a:p>
        </p:txBody>
      </p:sp>
      <p:sp>
        <p:nvSpPr>
          <p:cNvPr id="5" name="Rounded Rectangle 4"/>
          <p:cNvSpPr/>
          <p:nvPr/>
        </p:nvSpPr>
        <p:spPr>
          <a:xfrm>
            <a:off x="566928" y="2377440"/>
            <a:ext cx="3527450" cy="2514600"/>
          </a:xfrm>
          <a:prstGeom prst="roundRect">
            <a:avLst>
              <a:gd name="adj" fmla="val 5090"/>
            </a:avLst>
          </a:prstGeom>
          <a:solidFill>
            <a:srgbClr val="F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2615184"/>
            <a:ext cx="457200" cy="457200"/>
          </a:xfrm>
          <a:prstGeom prst="ellipse">
            <a:avLst/>
          </a:prstGeom>
          <a:solidFill>
            <a:srgbClr val="A8443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1</a:t>
            </a:r>
          </a:p>
        </p:txBody>
      </p:sp>
      <p:sp>
        <p:nvSpPr>
          <p:cNvPr id="7" name="TextBox 6"/>
          <p:cNvSpPr txBox="1"/>
          <p:nvPr/>
        </p:nvSpPr>
        <p:spPr>
          <a:xfrm>
            <a:off x="822960" y="3218688"/>
            <a:ext cx="3015386" cy="548640"/>
          </a:xfrm>
          <a:prstGeom prst="rect">
            <a:avLst/>
          </a:prstGeom>
          <a:noFill/>
        </p:spPr>
        <p:txBody>
          <a:bodyPr wrap="square" lIns="0" tIns="0" rIns="0" bIns="0" anchor="t">
            <a:spAutoFit/>
          </a:bodyPr>
          <a:lstStyle/>
          <a:p>
            <a:pPr algn="l"/>
            <a:r>
              <a:rPr sz="1600" b="1" i="0">
                <a:solidFill>
                  <a:srgbClr val="A8443A"/>
                </a:solidFill>
                <a:latin typeface="Cambria"/>
              </a:rPr>
              <a:t>XGBoost / LightGBM / CatBoost</a:t>
            </a:r>
          </a:p>
        </p:txBody>
      </p:sp>
      <p:sp>
        <p:nvSpPr>
          <p:cNvPr id="8" name="TextBox 7"/>
          <p:cNvSpPr txBox="1"/>
          <p:nvPr/>
        </p:nvSpPr>
        <p:spPr>
          <a:xfrm>
            <a:off x="822960" y="3803904"/>
            <a:ext cx="3015386"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Different engineering of the same idea. Our XGBoost scored 0.9193 against HistGB's 0.9216 - p = 0.35, no difference.</a:t>
            </a:r>
          </a:p>
        </p:txBody>
      </p:sp>
      <p:sp>
        <p:nvSpPr>
          <p:cNvPr id="9" name="TextBox 8"/>
          <p:cNvSpPr txBox="1"/>
          <p:nvPr/>
        </p:nvSpPr>
        <p:spPr>
          <a:xfrm>
            <a:off x="4112666" y="3429000"/>
            <a:ext cx="201168" cy="365760"/>
          </a:xfrm>
          <a:prstGeom prst="rect">
            <a:avLst/>
          </a:prstGeom>
          <a:noFill/>
        </p:spPr>
        <p:txBody>
          <a:bodyPr wrap="square" lIns="0" tIns="0" rIns="0" bIns="0" anchor="t">
            <a:spAutoFit/>
          </a:bodyPr>
          <a:lstStyle/>
          <a:p>
            <a:pPr algn="ctr"/>
            <a:r>
              <a:rPr sz="2200" b="0" i="0">
                <a:solidFill>
                  <a:srgbClr val="D4A29C"/>
                </a:solidFill>
                <a:latin typeface="Calibri"/>
              </a:rPr>
              <a:t>›</a:t>
            </a:r>
          </a:p>
        </p:txBody>
      </p:sp>
      <p:sp>
        <p:nvSpPr>
          <p:cNvPr id="10" name="Rounded Rectangle 9"/>
          <p:cNvSpPr/>
          <p:nvPr/>
        </p:nvSpPr>
        <p:spPr>
          <a:xfrm>
            <a:off x="4332122" y="2377440"/>
            <a:ext cx="3527450" cy="2514600"/>
          </a:xfrm>
          <a:prstGeom prst="roundRect">
            <a:avLst>
              <a:gd name="adj" fmla="val 5090"/>
            </a:avLst>
          </a:prstGeom>
          <a:solidFill>
            <a:srgbClr val="F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88154" y="2615184"/>
            <a:ext cx="457200" cy="457200"/>
          </a:xfrm>
          <a:prstGeom prst="ellipse">
            <a:avLst/>
          </a:prstGeom>
          <a:solidFill>
            <a:srgbClr val="A8443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2</a:t>
            </a:r>
          </a:p>
        </p:txBody>
      </p:sp>
      <p:sp>
        <p:nvSpPr>
          <p:cNvPr id="12" name="TextBox 11"/>
          <p:cNvSpPr txBox="1"/>
          <p:nvPr/>
        </p:nvSpPr>
        <p:spPr>
          <a:xfrm>
            <a:off x="4588154" y="3218688"/>
            <a:ext cx="3015386" cy="548640"/>
          </a:xfrm>
          <a:prstGeom prst="rect">
            <a:avLst/>
          </a:prstGeom>
          <a:noFill/>
        </p:spPr>
        <p:txBody>
          <a:bodyPr wrap="square" lIns="0" tIns="0" rIns="0" bIns="0" anchor="t">
            <a:spAutoFit/>
          </a:bodyPr>
          <a:lstStyle/>
          <a:p>
            <a:pPr algn="l"/>
            <a:r>
              <a:rPr sz="1600" b="1" i="0">
                <a:solidFill>
                  <a:srgbClr val="A8443A"/>
                </a:solidFill>
                <a:latin typeface="Cambria"/>
              </a:rPr>
              <a:t>“Just use gradient boosting”</a:t>
            </a:r>
          </a:p>
        </p:txBody>
      </p:sp>
      <p:sp>
        <p:nvSpPr>
          <p:cNvPr id="13" name="TextBox 12"/>
          <p:cNvSpPr txBox="1"/>
          <p:nvPr/>
        </p:nvSpPr>
        <p:spPr>
          <a:xfrm>
            <a:off x="4588154" y="3803904"/>
            <a:ext cx="3015386"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Usually right on tabular data, and it is still a claim that has to be measured on your data rather than assumed.</a:t>
            </a:r>
          </a:p>
        </p:txBody>
      </p:sp>
      <p:sp>
        <p:nvSpPr>
          <p:cNvPr id="14" name="TextBox 13"/>
          <p:cNvSpPr txBox="1"/>
          <p:nvPr/>
        </p:nvSpPr>
        <p:spPr>
          <a:xfrm>
            <a:off x="7877860" y="3429000"/>
            <a:ext cx="201168" cy="365760"/>
          </a:xfrm>
          <a:prstGeom prst="rect">
            <a:avLst/>
          </a:prstGeom>
          <a:noFill/>
        </p:spPr>
        <p:txBody>
          <a:bodyPr wrap="square" lIns="0" tIns="0" rIns="0" bIns="0" anchor="t">
            <a:spAutoFit/>
          </a:bodyPr>
          <a:lstStyle/>
          <a:p>
            <a:pPr algn="ctr"/>
            <a:r>
              <a:rPr sz="2200" b="0" i="0">
                <a:solidFill>
                  <a:srgbClr val="D4A29C"/>
                </a:solidFill>
                <a:latin typeface="Calibri"/>
              </a:rPr>
              <a:t>›</a:t>
            </a:r>
          </a:p>
        </p:txBody>
      </p:sp>
      <p:sp>
        <p:nvSpPr>
          <p:cNvPr id="15" name="Rounded Rectangle 14"/>
          <p:cNvSpPr/>
          <p:nvPr/>
        </p:nvSpPr>
        <p:spPr>
          <a:xfrm>
            <a:off x="8097316" y="2377440"/>
            <a:ext cx="3527450" cy="2514600"/>
          </a:xfrm>
          <a:prstGeom prst="roundRect">
            <a:avLst>
              <a:gd name="adj" fmla="val 5090"/>
            </a:avLst>
          </a:prstGeom>
          <a:solidFill>
            <a:srgbClr val="F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53348" y="2615184"/>
            <a:ext cx="457200" cy="457200"/>
          </a:xfrm>
          <a:prstGeom prst="ellipse">
            <a:avLst/>
          </a:prstGeom>
          <a:solidFill>
            <a:srgbClr val="A8443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3</a:t>
            </a:r>
          </a:p>
        </p:txBody>
      </p:sp>
      <p:sp>
        <p:nvSpPr>
          <p:cNvPr id="17" name="TextBox 16"/>
          <p:cNvSpPr txBox="1"/>
          <p:nvPr/>
        </p:nvSpPr>
        <p:spPr>
          <a:xfrm>
            <a:off x="8353348" y="3218688"/>
            <a:ext cx="3015386" cy="548640"/>
          </a:xfrm>
          <a:prstGeom prst="rect">
            <a:avLst/>
          </a:prstGeom>
          <a:noFill/>
        </p:spPr>
        <p:txBody>
          <a:bodyPr wrap="square" lIns="0" tIns="0" rIns="0" bIns="0" anchor="t">
            <a:spAutoFit/>
          </a:bodyPr>
          <a:lstStyle/>
          <a:p>
            <a:pPr algn="l"/>
            <a:r>
              <a:rPr sz="1600" b="1" i="0">
                <a:solidFill>
                  <a:srgbClr val="A8443A"/>
                </a:solidFill>
                <a:latin typeface="Cambria"/>
              </a:rPr>
              <a:t>Stacking and blending</a:t>
            </a:r>
          </a:p>
        </p:txBody>
      </p:sp>
      <p:sp>
        <p:nvSpPr>
          <p:cNvPr id="18" name="TextBox 17"/>
          <p:cNvSpPr txBox="1"/>
          <p:nvPr/>
        </p:nvSpPr>
        <p:spPr>
          <a:xfrm>
            <a:off x="8353348" y="3803904"/>
            <a:ext cx="3015386"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Combine the combinations. Real gains exist and are small; the complexity cost is not.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1993392"/>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2600" b="1" dirty="0">
                <a:solidFill>
                  <a:srgbClr val="12233A"/>
                </a:solidFill>
                <a:latin typeface="Calibri"/>
              </a:rPr>
              <a:t>6</a:t>
            </a:r>
            <a:endParaRPr sz="2600" b="1" i="0" dirty="0">
              <a:solidFill>
                <a:srgbClr val="12233A"/>
              </a:solidFill>
              <a:latin typeface="Calibri"/>
            </a:endParaRP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Interpretation</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A number per feature, and everything that number does not mean.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2750" b="1" i="0">
                <a:solidFill>
                  <a:srgbClr val="12233A"/>
                </a:solidFill>
                <a:latin typeface="Cambria"/>
              </a:rPr>
              <a:t>Permutation importance - AUC lost when a column is shuffled</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Measured on held-out data, so it rewards generalisation rather than memorisation.</a:t>
            </a:r>
          </a:p>
        </p:txBody>
      </p:sp>
      <p:sp>
        <p:nvSpPr>
          <p:cNvPr id="5" name="Rectangle 4"/>
          <p:cNvSpPr/>
          <p:nvPr/>
        </p:nvSpPr>
        <p:spPr>
          <a:xfrm>
            <a:off x="566928" y="2139696"/>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7964195" cy="310896"/>
          </a:xfrm>
          <a:prstGeom prst="rect">
            <a:avLst/>
          </a:prstGeom>
          <a:noFill/>
        </p:spPr>
        <p:txBody>
          <a:bodyPr wrap="square" lIns="0" tIns="0" rIns="0" bIns="0" anchor="ctr">
            <a:spAutoFit/>
          </a:bodyPr>
          <a:lstStyle/>
          <a:p>
            <a:pPr algn="l"/>
            <a:r>
              <a:rPr sz="1300" b="1" i="0">
                <a:solidFill>
                  <a:srgbClr val="A8443A"/>
                </a:solidFill>
                <a:latin typeface="Calibri"/>
              </a:rPr>
              <a:t>Feature</a:t>
            </a:r>
          </a:p>
        </p:txBody>
      </p:sp>
      <p:sp>
        <p:nvSpPr>
          <p:cNvPr id="7" name="TextBox 6"/>
          <p:cNvSpPr txBox="1"/>
          <p:nvPr/>
        </p:nvSpPr>
        <p:spPr>
          <a:xfrm>
            <a:off x="9024899" y="2194560"/>
            <a:ext cx="2435275" cy="310896"/>
          </a:xfrm>
          <a:prstGeom prst="rect">
            <a:avLst/>
          </a:prstGeom>
          <a:noFill/>
        </p:spPr>
        <p:txBody>
          <a:bodyPr wrap="square" lIns="0" tIns="0" rIns="0" bIns="0" anchor="ctr">
            <a:spAutoFit/>
          </a:bodyPr>
          <a:lstStyle/>
          <a:p>
            <a:pPr algn="l"/>
            <a:r>
              <a:rPr sz="1300" b="1" i="0">
                <a:solidFill>
                  <a:srgbClr val="A8443A"/>
                </a:solidFill>
                <a:latin typeface="Calibri"/>
              </a:rPr>
              <a:t>ΔAUC</a:t>
            </a:r>
          </a:p>
        </p:txBody>
      </p:sp>
      <p:sp>
        <p:nvSpPr>
          <p:cNvPr id="8" name="Rectangle 7"/>
          <p:cNvSpPr/>
          <p:nvPr/>
        </p:nvSpPr>
        <p:spPr>
          <a:xfrm>
            <a:off x="566928" y="2560320"/>
            <a:ext cx="11057839" cy="525780"/>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615184"/>
            <a:ext cx="7964195" cy="416052"/>
          </a:xfrm>
          <a:prstGeom prst="rect">
            <a:avLst/>
          </a:prstGeom>
          <a:noFill/>
        </p:spPr>
        <p:txBody>
          <a:bodyPr wrap="square" lIns="0" tIns="0" rIns="0" bIns="0" anchor="ctr">
            <a:spAutoFit/>
          </a:bodyPr>
          <a:lstStyle/>
          <a:p>
            <a:pPr algn="l"/>
            <a:r>
              <a:rPr sz="1400" b="1" i="0">
                <a:solidFill>
                  <a:srgbClr val="A9660B"/>
                </a:solidFill>
                <a:latin typeface="Calibri"/>
              </a:rPr>
              <a:t>minimum_nights</a:t>
            </a:r>
          </a:p>
        </p:txBody>
      </p:sp>
      <p:sp>
        <p:nvSpPr>
          <p:cNvPr id="10" name="TextBox 9"/>
          <p:cNvSpPr txBox="1"/>
          <p:nvPr/>
        </p:nvSpPr>
        <p:spPr>
          <a:xfrm>
            <a:off x="9024899" y="2615184"/>
            <a:ext cx="2435275" cy="416052"/>
          </a:xfrm>
          <a:prstGeom prst="rect">
            <a:avLst/>
          </a:prstGeom>
          <a:noFill/>
        </p:spPr>
        <p:txBody>
          <a:bodyPr wrap="square" lIns="0" tIns="0" rIns="0" bIns="0" anchor="ctr">
            <a:spAutoFit/>
          </a:bodyPr>
          <a:lstStyle/>
          <a:p>
            <a:pPr algn="r"/>
            <a:r>
              <a:rPr sz="1400" b="1" i="0">
                <a:solidFill>
                  <a:srgbClr val="A9660B"/>
                </a:solidFill>
                <a:latin typeface="Calibri"/>
              </a:rPr>
              <a:t>0.1300</a:t>
            </a:r>
          </a:p>
        </p:txBody>
      </p:sp>
      <p:sp>
        <p:nvSpPr>
          <p:cNvPr id="11" name="Rectangle 10"/>
          <p:cNvSpPr/>
          <p:nvPr/>
        </p:nvSpPr>
        <p:spPr>
          <a:xfrm>
            <a:off x="566928" y="3086100"/>
            <a:ext cx="11057839" cy="525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140964"/>
            <a:ext cx="7964195" cy="416052"/>
          </a:xfrm>
          <a:prstGeom prst="rect">
            <a:avLst/>
          </a:prstGeom>
          <a:noFill/>
        </p:spPr>
        <p:txBody>
          <a:bodyPr wrap="square" lIns="0" tIns="0" rIns="0" bIns="0" anchor="ctr">
            <a:spAutoFit/>
          </a:bodyPr>
          <a:lstStyle/>
          <a:p>
            <a:pPr algn="l"/>
            <a:r>
              <a:rPr sz="1400" b="0" i="0">
                <a:solidFill>
                  <a:srgbClr val="2B3440"/>
                </a:solidFill>
                <a:latin typeface="Calibri"/>
              </a:rPr>
              <a:t>room_type</a:t>
            </a:r>
          </a:p>
        </p:txBody>
      </p:sp>
      <p:sp>
        <p:nvSpPr>
          <p:cNvPr id="13" name="TextBox 12"/>
          <p:cNvSpPr txBox="1"/>
          <p:nvPr/>
        </p:nvSpPr>
        <p:spPr>
          <a:xfrm>
            <a:off x="9024899" y="3140964"/>
            <a:ext cx="2435275" cy="416052"/>
          </a:xfrm>
          <a:prstGeom prst="rect">
            <a:avLst/>
          </a:prstGeom>
          <a:noFill/>
        </p:spPr>
        <p:txBody>
          <a:bodyPr wrap="square" lIns="0" tIns="0" rIns="0" bIns="0" anchor="ctr">
            <a:spAutoFit/>
          </a:bodyPr>
          <a:lstStyle/>
          <a:p>
            <a:pPr algn="r"/>
            <a:r>
              <a:rPr sz="1400" b="0" i="0">
                <a:solidFill>
                  <a:srgbClr val="2B3440"/>
                </a:solidFill>
                <a:latin typeface="Calibri"/>
              </a:rPr>
              <a:t>0.0523</a:t>
            </a:r>
          </a:p>
        </p:txBody>
      </p:sp>
      <p:sp>
        <p:nvSpPr>
          <p:cNvPr id="14" name="Rectangle 13"/>
          <p:cNvSpPr/>
          <p:nvPr/>
        </p:nvSpPr>
        <p:spPr>
          <a:xfrm>
            <a:off x="566928" y="3611880"/>
            <a:ext cx="11057839" cy="525780"/>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666744"/>
            <a:ext cx="7964195" cy="416052"/>
          </a:xfrm>
          <a:prstGeom prst="rect">
            <a:avLst/>
          </a:prstGeom>
          <a:noFill/>
        </p:spPr>
        <p:txBody>
          <a:bodyPr wrap="square" lIns="0" tIns="0" rIns="0" bIns="0" anchor="ctr">
            <a:spAutoFit/>
          </a:bodyPr>
          <a:lstStyle/>
          <a:p>
            <a:pPr algn="l"/>
            <a:r>
              <a:rPr sz="1400" b="0" i="0">
                <a:solidFill>
                  <a:srgbClr val="2B3440"/>
                </a:solidFill>
                <a:latin typeface="Calibri"/>
              </a:rPr>
              <a:t>number_of_reviews</a:t>
            </a:r>
          </a:p>
        </p:txBody>
      </p:sp>
      <p:sp>
        <p:nvSpPr>
          <p:cNvPr id="16" name="TextBox 15"/>
          <p:cNvSpPr txBox="1"/>
          <p:nvPr/>
        </p:nvSpPr>
        <p:spPr>
          <a:xfrm>
            <a:off x="9024899" y="3666744"/>
            <a:ext cx="2435275" cy="416052"/>
          </a:xfrm>
          <a:prstGeom prst="rect">
            <a:avLst/>
          </a:prstGeom>
          <a:noFill/>
        </p:spPr>
        <p:txBody>
          <a:bodyPr wrap="square" lIns="0" tIns="0" rIns="0" bIns="0" anchor="ctr">
            <a:spAutoFit/>
          </a:bodyPr>
          <a:lstStyle/>
          <a:p>
            <a:pPr algn="r"/>
            <a:r>
              <a:rPr sz="1400" b="0" i="0">
                <a:solidFill>
                  <a:srgbClr val="2B3440"/>
                </a:solidFill>
                <a:latin typeface="Calibri"/>
              </a:rPr>
              <a:t>0.0426</a:t>
            </a:r>
          </a:p>
        </p:txBody>
      </p:sp>
      <p:sp>
        <p:nvSpPr>
          <p:cNvPr id="17" name="Rectangle 16"/>
          <p:cNvSpPr/>
          <p:nvPr/>
        </p:nvSpPr>
        <p:spPr>
          <a:xfrm>
            <a:off x="566928" y="4137660"/>
            <a:ext cx="11057839" cy="525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192524"/>
            <a:ext cx="7964195" cy="416052"/>
          </a:xfrm>
          <a:prstGeom prst="rect">
            <a:avLst/>
          </a:prstGeom>
          <a:noFill/>
        </p:spPr>
        <p:txBody>
          <a:bodyPr wrap="square" lIns="0" tIns="0" rIns="0" bIns="0" anchor="ctr">
            <a:spAutoFit/>
          </a:bodyPr>
          <a:lstStyle/>
          <a:p>
            <a:pPr algn="l"/>
            <a:r>
              <a:rPr sz="1400" b="0" i="0">
                <a:solidFill>
                  <a:srgbClr val="2B3440"/>
                </a:solidFill>
                <a:latin typeface="Calibri"/>
              </a:rPr>
              <a:t>bedrooms</a:t>
            </a:r>
          </a:p>
        </p:txBody>
      </p:sp>
      <p:sp>
        <p:nvSpPr>
          <p:cNvPr id="19" name="TextBox 18"/>
          <p:cNvSpPr txBox="1"/>
          <p:nvPr/>
        </p:nvSpPr>
        <p:spPr>
          <a:xfrm>
            <a:off x="9024899" y="4192524"/>
            <a:ext cx="2435275" cy="416052"/>
          </a:xfrm>
          <a:prstGeom prst="rect">
            <a:avLst/>
          </a:prstGeom>
          <a:noFill/>
        </p:spPr>
        <p:txBody>
          <a:bodyPr wrap="square" lIns="0" tIns="0" rIns="0" bIns="0" anchor="ctr">
            <a:spAutoFit/>
          </a:bodyPr>
          <a:lstStyle/>
          <a:p>
            <a:pPr algn="r"/>
            <a:r>
              <a:rPr sz="1400" b="0" i="0">
                <a:solidFill>
                  <a:srgbClr val="2B3440"/>
                </a:solidFill>
                <a:latin typeface="Calibri"/>
              </a:rPr>
              <a:t>0.0169</a:t>
            </a:r>
          </a:p>
        </p:txBody>
      </p:sp>
      <p:sp>
        <p:nvSpPr>
          <p:cNvPr id="20" name="Rectangle 19"/>
          <p:cNvSpPr/>
          <p:nvPr/>
        </p:nvSpPr>
        <p:spPr>
          <a:xfrm>
            <a:off x="566928" y="4663440"/>
            <a:ext cx="11057839" cy="525780"/>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718304"/>
            <a:ext cx="7964195" cy="416052"/>
          </a:xfrm>
          <a:prstGeom prst="rect">
            <a:avLst/>
          </a:prstGeom>
          <a:noFill/>
        </p:spPr>
        <p:txBody>
          <a:bodyPr wrap="square" lIns="0" tIns="0" rIns="0" bIns="0" anchor="ctr">
            <a:spAutoFit/>
          </a:bodyPr>
          <a:lstStyle/>
          <a:p>
            <a:pPr algn="l"/>
            <a:r>
              <a:rPr sz="1400" b="0" i="0">
                <a:solidFill>
                  <a:srgbClr val="2B3440"/>
                </a:solidFill>
                <a:latin typeface="Calibri"/>
              </a:rPr>
              <a:t>calculated_host_listings_count</a:t>
            </a:r>
          </a:p>
        </p:txBody>
      </p:sp>
      <p:sp>
        <p:nvSpPr>
          <p:cNvPr id="22" name="TextBox 21"/>
          <p:cNvSpPr txBox="1"/>
          <p:nvPr/>
        </p:nvSpPr>
        <p:spPr>
          <a:xfrm>
            <a:off x="9024899" y="4718304"/>
            <a:ext cx="2435275" cy="416052"/>
          </a:xfrm>
          <a:prstGeom prst="rect">
            <a:avLst/>
          </a:prstGeom>
          <a:noFill/>
        </p:spPr>
        <p:txBody>
          <a:bodyPr wrap="square" lIns="0" tIns="0" rIns="0" bIns="0" anchor="ctr">
            <a:spAutoFit/>
          </a:bodyPr>
          <a:lstStyle/>
          <a:p>
            <a:pPr algn="r"/>
            <a:r>
              <a:rPr sz="1400" b="0" i="0">
                <a:solidFill>
                  <a:srgbClr val="2B3440"/>
                </a:solidFill>
                <a:latin typeface="Calibri"/>
              </a:rPr>
              <a:t>0.0141</a:t>
            </a:r>
          </a:p>
        </p:txBody>
      </p:sp>
      <p:sp>
        <p:nvSpPr>
          <p:cNvPr id="23" name="Rectangle 22"/>
          <p:cNvSpPr/>
          <p:nvPr/>
        </p:nvSpPr>
        <p:spPr>
          <a:xfrm>
            <a:off x="566928" y="5189220"/>
            <a:ext cx="11057839" cy="525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5244084"/>
            <a:ext cx="7964195" cy="416052"/>
          </a:xfrm>
          <a:prstGeom prst="rect">
            <a:avLst/>
          </a:prstGeom>
          <a:noFill/>
        </p:spPr>
        <p:txBody>
          <a:bodyPr wrap="square" lIns="0" tIns="0" rIns="0" bIns="0" anchor="ctr">
            <a:spAutoFit/>
          </a:bodyPr>
          <a:lstStyle/>
          <a:p>
            <a:pPr algn="l"/>
            <a:r>
              <a:rPr sz="1400" b="0" i="0">
                <a:solidFill>
                  <a:srgbClr val="2B3440"/>
                </a:solidFill>
                <a:latin typeface="Calibri"/>
              </a:rPr>
              <a:t>accommodates</a:t>
            </a:r>
          </a:p>
        </p:txBody>
      </p:sp>
      <p:sp>
        <p:nvSpPr>
          <p:cNvPr id="25" name="TextBox 24"/>
          <p:cNvSpPr txBox="1"/>
          <p:nvPr/>
        </p:nvSpPr>
        <p:spPr>
          <a:xfrm>
            <a:off x="9024899" y="5244084"/>
            <a:ext cx="2435275" cy="416052"/>
          </a:xfrm>
          <a:prstGeom prst="rect">
            <a:avLst/>
          </a:prstGeom>
          <a:noFill/>
        </p:spPr>
        <p:txBody>
          <a:bodyPr wrap="square" lIns="0" tIns="0" rIns="0" bIns="0" anchor="ctr">
            <a:spAutoFit/>
          </a:bodyPr>
          <a:lstStyle/>
          <a:p>
            <a:pPr algn="r"/>
            <a:r>
              <a:rPr sz="1400" b="0" i="0">
                <a:solidFill>
                  <a:srgbClr val="2B3440"/>
                </a:solidFill>
                <a:latin typeface="Calibri"/>
              </a:rPr>
              <a:t>0.0037</a:t>
            </a:r>
          </a:p>
        </p:txBody>
      </p:sp>
      <p:sp>
        <p:nvSpPr>
          <p:cNvPr id="26" name="Rounded Rectangle 25"/>
          <p:cNvSpPr/>
          <p:nvPr/>
        </p:nvSpPr>
        <p:spPr>
          <a:xfrm>
            <a:off x="566928" y="5779008"/>
            <a:ext cx="11057839" cy="603504"/>
          </a:xfrm>
          <a:prstGeom prst="roundRect">
            <a:avLst>
              <a:gd name="adj" fmla="val 21212"/>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247" y="5852160"/>
            <a:ext cx="10509199" cy="457200"/>
          </a:xfrm>
          <a:prstGeom prst="rect">
            <a:avLst/>
          </a:prstGeom>
          <a:noFill/>
        </p:spPr>
        <p:txBody>
          <a:bodyPr wrap="square" lIns="0" tIns="0" rIns="0" bIns="0" anchor="ctr">
            <a:spAutoFit/>
          </a:bodyPr>
          <a:lstStyle/>
          <a:p>
            <a:pPr algn="l"/>
            <a:r>
              <a:rPr sz="1350" b="0" i="1">
                <a:solidFill>
                  <a:srgbClr val="2B3440"/>
                </a:solidFill>
                <a:latin typeface="Courier New"/>
              </a:rPr>
              <a:t>minimum_nights</a:t>
            </a:r>
            <a:r>
              <a:rPr sz="1400" b="0" i="1">
                <a:solidFill>
                  <a:srgbClr val="2B3440"/>
                </a:solidFill>
                <a:latin typeface="Calibri"/>
              </a:rPr>
              <a:t> is top again - and this time it is legitimate. The target is licensing, not price, and a long minimum stay is genuinely informative about how a listing operates.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What permutation importance does not tell you</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Every one of these belongs in the Model Card, not in a footnote.</a:t>
            </a:r>
          </a:p>
        </p:txBody>
      </p:sp>
      <p:sp>
        <p:nvSpPr>
          <p:cNvPr id="5" name="Rounded Rectangle 4"/>
          <p:cNvSpPr/>
          <p:nvPr/>
        </p:nvSpPr>
        <p:spPr>
          <a:xfrm>
            <a:off x="566928" y="2103120"/>
            <a:ext cx="11057839" cy="786384"/>
          </a:xfrm>
          <a:prstGeom prst="roundRect">
            <a:avLst>
              <a:gd name="adj" fmla="val 16279"/>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603503"/>
          </a:xfrm>
          <a:prstGeom prst="rect">
            <a:avLst/>
          </a:prstGeom>
          <a:noFill/>
        </p:spPr>
        <p:txBody>
          <a:bodyPr wrap="square" lIns="0" tIns="0" rIns="0" bIns="0" anchor="ctr">
            <a:spAutoFit/>
          </a:bodyPr>
          <a:lstStyle/>
          <a:p>
            <a:pPr algn="l">
              <a:lnSpc>
                <a:spcPct val="120000"/>
              </a:lnSpc>
            </a:pPr>
            <a:r>
              <a:rPr sz="1600" b="1" i="0">
                <a:solidFill>
                  <a:srgbClr val="A8443A"/>
                </a:solidFill>
                <a:latin typeface="Calibri"/>
              </a:rPr>
              <a:t>Not causal  </a:t>
            </a:r>
            <a:r>
              <a:rPr sz="1600" b="0" i="0">
                <a:solidFill>
                  <a:srgbClr val="2B3440"/>
                </a:solidFill>
                <a:latin typeface="Calibri"/>
              </a:rPr>
              <a:t>shuffling a column measures this model's dependence on it, not the column's effect on the world.</a:t>
            </a:r>
          </a:p>
        </p:txBody>
      </p:sp>
      <p:sp>
        <p:nvSpPr>
          <p:cNvPr id="7" name="Rounded Rectangle 6"/>
          <p:cNvSpPr/>
          <p:nvPr/>
        </p:nvSpPr>
        <p:spPr>
          <a:xfrm>
            <a:off x="566928" y="3035808"/>
            <a:ext cx="11057839" cy="786384"/>
          </a:xfrm>
          <a:prstGeom prst="roundRect">
            <a:avLst>
              <a:gd name="adj" fmla="val 16279"/>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127248"/>
            <a:ext cx="10472623" cy="603503"/>
          </a:xfrm>
          <a:prstGeom prst="rect">
            <a:avLst/>
          </a:prstGeom>
          <a:noFill/>
        </p:spPr>
        <p:txBody>
          <a:bodyPr wrap="square" lIns="0" tIns="0" rIns="0" bIns="0" anchor="ctr">
            <a:spAutoFit/>
          </a:bodyPr>
          <a:lstStyle/>
          <a:p>
            <a:pPr algn="l">
              <a:lnSpc>
                <a:spcPct val="120000"/>
              </a:lnSpc>
            </a:pPr>
            <a:r>
              <a:rPr sz="1600" b="1" i="0">
                <a:solidFill>
                  <a:srgbClr val="A8443A"/>
                </a:solidFill>
                <a:latin typeface="Calibri"/>
              </a:rPr>
              <a:t>Correlated features share credit  </a:t>
            </a:r>
            <a:r>
              <a:rPr sz="1600" b="0" i="0">
                <a:solidFill>
                  <a:srgbClr val="2B3440"/>
                </a:solidFill>
                <a:latin typeface="Calibri"/>
              </a:rPr>
              <a:t>two columns carrying the same information each look half as important as either really is.</a:t>
            </a:r>
          </a:p>
        </p:txBody>
      </p:sp>
      <p:sp>
        <p:nvSpPr>
          <p:cNvPr id="9" name="Rounded Rectangle 8"/>
          <p:cNvSpPr/>
          <p:nvPr/>
        </p:nvSpPr>
        <p:spPr>
          <a:xfrm>
            <a:off x="566928" y="3968496"/>
            <a:ext cx="11057839" cy="786384"/>
          </a:xfrm>
          <a:prstGeom prst="roundRect">
            <a:avLst>
              <a:gd name="adj" fmla="val 16279"/>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059935"/>
            <a:ext cx="10472623" cy="603503"/>
          </a:xfrm>
          <a:prstGeom prst="rect">
            <a:avLst/>
          </a:prstGeom>
          <a:noFill/>
        </p:spPr>
        <p:txBody>
          <a:bodyPr wrap="square" lIns="0" tIns="0" rIns="0" bIns="0" anchor="ctr">
            <a:spAutoFit/>
          </a:bodyPr>
          <a:lstStyle/>
          <a:p>
            <a:pPr algn="l">
              <a:lnSpc>
                <a:spcPct val="120000"/>
              </a:lnSpc>
            </a:pPr>
            <a:r>
              <a:rPr sz="1600" b="1" i="0">
                <a:solidFill>
                  <a:srgbClr val="A8443A"/>
                </a:solidFill>
                <a:latin typeface="Calibri"/>
              </a:rPr>
              <a:t>Not stable  </a:t>
            </a:r>
            <a:r>
              <a:rPr sz="1600" b="0" i="0">
                <a:solidFill>
                  <a:srgbClr val="2B3440"/>
                </a:solidFill>
                <a:latin typeface="Calibri"/>
              </a:rPr>
              <a:t>it is itself random. We used n_repeats=5; a single shuffle is one draw.</a:t>
            </a:r>
          </a:p>
        </p:txBody>
      </p:sp>
      <p:sp>
        <p:nvSpPr>
          <p:cNvPr id="11" name="Rounded Rectangle 10"/>
          <p:cNvSpPr/>
          <p:nvPr/>
        </p:nvSpPr>
        <p:spPr>
          <a:xfrm>
            <a:off x="566928" y="4901183"/>
            <a:ext cx="11057839" cy="786384"/>
          </a:xfrm>
          <a:prstGeom prst="roundRect">
            <a:avLst>
              <a:gd name="adj" fmla="val 16279"/>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992623"/>
            <a:ext cx="10472623" cy="603503"/>
          </a:xfrm>
          <a:prstGeom prst="rect">
            <a:avLst/>
          </a:prstGeom>
          <a:noFill/>
        </p:spPr>
        <p:txBody>
          <a:bodyPr wrap="square" lIns="0" tIns="0" rIns="0" bIns="0" anchor="ctr">
            <a:spAutoFit/>
          </a:bodyPr>
          <a:lstStyle/>
          <a:p>
            <a:pPr algn="l">
              <a:lnSpc>
                <a:spcPct val="120000"/>
              </a:lnSpc>
            </a:pPr>
            <a:r>
              <a:rPr sz="1600" b="1" i="0">
                <a:solidFill>
                  <a:srgbClr val="A8443A"/>
                </a:solidFill>
                <a:latin typeface="Calibri"/>
              </a:rPr>
              <a:t>Not a feature-selection rule  </a:t>
            </a:r>
            <a:r>
              <a:rPr sz="1600" b="0" i="0">
                <a:solidFill>
                  <a:srgbClr val="2B3440"/>
                </a:solidFill>
                <a:latin typeface="Calibri"/>
              </a:rPr>
              <a:t>dropping the bottom of this list changes the model, so the list no longer applies to 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1993392"/>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2600" b="1" dirty="0">
                <a:solidFill>
                  <a:srgbClr val="12233A"/>
                </a:solidFill>
                <a:latin typeface="Calibri"/>
              </a:rPr>
              <a:t>7</a:t>
            </a:r>
            <a:endParaRPr sz="2600" b="1" i="0" dirty="0">
              <a:solidFill>
                <a:srgbClr val="12233A"/>
              </a:solidFill>
              <a:latin typeface="Calibri"/>
            </a:endParaRP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Error analysis: who does this model fail?</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One aggregate number hides everything that matters here.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Performance by district</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Six of the ten districts. The aggregate AUC was 0.9216.</a:t>
            </a:r>
          </a:p>
        </p:txBody>
      </p:sp>
      <p:sp>
        <p:nvSpPr>
          <p:cNvPr id="5" name="Rectangle 4"/>
          <p:cNvSpPr/>
          <p:nvPr/>
        </p:nvSpPr>
        <p:spPr>
          <a:xfrm>
            <a:off x="566928" y="2139696"/>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3602492" cy="310896"/>
          </a:xfrm>
          <a:prstGeom prst="rect">
            <a:avLst/>
          </a:prstGeom>
          <a:noFill/>
        </p:spPr>
        <p:txBody>
          <a:bodyPr wrap="square" lIns="0" tIns="0" rIns="0" bIns="0" anchor="ctr">
            <a:spAutoFit/>
          </a:bodyPr>
          <a:lstStyle/>
          <a:p>
            <a:pPr algn="l"/>
            <a:r>
              <a:rPr sz="1300" b="1" i="0">
                <a:solidFill>
                  <a:srgbClr val="A8443A"/>
                </a:solidFill>
                <a:latin typeface="Calibri"/>
              </a:rPr>
              <a:t>District</a:t>
            </a:r>
          </a:p>
        </p:txBody>
      </p:sp>
      <p:sp>
        <p:nvSpPr>
          <p:cNvPr id="7" name="TextBox 6"/>
          <p:cNvSpPr txBox="1"/>
          <p:nvPr/>
        </p:nvSpPr>
        <p:spPr>
          <a:xfrm>
            <a:off x="4663196" y="2194560"/>
            <a:ext cx="1145194" cy="310896"/>
          </a:xfrm>
          <a:prstGeom prst="rect">
            <a:avLst/>
          </a:prstGeom>
          <a:noFill/>
        </p:spPr>
        <p:txBody>
          <a:bodyPr wrap="square" lIns="0" tIns="0" rIns="0" bIns="0" anchor="ctr">
            <a:spAutoFit/>
          </a:bodyPr>
          <a:lstStyle/>
          <a:p>
            <a:pPr algn="l"/>
            <a:r>
              <a:rPr sz="1300" b="1" i="0">
                <a:solidFill>
                  <a:srgbClr val="A8443A"/>
                </a:solidFill>
                <a:latin typeface="Calibri"/>
              </a:rPr>
              <a:t>n</a:t>
            </a:r>
          </a:p>
        </p:txBody>
      </p:sp>
      <p:sp>
        <p:nvSpPr>
          <p:cNvPr id="8" name="TextBox 7"/>
          <p:cNvSpPr txBox="1"/>
          <p:nvPr/>
        </p:nvSpPr>
        <p:spPr>
          <a:xfrm>
            <a:off x="6137574" y="2194560"/>
            <a:ext cx="1882383" cy="310896"/>
          </a:xfrm>
          <a:prstGeom prst="rect">
            <a:avLst/>
          </a:prstGeom>
          <a:noFill/>
        </p:spPr>
        <p:txBody>
          <a:bodyPr wrap="square" lIns="0" tIns="0" rIns="0" bIns="0" anchor="ctr">
            <a:spAutoFit/>
          </a:bodyPr>
          <a:lstStyle/>
          <a:p>
            <a:pPr algn="l"/>
            <a:r>
              <a:rPr sz="1300" b="1" i="0">
                <a:solidFill>
                  <a:srgbClr val="A8443A"/>
                </a:solidFill>
                <a:latin typeface="Calibri"/>
              </a:rPr>
              <a:t>licensed rate</a:t>
            </a:r>
          </a:p>
        </p:txBody>
      </p:sp>
      <p:sp>
        <p:nvSpPr>
          <p:cNvPr id="9" name="TextBox 8"/>
          <p:cNvSpPr txBox="1"/>
          <p:nvPr/>
        </p:nvSpPr>
        <p:spPr>
          <a:xfrm>
            <a:off x="8349142" y="2194560"/>
            <a:ext cx="1390924" cy="310896"/>
          </a:xfrm>
          <a:prstGeom prst="rect">
            <a:avLst/>
          </a:prstGeom>
          <a:noFill/>
        </p:spPr>
        <p:txBody>
          <a:bodyPr wrap="square" lIns="0" tIns="0" rIns="0" bIns="0" anchor="ctr">
            <a:spAutoFit/>
          </a:bodyPr>
          <a:lstStyle/>
          <a:p>
            <a:pPr algn="l"/>
            <a:r>
              <a:rPr sz="1300" b="1" i="0">
                <a:solidFill>
                  <a:srgbClr val="A8443A"/>
                </a:solidFill>
                <a:latin typeface="Calibri"/>
              </a:rPr>
              <a:t>AUC</a:t>
            </a:r>
          </a:p>
        </p:txBody>
      </p:sp>
      <p:sp>
        <p:nvSpPr>
          <p:cNvPr id="10" name="TextBox 9"/>
          <p:cNvSpPr txBox="1"/>
          <p:nvPr/>
        </p:nvSpPr>
        <p:spPr>
          <a:xfrm>
            <a:off x="10069250" y="2194560"/>
            <a:ext cx="1390924" cy="310896"/>
          </a:xfrm>
          <a:prstGeom prst="rect">
            <a:avLst/>
          </a:prstGeom>
          <a:noFill/>
        </p:spPr>
        <p:txBody>
          <a:bodyPr wrap="square" lIns="0" tIns="0" rIns="0" bIns="0" anchor="ctr">
            <a:spAutoFit/>
          </a:bodyPr>
          <a:lstStyle/>
          <a:p>
            <a:pPr algn="l"/>
            <a:r>
              <a:rPr sz="1300" b="1" i="0">
                <a:solidFill>
                  <a:srgbClr val="A8443A"/>
                </a:solidFill>
                <a:latin typeface="Calibri"/>
              </a:rPr>
              <a:t>recall</a:t>
            </a:r>
          </a:p>
        </p:txBody>
      </p:sp>
      <p:sp>
        <p:nvSpPr>
          <p:cNvPr id="11" name="Rectangle 10"/>
          <p:cNvSpPr/>
          <p:nvPr/>
        </p:nvSpPr>
        <p:spPr>
          <a:xfrm>
            <a:off x="566928" y="2560320"/>
            <a:ext cx="11057839" cy="525780"/>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615184"/>
            <a:ext cx="3602492" cy="416052"/>
          </a:xfrm>
          <a:prstGeom prst="rect">
            <a:avLst/>
          </a:prstGeom>
          <a:noFill/>
        </p:spPr>
        <p:txBody>
          <a:bodyPr wrap="square" lIns="0" tIns="0" rIns="0" bIns="0" anchor="ctr">
            <a:spAutoFit/>
          </a:bodyPr>
          <a:lstStyle/>
          <a:p>
            <a:pPr algn="l"/>
            <a:r>
              <a:rPr sz="1400" b="1" i="0">
                <a:solidFill>
                  <a:srgbClr val="A9660B"/>
                </a:solidFill>
                <a:latin typeface="Calibri"/>
              </a:rPr>
              <a:t>Ciutat Vella</a:t>
            </a:r>
          </a:p>
        </p:txBody>
      </p:sp>
      <p:sp>
        <p:nvSpPr>
          <p:cNvPr id="13" name="TextBox 12"/>
          <p:cNvSpPr txBox="1"/>
          <p:nvPr/>
        </p:nvSpPr>
        <p:spPr>
          <a:xfrm>
            <a:off x="4663196" y="2615184"/>
            <a:ext cx="1145194" cy="416052"/>
          </a:xfrm>
          <a:prstGeom prst="rect">
            <a:avLst/>
          </a:prstGeom>
          <a:noFill/>
        </p:spPr>
        <p:txBody>
          <a:bodyPr wrap="square" lIns="0" tIns="0" rIns="0" bIns="0" anchor="ctr">
            <a:spAutoFit/>
          </a:bodyPr>
          <a:lstStyle/>
          <a:p>
            <a:pPr algn="r"/>
            <a:r>
              <a:rPr sz="1400" b="1" i="0">
                <a:solidFill>
                  <a:srgbClr val="A9660B"/>
                </a:solidFill>
                <a:latin typeface="Calibri"/>
              </a:rPr>
              <a:t>2,663</a:t>
            </a:r>
          </a:p>
        </p:txBody>
      </p:sp>
      <p:sp>
        <p:nvSpPr>
          <p:cNvPr id="14" name="TextBox 13"/>
          <p:cNvSpPr txBox="1"/>
          <p:nvPr/>
        </p:nvSpPr>
        <p:spPr>
          <a:xfrm>
            <a:off x="6137574" y="2615184"/>
            <a:ext cx="1882383" cy="416052"/>
          </a:xfrm>
          <a:prstGeom prst="rect">
            <a:avLst/>
          </a:prstGeom>
          <a:noFill/>
        </p:spPr>
        <p:txBody>
          <a:bodyPr wrap="square" lIns="0" tIns="0" rIns="0" bIns="0" anchor="ctr">
            <a:spAutoFit/>
          </a:bodyPr>
          <a:lstStyle/>
          <a:p>
            <a:pPr algn="r"/>
            <a:r>
              <a:rPr sz="1400" b="1" i="0">
                <a:solidFill>
                  <a:srgbClr val="A9660B"/>
                </a:solidFill>
                <a:latin typeface="Calibri"/>
              </a:rPr>
              <a:t>0.597</a:t>
            </a:r>
          </a:p>
        </p:txBody>
      </p:sp>
      <p:sp>
        <p:nvSpPr>
          <p:cNvPr id="15" name="TextBox 14"/>
          <p:cNvSpPr txBox="1"/>
          <p:nvPr/>
        </p:nvSpPr>
        <p:spPr>
          <a:xfrm>
            <a:off x="8349142" y="2615184"/>
            <a:ext cx="1390924" cy="416052"/>
          </a:xfrm>
          <a:prstGeom prst="rect">
            <a:avLst/>
          </a:prstGeom>
          <a:noFill/>
        </p:spPr>
        <p:txBody>
          <a:bodyPr wrap="square" lIns="0" tIns="0" rIns="0" bIns="0" anchor="ctr">
            <a:spAutoFit/>
          </a:bodyPr>
          <a:lstStyle/>
          <a:p>
            <a:pPr algn="r"/>
            <a:r>
              <a:rPr sz="1400" b="1" i="0">
                <a:solidFill>
                  <a:srgbClr val="A9660B"/>
                </a:solidFill>
                <a:latin typeface="Calibri"/>
              </a:rPr>
              <a:t>0.861</a:t>
            </a:r>
          </a:p>
        </p:txBody>
      </p:sp>
      <p:sp>
        <p:nvSpPr>
          <p:cNvPr id="16" name="TextBox 15"/>
          <p:cNvSpPr txBox="1"/>
          <p:nvPr/>
        </p:nvSpPr>
        <p:spPr>
          <a:xfrm>
            <a:off x="10069250" y="2615184"/>
            <a:ext cx="1390924" cy="416052"/>
          </a:xfrm>
          <a:prstGeom prst="rect">
            <a:avLst/>
          </a:prstGeom>
          <a:noFill/>
        </p:spPr>
        <p:txBody>
          <a:bodyPr wrap="square" lIns="0" tIns="0" rIns="0" bIns="0" anchor="ctr">
            <a:spAutoFit/>
          </a:bodyPr>
          <a:lstStyle/>
          <a:p>
            <a:pPr algn="r"/>
            <a:r>
              <a:rPr sz="1400" b="1" i="0">
                <a:solidFill>
                  <a:srgbClr val="A9660B"/>
                </a:solidFill>
                <a:latin typeface="Calibri"/>
              </a:rPr>
              <a:t>0.865</a:t>
            </a:r>
          </a:p>
        </p:txBody>
      </p:sp>
      <p:sp>
        <p:nvSpPr>
          <p:cNvPr id="17" name="Rectangle 16"/>
          <p:cNvSpPr/>
          <p:nvPr/>
        </p:nvSpPr>
        <p:spPr>
          <a:xfrm>
            <a:off x="566928" y="3086100"/>
            <a:ext cx="11057839" cy="525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140964"/>
            <a:ext cx="3602492" cy="416052"/>
          </a:xfrm>
          <a:prstGeom prst="rect">
            <a:avLst/>
          </a:prstGeom>
          <a:noFill/>
        </p:spPr>
        <p:txBody>
          <a:bodyPr wrap="square" lIns="0" tIns="0" rIns="0" bIns="0" anchor="ctr">
            <a:spAutoFit/>
          </a:bodyPr>
          <a:lstStyle/>
          <a:p>
            <a:pPr algn="l"/>
            <a:r>
              <a:rPr sz="1400" b="0" i="0">
                <a:solidFill>
                  <a:srgbClr val="2B3440"/>
                </a:solidFill>
                <a:latin typeface="Calibri"/>
              </a:rPr>
              <a:t>Sarrià-Sant Gervasi</a:t>
            </a:r>
          </a:p>
        </p:txBody>
      </p:sp>
      <p:sp>
        <p:nvSpPr>
          <p:cNvPr id="19" name="TextBox 18"/>
          <p:cNvSpPr txBox="1"/>
          <p:nvPr/>
        </p:nvSpPr>
        <p:spPr>
          <a:xfrm>
            <a:off x="4663196" y="3140964"/>
            <a:ext cx="1145194" cy="416052"/>
          </a:xfrm>
          <a:prstGeom prst="rect">
            <a:avLst/>
          </a:prstGeom>
          <a:noFill/>
        </p:spPr>
        <p:txBody>
          <a:bodyPr wrap="square" lIns="0" tIns="0" rIns="0" bIns="0" anchor="ctr">
            <a:spAutoFit/>
          </a:bodyPr>
          <a:lstStyle/>
          <a:p>
            <a:pPr algn="r"/>
            <a:r>
              <a:rPr sz="1400" b="0" i="0">
                <a:solidFill>
                  <a:srgbClr val="2B3440"/>
                </a:solidFill>
                <a:latin typeface="Calibri"/>
              </a:rPr>
              <a:t>694</a:t>
            </a:r>
          </a:p>
        </p:txBody>
      </p:sp>
      <p:sp>
        <p:nvSpPr>
          <p:cNvPr id="20" name="TextBox 19"/>
          <p:cNvSpPr txBox="1"/>
          <p:nvPr/>
        </p:nvSpPr>
        <p:spPr>
          <a:xfrm>
            <a:off x="6137574" y="3140964"/>
            <a:ext cx="1882383" cy="416052"/>
          </a:xfrm>
          <a:prstGeom prst="rect">
            <a:avLst/>
          </a:prstGeom>
          <a:noFill/>
        </p:spPr>
        <p:txBody>
          <a:bodyPr wrap="square" lIns="0" tIns="0" rIns="0" bIns="0" anchor="ctr">
            <a:spAutoFit/>
          </a:bodyPr>
          <a:lstStyle/>
          <a:p>
            <a:pPr algn="r"/>
            <a:r>
              <a:rPr sz="1400" b="0" i="0">
                <a:solidFill>
                  <a:srgbClr val="2B3440"/>
                </a:solidFill>
                <a:latin typeface="Calibri"/>
              </a:rPr>
              <a:t>0.608</a:t>
            </a:r>
          </a:p>
        </p:txBody>
      </p:sp>
      <p:sp>
        <p:nvSpPr>
          <p:cNvPr id="21" name="TextBox 20"/>
          <p:cNvSpPr txBox="1"/>
          <p:nvPr/>
        </p:nvSpPr>
        <p:spPr>
          <a:xfrm>
            <a:off x="8349142" y="3140964"/>
            <a:ext cx="1390924" cy="416052"/>
          </a:xfrm>
          <a:prstGeom prst="rect">
            <a:avLst/>
          </a:prstGeom>
          <a:noFill/>
        </p:spPr>
        <p:txBody>
          <a:bodyPr wrap="square" lIns="0" tIns="0" rIns="0" bIns="0" anchor="ctr">
            <a:spAutoFit/>
          </a:bodyPr>
          <a:lstStyle/>
          <a:p>
            <a:pPr algn="r"/>
            <a:r>
              <a:rPr sz="1400" b="0" i="0">
                <a:solidFill>
                  <a:srgbClr val="2B3440"/>
                </a:solidFill>
                <a:latin typeface="Calibri"/>
              </a:rPr>
              <a:t>0.919</a:t>
            </a:r>
          </a:p>
        </p:txBody>
      </p:sp>
      <p:sp>
        <p:nvSpPr>
          <p:cNvPr id="22" name="TextBox 21"/>
          <p:cNvSpPr txBox="1"/>
          <p:nvPr/>
        </p:nvSpPr>
        <p:spPr>
          <a:xfrm>
            <a:off x="10069250" y="3140964"/>
            <a:ext cx="1390924" cy="416052"/>
          </a:xfrm>
          <a:prstGeom prst="rect">
            <a:avLst/>
          </a:prstGeom>
          <a:noFill/>
        </p:spPr>
        <p:txBody>
          <a:bodyPr wrap="square" lIns="0" tIns="0" rIns="0" bIns="0" anchor="ctr">
            <a:spAutoFit/>
          </a:bodyPr>
          <a:lstStyle/>
          <a:p>
            <a:pPr algn="r"/>
            <a:r>
              <a:rPr sz="1400" b="0" i="0">
                <a:solidFill>
                  <a:srgbClr val="2B3440"/>
                </a:solidFill>
                <a:latin typeface="Calibri"/>
              </a:rPr>
              <a:t>0.836</a:t>
            </a:r>
          </a:p>
        </p:txBody>
      </p:sp>
      <p:sp>
        <p:nvSpPr>
          <p:cNvPr id="23" name="Rectangle 22"/>
          <p:cNvSpPr/>
          <p:nvPr/>
        </p:nvSpPr>
        <p:spPr>
          <a:xfrm>
            <a:off x="566928" y="3611880"/>
            <a:ext cx="11057839" cy="525780"/>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3666744"/>
            <a:ext cx="3602492" cy="416052"/>
          </a:xfrm>
          <a:prstGeom prst="rect">
            <a:avLst/>
          </a:prstGeom>
          <a:noFill/>
        </p:spPr>
        <p:txBody>
          <a:bodyPr wrap="square" lIns="0" tIns="0" rIns="0" bIns="0" anchor="ctr">
            <a:spAutoFit/>
          </a:bodyPr>
          <a:lstStyle/>
          <a:p>
            <a:pPr algn="l"/>
            <a:r>
              <a:rPr sz="1400" b="0" i="0">
                <a:solidFill>
                  <a:srgbClr val="2B3440"/>
                </a:solidFill>
                <a:latin typeface="Calibri"/>
              </a:rPr>
              <a:t>Gràcia</a:t>
            </a:r>
          </a:p>
        </p:txBody>
      </p:sp>
      <p:sp>
        <p:nvSpPr>
          <p:cNvPr id="25" name="TextBox 24"/>
          <p:cNvSpPr txBox="1"/>
          <p:nvPr/>
        </p:nvSpPr>
        <p:spPr>
          <a:xfrm>
            <a:off x="4663196" y="3666744"/>
            <a:ext cx="1145194" cy="416052"/>
          </a:xfrm>
          <a:prstGeom prst="rect">
            <a:avLst/>
          </a:prstGeom>
          <a:noFill/>
        </p:spPr>
        <p:txBody>
          <a:bodyPr wrap="square" lIns="0" tIns="0" rIns="0" bIns="0" anchor="ctr">
            <a:spAutoFit/>
          </a:bodyPr>
          <a:lstStyle/>
          <a:p>
            <a:pPr algn="r"/>
            <a:r>
              <a:rPr sz="1400" b="0" i="0">
                <a:solidFill>
                  <a:srgbClr val="2B3440"/>
                </a:solidFill>
                <a:latin typeface="Calibri"/>
              </a:rPr>
              <a:t>1,116</a:t>
            </a:r>
          </a:p>
        </p:txBody>
      </p:sp>
      <p:sp>
        <p:nvSpPr>
          <p:cNvPr id="26" name="TextBox 25"/>
          <p:cNvSpPr txBox="1"/>
          <p:nvPr/>
        </p:nvSpPr>
        <p:spPr>
          <a:xfrm>
            <a:off x="6137574" y="3666744"/>
            <a:ext cx="1882383" cy="416052"/>
          </a:xfrm>
          <a:prstGeom prst="rect">
            <a:avLst/>
          </a:prstGeom>
          <a:noFill/>
        </p:spPr>
        <p:txBody>
          <a:bodyPr wrap="square" lIns="0" tIns="0" rIns="0" bIns="0" anchor="ctr">
            <a:spAutoFit/>
          </a:bodyPr>
          <a:lstStyle/>
          <a:p>
            <a:pPr algn="r"/>
            <a:r>
              <a:rPr sz="1400" b="0" i="0">
                <a:solidFill>
                  <a:srgbClr val="2B3440"/>
                </a:solidFill>
                <a:latin typeface="Calibri"/>
              </a:rPr>
              <a:t>0.656</a:t>
            </a:r>
          </a:p>
        </p:txBody>
      </p:sp>
      <p:sp>
        <p:nvSpPr>
          <p:cNvPr id="27" name="TextBox 26"/>
          <p:cNvSpPr txBox="1"/>
          <p:nvPr/>
        </p:nvSpPr>
        <p:spPr>
          <a:xfrm>
            <a:off x="8349142" y="3666744"/>
            <a:ext cx="1390924" cy="416052"/>
          </a:xfrm>
          <a:prstGeom prst="rect">
            <a:avLst/>
          </a:prstGeom>
          <a:noFill/>
        </p:spPr>
        <p:txBody>
          <a:bodyPr wrap="square" lIns="0" tIns="0" rIns="0" bIns="0" anchor="ctr">
            <a:spAutoFit/>
          </a:bodyPr>
          <a:lstStyle/>
          <a:p>
            <a:pPr algn="r"/>
            <a:r>
              <a:rPr sz="1400" b="0" i="0">
                <a:solidFill>
                  <a:srgbClr val="2B3440"/>
                </a:solidFill>
                <a:latin typeface="Calibri"/>
              </a:rPr>
              <a:t>0.925</a:t>
            </a:r>
          </a:p>
        </p:txBody>
      </p:sp>
      <p:sp>
        <p:nvSpPr>
          <p:cNvPr id="28" name="TextBox 27"/>
          <p:cNvSpPr txBox="1"/>
          <p:nvPr/>
        </p:nvSpPr>
        <p:spPr>
          <a:xfrm>
            <a:off x="10069250" y="3666744"/>
            <a:ext cx="1390924" cy="416052"/>
          </a:xfrm>
          <a:prstGeom prst="rect">
            <a:avLst/>
          </a:prstGeom>
          <a:noFill/>
        </p:spPr>
        <p:txBody>
          <a:bodyPr wrap="square" lIns="0" tIns="0" rIns="0" bIns="0" anchor="ctr">
            <a:spAutoFit/>
          </a:bodyPr>
          <a:lstStyle/>
          <a:p>
            <a:pPr algn="r"/>
            <a:r>
              <a:rPr sz="1400" b="0" i="0">
                <a:solidFill>
                  <a:srgbClr val="2B3440"/>
                </a:solidFill>
                <a:latin typeface="Calibri"/>
              </a:rPr>
              <a:t>0.917</a:t>
            </a:r>
          </a:p>
        </p:txBody>
      </p:sp>
      <p:sp>
        <p:nvSpPr>
          <p:cNvPr id="29" name="Rectangle 28"/>
          <p:cNvSpPr/>
          <p:nvPr/>
        </p:nvSpPr>
        <p:spPr>
          <a:xfrm>
            <a:off x="566928" y="4137660"/>
            <a:ext cx="11057839" cy="525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192524"/>
            <a:ext cx="3602492" cy="416052"/>
          </a:xfrm>
          <a:prstGeom prst="rect">
            <a:avLst/>
          </a:prstGeom>
          <a:noFill/>
        </p:spPr>
        <p:txBody>
          <a:bodyPr wrap="square" lIns="0" tIns="0" rIns="0" bIns="0" anchor="ctr">
            <a:spAutoFit/>
          </a:bodyPr>
          <a:lstStyle/>
          <a:p>
            <a:pPr algn="l"/>
            <a:r>
              <a:rPr sz="1400" b="0" i="0">
                <a:solidFill>
                  <a:srgbClr val="2B3440"/>
                </a:solidFill>
                <a:latin typeface="Calibri"/>
              </a:rPr>
              <a:t>Eixample</a:t>
            </a:r>
          </a:p>
        </p:txBody>
      </p:sp>
      <p:sp>
        <p:nvSpPr>
          <p:cNvPr id="31" name="TextBox 30"/>
          <p:cNvSpPr txBox="1"/>
          <p:nvPr/>
        </p:nvSpPr>
        <p:spPr>
          <a:xfrm>
            <a:off x="4663196" y="4192524"/>
            <a:ext cx="1145194" cy="416052"/>
          </a:xfrm>
          <a:prstGeom prst="rect">
            <a:avLst/>
          </a:prstGeom>
          <a:noFill/>
        </p:spPr>
        <p:txBody>
          <a:bodyPr wrap="square" lIns="0" tIns="0" rIns="0" bIns="0" anchor="ctr">
            <a:spAutoFit/>
          </a:bodyPr>
          <a:lstStyle/>
          <a:p>
            <a:pPr algn="r"/>
            <a:r>
              <a:rPr sz="1400" b="0" i="0">
                <a:solidFill>
                  <a:srgbClr val="2B3440"/>
                </a:solidFill>
                <a:latin typeface="Calibri"/>
              </a:rPr>
              <a:t>4,898</a:t>
            </a:r>
          </a:p>
        </p:txBody>
      </p:sp>
      <p:sp>
        <p:nvSpPr>
          <p:cNvPr id="32" name="TextBox 31"/>
          <p:cNvSpPr txBox="1"/>
          <p:nvPr/>
        </p:nvSpPr>
        <p:spPr>
          <a:xfrm>
            <a:off x="6137574" y="4192524"/>
            <a:ext cx="1882383" cy="416052"/>
          </a:xfrm>
          <a:prstGeom prst="rect">
            <a:avLst/>
          </a:prstGeom>
          <a:noFill/>
        </p:spPr>
        <p:txBody>
          <a:bodyPr wrap="square" lIns="0" tIns="0" rIns="0" bIns="0" anchor="ctr">
            <a:spAutoFit/>
          </a:bodyPr>
          <a:lstStyle/>
          <a:p>
            <a:pPr algn="r"/>
            <a:r>
              <a:rPr sz="1400" b="0" i="0">
                <a:solidFill>
                  <a:srgbClr val="2B3440"/>
                </a:solidFill>
                <a:latin typeface="Calibri"/>
              </a:rPr>
              <a:t>0.732</a:t>
            </a:r>
          </a:p>
        </p:txBody>
      </p:sp>
      <p:sp>
        <p:nvSpPr>
          <p:cNvPr id="33" name="TextBox 32"/>
          <p:cNvSpPr txBox="1"/>
          <p:nvPr/>
        </p:nvSpPr>
        <p:spPr>
          <a:xfrm>
            <a:off x="8349142" y="4192524"/>
            <a:ext cx="1390924" cy="416052"/>
          </a:xfrm>
          <a:prstGeom prst="rect">
            <a:avLst/>
          </a:prstGeom>
          <a:noFill/>
        </p:spPr>
        <p:txBody>
          <a:bodyPr wrap="square" lIns="0" tIns="0" rIns="0" bIns="0" anchor="ctr">
            <a:spAutoFit/>
          </a:bodyPr>
          <a:lstStyle/>
          <a:p>
            <a:pPr algn="r"/>
            <a:r>
              <a:rPr sz="1400" b="0" i="0">
                <a:solidFill>
                  <a:srgbClr val="2B3440"/>
                </a:solidFill>
                <a:latin typeface="Calibri"/>
              </a:rPr>
              <a:t>0.943</a:t>
            </a:r>
          </a:p>
        </p:txBody>
      </p:sp>
      <p:sp>
        <p:nvSpPr>
          <p:cNvPr id="34" name="TextBox 33"/>
          <p:cNvSpPr txBox="1"/>
          <p:nvPr/>
        </p:nvSpPr>
        <p:spPr>
          <a:xfrm>
            <a:off x="10069250" y="4192524"/>
            <a:ext cx="1390924" cy="416052"/>
          </a:xfrm>
          <a:prstGeom prst="rect">
            <a:avLst/>
          </a:prstGeom>
          <a:noFill/>
        </p:spPr>
        <p:txBody>
          <a:bodyPr wrap="square" lIns="0" tIns="0" rIns="0" bIns="0" anchor="ctr">
            <a:spAutoFit/>
          </a:bodyPr>
          <a:lstStyle/>
          <a:p>
            <a:pPr algn="r"/>
            <a:r>
              <a:rPr sz="1400" b="0" i="0">
                <a:solidFill>
                  <a:srgbClr val="2B3440"/>
                </a:solidFill>
                <a:latin typeface="Calibri"/>
              </a:rPr>
              <a:t>0.953</a:t>
            </a:r>
          </a:p>
        </p:txBody>
      </p:sp>
      <p:sp>
        <p:nvSpPr>
          <p:cNvPr id="35" name="Rectangle 34"/>
          <p:cNvSpPr/>
          <p:nvPr/>
        </p:nvSpPr>
        <p:spPr>
          <a:xfrm>
            <a:off x="566928" y="4663440"/>
            <a:ext cx="11057839" cy="525780"/>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4718304"/>
            <a:ext cx="3602492" cy="416052"/>
          </a:xfrm>
          <a:prstGeom prst="rect">
            <a:avLst/>
          </a:prstGeom>
          <a:noFill/>
        </p:spPr>
        <p:txBody>
          <a:bodyPr wrap="square" lIns="0" tIns="0" rIns="0" bIns="0" anchor="ctr">
            <a:spAutoFit/>
          </a:bodyPr>
          <a:lstStyle/>
          <a:p>
            <a:pPr algn="l"/>
            <a:r>
              <a:rPr sz="1400" b="0" i="0">
                <a:solidFill>
                  <a:srgbClr val="2B3440"/>
                </a:solidFill>
                <a:latin typeface="Calibri"/>
              </a:rPr>
              <a:t>Sants-Montjuïc</a:t>
            </a:r>
          </a:p>
        </p:txBody>
      </p:sp>
      <p:sp>
        <p:nvSpPr>
          <p:cNvPr id="37" name="TextBox 36"/>
          <p:cNvSpPr txBox="1"/>
          <p:nvPr/>
        </p:nvSpPr>
        <p:spPr>
          <a:xfrm>
            <a:off x="4663196" y="4718304"/>
            <a:ext cx="1145194" cy="416052"/>
          </a:xfrm>
          <a:prstGeom prst="rect">
            <a:avLst/>
          </a:prstGeom>
          <a:noFill/>
        </p:spPr>
        <p:txBody>
          <a:bodyPr wrap="square" lIns="0" tIns="0" rIns="0" bIns="0" anchor="ctr">
            <a:spAutoFit/>
          </a:bodyPr>
          <a:lstStyle/>
          <a:p>
            <a:pPr algn="r"/>
            <a:r>
              <a:rPr sz="1400" b="0" i="0">
                <a:solidFill>
                  <a:srgbClr val="2B3440"/>
                </a:solidFill>
                <a:latin typeface="Calibri"/>
              </a:rPr>
              <a:t>1,168</a:t>
            </a:r>
          </a:p>
        </p:txBody>
      </p:sp>
      <p:sp>
        <p:nvSpPr>
          <p:cNvPr id="38" name="TextBox 37"/>
          <p:cNvSpPr txBox="1"/>
          <p:nvPr/>
        </p:nvSpPr>
        <p:spPr>
          <a:xfrm>
            <a:off x="6137574" y="4718304"/>
            <a:ext cx="1882383" cy="416052"/>
          </a:xfrm>
          <a:prstGeom prst="rect">
            <a:avLst/>
          </a:prstGeom>
          <a:noFill/>
        </p:spPr>
        <p:txBody>
          <a:bodyPr wrap="square" lIns="0" tIns="0" rIns="0" bIns="0" anchor="ctr">
            <a:spAutoFit/>
          </a:bodyPr>
          <a:lstStyle/>
          <a:p>
            <a:pPr algn="r"/>
            <a:r>
              <a:rPr sz="1400" b="0" i="0">
                <a:solidFill>
                  <a:srgbClr val="2B3440"/>
                </a:solidFill>
                <a:latin typeface="Calibri"/>
              </a:rPr>
              <a:t>0.720</a:t>
            </a:r>
          </a:p>
        </p:txBody>
      </p:sp>
      <p:sp>
        <p:nvSpPr>
          <p:cNvPr id="39" name="TextBox 38"/>
          <p:cNvSpPr txBox="1"/>
          <p:nvPr/>
        </p:nvSpPr>
        <p:spPr>
          <a:xfrm>
            <a:off x="8349142" y="4718304"/>
            <a:ext cx="1390924" cy="416052"/>
          </a:xfrm>
          <a:prstGeom prst="rect">
            <a:avLst/>
          </a:prstGeom>
          <a:noFill/>
        </p:spPr>
        <p:txBody>
          <a:bodyPr wrap="square" lIns="0" tIns="0" rIns="0" bIns="0" anchor="ctr">
            <a:spAutoFit/>
          </a:bodyPr>
          <a:lstStyle/>
          <a:p>
            <a:pPr algn="r"/>
            <a:r>
              <a:rPr sz="1400" b="0" i="0">
                <a:solidFill>
                  <a:srgbClr val="2B3440"/>
                </a:solidFill>
                <a:latin typeface="Calibri"/>
              </a:rPr>
              <a:t>0.950</a:t>
            </a:r>
          </a:p>
        </p:txBody>
      </p:sp>
      <p:sp>
        <p:nvSpPr>
          <p:cNvPr id="40" name="TextBox 39"/>
          <p:cNvSpPr txBox="1"/>
          <p:nvPr/>
        </p:nvSpPr>
        <p:spPr>
          <a:xfrm>
            <a:off x="10069250" y="4718304"/>
            <a:ext cx="1390924" cy="416052"/>
          </a:xfrm>
          <a:prstGeom prst="rect">
            <a:avLst/>
          </a:prstGeom>
          <a:noFill/>
        </p:spPr>
        <p:txBody>
          <a:bodyPr wrap="square" lIns="0" tIns="0" rIns="0" bIns="0" anchor="ctr">
            <a:spAutoFit/>
          </a:bodyPr>
          <a:lstStyle/>
          <a:p>
            <a:pPr algn="r"/>
            <a:r>
              <a:rPr sz="1400" b="0" i="0">
                <a:solidFill>
                  <a:srgbClr val="2B3440"/>
                </a:solidFill>
                <a:latin typeface="Calibri"/>
              </a:rPr>
              <a:t>0.936</a:t>
            </a:r>
          </a:p>
        </p:txBody>
      </p:sp>
      <p:sp>
        <p:nvSpPr>
          <p:cNvPr id="41" name="Rectangle 40"/>
          <p:cNvSpPr/>
          <p:nvPr/>
        </p:nvSpPr>
        <p:spPr>
          <a:xfrm>
            <a:off x="566928" y="5189220"/>
            <a:ext cx="11057839" cy="5257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1520" y="5244084"/>
            <a:ext cx="3602492" cy="416052"/>
          </a:xfrm>
          <a:prstGeom prst="rect">
            <a:avLst/>
          </a:prstGeom>
          <a:noFill/>
        </p:spPr>
        <p:txBody>
          <a:bodyPr wrap="square" lIns="0" tIns="0" rIns="0" bIns="0" anchor="ctr">
            <a:spAutoFit/>
          </a:bodyPr>
          <a:lstStyle/>
          <a:p>
            <a:pPr algn="l"/>
            <a:r>
              <a:rPr sz="1400" b="0" i="0">
                <a:solidFill>
                  <a:srgbClr val="2B3440"/>
                </a:solidFill>
                <a:latin typeface="Calibri"/>
              </a:rPr>
              <a:t>Nou Barris</a:t>
            </a:r>
          </a:p>
        </p:txBody>
      </p:sp>
      <p:sp>
        <p:nvSpPr>
          <p:cNvPr id="43" name="TextBox 42"/>
          <p:cNvSpPr txBox="1"/>
          <p:nvPr/>
        </p:nvSpPr>
        <p:spPr>
          <a:xfrm>
            <a:off x="4663196" y="5244084"/>
            <a:ext cx="1145194" cy="416052"/>
          </a:xfrm>
          <a:prstGeom prst="rect">
            <a:avLst/>
          </a:prstGeom>
          <a:noFill/>
        </p:spPr>
        <p:txBody>
          <a:bodyPr wrap="square" lIns="0" tIns="0" rIns="0" bIns="0" anchor="ctr">
            <a:spAutoFit/>
          </a:bodyPr>
          <a:lstStyle/>
          <a:p>
            <a:pPr algn="r"/>
            <a:r>
              <a:rPr sz="1400" b="0" i="0">
                <a:solidFill>
                  <a:srgbClr val="2B3440"/>
                </a:solidFill>
                <a:latin typeface="Calibri"/>
              </a:rPr>
              <a:t>147</a:t>
            </a:r>
          </a:p>
        </p:txBody>
      </p:sp>
      <p:sp>
        <p:nvSpPr>
          <p:cNvPr id="44" name="TextBox 43"/>
          <p:cNvSpPr txBox="1"/>
          <p:nvPr/>
        </p:nvSpPr>
        <p:spPr>
          <a:xfrm>
            <a:off x="6137574" y="5244084"/>
            <a:ext cx="1882383" cy="416052"/>
          </a:xfrm>
          <a:prstGeom prst="rect">
            <a:avLst/>
          </a:prstGeom>
          <a:noFill/>
        </p:spPr>
        <p:txBody>
          <a:bodyPr wrap="square" lIns="0" tIns="0" rIns="0" bIns="0" anchor="ctr">
            <a:spAutoFit/>
          </a:bodyPr>
          <a:lstStyle/>
          <a:p>
            <a:pPr algn="r"/>
            <a:r>
              <a:rPr sz="1400" b="0" i="0">
                <a:solidFill>
                  <a:srgbClr val="2B3440"/>
                </a:solidFill>
                <a:latin typeface="Calibri"/>
              </a:rPr>
              <a:t>0.537</a:t>
            </a:r>
          </a:p>
        </p:txBody>
      </p:sp>
      <p:sp>
        <p:nvSpPr>
          <p:cNvPr id="45" name="TextBox 44"/>
          <p:cNvSpPr txBox="1"/>
          <p:nvPr/>
        </p:nvSpPr>
        <p:spPr>
          <a:xfrm>
            <a:off x="8349142" y="5244084"/>
            <a:ext cx="1390924" cy="416052"/>
          </a:xfrm>
          <a:prstGeom prst="rect">
            <a:avLst/>
          </a:prstGeom>
          <a:noFill/>
        </p:spPr>
        <p:txBody>
          <a:bodyPr wrap="square" lIns="0" tIns="0" rIns="0" bIns="0" anchor="ctr">
            <a:spAutoFit/>
          </a:bodyPr>
          <a:lstStyle/>
          <a:p>
            <a:pPr algn="r"/>
            <a:r>
              <a:rPr sz="1400" b="0" i="0">
                <a:solidFill>
                  <a:srgbClr val="2B3440"/>
                </a:solidFill>
                <a:latin typeface="Calibri"/>
              </a:rPr>
              <a:t>0.961</a:t>
            </a:r>
          </a:p>
        </p:txBody>
      </p:sp>
      <p:sp>
        <p:nvSpPr>
          <p:cNvPr id="46" name="TextBox 45"/>
          <p:cNvSpPr txBox="1"/>
          <p:nvPr/>
        </p:nvSpPr>
        <p:spPr>
          <a:xfrm>
            <a:off x="10069250" y="5244084"/>
            <a:ext cx="1390924" cy="416052"/>
          </a:xfrm>
          <a:prstGeom prst="rect">
            <a:avLst/>
          </a:prstGeom>
          <a:noFill/>
        </p:spPr>
        <p:txBody>
          <a:bodyPr wrap="square" lIns="0" tIns="0" rIns="0" bIns="0" anchor="ctr">
            <a:spAutoFit/>
          </a:bodyPr>
          <a:lstStyle/>
          <a:p>
            <a:pPr algn="r"/>
            <a:r>
              <a:rPr sz="1400" b="0" i="0">
                <a:solidFill>
                  <a:srgbClr val="2B3440"/>
                </a:solidFill>
                <a:latin typeface="Calibri"/>
              </a:rPr>
              <a:t>0.949</a:t>
            </a:r>
          </a:p>
        </p:txBody>
      </p:sp>
      <p:sp>
        <p:nvSpPr>
          <p:cNvPr id="47" name="Rounded Rectangle 46"/>
          <p:cNvSpPr/>
          <p:nvPr/>
        </p:nvSpPr>
        <p:spPr>
          <a:xfrm>
            <a:off x="566928" y="5779008"/>
            <a:ext cx="11057839" cy="603504"/>
          </a:xfrm>
          <a:prstGeom prst="roundRect">
            <a:avLst>
              <a:gd name="adj" fmla="val 21212"/>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The model is </a:t>
            </a:r>
            <a:r>
              <a:rPr sz="1400" b="1" i="1">
                <a:solidFill>
                  <a:srgbClr val="A8443A"/>
                </a:solidFill>
                <a:latin typeface="Calibri"/>
              </a:rPr>
              <a:t>weakest in Ciutat Vella</a:t>
            </a:r>
            <a:r>
              <a:rPr sz="1400" b="0" i="1">
                <a:solidFill>
                  <a:srgbClr val="2B3440"/>
                </a:solidFill>
                <a:latin typeface="Calibri"/>
              </a:rPr>
              <a:t> - the historic centre, the second-largest district, and where short-term rental is most contested. Precisely where the city most needs it to work.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The spread one number hid</a:t>
            </a:r>
          </a:p>
        </p:txBody>
      </p:sp>
      <p:sp>
        <p:nvSpPr>
          <p:cNvPr id="4" name="Rounded Rectangle 3"/>
          <p:cNvSpPr/>
          <p:nvPr/>
        </p:nvSpPr>
        <p:spPr>
          <a:xfrm>
            <a:off x="566928" y="1956816"/>
            <a:ext cx="4617720" cy="4398264"/>
          </a:xfrm>
          <a:prstGeom prst="roundRect">
            <a:avLst>
              <a:gd name="adj" fmla="val 2910"/>
            </a:avLst>
          </a:prstGeom>
          <a:solidFill>
            <a:srgbClr val="F9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A9660B"/>
                </a:solidFill>
                <a:latin typeface="Cambria"/>
              </a:rPr>
              <a:t>0.101</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gap between the best and worst district AUC (0.861 to 0.961)</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The headline figure was 0.9216 ± 0.0381. Nothing in it says the model works far better in some districts than others.</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A model reported only in aggregate is a model whose failures have not been looked for.</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1" i="0">
                <a:solidFill>
                  <a:srgbClr val="A8443A"/>
                </a:solidFill>
                <a:latin typeface="Calibri"/>
              </a:rPr>
              <a:t>Subgroup performance is not an extra. It is the difference between a model and a system.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Where the 200 inspection flags land</a:t>
            </a:r>
          </a:p>
        </p:txBody>
      </p:sp>
      <p:sp>
        <p:nvSpPr>
          <p:cNvPr id="4" name="Rectangle 3"/>
          <p:cNvSpPr/>
          <p:nvPr/>
        </p:nvSpPr>
        <p:spPr>
          <a:xfrm>
            <a:off x="566928" y="1847088"/>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2988167" cy="310896"/>
          </a:xfrm>
          <a:prstGeom prst="rect">
            <a:avLst/>
          </a:prstGeom>
          <a:noFill/>
        </p:spPr>
        <p:txBody>
          <a:bodyPr wrap="square" lIns="0" tIns="0" rIns="0" bIns="0" anchor="ctr">
            <a:spAutoFit/>
          </a:bodyPr>
          <a:lstStyle/>
          <a:p>
            <a:pPr algn="l"/>
            <a:r>
              <a:rPr sz="1300" b="1" i="0">
                <a:solidFill>
                  <a:srgbClr val="A8443A"/>
                </a:solidFill>
                <a:latin typeface="Calibri"/>
              </a:rPr>
              <a:t>District</a:t>
            </a:r>
          </a:p>
        </p:txBody>
      </p:sp>
      <p:sp>
        <p:nvSpPr>
          <p:cNvPr id="6" name="TextBox 5"/>
          <p:cNvSpPr txBox="1"/>
          <p:nvPr/>
        </p:nvSpPr>
        <p:spPr>
          <a:xfrm>
            <a:off x="4048871" y="1901952"/>
            <a:ext cx="997756" cy="310896"/>
          </a:xfrm>
          <a:prstGeom prst="rect">
            <a:avLst/>
          </a:prstGeom>
          <a:noFill/>
        </p:spPr>
        <p:txBody>
          <a:bodyPr wrap="square" lIns="0" tIns="0" rIns="0" bIns="0" anchor="ctr">
            <a:spAutoFit/>
          </a:bodyPr>
          <a:lstStyle/>
          <a:p>
            <a:pPr algn="l"/>
            <a:r>
              <a:rPr sz="1300" b="1" i="0">
                <a:solidFill>
                  <a:srgbClr val="A8443A"/>
                </a:solidFill>
                <a:latin typeface="Calibri"/>
              </a:rPr>
              <a:t>flags</a:t>
            </a:r>
          </a:p>
        </p:txBody>
      </p:sp>
      <p:sp>
        <p:nvSpPr>
          <p:cNvPr id="7" name="TextBox 6"/>
          <p:cNvSpPr txBox="1"/>
          <p:nvPr/>
        </p:nvSpPr>
        <p:spPr>
          <a:xfrm>
            <a:off x="5375812" y="1901952"/>
            <a:ext cx="1882383" cy="310896"/>
          </a:xfrm>
          <a:prstGeom prst="rect">
            <a:avLst/>
          </a:prstGeom>
          <a:noFill/>
        </p:spPr>
        <p:txBody>
          <a:bodyPr wrap="square" lIns="0" tIns="0" rIns="0" bIns="0" anchor="ctr">
            <a:spAutoFit/>
          </a:bodyPr>
          <a:lstStyle/>
          <a:p>
            <a:pPr algn="l"/>
            <a:r>
              <a:rPr sz="1300" b="1" i="0">
                <a:solidFill>
                  <a:srgbClr val="A8443A"/>
                </a:solidFill>
                <a:latin typeface="Calibri"/>
              </a:rPr>
              <a:t>share of flags</a:t>
            </a:r>
          </a:p>
        </p:txBody>
      </p:sp>
      <p:sp>
        <p:nvSpPr>
          <p:cNvPr id="8" name="TextBox 7"/>
          <p:cNvSpPr txBox="1"/>
          <p:nvPr/>
        </p:nvSpPr>
        <p:spPr>
          <a:xfrm>
            <a:off x="7587380" y="1901952"/>
            <a:ext cx="2103540" cy="310896"/>
          </a:xfrm>
          <a:prstGeom prst="rect">
            <a:avLst/>
          </a:prstGeom>
          <a:noFill/>
        </p:spPr>
        <p:txBody>
          <a:bodyPr wrap="square" lIns="0" tIns="0" rIns="0" bIns="0" anchor="ctr">
            <a:spAutoFit/>
          </a:bodyPr>
          <a:lstStyle/>
          <a:p>
            <a:pPr algn="l"/>
            <a:r>
              <a:rPr sz="1300" b="1" i="0">
                <a:solidFill>
                  <a:srgbClr val="A8443A"/>
                </a:solidFill>
                <a:latin typeface="Calibri"/>
              </a:rPr>
              <a:t>share of listings</a:t>
            </a:r>
          </a:p>
        </p:txBody>
      </p:sp>
      <p:sp>
        <p:nvSpPr>
          <p:cNvPr id="9" name="TextBox 8"/>
          <p:cNvSpPr txBox="1"/>
          <p:nvPr/>
        </p:nvSpPr>
        <p:spPr>
          <a:xfrm>
            <a:off x="10020104" y="1901952"/>
            <a:ext cx="1440070" cy="310896"/>
          </a:xfrm>
          <a:prstGeom prst="rect">
            <a:avLst/>
          </a:prstGeom>
          <a:noFill/>
        </p:spPr>
        <p:txBody>
          <a:bodyPr wrap="square" lIns="0" tIns="0" rIns="0" bIns="0" anchor="ctr">
            <a:spAutoFit/>
          </a:bodyPr>
          <a:lstStyle/>
          <a:p>
            <a:pPr algn="l"/>
            <a:r>
              <a:rPr sz="1300" b="1" i="0">
                <a:solidFill>
                  <a:srgbClr val="A8443A"/>
                </a:solidFill>
                <a:latin typeface="Calibri"/>
              </a:rPr>
              <a:t>over-rep.</a:t>
            </a:r>
          </a:p>
        </p:txBody>
      </p:sp>
      <p:sp>
        <p:nvSpPr>
          <p:cNvPr id="10" name="Rectangle 9"/>
          <p:cNvSpPr/>
          <p:nvPr/>
        </p:nvSpPr>
        <p:spPr>
          <a:xfrm>
            <a:off x="566928" y="2267712"/>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322576"/>
            <a:ext cx="2988167" cy="475488"/>
          </a:xfrm>
          <a:prstGeom prst="rect">
            <a:avLst/>
          </a:prstGeom>
          <a:noFill/>
        </p:spPr>
        <p:txBody>
          <a:bodyPr wrap="square" lIns="0" tIns="0" rIns="0" bIns="0" anchor="ctr">
            <a:spAutoFit/>
          </a:bodyPr>
          <a:lstStyle/>
          <a:p>
            <a:pPr algn="l"/>
            <a:r>
              <a:rPr sz="1400" b="1" i="0">
                <a:solidFill>
                  <a:srgbClr val="A9660B"/>
                </a:solidFill>
                <a:latin typeface="Calibri"/>
              </a:rPr>
              <a:t>Sarrià-Sant Gervasi</a:t>
            </a:r>
          </a:p>
        </p:txBody>
      </p:sp>
      <p:sp>
        <p:nvSpPr>
          <p:cNvPr id="12" name="TextBox 11"/>
          <p:cNvSpPr txBox="1"/>
          <p:nvPr/>
        </p:nvSpPr>
        <p:spPr>
          <a:xfrm>
            <a:off x="4048871" y="2322576"/>
            <a:ext cx="997756" cy="475488"/>
          </a:xfrm>
          <a:prstGeom prst="rect">
            <a:avLst/>
          </a:prstGeom>
          <a:noFill/>
        </p:spPr>
        <p:txBody>
          <a:bodyPr wrap="square" lIns="0" tIns="0" rIns="0" bIns="0" anchor="ctr">
            <a:spAutoFit/>
          </a:bodyPr>
          <a:lstStyle/>
          <a:p>
            <a:pPr algn="r"/>
            <a:r>
              <a:rPr sz="1400" b="1" i="0">
                <a:solidFill>
                  <a:srgbClr val="A9660B"/>
                </a:solidFill>
                <a:latin typeface="Calibri"/>
              </a:rPr>
              <a:t>33</a:t>
            </a:r>
          </a:p>
        </p:txBody>
      </p:sp>
      <p:sp>
        <p:nvSpPr>
          <p:cNvPr id="13" name="TextBox 12"/>
          <p:cNvSpPr txBox="1"/>
          <p:nvPr/>
        </p:nvSpPr>
        <p:spPr>
          <a:xfrm>
            <a:off x="5375812" y="2322576"/>
            <a:ext cx="1882383" cy="475488"/>
          </a:xfrm>
          <a:prstGeom prst="rect">
            <a:avLst/>
          </a:prstGeom>
          <a:noFill/>
        </p:spPr>
        <p:txBody>
          <a:bodyPr wrap="square" lIns="0" tIns="0" rIns="0" bIns="0" anchor="ctr">
            <a:spAutoFit/>
          </a:bodyPr>
          <a:lstStyle/>
          <a:p>
            <a:pPr algn="r"/>
            <a:r>
              <a:rPr sz="1400" b="1" i="0">
                <a:solidFill>
                  <a:srgbClr val="A9660B"/>
                </a:solidFill>
                <a:latin typeface="Calibri"/>
              </a:rPr>
              <a:t>0.165</a:t>
            </a:r>
          </a:p>
        </p:txBody>
      </p:sp>
      <p:sp>
        <p:nvSpPr>
          <p:cNvPr id="14" name="TextBox 13"/>
          <p:cNvSpPr txBox="1"/>
          <p:nvPr/>
        </p:nvSpPr>
        <p:spPr>
          <a:xfrm>
            <a:off x="7587380" y="2322576"/>
            <a:ext cx="2103540" cy="475488"/>
          </a:xfrm>
          <a:prstGeom prst="rect">
            <a:avLst/>
          </a:prstGeom>
          <a:noFill/>
        </p:spPr>
        <p:txBody>
          <a:bodyPr wrap="square" lIns="0" tIns="0" rIns="0" bIns="0" anchor="ctr">
            <a:spAutoFit/>
          </a:bodyPr>
          <a:lstStyle/>
          <a:p>
            <a:pPr algn="r"/>
            <a:r>
              <a:rPr sz="1400" b="1" i="0">
                <a:solidFill>
                  <a:srgbClr val="A9660B"/>
                </a:solidFill>
                <a:latin typeface="Calibri"/>
              </a:rPr>
              <a:t>0.055</a:t>
            </a:r>
          </a:p>
        </p:txBody>
      </p:sp>
      <p:sp>
        <p:nvSpPr>
          <p:cNvPr id="15" name="TextBox 14"/>
          <p:cNvSpPr txBox="1"/>
          <p:nvPr/>
        </p:nvSpPr>
        <p:spPr>
          <a:xfrm>
            <a:off x="10020104" y="2322576"/>
            <a:ext cx="1440070" cy="475488"/>
          </a:xfrm>
          <a:prstGeom prst="rect">
            <a:avLst/>
          </a:prstGeom>
          <a:noFill/>
        </p:spPr>
        <p:txBody>
          <a:bodyPr wrap="square" lIns="0" tIns="0" rIns="0" bIns="0" anchor="ctr">
            <a:spAutoFit/>
          </a:bodyPr>
          <a:lstStyle/>
          <a:p>
            <a:pPr algn="r"/>
            <a:r>
              <a:rPr sz="1400" b="1" i="0">
                <a:solidFill>
                  <a:srgbClr val="A9660B"/>
                </a:solidFill>
                <a:latin typeface="Calibri"/>
              </a:rPr>
              <a:t>3.00×</a:t>
            </a:r>
          </a:p>
        </p:txBody>
      </p:sp>
      <p:sp>
        <p:nvSpPr>
          <p:cNvPr id="16" name="Rectangle 15"/>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2907792"/>
            <a:ext cx="2988167" cy="475488"/>
          </a:xfrm>
          <a:prstGeom prst="rect">
            <a:avLst/>
          </a:prstGeom>
          <a:noFill/>
        </p:spPr>
        <p:txBody>
          <a:bodyPr wrap="square" lIns="0" tIns="0" rIns="0" bIns="0" anchor="ctr">
            <a:spAutoFit/>
          </a:bodyPr>
          <a:lstStyle/>
          <a:p>
            <a:pPr algn="l"/>
            <a:r>
              <a:rPr sz="1400" b="0" i="0">
                <a:solidFill>
                  <a:srgbClr val="2B3440"/>
                </a:solidFill>
                <a:latin typeface="Calibri"/>
              </a:rPr>
              <a:t>Nou Barris</a:t>
            </a:r>
          </a:p>
        </p:txBody>
      </p:sp>
      <p:sp>
        <p:nvSpPr>
          <p:cNvPr id="18" name="TextBox 17"/>
          <p:cNvSpPr txBox="1"/>
          <p:nvPr/>
        </p:nvSpPr>
        <p:spPr>
          <a:xfrm>
            <a:off x="4048871" y="2907792"/>
            <a:ext cx="997756" cy="475488"/>
          </a:xfrm>
          <a:prstGeom prst="rect">
            <a:avLst/>
          </a:prstGeom>
          <a:noFill/>
        </p:spPr>
        <p:txBody>
          <a:bodyPr wrap="square" lIns="0" tIns="0" rIns="0" bIns="0" anchor="ctr">
            <a:spAutoFit/>
          </a:bodyPr>
          <a:lstStyle/>
          <a:p>
            <a:pPr algn="r"/>
            <a:r>
              <a:rPr sz="1400" b="0" i="0">
                <a:solidFill>
                  <a:srgbClr val="2B3440"/>
                </a:solidFill>
                <a:latin typeface="Calibri"/>
              </a:rPr>
              <a:t>5</a:t>
            </a:r>
          </a:p>
        </p:txBody>
      </p:sp>
      <p:sp>
        <p:nvSpPr>
          <p:cNvPr id="19" name="TextBox 18"/>
          <p:cNvSpPr txBox="1"/>
          <p:nvPr/>
        </p:nvSpPr>
        <p:spPr>
          <a:xfrm>
            <a:off x="5375812" y="2907792"/>
            <a:ext cx="1882383" cy="475488"/>
          </a:xfrm>
          <a:prstGeom prst="rect">
            <a:avLst/>
          </a:prstGeom>
          <a:noFill/>
        </p:spPr>
        <p:txBody>
          <a:bodyPr wrap="square" lIns="0" tIns="0" rIns="0" bIns="0" anchor="ctr">
            <a:spAutoFit/>
          </a:bodyPr>
          <a:lstStyle/>
          <a:p>
            <a:pPr algn="r"/>
            <a:r>
              <a:rPr sz="1400" b="0" i="0">
                <a:solidFill>
                  <a:srgbClr val="2B3440"/>
                </a:solidFill>
                <a:latin typeface="Calibri"/>
              </a:rPr>
              <a:t>0.025</a:t>
            </a:r>
          </a:p>
        </p:txBody>
      </p:sp>
      <p:sp>
        <p:nvSpPr>
          <p:cNvPr id="20" name="TextBox 19"/>
          <p:cNvSpPr txBox="1"/>
          <p:nvPr/>
        </p:nvSpPr>
        <p:spPr>
          <a:xfrm>
            <a:off x="7587380" y="2907792"/>
            <a:ext cx="2103540" cy="475488"/>
          </a:xfrm>
          <a:prstGeom prst="rect">
            <a:avLst/>
          </a:prstGeom>
          <a:noFill/>
        </p:spPr>
        <p:txBody>
          <a:bodyPr wrap="square" lIns="0" tIns="0" rIns="0" bIns="0" anchor="ctr">
            <a:spAutoFit/>
          </a:bodyPr>
          <a:lstStyle/>
          <a:p>
            <a:pPr algn="r"/>
            <a:r>
              <a:rPr sz="1400" b="0" i="0">
                <a:solidFill>
                  <a:srgbClr val="2B3440"/>
                </a:solidFill>
                <a:latin typeface="Calibri"/>
              </a:rPr>
              <a:t>0.012</a:t>
            </a:r>
          </a:p>
        </p:txBody>
      </p:sp>
      <p:sp>
        <p:nvSpPr>
          <p:cNvPr id="21" name="TextBox 20"/>
          <p:cNvSpPr txBox="1"/>
          <p:nvPr/>
        </p:nvSpPr>
        <p:spPr>
          <a:xfrm>
            <a:off x="10020104" y="2907792"/>
            <a:ext cx="1440070" cy="475488"/>
          </a:xfrm>
          <a:prstGeom prst="rect">
            <a:avLst/>
          </a:prstGeom>
          <a:noFill/>
        </p:spPr>
        <p:txBody>
          <a:bodyPr wrap="square" lIns="0" tIns="0" rIns="0" bIns="0" anchor="ctr">
            <a:spAutoFit/>
          </a:bodyPr>
          <a:lstStyle/>
          <a:p>
            <a:pPr algn="r"/>
            <a:r>
              <a:rPr sz="1400" b="0" i="0">
                <a:solidFill>
                  <a:srgbClr val="2B3440"/>
                </a:solidFill>
                <a:latin typeface="Calibri"/>
              </a:rPr>
              <a:t>2.15×</a:t>
            </a:r>
          </a:p>
        </p:txBody>
      </p:sp>
      <p:sp>
        <p:nvSpPr>
          <p:cNvPr id="22" name="Rectangle 21"/>
          <p:cNvSpPr/>
          <p:nvPr/>
        </p:nvSpPr>
        <p:spPr>
          <a:xfrm>
            <a:off x="566928" y="3438144"/>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3493008"/>
            <a:ext cx="2988167" cy="475488"/>
          </a:xfrm>
          <a:prstGeom prst="rect">
            <a:avLst/>
          </a:prstGeom>
          <a:noFill/>
        </p:spPr>
        <p:txBody>
          <a:bodyPr wrap="square" lIns="0" tIns="0" rIns="0" bIns="0" anchor="ctr">
            <a:spAutoFit/>
          </a:bodyPr>
          <a:lstStyle/>
          <a:p>
            <a:pPr algn="l"/>
            <a:r>
              <a:rPr sz="1400" b="0" i="0">
                <a:solidFill>
                  <a:srgbClr val="2B3440"/>
                </a:solidFill>
                <a:latin typeface="Calibri"/>
              </a:rPr>
              <a:t>Gràcia</a:t>
            </a:r>
          </a:p>
        </p:txBody>
      </p:sp>
      <p:sp>
        <p:nvSpPr>
          <p:cNvPr id="24" name="TextBox 23"/>
          <p:cNvSpPr txBox="1"/>
          <p:nvPr/>
        </p:nvSpPr>
        <p:spPr>
          <a:xfrm>
            <a:off x="4048871" y="3493008"/>
            <a:ext cx="997756" cy="475488"/>
          </a:xfrm>
          <a:prstGeom prst="rect">
            <a:avLst/>
          </a:prstGeom>
          <a:noFill/>
        </p:spPr>
        <p:txBody>
          <a:bodyPr wrap="square" lIns="0" tIns="0" rIns="0" bIns="0" anchor="ctr">
            <a:spAutoFit/>
          </a:bodyPr>
          <a:lstStyle/>
          <a:p>
            <a:pPr algn="r"/>
            <a:r>
              <a:rPr sz="1400" b="0" i="0">
                <a:solidFill>
                  <a:srgbClr val="2B3440"/>
                </a:solidFill>
                <a:latin typeface="Calibri"/>
              </a:rPr>
              <a:t>29</a:t>
            </a:r>
          </a:p>
        </p:txBody>
      </p:sp>
      <p:sp>
        <p:nvSpPr>
          <p:cNvPr id="25" name="TextBox 24"/>
          <p:cNvSpPr txBox="1"/>
          <p:nvPr/>
        </p:nvSpPr>
        <p:spPr>
          <a:xfrm>
            <a:off x="5375812" y="3493008"/>
            <a:ext cx="1882383" cy="475488"/>
          </a:xfrm>
          <a:prstGeom prst="rect">
            <a:avLst/>
          </a:prstGeom>
          <a:noFill/>
        </p:spPr>
        <p:txBody>
          <a:bodyPr wrap="square" lIns="0" tIns="0" rIns="0" bIns="0" anchor="ctr">
            <a:spAutoFit/>
          </a:bodyPr>
          <a:lstStyle/>
          <a:p>
            <a:pPr algn="r"/>
            <a:r>
              <a:rPr sz="1400" b="0" i="0">
                <a:solidFill>
                  <a:srgbClr val="2B3440"/>
                </a:solidFill>
                <a:latin typeface="Calibri"/>
              </a:rPr>
              <a:t>0.145</a:t>
            </a:r>
          </a:p>
        </p:txBody>
      </p:sp>
      <p:sp>
        <p:nvSpPr>
          <p:cNvPr id="26" name="TextBox 25"/>
          <p:cNvSpPr txBox="1"/>
          <p:nvPr/>
        </p:nvSpPr>
        <p:spPr>
          <a:xfrm>
            <a:off x="7587380" y="3493008"/>
            <a:ext cx="2103540" cy="475488"/>
          </a:xfrm>
          <a:prstGeom prst="rect">
            <a:avLst/>
          </a:prstGeom>
          <a:noFill/>
        </p:spPr>
        <p:txBody>
          <a:bodyPr wrap="square" lIns="0" tIns="0" rIns="0" bIns="0" anchor="ctr">
            <a:spAutoFit/>
          </a:bodyPr>
          <a:lstStyle/>
          <a:p>
            <a:pPr algn="r"/>
            <a:r>
              <a:rPr sz="1400" b="0" i="0">
                <a:solidFill>
                  <a:srgbClr val="2B3440"/>
                </a:solidFill>
                <a:latin typeface="Calibri"/>
              </a:rPr>
              <a:t>0.088</a:t>
            </a:r>
          </a:p>
        </p:txBody>
      </p:sp>
      <p:sp>
        <p:nvSpPr>
          <p:cNvPr id="27" name="TextBox 26"/>
          <p:cNvSpPr txBox="1"/>
          <p:nvPr/>
        </p:nvSpPr>
        <p:spPr>
          <a:xfrm>
            <a:off x="10020104" y="3493008"/>
            <a:ext cx="1440070" cy="475488"/>
          </a:xfrm>
          <a:prstGeom prst="rect">
            <a:avLst/>
          </a:prstGeom>
          <a:noFill/>
        </p:spPr>
        <p:txBody>
          <a:bodyPr wrap="square" lIns="0" tIns="0" rIns="0" bIns="0" anchor="ctr">
            <a:spAutoFit/>
          </a:bodyPr>
          <a:lstStyle/>
          <a:p>
            <a:pPr algn="r"/>
            <a:r>
              <a:rPr sz="1400" b="0" i="0">
                <a:solidFill>
                  <a:srgbClr val="2B3440"/>
                </a:solidFill>
                <a:latin typeface="Calibri"/>
              </a:rPr>
              <a:t>1.64×</a:t>
            </a:r>
          </a:p>
        </p:txBody>
      </p:sp>
      <p:sp>
        <p:nvSpPr>
          <p:cNvPr id="28" name="Rectangle 27"/>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4078224"/>
            <a:ext cx="2988167" cy="475488"/>
          </a:xfrm>
          <a:prstGeom prst="rect">
            <a:avLst/>
          </a:prstGeom>
          <a:noFill/>
        </p:spPr>
        <p:txBody>
          <a:bodyPr wrap="square" lIns="0" tIns="0" rIns="0" bIns="0" anchor="ctr">
            <a:spAutoFit/>
          </a:bodyPr>
          <a:lstStyle/>
          <a:p>
            <a:pPr algn="l"/>
            <a:r>
              <a:rPr sz="1400" b="0" i="0">
                <a:solidFill>
                  <a:srgbClr val="2B3440"/>
                </a:solidFill>
                <a:latin typeface="Calibri"/>
              </a:rPr>
              <a:t>Eixample</a:t>
            </a:r>
          </a:p>
        </p:txBody>
      </p:sp>
      <p:sp>
        <p:nvSpPr>
          <p:cNvPr id="30" name="TextBox 29"/>
          <p:cNvSpPr txBox="1"/>
          <p:nvPr/>
        </p:nvSpPr>
        <p:spPr>
          <a:xfrm>
            <a:off x="4048871" y="4078224"/>
            <a:ext cx="997756" cy="475488"/>
          </a:xfrm>
          <a:prstGeom prst="rect">
            <a:avLst/>
          </a:prstGeom>
          <a:noFill/>
        </p:spPr>
        <p:txBody>
          <a:bodyPr wrap="square" lIns="0" tIns="0" rIns="0" bIns="0" anchor="ctr">
            <a:spAutoFit/>
          </a:bodyPr>
          <a:lstStyle/>
          <a:p>
            <a:pPr algn="r"/>
            <a:r>
              <a:rPr sz="1400" b="0" i="0">
                <a:solidFill>
                  <a:srgbClr val="2B3440"/>
                </a:solidFill>
                <a:latin typeface="Calibri"/>
              </a:rPr>
              <a:t>75</a:t>
            </a:r>
          </a:p>
        </p:txBody>
      </p:sp>
      <p:sp>
        <p:nvSpPr>
          <p:cNvPr id="31" name="TextBox 30"/>
          <p:cNvSpPr txBox="1"/>
          <p:nvPr/>
        </p:nvSpPr>
        <p:spPr>
          <a:xfrm>
            <a:off x="5375812" y="4078224"/>
            <a:ext cx="1882383" cy="475488"/>
          </a:xfrm>
          <a:prstGeom prst="rect">
            <a:avLst/>
          </a:prstGeom>
          <a:noFill/>
        </p:spPr>
        <p:txBody>
          <a:bodyPr wrap="square" lIns="0" tIns="0" rIns="0" bIns="0" anchor="ctr">
            <a:spAutoFit/>
          </a:bodyPr>
          <a:lstStyle/>
          <a:p>
            <a:pPr algn="r"/>
            <a:r>
              <a:rPr sz="1400" b="0" i="0">
                <a:solidFill>
                  <a:srgbClr val="2B3440"/>
                </a:solidFill>
                <a:latin typeface="Calibri"/>
              </a:rPr>
              <a:t>0.375</a:t>
            </a:r>
          </a:p>
        </p:txBody>
      </p:sp>
      <p:sp>
        <p:nvSpPr>
          <p:cNvPr id="32" name="TextBox 31"/>
          <p:cNvSpPr txBox="1"/>
          <p:nvPr/>
        </p:nvSpPr>
        <p:spPr>
          <a:xfrm>
            <a:off x="7587380" y="4078224"/>
            <a:ext cx="2103540" cy="475488"/>
          </a:xfrm>
          <a:prstGeom prst="rect">
            <a:avLst/>
          </a:prstGeom>
          <a:noFill/>
        </p:spPr>
        <p:txBody>
          <a:bodyPr wrap="square" lIns="0" tIns="0" rIns="0" bIns="0" anchor="ctr">
            <a:spAutoFit/>
          </a:bodyPr>
          <a:lstStyle/>
          <a:p>
            <a:pPr algn="r"/>
            <a:r>
              <a:rPr sz="1400" b="0" i="0">
                <a:solidFill>
                  <a:srgbClr val="2B3440"/>
                </a:solidFill>
                <a:latin typeface="Calibri"/>
              </a:rPr>
              <a:t>0.388</a:t>
            </a:r>
          </a:p>
        </p:txBody>
      </p:sp>
      <p:sp>
        <p:nvSpPr>
          <p:cNvPr id="33" name="TextBox 32"/>
          <p:cNvSpPr txBox="1"/>
          <p:nvPr/>
        </p:nvSpPr>
        <p:spPr>
          <a:xfrm>
            <a:off x="10020104" y="4078224"/>
            <a:ext cx="1440070" cy="475488"/>
          </a:xfrm>
          <a:prstGeom prst="rect">
            <a:avLst/>
          </a:prstGeom>
          <a:noFill/>
        </p:spPr>
        <p:txBody>
          <a:bodyPr wrap="square" lIns="0" tIns="0" rIns="0" bIns="0" anchor="ctr">
            <a:spAutoFit/>
          </a:bodyPr>
          <a:lstStyle/>
          <a:p>
            <a:pPr algn="r"/>
            <a:r>
              <a:rPr sz="1400" b="0" i="0">
                <a:solidFill>
                  <a:srgbClr val="2B3440"/>
                </a:solidFill>
                <a:latin typeface="Calibri"/>
              </a:rPr>
              <a:t>0.97×</a:t>
            </a:r>
          </a:p>
        </p:txBody>
      </p:sp>
      <p:sp>
        <p:nvSpPr>
          <p:cNvPr id="34" name="Rounded Rectangle 33"/>
          <p:cNvSpPr/>
          <p:nvPr/>
        </p:nvSpPr>
        <p:spPr>
          <a:xfrm>
            <a:off x="566928" y="5779008"/>
            <a:ext cx="11057839" cy="603504"/>
          </a:xfrm>
          <a:prstGeom prst="roundRect">
            <a:avLst>
              <a:gd name="adj" fmla="val 21212"/>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Sarrià-Sant Gervasi is the wealthiest district in Barcelona, and it is flagged three times as often as its share of listings.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So is the model unfair?</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The honest answer is not a verdict. It is a measurement you do not yet have.</a:t>
            </a:r>
          </a:p>
        </p:txBody>
      </p:sp>
      <p:sp>
        <p:nvSpPr>
          <p:cNvPr id="5" name="Rounded Rectangle 4"/>
          <p:cNvSpPr/>
          <p:nvPr/>
        </p:nvSpPr>
        <p:spPr>
          <a:xfrm>
            <a:off x="566928" y="2157984"/>
            <a:ext cx="5373471" cy="4197096"/>
          </a:xfrm>
          <a:prstGeom prst="roundRect">
            <a:avLst>
              <a:gd name="adj" fmla="val 3050"/>
            </a:avLst>
          </a:prstGeom>
          <a:solidFill>
            <a:srgbClr val="F8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340864"/>
            <a:ext cx="4824831" cy="493776"/>
          </a:xfrm>
          <a:prstGeom prst="rect">
            <a:avLst/>
          </a:prstGeom>
          <a:noFill/>
        </p:spPr>
        <p:txBody>
          <a:bodyPr wrap="square" lIns="0" tIns="0" rIns="0" bIns="0" anchor="ctr">
            <a:spAutoFit/>
          </a:bodyPr>
          <a:lstStyle/>
          <a:p>
            <a:pPr algn="l"/>
            <a:r>
              <a:rPr sz="1600" b="1" i="0">
                <a:solidFill>
                  <a:srgbClr val="9E2B25"/>
                </a:solidFill>
                <a:latin typeface="Cambria"/>
              </a:rPr>
              <a:t>Three readings, and the data cannot separate them</a:t>
            </a:r>
          </a:p>
        </p:txBody>
      </p:sp>
      <p:sp>
        <p:nvSpPr>
          <p:cNvPr id="7" name="TextBox 6"/>
          <p:cNvSpPr txBox="1"/>
          <p:nvPr/>
        </p:nvSpPr>
        <p:spPr>
          <a:xfrm>
            <a:off x="841247" y="2889504"/>
            <a:ext cx="4824831" cy="777240"/>
          </a:xfrm>
          <a:prstGeom prst="rect">
            <a:avLst/>
          </a:prstGeom>
          <a:noFill/>
        </p:spPr>
        <p:txBody>
          <a:bodyPr wrap="square" lIns="0" tIns="0" rIns="0" bIns="0" anchor="t">
            <a:spAutoFit/>
          </a:bodyPr>
          <a:lstStyle/>
          <a:p>
            <a:pPr algn="l"/>
            <a:r>
              <a:rPr sz="3400" b="1" i="0">
                <a:solidFill>
                  <a:srgbClr val="9E2B25"/>
                </a:solidFill>
                <a:latin typeface="Cambria"/>
              </a:rPr>
              <a:t>we do not know</a:t>
            </a:r>
          </a:p>
        </p:txBody>
      </p:sp>
      <p:sp>
        <p:nvSpPr>
          <p:cNvPr id="8" name="TextBox 7"/>
          <p:cNvSpPr txBox="1"/>
          <p:nvPr/>
        </p:nvSpPr>
        <p:spPr>
          <a:xfrm>
            <a:off x="841247" y="3858768"/>
            <a:ext cx="4824831" cy="701040"/>
          </a:xfrm>
          <a:prstGeom prst="rect">
            <a:avLst/>
          </a:prstGeom>
          <a:noFill/>
        </p:spPr>
        <p:txBody>
          <a:bodyPr wrap="square" lIns="0" tIns="0" rIns="0" bIns="0" anchor="t">
            <a:spAutoFit/>
          </a:bodyPr>
          <a:lstStyle/>
          <a:p>
            <a:pPr algn="l">
              <a:lnSpc>
                <a:spcPct val="120000"/>
              </a:lnSpc>
            </a:pPr>
            <a:r>
              <a:rPr sz="1450" b="1" i="0">
                <a:solidFill>
                  <a:srgbClr val="A8443A"/>
                </a:solidFill>
                <a:latin typeface="Calibri"/>
              </a:rPr>
              <a:t>Genuine non-compliance</a:t>
            </a:r>
            <a:r>
              <a:rPr sz="1450" b="0" i="0">
                <a:solidFill>
                  <a:srgbClr val="2B3440"/>
                </a:solidFill>
                <a:latin typeface="Calibri"/>
              </a:rPr>
              <a:t> is higher there, and the model is correctly finding it.</a:t>
            </a:r>
          </a:p>
        </p:txBody>
      </p:sp>
      <p:sp>
        <p:nvSpPr>
          <p:cNvPr id="9" name="TextBox 8"/>
          <p:cNvSpPr txBox="1"/>
          <p:nvPr/>
        </p:nvSpPr>
        <p:spPr>
          <a:xfrm>
            <a:off x="841247" y="4632960"/>
            <a:ext cx="4824831" cy="701040"/>
          </a:xfrm>
          <a:prstGeom prst="rect">
            <a:avLst/>
          </a:prstGeom>
          <a:noFill/>
        </p:spPr>
        <p:txBody>
          <a:bodyPr wrap="square" lIns="0" tIns="0" rIns="0" bIns="0" anchor="t">
            <a:spAutoFit/>
          </a:bodyPr>
          <a:lstStyle/>
          <a:p>
            <a:pPr algn="l">
              <a:lnSpc>
                <a:spcPct val="120000"/>
              </a:lnSpc>
            </a:pPr>
            <a:r>
              <a:rPr sz="1450" b="1" i="0">
                <a:solidFill>
                  <a:srgbClr val="A8443A"/>
                </a:solidFill>
                <a:latin typeface="Calibri"/>
              </a:rPr>
              <a:t>Recording artifact</a:t>
            </a:r>
            <a:r>
              <a:rPr sz="1450" b="0" i="0">
                <a:solidFill>
                  <a:srgbClr val="2B3440"/>
                </a:solidFill>
                <a:latin typeface="Calibri"/>
              </a:rPr>
              <a:t>: licences there are less often recorded in the scraped field, whatever the reality.</a:t>
            </a:r>
          </a:p>
        </p:txBody>
      </p:sp>
      <p:sp>
        <p:nvSpPr>
          <p:cNvPr id="10" name="TextBox 9"/>
          <p:cNvSpPr txBox="1"/>
          <p:nvPr/>
        </p:nvSpPr>
        <p:spPr>
          <a:xfrm>
            <a:off x="841247" y="5407152"/>
            <a:ext cx="4824831" cy="701040"/>
          </a:xfrm>
          <a:prstGeom prst="rect">
            <a:avLst/>
          </a:prstGeom>
          <a:noFill/>
        </p:spPr>
        <p:txBody>
          <a:bodyPr wrap="square" lIns="0" tIns="0" rIns="0" bIns="0" anchor="t">
            <a:spAutoFit/>
          </a:bodyPr>
          <a:lstStyle/>
          <a:p>
            <a:pPr algn="l">
              <a:lnSpc>
                <a:spcPct val="120000"/>
              </a:lnSpc>
            </a:pPr>
            <a:r>
              <a:rPr sz="1450" b="1" i="0">
                <a:solidFill>
                  <a:srgbClr val="A8443A"/>
                </a:solidFill>
                <a:latin typeface="Calibri"/>
              </a:rPr>
              <a:t>Model weakness</a:t>
            </a:r>
            <a:r>
              <a:rPr sz="1450" b="0" i="0">
                <a:solidFill>
                  <a:srgbClr val="2B3440"/>
                </a:solidFill>
                <a:latin typeface="Calibri"/>
              </a:rPr>
              <a:t>: the model has learned a proxy for wealth rather than for compliance.</a:t>
            </a:r>
          </a:p>
        </p:txBody>
      </p:sp>
      <p:sp>
        <p:nvSpPr>
          <p:cNvPr id="11" name="Rounded Rectangle 10"/>
          <p:cNvSpPr/>
          <p:nvPr/>
        </p:nvSpPr>
        <p:spPr>
          <a:xfrm>
            <a:off x="6251295" y="2157984"/>
            <a:ext cx="5373471" cy="4197096"/>
          </a:xfrm>
          <a:prstGeom prst="roundRect">
            <a:avLst>
              <a:gd name="adj" fmla="val 3050"/>
            </a:avLst>
          </a:prstGeom>
          <a:solidFill>
            <a:srgbClr val="EF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25615" y="2340864"/>
            <a:ext cx="4824831" cy="493776"/>
          </a:xfrm>
          <a:prstGeom prst="rect">
            <a:avLst/>
          </a:prstGeom>
          <a:noFill/>
        </p:spPr>
        <p:txBody>
          <a:bodyPr wrap="square" lIns="0" tIns="0" rIns="0" bIns="0" anchor="ctr">
            <a:spAutoFit/>
          </a:bodyPr>
          <a:lstStyle/>
          <a:p>
            <a:pPr algn="l"/>
            <a:r>
              <a:rPr sz="1700" b="1" i="0">
                <a:solidFill>
                  <a:srgbClr val="1F6F5C"/>
                </a:solidFill>
                <a:latin typeface="Cambria"/>
              </a:rPr>
              <a:t>What to do about not knowing</a:t>
            </a:r>
          </a:p>
        </p:txBody>
      </p:sp>
      <p:sp>
        <p:nvSpPr>
          <p:cNvPr id="13" name="TextBox 12"/>
          <p:cNvSpPr txBox="1"/>
          <p:nvPr/>
        </p:nvSpPr>
        <p:spPr>
          <a:xfrm>
            <a:off x="6525615" y="2889504"/>
            <a:ext cx="4824831" cy="777240"/>
          </a:xfrm>
          <a:prstGeom prst="rect">
            <a:avLst/>
          </a:prstGeom>
          <a:noFill/>
        </p:spPr>
        <p:txBody>
          <a:bodyPr wrap="square" lIns="0" tIns="0" rIns="0" bIns="0" anchor="t">
            <a:spAutoFit/>
          </a:bodyPr>
          <a:lstStyle/>
          <a:p>
            <a:pPr algn="l"/>
            <a:r>
              <a:rPr sz="3400" b="1" i="0">
                <a:solidFill>
                  <a:srgbClr val="1F6F5C"/>
                </a:solidFill>
                <a:latin typeface="Cambria"/>
              </a:rPr>
              <a:t>reserve 20%</a:t>
            </a:r>
          </a:p>
        </p:txBody>
      </p:sp>
      <p:sp>
        <p:nvSpPr>
          <p:cNvPr id="14" name="TextBox 13"/>
          <p:cNvSpPr txBox="1"/>
          <p:nvPr/>
        </p:nvSpPr>
        <p:spPr>
          <a:xfrm>
            <a:off x="6525615" y="3858768"/>
            <a:ext cx="4824831" cy="70104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Keep part of the inspection budget for </a:t>
            </a:r>
            <a:r>
              <a:rPr sz="1450" b="1" i="0">
                <a:solidFill>
                  <a:srgbClr val="A8443A"/>
                </a:solidFill>
                <a:latin typeface="Calibri"/>
              </a:rPr>
              <a:t>random</a:t>
            </a:r>
            <a:r>
              <a:rPr sz="1450" b="0" i="0">
                <a:solidFill>
                  <a:srgbClr val="2B3440"/>
                </a:solidFill>
                <a:latin typeface="Calibri"/>
              </a:rPr>
              <a:t> selection.</a:t>
            </a:r>
          </a:p>
        </p:txBody>
      </p:sp>
      <p:sp>
        <p:nvSpPr>
          <p:cNvPr id="15" name="TextBox 14"/>
          <p:cNvSpPr txBox="1"/>
          <p:nvPr/>
        </p:nvSpPr>
        <p:spPr>
          <a:xfrm>
            <a:off x="6525615" y="4632960"/>
            <a:ext cx="4824831" cy="70104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That preserves an unbiased estimate after deployment, and it is the only thing that can distinguish the three readings.</a:t>
            </a:r>
          </a:p>
        </p:txBody>
      </p:sp>
      <p:sp>
        <p:nvSpPr>
          <p:cNvPr id="16" name="TextBox 15"/>
          <p:cNvSpPr txBox="1"/>
          <p:nvPr/>
        </p:nvSpPr>
        <p:spPr>
          <a:xfrm>
            <a:off x="6525615" y="5407152"/>
            <a:ext cx="4824831" cy="70104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It costs enforcement efficiency. Say so, and let the client decide.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1993392"/>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2600" b="1" dirty="0">
                <a:solidFill>
                  <a:srgbClr val="12233A"/>
                </a:solidFill>
                <a:latin typeface="Calibri"/>
              </a:rPr>
              <a:t>8</a:t>
            </a:r>
            <a:endParaRPr sz="2600" b="1" i="0" dirty="0">
              <a:solidFill>
                <a:srgbClr val="12233A"/>
              </a:solidFill>
              <a:latin typeface="Calibri"/>
            </a:endParaRP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The regression contrast, and Model Card v1</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The same session, the same dataset, the opposite conclusion.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Ensembles on the price problem</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Same folds, same scoping as Session 6.</a:t>
            </a:r>
          </a:p>
        </p:txBody>
      </p:sp>
      <p:sp>
        <p:nvSpPr>
          <p:cNvPr id="5" name="Rectangle 4"/>
          <p:cNvSpPr/>
          <p:nvPr/>
        </p:nvSpPr>
        <p:spPr>
          <a:xfrm>
            <a:off x="566928" y="2139696"/>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2706301" cy="310896"/>
          </a:xfrm>
          <a:prstGeom prst="rect">
            <a:avLst/>
          </a:prstGeom>
          <a:noFill/>
        </p:spPr>
        <p:txBody>
          <a:bodyPr wrap="square" lIns="0" tIns="0" rIns="0" bIns="0" anchor="ctr">
            <a:spAutoFit/>
          </a:bodyPr>
          <a:lstStyle/>
          <a:p>
            <a:pPr algn="l"/>
            <a:r>
              <a:rPr sz="1300" b="1" i="0">
                <a:solidFill>
                  <a:srgbClr val="A8443A"/>
                </a:solidFill>
                <a:latin typeface="Calibri"/>
              </a:rPr>
              <a:t>Model</a:t>
            </a:r>
          </a:p>
        </p:txBody>
      </p:sp>
      <p:sp>
        <p:nvSpPr>
          <p:cNvPr id="7" name="TextBox 6"/>
          <p:cNvSpPr txBox="1"/>
          <p:nvPr/>
        </p:nvSpPr>
        <p:spPr>
          <a:xfrm>
            <a:off x="3767005" y="2194560"/>
            <a:ext cx="1080148" cy="310896"/>
          </a:xfrm>
          <a:prstGeom prst="rect">
            <a:avLst/>
          </a:prstGeom>
          <a:noFill/>
        </p:spPr>
        <p:txBody>
          <a:bodyPr wrap="square" lIns="0" tIns="0" rIns="0" bIns="0" anchor="ctr">
            <a:spAutoFit/>
          </a:bodyPr>
          <a:lstStyle/>
          <a:p>
            <a:pPr algn="l"/>
            <a:r>
              <a:rPr sz="1300" b="1" i="0">
                <a:solidFill>
                  <a:srgbClr val="A8443A"/>
                </a:solidFill>
                <a:latin typeface="Calibri"/>
              </a:rPr>
              <a:t>R²</a:t>
            </a:r>
          </a:p>
        </p:txBody>
      </p:sp>
      <p:sp>
        <p:nvSpPr>
          <p:cNvPr id="8" name="TextBox 7"/>
          <p:cNvSpPr txBox="1"/>
          <p:nvPr/>
        </p:nvSpPr>
        <p:spPr>
          <a:xfrm>
            <a:off x="5176337" y="2194560"/>
            <a:ext cx="863328" cy="310896"/>
          </a:xfrm>
          <a:prstGeom prst="rect">
            <a:avLst/>
          </a:prstGeom>
          <a:noFill/>
        </p:spPr>
        <p:txBody>
          <a:bodyPr wrap="square" lIns="0" tIns="0" rIns="0" bIns="0" anchor="ctr">
            <a:spAutoFit/>
          </a:bodyPr>
          <a:lstStyle/>
          <a:p>
            <a:pPr algn="l"/>
            <a:r>
              <a:rPr sz="1300" b="1" i="0">
                <a:solidFill>
                  <a:srgbClr val="A8443A"/>
                </a:solidFill>
                <a:latin typeface="Calibri"/>
              </a:rPr>
              <a:t>sd</a:t>
            </a:r>
          </a:p>
        </p:txBody>
      </p:sp>
      <p:sp>
        <p:nvSpPr>
          <p:cNvPr id="9" name="TextBox 8"/>
          <p:cNvSpPr txBox="1"/>
          <p:nvPr/>
        </p:nvSpPr>
        <p:spPr>
          <a:xfrm>
            <a:off x="6368849" y="2194560"/>
            <a:ext cx="5091325" cy="310896"/>
          </a:xfrm>
          <a:prstGeom prst="rect">
            <a:avLst/>
          </a:prstGeom>
          <a:noFill/>
        </p:spPr>
        <p:txBody>
          <a:bodyPr wrap="square" lIns="0" tIns="0" rIns="0" bIns="0" anchor="ctr">
            <a:spAutoFit/>
          </a:bodyPr>
          <a:lstStyle/>
          <a:p>
            <a:pPr algn="l"/>
            <a:r>
              <a:rPr sz="1300" b="1" i="0">
                <a:solidFill>
                  <a:srgbClr val="A8443A"/>
                </a:solidFill>
                <a:latin typeface="Calibri"/>
              </a:rPr>
              <a:t>against Ridge</a:t>
            </a:r>
          </a:p>
        </p:txBody>
      </p:sp>
      <p:sp>
        <p:nvSpPr>
          <p:cNvPr id="10" name="Rectangle 9"/>
          <p:cNvSpPr/>
          <p:nvPr/>
        </p:nvSpPr>
        <p:spPr>
          <a:xfrm>
            <a:off x="566928" y="2560320"/>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615184"/>
            <a:ext cx="2706301" cy="475488"/>
          </a:xfrm>
          <a:prstGeom prst="rect">
            <a:avLst/>
          </a:prstGeom>
          <a:noFill/>
        </p:spPr>
        <p:txBody>
          <a:bodyPr wrap="square" lIns="0" tIns="0" rIns="0" bIns="0" anchor="ctr">
            <a:spAutoFit/>
          </a:bodyPr>
          <a:lstStyle/>
          <a:p>
            <a:pPr algn="l"/>
            <a:r>
              <a:rPr sz="1400" b="0" i="0">
                <a:solidFill>
                  <a:srgbClr val="2B3440"/>
                </a:solidFill>
                <a:latin typeface="Calibri"/>
              </a:rPr>
              <a:t>Ridge</a:t>
            </a:r>
          </a:p>
        </p:txBody>
      </p:sp>
      <p:sp>
        <p:nvSpPr>
          <p:cNvPr id="12" name="TextBox 11"/>
          <p:cNvSpPr txBox="1"/>
          <p:nvPr/>
        </p:nvSpPr>
        <p:spPr>
          <a:xfrm>
            <a:off x="3767005" y="2615184"/>
            <a:ext cx="1080148" cy="475488"/>
          </a:xfrm>
          <a:prstGeom prst="rect">
            <a:avLst/>
          </a:prstGeom>
          <a:noFill/>
        </p:spPr>
        <p:txBody>
          <a:bodyPr wrap="square" lIns="0" tIns="0" rIns="0" bIns="0" anchor="ctr">
            <a:spAutoFit/>
          </a:bodyPr>
          <a:lstStyle/>
          <a:p>
            <a:pPr algn="r"/>
            <a:r>
              <a:rPr sz="1400" b="0" i="0">
                <a:solidFill>
                  <a:srgbClr val="2B3440"/>
                </a:solidFill>
                <a:latin typeface="Calibri"/>
              </a:rPr>
              <a:t>0.6068</a:t>
            </a:r>
          </a:p>
        </p:txBody>
      </p:sp>
      <p:sp>
        <p:nvSpPr>
          <p:cNvPr id="13" name="TextBox 12"/>
          <p:cNvSpPr txBox="1"/>
          <p:nvPr/>
        </p:nvSpPr>
        <p:spPr>
          <a:xfrm>
            <a:off x="5176337" y="2615184"/>
            <a:ext cx="863328" cy="475488"/>
          </a:xfrm>
          <a:prstGeom prst="rect">
            <a:avLst/>
          </a:prstGeom>
          <a:noFill/>
        </p:spPr>
        <p:txBody>
          <a:bodyPr wrap="square" lIns="0" tIns="0" rIns="0" bIns="0" anchor="ctr">
            <a:spAutoFit/>
          </a:bodyPr>
          <a:lstStyle/>
          <a:p>
            <a:pPr algn="r"/>
            <a:r>
              <a:rPr sz="1400" b="0" i="0">
                <a:solidFill>
                  <a:srgbClr val="2B3440"/>
                </a:solidFill>
                <a:latin typeface="Calibri"/>
              </a:rPr>
              <a:t>0.0988</a:t>
            </a:r>
          </a:p>
        </p:txBody>
      </p:sp>
      <p:sp>
        <p:nvSpPr>
          <p:cNvPr id="14" name="TextBox 13"/>
          <p:cNvSpPr txBox="1"/>
          <p:nvPr/>
        </p:nvSpPr>
        <p:spPr>
          <a:xfrm>
            <a:off x="6368849" y="2745206"/>
            <a:ext cx="5091325" cy="215444"/>
          </a:xfrm>
          <a:prstGeom prst="rect">
            <a:avLst/>
          </a:prstGeom>
          <a:noFill/>
        </p:spPr>
        <p:txBody>
          <a:bodyPr wrap="square" lIns="0" tIns="0" rIns="0" bIns="0" anchor="ctr">
            <a:spAutoFit/>
          </a:bodyPr>
          <a:lstStyle/>
          <a:p>
            <a:pPr algn="l"/>
            <a:r>
              <a:rPr lang="fr-FR" sz="1400" dirty="0">
                <a:solidFill>
                  <a:srgbClr val="2B3440"/>
                </a:solidFill>
                <a:latin typeface="Calibri"/>
              </a:rPr>
              <a:t>-</a:t>
            </a:r>
            <a:endParaRPr sz="1400" b="0" i="0" dirty="0">
              <a:solidFill>
                <a:srgbClr val="2B3440"/>
              </a:solidFill>
              <a:latin typeface="Calibri"/>
            </a:endParaRPr>
          </a:p>
        </p:txBody>
      </p:sp>
      <p:sp>
        <p:nvSpPr>
          <p:cNvPr id="15" name="Rectangle 14"/>
          <p:cNvSpPr/>
          <p:nvPr/>
        </p:nvSpPr>
        <p:spPr>
          <a:xfrm>
            <a:off x="566928" y="3145536"/>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200400"/>
            <a:ext cx="2706301" cy="475488"/>
          </a:xfrm>
          <a:prstGeom prst="rect">
            <a:avLst/>
          </a:prstGeom>
          <a:noFill/>
        </p:spPr>
        <p:txBody>
          <a:bodyPr wrap="square" lIns="0" tIns="0" rIns="0" bIns="0" anchor="ctr">
            <a:spAutoFit/>
          </a:bodyPr>
          <a:lstStyle/>
          <a:p>
            <a:pPr algn="l"/>
            <a:r>
              <a:rPr sz="1400" b="0" i="0">
                <a:solidFill>
                  <a:srgbClr val="2B3440"/>
                </a:solidFill>
                <a:latin typeface="Calibri"/>
              </a:rPr>
              <a:t>RandomForest (100)</a:t>
            </a:r>
          </a:p>
        </p:txBody>
      </p:sp>
      <p:sp>
        <p:nvSpPr>
          <p:cNvPr id="17" name="TextBox 16"/>
          <p:cNvSpPr txBox="1"/>
          <p:nvPr/>
        </p:nvSpPr>
        <p:spPr>
          <a:xfrm>
            <a:off x="3767005" y="3200400"/>
            <a:ext cx="1080148" cy="475488"/>
          </a:xfrm>
          <a:prstGeom prst="rect">
            <a:avLst/>
          </a:prstGeom>
          <a:noFill/>
        </p:spPr>
        <p:txBody>
          <a:bodyPr wrap="square" lIns="0" tIns="0" rIns="0" bIns="0" anchor="ctr">
            <a:spAutoFit/>
          </a:bodyPr>
          <a:lstStyle/>
          <a:p>
            <a:pPr algn="r"/>
            <a:r>
              <a:rPr sz="1400" b="0" i="0">
                <a:solidFill>
                  <a:srgbClr val="2B3440"/>
                </a:solidFill>
                <a:latin typeface="Calibri"/>
              </a:rPr>
              <a:t>0.6050</a:t>
            </a:r>
          </a:p>
        </p:txBody>
      </p:sp>
      <p:sp>
        <p:nvSpPr>
          <p:cNvPr id="18" name="TextBox 17"/>
          <p:cNvSpPr txBox="1"/>
          <p:nvPr/>
        </p:nvSpPr>
        <p:spPr>
          <a:xfrm>
            <a:off x="5176337" y="3200400"/>
            <a:ext cx="863328" cy="475488"/>
          </a:xfrm>
          <a:prstGeom prst="rect">
            <a:avLst/>
          </a:prstGeom>
          <a:noFill/>
        </p:spPr>
        <p:txBody>
          <a:bodyPr wrap="square" lIns="0" tIns="0" rIns="0" bIns="0" anchor="ctr">
            <a:spAutoFit/>
          </a:bodyPr>
          <a:lstStyle/>
          <a:p>
            <a:pPr algn="r"/>
            <a:r>
              <a:rPr sz="1400" b="0" i="0">
                <a:solidFill>
                  <a:srgbClr val="2B3440"/>
                </a:solidFill>
                <a:latin typeface="Calibri"/>
              </a:rPr>
              <a:t>0.0700</a:t>
            </a:r>
          </a:p>
        </p:txBody>
      </p:sp>
      <p:sp>
        <p:nvSpPr>
          <p:cNvPr id="19" name="TextBox 18"/>
          <p:cNvSpPr txBox="1"/>
          <p:nvPr/>
        </p:nvSpPr>
        <p:spPr>
          <a:xfrm>
            <a:off x="6368849" y="3200400"/>
            <a:ext cx="5091325" cy="475488"/>
          </a:xfrm>
          <a:prstGeom prst="rect">
            <a:avLst/>
          </a:prstGeom>
          <a:noFill/>
        </p:spPr>
        <p:txBody>
          <a:bodyPr wrap="square" lIns="0" tIns="0" rIns="0" bIns="0" anchor="ctr">
            <a:spAutoFit/>
          </a:bodyPr>
          <a:lstStyle/>
          <a:p>
            <a:pPr algn="r"/>
            <a:r>
              <a:rPr sz="1400" b="0" i="0">
                <a:solidFill>
                  <a:srgbClr val="2B3440"/>
                </a:solidFill>
                <a:latin typeface="Calibri"/>
              </a:rPr>
              <a:t>-0.0018   p = 0.927   within noise</a:t>
            </a:r>
          </a:p>
        </p:txBody>
      </p:sp>
      <p:sp>
        <p:nvSpPr>
          <p:cNvPr id="20" name="Rectangle 19"/>
          <p:cNvSpPr/>
          <p:nvPr/>
        </p:nvSpPr>
        <p:spPr>
          <a:xfrm>
            <a:off x="566928" y="3730752"/>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3785615"/>
            <a:ext cx="2706301" cy="475488"/>
          </a:xfrm>
          <a:prstGeom prst="rect">
            <a:avLst/>
          </a:prstGeom>
          <a:noFill/>
        </p:spPr>
        <p:txBody>
          <a:bodyPr wrap="square" lIns="0" tIns="0" rIns="0" bIns="0" anchor="ctr">
            <a:spAutoFit/>
          </a:bodyPr>
          <a:lstStyle/>
          <a:p>
            <a:pPr algn="l"/>
            <a:r>
              <a:rPr sz="1400" b="0" i="0">
                <a:solidFill>
                  <a:srgbClr val="2B3440"/>
                </a:solidFill>
                <a:latin typeface="Calibri"/>
              </a:rPr>
              <a:t>HistGB (Session 6)</a:t>
            </a:r>
          </a:p>
        </p:txBody>
      </p:sp>
      <p:sp>
        <p:nvSpPr>
          <p:cNvPr id="22" name="TextBox 21"/>
          <p:cNvSpPr txBox="1"/>
          <p:nvPr/>
        </p:nvSpPr>
        <p:spPr>
          <a:xfrm>
            <a:off x="3767005" y="3785615"/>
            <a:ext cx="1080148" cy="475488"/>
          </a:xfrm>
          <a:prstGeom prst="rect">
            <a:avLst/>
          </a:prstGeom>
          <a:noFill/>
        </p:spPr>
        <p:txBody>
          <a:bodyPr wrap="square" lIns="0" tIns="0" rIns="0" bIns="0" anchor="ctr">
            <a:spAutoFit/>
          </a:bodyPr>
          <a:lstStyle/>
          <a:p>
            <a:pPr algn="r"/>
            <a:r>
              <a:rPr sz="1400" b="0" i="0">
                <a:solidFill>
                  <a:srgbClr val="2B3440"/>
                </a:solidFill>
                <a:latin typeface="Calibri"/>
              </a:rPr>
              <a:t>0.5904</a:t>
            </a:r>
          </a:p>
        </p:txBody>
      </p:sp>
      <p:sp>
        <p:nvSpPr>
          <p:cNvPr id="23" name="TextBox 22"/>
          <p:cNvSpPr txBox="1"/>
          <p:nvPr/>
        </p:nvSpPr>
        <p:spPr>
          <a:xfrm>
            <a:off x="5176337" y="3785615"/>
            <a:ext cx="863328" cy="475488"/>
          </a:xfrm>
          <a:prstGeom prst="rect">
            <a:avLst/>
          </a:prstGeom>
          <a:noFill/>
        </p:spPr>
        <p:txBody>
          <a:bodyPr wrap="square" lIns="0" tIns="0" rIns="0" bIns="0" anchor="ctr">
            <a:spAutoFit/>
          </a:bodyPr>
          <a:lstStyle/>
          <a:p>
            <a:pPr algn="r"/>
            <a:r>
              <a:rPr sz="1400" b="0" i="0">
                <a:solidFill>
                  <a:srgbClr val="2B3440"/>
                </a:solidFill>
                <a:latin typeface="Calibri"/>
              </a:rPr>
              <a:t>0.0675</a:t>
            </a:r>
          </a:p>
        </p:txBody>
      </p:sp>
      <p:sp>
        <p:nvSpPr>
          <p:cNvPr id="24" name="TextBox 23"/>
          <p:cNvSpPr txBox="1"/>
          <p:nvPr/>
        </p:nvSpPr>
        <p:spPr>
          <a:xfrm>
            <a:off x="6368849" y="3785615"/>
            <a:ext cx="5091325" cy="475488"/>
          </a:xfrm>
          <a:prstGeom prst="rect">
            <a:avLst/>
          </a:prstGeom>
          <a:noFill/>
        </p:spPr>
        <p:txBody>
          <a:bodyPr wrap="square" lIns="0" tIns="0" rIns="0" bIns="0" anchor="ctr">
            <a:spAutoFit/>
          </a:bodyPr>
          <a:lstStyle/>
          <a:p>
            <a:pPr algn="r"/>
            <a:r>
              <a:rPr sz="1400" b="0" i="0">
                <a:solidFill>
                  <a:srgbClr val="2B3440"/>
                </a:solidFill>
                <a:latin typeface="Calibri"/>
              </a:rPr>
              <a:t>-0.0163   p = 0.469   within noise</a:t>
            </a:r>
          </a:p>
        </p:txBody>
      </p:sp>
      <p:sp>
        <p:nvSpPr>
          <p:cNvPr id="25" name="Rounded Rectangle 24"/>
          <p:cNvSpPr/>
          <p:nvPr/>
        </p:nvSpPr>
        <p:spPr>
          <a:xfrm>
            <a:off x="566928" y="5779008"/>
            <a:ext cx="11057839" cy="603504"/>
          </a:xfrm>
          <a:prstGeom prst="roundRect">
            <a:avLst>
              <a:gd name="adj" fmla="val 21212"/>
            </a:avLst>
          </a:prstGeom>
          <a:solidFill>
            <a:srgbClr val="F8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On licensing the ensembles beat logistic regression by 0.0317, p = 0.0011. On price they beat nothing at all.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Same dataset. Same session. Opposite conclusions.</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“Ensembles are better” is not a fact about ensembles. It is a fact about a problem, and it has to be measured for each one. The price target is close to linear in these features; the licensing target is not.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Model Card v1 - what M6 has to contain</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Graded, 10%. A card that lists only what you kept is a sales document.</a:t>
            </a:r>
          </a:p>
        </p:txBody>
      </p:sp>
      <p:sp>
        <p:nvSpPr>
          <p:cNvPr id="5" name="Rounded Rectangle 4"/>
          <p:cNvSpPr/>
          <p:nvPr/>
        </p:nvSpPr>
        <p:spPr>
          <a:xfrm>
            <a:off x="566928" y="2103120"/>
            <a:ext cx="11057839" cy="733348"/>
          </a:xfrm>
          <a:prstGeom prst="roundRect">
            <a:avLst>
              <a:gd name="adj" fmla="val 17456"/>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550468"/>
          </a:xfrm>
          <a:prstGeom prst="rect">
            <a:avLst/>
          </a:prstGeom>
          <a:noFill/>
        </p:spPr>
        <p:txBody>
          <a:bodyPr wrap="square" lIns="0" tIns="0" rIns="0" bIns="0" anchor="ctr">
            <a:spAutoFit/>
          </a:bodyPr>
          <a:lstStyle/>
          <a:p>
            <a:pPr algn="l">
              <a:lnSpc>
                <a:spcPct val="120000"/>
              </a:lnSpc>
            </a:pPr>
            <a:r>
              <a:rPr sz="1600" b="1" i="0">
                <a:solidFill>
                  <a:srgbClr val="A8443A"/>
                </a:solidFill>
                <a:latin typeface="Calibri"/>
              </a:rPr>
              <a:t>1  </a:t>
            </a:r>
            <a:r>
              <a:rPr sz="1600" b="0" i="0">
                <a:solidFill>
                  <a:srgbClr val="2B3440"/>
                </a:solidFill>
                <a:latin typeface="Calibri"/>
              </a:rPr>
              <a:t>Intended use, and the client it serves.</a:t>
            </a:r>
          </a:p>
        </p:txBody>
      </p:sp>
      <p:sp>
        <p:nvSpPr>
          <p:cNvPr id="7" name="Rounded Rectangle 6"/>
          <p:cNvSpPr/>
          <p:nvPr/>
        </p:nvSpPr>
        <p:spPr>
          <a:xfrm>
            <a:off x="566928" y="2982772"/>
            <a:ext cx="11057839" cy="733348"/>
          </a:xfrm>
          <a:prstGeom prst="roundRect">
            <a:avLst>
              <a:gd name="adj" fmla="val 17456"/>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074212"/>
            <a:ext cx="10472623" cy="550468"/>
          </a:xfrm>
          <a:prstGeom prst="rect">
            <a:avLst/>
          </a:prstGeom>
          <a:noFill/>
        </p:spPr>
        <p:txBody>
          <a:bodyPr wrap="square" lIns="0" tIns="0" rIns="0" bIns="0" anchor="ctr">
            <a:spAutoFit/>
          </a:bodyPr>
          <a:lstStyle/>
          <a:p>
            <a:pPr algn="l">
              <a:lnSpc>
                <a:spcPct val="120000"/>
              </a:lnSpc>
            </a:pPr>
            <a:r>
              <a:rPr sz="1600" b="1" i="0">
                <a:solidFill>
                  <a:srgbClr val="A8443A"/>
                </a:solidFill>
                <a:latin typeface="Calibri"/>
              </a:rPr>
              <a:t>2  </a:t>
            </a:r>
            <a:r>
              <a:rPr sz="1600" b="0" i="0">
                <a:solidFill>
                  <a:srgbClr val="2B3440"/>
                </a:solidFill>
                <a:latin typeface="Calibri"/>
              </a:rPr>
              <a:t>Performance </a:t>
            </a:r>
            <a:r>
              <a:rPr sz="1600" b="1" i="0">
                <a:solidFill>
                  <a:srgbClr val="A8443A"/>
                </a:solidFill>
                <a:latin typeface="Calibri"/>
              </a:rPr>
              <a:t>with uncertainty</a:t>
            </a:r>
            <a:r>
              <a:rPr sz="1600" b="0" i="0">
                <a:solidFill>
                  <a:srgbClr val="2B3440"/>
                </a:solidFill>
                <a:latin typeface="Calibri"/>
              </a:rPr>
              <a:t>, and the validation protocol.</a:t>
            </a:r>
          </a:p>
        </p:txBody>
      </p:sp>
      <p:sp>
        <p:nvSpPr>
          <p:cNvPr id="9" name="Rounded Rectangle 8"/>
          <p:cNvSpPr/>
          <p:nvPr/>
        </p:nvSpPr>
        <p:spPr>
          <a:xfrm>
            <a:off x="566928" y="3862425"/>
            <a:ext cx="11057839" cy="733348"/>
          </a:xfrm>
          <a:prstGeom prst="roundRect">
            <a:avLst>
              <a:gd name="adj" fmla="val 17456"/>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3953865"/>
            <a:ext cx="10472623" cy="550468"/>
          </a:xfrm>
          <a:prstGeom prst="rect">
            <a:avLst/>
          </a:prstGeom>
          <a:noFill/>
        </p:spPr>
        <p:txBody>
          <a:bodyPr wrap="square" lIns="0" tIns="0" rIns="0" bIns="0" anchor="ctr">
            <a:spAutoFit/>
          </a:bodyPr>
          <a:lstStyle/>
          <a:p>
            <a:pPr algn="l">
              <a:lnSpc>
                <a:spcPct val="120000"/>
              </a:lnSpc>
            </a:pPr>
            <a:r>
              <a:rPr sz="1600" b="1" i="0">
                <a:solidFill>
                  <a:srgbClr val="A8443A"/>
                </a:solidFill>
                <a:latin typeface="Calibri"/>
              </a:rPr>
              <a:t>3  </a:t>
            </a:r>
            <a:r>
              <a:rPr sz="1600" b="0" i="0">
                <a:solidFill>
                  <a:srgbClr val="2B3440"/>
                </a:solidFill>
                <a:latin typeface="Calibri"/>
              </a:rPr>
              <a:t>Top features, with the caveat about what importance does not prove.</a:t>
            </a:r>
          </a:p>
        </p:txBody>
      </p:sp>
      <p:sp>
        <p:nvSpPr>
          <p:cNvPr id="11" name="Rounded Rectangle 10"/>
          <p:cNvSpPr/>
          <p:nvPr/>
        </p:nvSpPr>
        <p:spPr>
          <a:xfrm>
            <a:off x="566928" y="4742078"/>
            <a:ext cx="11057839" cy="733348"/>
          </a:xfrm>
          <a:prstGeom prst="roundRect">
            <a:avLst>
              <a:gd name="adj" fmla="val 17456"/>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833518"/>
            <a:ext cx="10472623" cy="550468"/>
          </a:xfrm>
          <a:prstGeom prst="rect">
            <a:avLst/>
          </a:prstGeom>
          <a:noFill/>
        </p:spPr>
        <p:txBody>
          <a:bodyPr wrap="square" lIns="0" tIns="0" rIns="0" bIns="0" anchor="ctr">
            <a:spAutoFit/>
          </a:bodyPr>
          <a:lstStyle/>
          <a:p>
            <a:pPr algn="l">
              <a:lnSpc>
                <a:spcPct val="120000"/>
              </a:lnSpc>
            </a:pPr>
            <a:r>
              <a:rPr sz="1600" b="1" i="0">
                <a:solidFill>
                  <a:srgbClr val="A8443A"/>
                </a:solidFill>
                <a:latin typeface="Calibri"/>
              </a:rPr>
              <a:t>4  </a:t>
            </a:r>
            <a:r>
              <a:rPr sz="1600" b="0" i="0">
                <a:solidFill>
                  <a:srgbClr val="2B3440"/>
                </a:solidFill>
                <a:latin typeface="Calibri"/>
              </a:rPr>
              <a:t>Subgroup performance, including the district table.</a:t>
            </a:r>
          </a:p>
        </p:txBody>
      </p:sp>
      <p:sp>
        <p:nvSpPr>
          <p:cNvPr id="13" name="Rounded Rectangle 12"/>
          <p:cNvSpPr/>
          <p:nvPr/>
        </p:nvSpPr>
        <p:spPr>
          <a:xfrm>
            <a:off x="566928" y="5621731"/>
            <a:ext cx="11057839" cy="733348"/>
          </a:xfrm>
          <a:prstGeom prst="roundRect">
            <a:avLst>
              <a:gd name="adj" fmla="val 17456"/>
            </a:avLst>
          </a:prstGeom>
          <a:solidFill>
            <a:srgbClr val="FA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5713171"/>
            <a:ext cx="10472623" cy="550468"/>
          </a:xfrm>
          <a:prstGeom prst="rect">
            <a:avLst/>
          </a:prstGeom>
          <a:noFill/>
        </p:spPr>
        <p:txBody>
          <a:bodyPr wrap="square" lIns="0" tIns="0" rIns="0" bIns="0" anchor="ctr">
            <a:spAutoFit/>
          </a:bodyPr>
          <a:lstStyle/>
          <a:p>
            <a:pPr algn="l">
              <a:lnSpc>
                <a:spcPct val="120000"/>
              </a:lnSpc>
            </a:pPr>
            <a:r>
              <a:rPr sz="1600" b="1" i="0">
                <a:solidFill>
                  <a:srgbClr val="A8443A"/>
                </a:solidFill>
                <a:latin typeface="Calibri"/>
              </a:rPr>
              <a:t>5  </a:t>
            </a:r>
            <a:r>
              <a:rPr sz="1600" b="0" i="0">
                <a:solidFill>
                  <a:srgbClr val="2B3440"/>
                </a:solidFill>
                <a:latin typeface="Calibri"/>
              </a:rPr>
              <a:t>Known failure modes, and the conditions under which it should not be used.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1993392"/>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2600" b="1" dirty="0">
                <a:solidFill>
                  <a:srgbClr val="12233A"/>
                </a:solidFill>
                <a:latin typeface="Calibri"/>
              </a:rPr>
              <a:t>9</a:t>
            </a:r>
            <a:endParaRPr sz="2600" b="1" i="0" dirty="0">
              <a:solidFill>
                <a:srgbClr val="12233A"/>
              </a:solidFill>
              <a:latin typeface="Calibri"/>
            </a:endParaRP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Common mistakes, and what to take away</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The four beliefs this session exists to break.</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A8443A"/>
                </a:solidFill>
                <a:latin typeface="Calibri"/>
              </a:rPr>
              <a:t>SESSION 7  ·  ENSEMBLES, INTERPRETATION &amp; ERROR ANALYSIS</a:t>
            </a:r>
          </a:p>
        </p:txBody>
      </p:sp>
      <p:sp>
        <p:nvSpPr>
          <p:cNvPr id="3" name="TextBox 2"/>
          <p:cNvSpPr txBox="1"/>
          <p:nvPr/>
        </p:nvSpPr>
        <p:spPr>
          <a:xfrm>
            <a:off x="566928" y="694944"/>
            <a:ext cx="11057839" cy="507831"/>
          </a:xfrm>
          <a:prstGeom prst="rect">
            <a:avLst/>
          </a:prstGeom>
          <a:noFill/>
        </p:spPr>
        <p:txBody>
          <a:bodyPr wrap="square" lIns="0" tIns="0" rIns="0" bIns="0" anchor="t">
            <a:spAutoFit/>
          </a:bodyPr>
          <a:lstStyle/>
          <a:p>
            <a:pPr algn="l"/>
            <a:r>
              <a:rPr sz="3300" b="1" i="0" dirty="0">
                <a:solidFill>
                  <a:srgbClr val="12233A"/>
                </a:solidFill>
                <a:latin typeface="Cambria"/>
              </a:rPr>
              <a:t>Four things</a:t>
            </a:r>
          </a:p>
        </p:txBody>
      </p:sp>
      <p:sp>
        <p:nvSpPr>
          <p:cNvPr id="4" name="Rectangle 3"/>
          <p:cNvSpPr/>
          <p:nvPr/>
        </p:nvSpPr>
        <p:spPr>
          <a:xfrm>
            <a:off x="566928" y="1847088"/>
            <a:ext cx="11057839" cy="420624"/>
          </a:xfrm>
          <a:prstGeom prst="rect">
            <a:avLst/>
          </a:prstGeom>
          <a:solidFill>
            <a:srgbClr val="F3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4278248" cy="310896"/>
          </a:xfrm>
          <a:prstGeom prst="rect">
            <a:avLst/>
          </a:prstGeom>
          <a:noFill/>
        </p:spPr>
        <p:txBody>
          <a:bodyPr wrap="square" lIns="0" tIns="0" rIns="0" bIns="0" anchor="ctr">
            <a:spAutoFit/>
          </a:bodyPr>
          <a:lstStyle/>
          <a:p>
            <a:pPr algn="l"/>
            <a:r>
              <a:rPr sz="1300" b="1" i="0">
                <a:solidFill>
                  <a:srgbClr val="A8443A"/>
                </a:solidFill>
                <a:latin typeface="Calibri"/>
              </a:rPr>
              <a:t>Belief</a:t>
            </a:r>
          </a:p>
        </p:txBody>
      </p:sp>
      <p:sp>
        <p:nvSpPr>
          <p:cNvPr id="6" name="TextBox 5"/>
          <p:cNvSpPr txBox="1"/>
          <p:nvPr/>
        </p:nvSpPr>
        <p:spPr>
          <a:xfrm>
            <a:off x="5338952" y="1901952"/>
            <a:ext cx="6121222" cy="310896"/>
          </a:xfrm>
          <a:prstGeom prst="rect">
            <a:avLst/>
          </a:prstGeom>
          <a:noFill/>
        </p:spPr>
        <p:txBody>
          <a:bodyPr wrap="square" lIns="0" tIns="0" rIns="0" bIns="0" anchor="ctr">
            <a:spAutoFit/>
          </a:bodyPr>
          <a:lstStyle/>
          <a:p>
            <a:pPr algn="l"/>
            <a:r>
              <a:rPr sz="1300" b="1" i="0">
                <a:solidFill>
                  <a:srgbClr val="A8443A"/>
                </a:solidFill>
                <a:latin typeface="Calibri"/>
              </a:rPr>
              <a:t>What today measured</a:t>
            </a:r>
          </a:p>
        </p:txBody>
      </p:sp>
      <p:sp>
        <p:nvSpPr>
          <p:cNvPr id="7" name="Rectangle 6"/>
          <p:cNvSpPr/>
          <p:nvPr/>
        </p:nvSpPr>
        <p:spPr>
          <a:xfrm>
            <a:off x="566928" y="2267712"/>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322576"/>
            <a:ext cx="4278248" cy="475488"/>
          </a:xfrm>
          <a:prstGeom prst="rect">
            <a:avLst/>
          </a:prstGeom>
          <a:noFill/>
        </p:spPr>
        <p:txBody>
          <a:bodyPr wrap="square" lIns="0" tIns="0" rIns="0" bIns="0" anchor="ctr">
            <a:spAutoFit/>
          </a:bodyPr>
          <a:lstStyle/>
          <a:p>
            <a:pPr algn="l"/>
            <a:r>
              <a:rPr sz="1400" b="0" i="0">
                <a:solidFill>
                  <a:srgbClr val="2B3440"/>
                </a:solidFill>
                <a:latin typeface="Calibri"/>
              </a:rPr>
              <a:t>“RandomForest beat HistGB, it is 2nd by mean.”</a:t>
            </a:r>
          </a:p>
        </p:txBody>
      </p:sp>
      <p:sp>
        <p:nvSpPr>
          <p:cNvPr id="9" name="TextBox 8"/>
          <p:cNvSpPr txBox="1"/>
          <p:nvPr/>
        </p:nvSpPr>
        <p:spPr>
          <a:xfrm>
            <a:off x="5338952" y="2322576"/>
            <a:ext cx="6121222" cy="475488"/>
          </a:xfrm>
          <a:prstGeom prst="rect">
            <a:avLst/>
          </a:prstGeom>
          <a:noFill/>
        </p:spPr>
        <p:txBody>
          <a:bodyPr wrap="square" lIns="0" tIns="0" rIns="0" bIns="0" anchor="ctr">
            <a:spAutoFit/>
          </a:bodyPr>
          <a:lstStyle/>
          <a:p>
            <a:pPr algn="r"/>
            <a:r>
              <a:rPr sz="1400" b="0" i="0">
                <a:solidFill>
                  <a:srgbClr val="2B3440"/>
                </a:solidFill>
                <a:latin typeface="Calibri"/>
              </a:rPr>
              <a:t>+0.0001, p = 0.9746, signs ++--+. They are indistinguishable.</a:t>
            </a:r>
          </a:p>
        </p:txBody>
      </p:sp>
      <p:sp>
        <p:nvSpPr>
          <p:cNvPr id="10" name="Rectangle 9"/>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907792"/>
            <a:ext cx="4278248" cy="475488"/>
          </a:xfrm>
          <a:prstGeom prst="rect">
            <a:avLst/>
          </a:prstGeom>
          <a:noFill/>
        </p:spPr>
        <p:txBody>
          <a:bodyPr wrap="square" lIns="0" tIns="0" rIns="0" bIns="0" anchor="ctr">
            <a:spAutoFit/>
          </a:bodyPr>
          <a:lstStyle/>
          <a:p>
            <a:pPr algn="l"/>
            <a:r>
              <a:rPr sz="1400" b="0" i="0">
                <a:solidFill>
                  <a:srgbClr val="2B3440"/>
                </a:solidFill>
                <a:latin typeface="Calibri"/>
              </a:rPr>
              <a:t>“More trees is always safer.”</a:t>
            </a:r>
          </a:p>
        </p:txBody>
      </p:sp>
      <p:sp>
        <p:nvSpPr>
          <p:cNvPr id="12" name="TextBox 11"/>
          <p:cNvSpPr txBox="1"/>
          <p:nvPr/>
        </p:nvSpPr>
        <p:spPr>
          <a:xfrm>
            <a:off x="5338952" y="2907792"/>
            <a:ext cx="6121222" cy="475488"/>
          </a:xfrm>
          <a:prstGeom prst="rect">
            <a:avLst/>
          </a:prstGeom>
          <a:noFill/>
        </p:spPr>
        <p:txBody>
          <a:bodyPr wrap="square" lIns="0" tIns="0" rIns="0" bIns="0" anchor="ctr">
            <a:spAutoFit/>
          </a:bodyPr>
          <a:lstStyle/>
          <a:p>
            <a:pPr algn="l"/>
            <a:r>
              <a:rPr sz="1400" b="0" i="0">
                <a:solidFill>
                  <a:srgbClr val="2B3440"/>
                </a:solidFill>
                <a:latin typeface="Calibri"/>
              </a:rPr>
              <a:t>True for bagging. Boosting at lr = 0.3 fell from 0.9204 to 0.9141.</a:t>
            </a:r>
          </a:p>
        </p:txBody>
      </p:sp>
      <p:sp>
        <p:nvSpPr>
          <p:cNvPr id="13" name="Rectangle 12"/>
          <p:cNvSpPr/>
          <p:nvPr/>
        </p:nvSpPr>
        <p:spPr>
          <a:xfrm>
            <a:off x="566928" y="3438144"/>
            <a:ext cx="11057839" cy="585216"/>
          </a:xfrm>
          <a:prstGeom prst="rect">
            <a:avLst/>
          </a:prstGeom>
          <a:solidFill>
            <a:srgbClr val="FC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493008"/>
            <a:ext cx="4278248" cy="475488"/>
          </a:xfrm>
          <a:prstGeom prst="rect">
            <a:avLst/>
          </a:prstGeom>
          <a:noFill/>
        </p:spPr>
        <p:txBody>
          <a:bodyPr wrap="square" lIns="0" tIns="0" rIns="0" bIns="0" anchor="ctr">
            <a:spAutoFit/>
          </a:bodyPr>
          <a:lstStyle/>
          <a:p>
            <a:pPr algn="l"/>
            <a:r>
              <a:rPr sz="1400" b="0" i="0">
                <a:solidFill>
                  <a:srgbClr val="2B3440"/>
                </a:solidFill>
                <a:latin typeface="Calibri"/>
              </a:rPr>
              <a:t>“Feature importance tells you what causes the outcome.”</a:t>
            </a:r>
          </a:p>
        </p:txBody>
      </p:sp>
      <p:sp>
        <p:nvSpPr>
          <p:cNvPr id="15" name="TextBox 14"/>
          <p:cNvSpPr txBox="1"/>
          <p:nvPr/>
        </p:nvSpPr>
        <p:spPr>
          <a:xfrm>
            <a:off x="5338952" y="3493008"/>
            <a:ext cx="6121222" cy="475488"/>
          </a:xfrm>
          <a:prstGeom prst="rect">
            <a:avLst/>
          </a:prstGeom>
          <a:noFill/>
        </p:spPr>
        <p:txBody>
          <a:bodyPr wrap="square" lIns="0" tIns="0" rIns="0" bIns="0" anchor="ctr">
            <a:spAutoFit/>
          </a:bodyPr>
          <a:lstStyle/>
          <a:p>
            <a:pPr algn="l"/>
            <a:r>
              <a:rPr sz="1400" b="0" i="0">
                <a:solidFill>
                  <a:srgbClr val="2B3440"/>
                </a:solidFill>
                <a:latin typeface="Calibri"/>
              </a:rPr>
              <a:t>It measures this model's dependence on a column. Nothing more.</a:t>
            </a:r>
          </a:p>
        </p:txBody>
      </p:sp>
      <p:sp>
        <p:nvSpPr>
          <p:cNvPr id="16" name="Rectangle 15"/>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4078224"/>
            <a:ext cx="4278248" cy="475488"/>
          </a:xfrm>
          <a:prstGeom prst="rect">
            <a:avLst/>
          </a:prstGeom>
          <a:noFill/>
        </p:spPr>
        <p:txBody>
          <a:bodyPr wrap="square" lIns="0" tIns="0" rIns="0" bIns="0" anchor="ctr">
            <a:spAutoFit/>
          </a:bodyPr>
          <a:lstStyle/>
          <a:p>
            <a:pPr algn="l"/>
            <a:r>
              <a:rPr sz="1400" b="0" i="0">
                <a:solidFill>
                  <a:srgbClr val="2B3440"/>
                </a:solidFill>
                <a:latin typeface="Calibri"/>
              </a:rPr>
              <a:t>“The model is 92% accurate, so it is fine.”</a:t>
            </a:r>
          </a:p>
        </p:txBody>
      </p:sp>
      <p:sp>
        <p:nvSpPr>
          <p:cNvPr id="18" name="TextBox 17"/>
          <p:cNvSpPr txBox="1"/>
          <p:nvPr/>
        </p:nvSpPr>
        <p:spPr>
          <a:xfrm>
            <a:off x="5338952" y="4078224"/>
            <a:ext cx="6121222" cy="475488"/>
          </a:xfrm>
          <a:prstGeom prst="rect">
            <a:avLst/>
          </a:prstGeom>
          <a:noFill/>
        </p:spPr>
        <p:txBody>
          <a:bodyPr wrap="square" lIns="0" tIns="0" rIns="0" bIns="0" anchor="ctr">
            <a:spAutoFit/>
          </a:bodyPr>
          <a:lstStyle/>
          <a:p>
            <a:pPr algn="l"/>
            <a:r>
              <a:rPr sz="1400" b="0" i="0">
                <a:solidFill>
                  <a:srgbClr val="2B3440"/>
                </a:solidFill>
                <a:latin typeface="Calibri"/>
              </a:rPr>
              <a:t>District AUC ranges 0.861 to 0.961, and flags concentrate 3.00x in one district.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D8ABA6"/>
                </a:solidFill>
                <a:latin typeface="Calibri"/>
              </a:rPr>
              <a:t>SESSION 7  ·  ENSEMBLES, INTERPRETATION &amp; ERROR ANALYSIS</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If one thing survives today:</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5742432"/>
            <a:ext cx="11057839" cy="640080"/>
          </a:xfrm>
          <a:prstGeom prst="rect">
            <a:avLst/>
          </a:prstGeom>
          <a:noFill/>
        </p:spPr>
        <p:txBody>
          <a:bodyPr wrap="square" lIns="0" tIns="0" rIns="0" bIns="0" anchor="t">
            <a:spAutoFit/>
          </a:bodyPr>
          <a:lstStyle/>
          <a:p>
            <a:pPr algn="l"/>
            <a:r>
              <a:rPr sz="1400" b="1" i="0">
                <a:solidFill>
                  <a:srgbClr val="E9A93D"/>
                </a:solidFill>
                <a:latin typeface="Calibri"/>
              </a:rPr>
              <a:t>M6  ·  ensemble champion and Model Card v1  ·  graded,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f1f443f-436d-4cdc-a6a0-33881fea1bfe}" enabled="0" method="" siteId="{7f1f443f-436d-4cdc-a6a0-33881fea1bfe}" removed="1"/>
</clbl:labelList>
</file>

<file path=docProps/app.xml><?xml version="1.0" encoding="utf-8"?>
<Properties xmlns="http://schemas.openxmlformats.org/officeDocument/2006/extended-properties" xmlns:vt="http://schemas.openxmlformats.org/officeDocument/2006/docPropsVTypes">
  <TotalTime>111</TotalTime>
  <Words>3230</Words>
  <Application>Microsoft Office PowerPoint</Application>
  <PresentationFormat>Widescreen</PresentationFormat>
  <Paragraphs>435</Paragraphs>
  <Slides>43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Mamadou BALDE</cp:lastModifiedBy>
  <cp:revision>1</cp:revision>
  <dcterms:created xsi:type="dcterms:W3CDTF">2013-01-27T09:14:16Z</dcterms:created>
  <dcterms:modified xsi:type="dcterms:W3CDTF">2026-09-25T12:55:25Z</dcterms:modified>
  <cp:category/>
</cp:coreProperties>
</file>