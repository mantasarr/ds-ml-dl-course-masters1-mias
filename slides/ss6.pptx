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sldIdLst>
    <p:sldId id="256" r:id="rId2"/>
    <p:sldId id="258" r:id="rId3"/>
    <p:sldId id="260" r:id="rId4"/>
    <p:sldId id="264" r:id="rId5"/>
    <p:sldId id="265" r:id="rId6"/>
    <p:sldId id="266" r:id="rId7"/>
    <p:sldId id="267" r:id="rId8"/>
    <p:sldId id="268" r:id="rId9"/>
    <p:sldId id="269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97" r:id="rId37"/>
    <p:sldId id="298" r:id="rId38"/>
    <p:sldId id="300" r:id="rId39"/>
    <p:sldId id="301" r:id="rId40"/>
    <p:sldId id="302" r:id="rId41"/>
    <p:sldId id="303" r:id="rId42"/>
    <p:sldId id="304" r:id="rId43"/>
    <p:sldId id="305" r:id="rId44"/>
    <p:sldId id="306" r:id="rId45"/>
    <p:sldId id="307" r:id="rId46"/>
    <p:sldId id="309" r:id="rId4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16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madou BALDE" userId="1a0c099b-15fb-45c5-ad03-17ba900e4250" providerId="ADAL" clId="{962A2AA3-E420-4656-A32E-CB6DEAF28EA4}"/>
    <pc:docChg chg="modSld">
      <pc:chgData name="Mamadou BALDE" userId="1a0c099b-15fb-45c5-ad03-17ba900e4250" providerId="ADAL" clId="{962A2AA3-E420-4656-A32E-CB6DEAF28EA4}" dt="2026-09-24T21:45:48.755" v="1" actId="20577"/>
      <pc:docMkLst>
        <pc:docMk/>
      </pc:docMkLst>
      <pc:sldChg chg="modSp mod">
        <pc:chgData name="Mamadou BALDE" userId="1a0c099b-15fb-45c5-ad03-17ba900e4250" providerId="ADAL" clId="{962A2AA3-E420-4656-A32E-CB6DEAF28EA4}" dt="2026-09-24T21:45:48.755" v="1" actId="20577"/>
        <pc:sldMkLst>
          <pc:docMk/>
          <pc:sldMk cId="0" sldId="306"/>
        </pc:sldMkLst>
        <pc:spChg chg="mod">
          <ac:chgData name="Mamadou BALDE" userId="1a0c099b-15fb-45c5-ad03-17ba900e4250" providerId="ADAL" clId="{962A2AA3-E420-4656-A32E-CB6DEAF28EA4}" dt="2026-09-24T21:45:48.755" v="1" actId="20577"/>
          <ac:spMkLst>
            <pc:docMk/>
            <pc:sldMk cId="0" sldId="306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1931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 not open the notebook yet. Start with the board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M5 is formative but predicts final quality better than any other milestone. Give it real written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D8ABA6"/>
                </a:solidFill>
                <a:latin typeface="Calibri"/>
              </a:rPr>
              <a:t>BLOCK 2   ·  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938528"/>
            <a:ext cx="11057839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mbria"/>
              </a:rPr>
              <a:t>Validation, Model Selection &amp; Tuning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4956048"/>
            <a:ext cx="2011680" cy="0"/>
          </a:xfrm>
          <a:prstGeom prst="line">
            <a:avLst/>
          </a:prstGeom>
          <a:ln w="25400">
            <a:solidFill>
              <a:srgbClr val="E9A9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5175504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E9A93D"/>
                </a:solidFill>
                <a:latin typeface="Calibri"/>
              </a:rPr>
              <a:t>Session 6   ·   4 hours contact   ·   the conceptual keystone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A8443A"/>
                </a:solidFill>
                <a:latin typeface="Calibri"/>
              </a:rPr>
              <a:t>SESSION 6  ·  VALIDATION, MODEL SELECTION &amp;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dirty="0">
                <a:solidFill>
                  <a:srgbClr val="12233A"/>
                </a:solidFill>
                <a:latin typeface="Cambria"/>
              </a:rPr>
              <a:t>What you will be able to do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6E7A8A"/>
                </a:solidFill>
                <a:latin typeface="Calibri"/>
              </a:rPr>
              <a:t>Five objectives. The fifth is the one you will remember.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103120"/>
            <a:ext cx="11057839" cy="733348"/>
          </a:xfrm>
          <a:prstGeom prst="roundRect">
            <a:avLst>
              <a:gd name="adj" fmla="val 17456"/>
            </a:avLst>
          </a:prstGeom>
          <a:solidFill>
            <a:srgbClr val="FA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9536" y="2331935"/>
            <a:ext cx="10472623" cy="27571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dirty="0">
                <a:solidFill>
                  <a:srgbClr val="A8443A"/>
                </a:solidFill>
                <a:latin typeface="Calibri"/>
              </a:rPr>
              <a:t>1  </a:t>
            </a:r>
            <a:r>
              <a:rPr sz="1600" b="0" i="0" dirty="0">
                <a:solidFill>
                  <a:srgbClr val="2B3440"/>
                </a:solidFill>
                <a:latin typeface="Calibri"/>
              </a:rPr>
              <a:t>Design a cross-validation strategy that fits the structure of the data, and justify it from measured evidence.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82772"/>
            <a:ext cx="11057839" cy="733348"/>
          </a:xfrm>
          <a:prstGeom prst="roundRect">
            <a:avLst>
              <a:gd name="adj" fmla="val 17456"/>
            </a:avLst>
          </a:prstGeom>
          <a:solidFill>
            <a:srgbClr val="FA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3211587"/>
            <a:ext cx="10472623" cy="27571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dirty="0">
                <a:solidFill>
                  <a:srgbClr val="A8443A"/>
                </a:solidFill>
                <a:latin typeface="Calibri"/>
              </a:rPr>
              <a:t>2  </a:t>
            </a:r>
            <a:r>
              <a:rPr sz="1600" b="0" i="0" dirty="0">
                <a:solidFill>
                  <a:srgbClr val="2B3440"/>
                </a:solidFill>
                <a:latin typeface="Calibri"/>
              </a:rPr>
              <a:t>Construct a tuning experiment free of both leakage and selection bias.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862425"/>
            <a:ext cx="11057839" cy="733348"/>
          </a:xfrm>
          <a:prstGeom prst="roundRect">
            <a:avLst>
              <a:gd name="adj" fmla="val 17456"/>
            </a:avLst>
          </a:prstGeom>
          <a:solidFill>
            <a:srgbClr val="FA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4091240"/>
            <a:ext cx="10472623" cy="27571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dirty="0">
                <a:solidFill>
                  <a:srgbClr val="A8443A"/>
                </a:solidFill>
                <a:latin typeface="Calibri"/>
              </a:rPr>
              <a:t>3  </a:t>
            </a:r>
            <a:r>
              <a:rPr sz="1600" b="0" i="0" dirty="0">
                <a:solidFill>
                  <a:srgbClr val="2B3440"/>
                </a:solidFill>
                <a:latin typeface="Calibri"/>
              </a:rPr>
              <a:t>Attach an uncertainty interval to a metric, and decide whether two models genuinely differ.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742078"/>
            <a:ext cx="11057839" cy="733348"/>
          </a:xfrm>
          <a:prstGeom prst="roundRect">
            <a:avLst>
              <a:gd name="adj" fmla="val 17456"/>
            </a:avLst>
          </a:prstGeom>
          <a:solidFill>
            <a:srgbClr val="FA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" y="4970893"/>
            <a:ext cx="10472623" cy="27571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dirty="0">
                <a:solidFill>
                  <a:srgbClr val="A8443A"/>
                </a:solidFill>
                <a:latin typeface="Calibri"/>
              </a:rPr>
              <a:t>4  </a:t>
            </a:r>
            <a:r>
              <a:rPr sz="1600" b="0" i="0" dirty="0">
                <a:solidFill>
                  <a:srgbClr val="2B3440"/>
                </a:solidFill>
                <a:latin typeface="Calibri"/>
              </a:rPr>
              <a:t>Explain what nested cross-validation is for.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621731"/>
            <a:ext cx="11057839" cy="733348"/>
          </a:xfrm>
          <a:prstGeom prst="roundRect">
            <a:avLst>
              <a:gd name="adj" fmla="val 17456"/>
            </a:avLst>
          </a:prstGeom>
          <a:solidFill>
            <a:srgbClr val="FA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536" y="5850546"/>
            <a:ext cx="10472623" cy="27571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dirty="0">
                <a:solidFill>
                  <a:srgbClr val="A8443A"/>
                </a:solidFill>
                <a:latin typeface="Calibri"/>
              </a:rPr>
              <a:t>5  </a:t>
            </a:r>
            <a:r>
              <a:rPr sz="1600" b="0" i="0" dirty="0">
                <a:solidFill>
                  <a:srgbClr val="2B3440"/>
                </a:solidFill>
                <a:latin typeface="Calibri"/>
              </a:rPr>
              <a:t>Investigate an implausibly strong feature and re-scope a problem in response.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D8ABA6"/>
                </a:solidFill>
                <a:latin typeface="Calibri"/>
              </a:rPr>
              <a:t>SESSION 6  ·  VALIDATION, MODEL SELECTION &amp;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121408"/>
            <a:ext cx="11057839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600" b="1" i="0">
                <a:solidFill>
                  <a:srgbClr val="FFFFFF"/>
                </a:solidFill>
                <a:latin typeface="Cambria"/>
              </a:rPr>
              <a:t>Never report a metric without a spread.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4224528"/>
            <a:ext cx="2011680" cy="0"/>
          </a:xfrm>
          <a:prstGeom prst="line">
            <a:avLst/>
          </a:prstGeom>
          <a:ln w="25400">
            <a:solidFill>
              <a:srgbClr val="E9A9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4443984"/>
            <a:ext cx="11057839" cy="6756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 dirty="0">
                <a:solidFill>
                  <a:srgbClr val="9FB0C4"/>
                </a:solidFill>
                <a:latin typeface="Calibri"/>
              </a:rPr>
              <a:t>If you take one sentence out of today, take that one. By </a:t>
            </a:r>
            <a:r>
              <a:rPr sz="1700" b="0" i="0" dirty="0" err="1">
                <a:solidFill>
                  <a:srgbClr val="9FB0C4"/>
                </a:solidFill>
                <a:latin typeface="Calibri"/>
              </a:rPr>
              <a:t>th</a:t>
            </a:r>
            <a:r>
              <a:rPr lang="fr-FR" sz="1700" b="0" i="0" dirty="0">
                <a:solidFill>
                  <a:srgbClr val="9FB0C4"/>
                </a:solidFill>
                <a:latin typeface="Calibri"/>
              </a:rPr>
              <a:t>e end of </a:t>
            </a:r>
            <a:r>
              <a:rPr lang="fr-FR" sz="1700" b="0" i="0" dirty="0" err="1">
                <a:solidFill>
                  <a:srgbClr val="9FB0C4"/>
                </a:solidFill>
                <a:latin typeface="Calibri"/>
              </a:rPr>
              <a:t>todqy</a:t>
            </a:r>
            <a:r>
              <a:rPr sz="1700" b="0" i="0" dirty="0">
                <a:solidFill>
                  <a:srgbClr val="9FB0C4"/>
                </a:solidFill>
                <a:latin typeface="Calibri"/>
              </a:rPr>
              <a:t> “R² = 0.606” should read to you like an incomplete sentence.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D8ABA6"/>
                </a:solidFill>
                <a:latin typeface="Calibri"/>
              </a:rPr>
              <a:t>SESSION 6  ·  VALIDATION, MODEL SELECTION &amp;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4" name="Oval 3"/>
          <p:cNvSpPr/>
          <p:nvPr/>
        </p:nvSpPr>
        <p:spPr>
          <a:xfrm>
            <a:off x="566928" y="1993392"/>
            <a:ext cx="841248" cy="841248"/>
          </a:xfrm>
          <a:prstGeom prst="ellipse">
            <a:avLst/>
          </a:prstGeom>
          <a:solidFill>
            <a:srgbClr val="E9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fr-FR" sz="2600" b="1" dirty="0">
                <a:solidFill>
                  <a:srgbClr val="12233A"/>
                </a:solidFill>
                <a:latin typeface="Calibri"/>
              </a:rPr>
              <a:t>1</a:t>
            </a:r>
            <a:endParaRPr sz="2600" b="1" i="0" dirty="0">
              <a:solidFill>
                <a:srgbClr val="12233A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09928" y="1975104"/>
            <a:ext cx="7948879" cy="12435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Four words that get confused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09928" y="3346704"/>
            <a:ext cx="7948879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FB0C4"/>
                </a:solidFill>
                <a:latin typeface="Calibri"/>
              </a:rPr>
              <a:t>Parameter, hyperparameter, validation, test. Most tuning mistakes are a confusion between two of these.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A8443A"/>
                </a:solidFill>
                <a:latin typeface="Calibri"/>
              </a:rPr>
              <a:t>SESSION 6  ·  VALIDATION, MODEL SELECTION &amp;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>
                <a:solidFill>
                  <a:srgbClr val="12233A"/>
                </a:solidFill>
                <a:latin typeface="Cambria"/>
              </a:rPr>
              <a:t>Four words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847088"/>
            <a:ext cx="11057839" cy="420624"/>
          </a:xfrm>
          <a:prstGeom prst="rect">
            <a:avLst/>
          </a:prstGeom>
          <a:solidFill>
            <a:srgbClr val="F3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901952"/>
            <a:ext cx="158080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A8443A"/>
                </a:solidFill>
                <a:latin typeface="Calibri"/>
              </a:rPr>
              <a:t>Word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41510" y="1901952"/>
            <a:ext cx="409395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A8443A"/>
                </a:solidFill>
                <a:latin typeface="Calibri"/>
              </a:rPr>
              <a:t>What it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64646" y="1901952"/>
            <a:ext cx="178185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A8443A"/>
                </a:solidFill>
                <a:latin typeface="Calibri"/>
              </a:rPr>
              <a:t>Who sets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75688" y="1901952"/>
            <a:ext cx="2284487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A8443A"/>
                </a:solidFill>
                <a:latin typeface="Calibri"/>
              </a:rPr>
              <a:t>Example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267712"/>
            <a:ext cx="11057839" cy="585216"/>
          </a:xfrm>
          <a:prstGeom prst="rect">
            <a:avLst/>
          </a:prstGeom>
          <a:solidFill>
            <a:srgbClr val="FC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322576"/>
            <a:ext cx="158080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2B3440"/>
                </a:solidFill>
                <a:latin typeface="Calibri"/>
              </a:rPr>
              <a:t>Parameter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41510" y="2322576"/>
            <a:ext cx="4093951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2B3440"/>
                </a:solidFill>
                <a:latin typeface="Calibri"/>
              </a:rPr>
              <a:t>Learned from the data by fitting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64646" y="2322576"/>
            <a:ext cx="178185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2B3440"/>
                </a:solidFill>
                <a:latin typeface="Calibri"/>
              </a:rPr>
              <a:t>the algorithm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75688" y="2322576"/>
            <a:ext cx="2284487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2B3440"/>
                </a:solidFill>
                <a:latin typeface="Calibri"/>
              </a:rPr>
              <a:t>the coefficients 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11057839" cy="585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2907792"/>
            <a:ext cx="158080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2B3440"/>
                </a:solidFill>
                <a:latin typeface="Calibri"/>
              </a:rPr>
              <a:t>Hyperparameter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41510" y="2907792"/>
            <a:ext cx="4093951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2B3440"/>
                </a:solidFill>
                <a:latin typeface="Calibri"/>
              </a:rPr>
              <a:t>Fixed before fitting; controls how fitting works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64646" y="2907792"/>
            <a:ext cx="178185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2B3440"/>
                </a:solidFill>
                <a:latin typeface="Calibri"/>
              </a:rPr>
              <a:t>you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75688" y="2907792"/>
            <a:ext cx="2284487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2B3440"/>
                </a:solidFill>
                <a:latin typeface="Calibri"/>
              </a:rPr>
              <a:t>Ridge α, tree depth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438144"/>
            <a:ext cx="11057839" cy="585216"/>
          </a:xfrm>
          <a:prstGeom prst="rect">
            <a:avLst/>
          </a:prstGeom>
          <a:solidFill>
            <a:srgbClr val="FC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3493008"/>
            <a:ext cx="158080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2B3440"/>
                </a:solidFill>
                <a:latin typeface="Calibri"/>
              </a:rPr>
              <a:t>Validation 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41510" y="3493008"/>
            <a:ext cx="4093951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2B3440"/>
                </a:solidFill>
                <a:latin typeface="Calibri"/>
              </a:rPr>
              <a:t>Data used to choose between configurations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64646" y="3493008"/>
            <a:ext cx="178185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2B3440"/>
                </a:solidFill>
                <a:latin typeface="Calibri"/>
              </a:rPr>
              <a:t>you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5688" y="3493008"/>
            <a:ext cx="2284487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2B3440"/>
                </a:solidFill>
                <a:latin typeface="Calibri"/>
              </a:rPr>
              <a:t>a CV fold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023360"/>
            <a:ext cx="11057839" cy="585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4078224"/>
            <a:ext cx="158080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2B3440"/>
                </a:solidFill>
                <a:latin typeface="Calibri"/>
              </a:rPr>
              <a:t>Test 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41510" y="4078224"/>
            <a:ext cx="4093951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2B3440"/>
                </a:solidFill>
                <a:latin typeface="Calibri"/>
              </a:rPr>
              <a:t>Data used once, to estimate what you will 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4646" y="4078224"/>
            <a:ext cx="178185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2B3440"/>
                </a:solidFill>
                <a:latin typeface="Calibri"/>
              </a:rPr>
              <a:t>nobody, until the 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5688" y="4078224"/>
            <a:ext cx="2284487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2B3440"/>
                </a:solidFill>
                <a:latin typeface="Calibri"/>
              </a:rPr>
              <a:t>our sealed parquet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5779008"/>
            <a:ext cx="11057839" cy="603504"/>
          </a:xfrm>
          <a:prstGeom prst="roundRect">
            <a:avLst>
              <a:gd name="adj" fmla="val 21212"/>
            </a:avLst>
          </a:prstGeom>
          <a:solidFill>
            <a:srgbClr val="F8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7" y="5852160"/>
            <a:ext cx="1050919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1">
                <a:solidFill>
                  <a:srgbClr val="2B3440"/>
                </a:solidFill>
                <a:latin typeface="Calibri"/>
              </a:rPr>
              <a:t>The test set is the only one of the four you are not allowed to learn anything from.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A8443A"/>
                </a:solidFill>
                <a:latin typeface="Calibri"/>
              </a:rPr>
              <a:t>SESSION 6  ·  VALIDATION, MODEL SELECTION &amp;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>
                <a:solidFill>
                  <a:srgbClr val="12233A"/>
                </a:solidFill>
                <a:latin typeface="Cambria"/>
              </a:rPr>
              <a:t>Three levels, and only one may be touched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377440"/>
            <a:ext cx="3527450" cy="2514600"/>
          </a:xfrm>
          <a:prstGeom prst="roundRect">
            <a:avLst>
              <a:gd name="adj" fmla="val 5090"/>
            </a:avLst>
          </a:prstGeom>
          <a:solidFill>
            <a:srgbClr val="F9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" y="2615184"/>
            <a:ext cx="457200" cy="457200"/>
          </a:xfrm>
          <a:prstGeom prst="ellipse">
            <a:avLst/>
          </a:prstGeom>
          <a:solidFill>
            <a:srgbClr val="A84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18688"/>
            <a:ext cx="301538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A8443A"/>
                </a:solidFill>
                <a:latin typeface="Cambria"/>
              </a:rPr>
              <a:t>The snapshot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03904"/>
            <a:ext cx="3015386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B3440"/>
                </a:solidFill>
                <a:latin typeface="Calibri"/>
              </a:rPr>
              <a:t>15,293 listings. Split by host in Session 2. The test half was sealed then.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2666" y="3429000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0" i="0">
                <a:solidFill>
                  <a:srgbClr val="D4A29C"/>
                </a:solidFill>
                <a:latin typeface="Calibr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2122" y="2377440"/>
            <a:ext cx="3527450" cy="2514600"/>
          </a:xfrm>
          <a:prstGeom prst="roundRect">
            <a:avLst>
              <a:gd name="adj" fmla="val 5090"/>
            </a:avLst>
          </a:prstGeom>
          <a:solidFill>
            <a:srgbClr val="F9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88154" y="2615184"/>
            <a:ext cx="457200" cy="457200"/>
          </a:xfrm>
          <a:prstGeom prst="ellipse">
            <a:avLst/>
          </a:prstGeom>
          <a:solidFill>
            <a:srgbClr val="A84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8154" y="3218688"/>
            <a:ext cx="301538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A8443A"/>
                </a:solidFill>
                <a:latin typeface="Cambria"/>
              </a:rPr>
              <a:t>The training half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8154" y="3803904"/>
            <a:ext cx="3015386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B3440"/>
                </a:solidFill>
                <a:latin typeface="Calibri"/>
              </a:rPr>
              <a:t>Every decision you make lives here: cleaning, features, model choice, hyperparameters.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77860" y="3429000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0" i="0">
                <a:solidFill>
                  <a:srgbClr val="D4A29C"/>
                </a:solidFill>
                <a:latin typeface="Calibr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7316" y="2377440"/>
            <a:ext cx="3527450" cy="2514600"/>
          </a:xfrm>
          <a:prstGeom prst="roundRect">
            <a:avLst>
              <a:gd name="adj" fmla="val 5090"/>
            </a:avLst>
          </a:prstGeom>
          <a:solidFill>
            <a:srgbClr val="F9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353348" y="2615184"/>
            <a:ext cx="457200" cy="457200"/>
          </a:xfrm>
          <a:prstGeom prst="ellipse">
            <a:avLst/>
          </a:prstGeom>
          <a:solidFill>
            <a:srgbClr val="A84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348" y="3218688"/>
            <a:ext cx="301538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A8443A"/>
                </a:solidFill>
                <a:latin typeface="Cambria"/>
              </a:rPr>
              <a:t>The CV folds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3348" y="3803904"/>
            <a:ext cx="3015386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B3440"/>
                </a:solidFill>
                <a:latin typeface="Calibri"/>
              </a:rPr>
              <a:t>Inside the training half. Four folds fit, one validates, rotate. Grouped by host.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A8443A"/>
                </a:solidFill>
                <a:latin typeface="Calibri"/>
              </a:rPr>
              <a:t>SESSION 6  ·  VALIDATION, MODEL SELECTION &amp;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>
                <a:solidFill>
                  <a:srgbClr val="12233A"/>
                </a:solidFill>
                <a:latin typeface="Cambria"/>
              </a:rPr>
              <a:t>What is wrong with this picture?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08176"/>
            <a:ext cx="11057839" cy="3856482"/>
          </a:xfrm>
          <a:prstGeom prst="roundRect">
            <a:avLst>
              <a:gd name="adj" fmla="val 4120"/>
            </a:avLst>
          </a:prstGeom>
          <a:solidFill>
            <a:srgbClr val="FC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tE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7765" y="1441045"/>
            <a:ext cx="6736163" cy="379074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5447538"/>
            <a:ext cx="11057839" cy="934974"/>
          </a:xfrm>
          <a:prstGeom prst="roundRect">
            <a:avLst>
              <a:gd name="adj" fmla="val 13691"/>
            </a:avLst>
          </a:prstGeom>
          <a:solidFill>
            <a:srgbClr val="F8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5529833"/>
            <a:ext cx="10472623" cy="77038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 i="0">
                <a:solidFill>
                  <a:srgbClr val="2B3440"/>
                </a:solidFill>
                <a:latin typeface="Calibri"/>
              </a:rPr>
              <a:t>Three models are fitted on the training set and then </a:t>
            </a:r>
            <a:r>
              <a:rPr sz="1500" b="1" i="0">
                <a:solidFill>
                  <a:srgbClr val="A8443A"/>
                </a:solidFill>
                <a:latin typeface="Calibri"/>
              </a:rPr>
              <a:t>evaluated on X_test to choose the best one</a:t>
            </a:r>
            <a:r>
              <a:rPr sz="1500" b="0" i="0">
                <a:solidFill>
                  <a:srgbClr val="2B3440"/>
                </a:solidFill>
                <a:latin typeface="Calibri"/>
              </a:rPr>
              <a:t>. That is selection on the test set: the moment you pick a winner this way, X_test has informed a decision and can no longer tell you what you will get. It is the commonest diagram in the textbooks and it breaks the rule on the next slide.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D8ABA6"/>
                </a:solidFill>
                <a:latin typeface="Calibri"/>
              </a:rPr>
              <a:t>SESSION 6  ·  VALIDATION, MODEL SELECTION &amp;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121408"/>
            <a:ext cx="11057839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600" b="1" i="0">
                <a:solidFill>
                  <a:srgbClr val="FFFFFF"/>
                </a:solidFill>
                <a:latin typeface="Cambria"/>
              </a:rPr>
              <a:t>If a number outside the training half informed a decision, the estimate is already optimistic.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4224528"/>
            <a:ext cx="2011680" cy="0"/>
          </a:xfrm>
          <a:prstGeom prst="line">
            <a:avLst/>
          </a:prstGeom>
          <a:ln w="25400">
            <a:solidFill>
              <a:srgbClr val="E9A9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4443984"/>
            <a:ext cx="11057839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9FB0C4"/>
                </a:solidFill>
                <a:latin typeface="Calibri"/>
              </a:rPr>
              <a:t>This is the rule the whole session is built on. Everything that follows is a way of measuring how much optimism gets in when you are not careful.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D8ABA6"/>
                </a:solidFill>
                <a:latin typeface="Calibri"/>
              </a:rPr>
              <a:t>SESSION 6  ·  VALIDATION, MODEL SELECTION &amp;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4" name="Oval 3"/>
          <p:cNvSpPr/>
          <p:nvPr/>
        </p:nvSpPr>
        <p:spPr>
          <a:xfrm>
            <a:off x="566928" y="1993392"/>
            <a:ext cx="841248" cy="841248"/>
          </a:xfrm>
          <a:prstGeom prst="ellipse">
            <a:avLst/>
          </a:prstGeom>
          <a:solidFill>
            <a:srgbClr val="E9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fr-FR" sz="2600" b="1" dirty="0">
                <a:solidFill>
                  <a:srgbClr val="12233A"/>
                </a:solidFill>
                <a:latin typeface="Calibri"/>
              </a:rPr>
              <a:t>2</a:t>
            </a:r>
            <a:endParaRPr sz="2600" b="1" i="0" dirty="0">
              <a:solidFill>
                <a:srgbClr val="12233A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09928" y="1975104"/>
            <a:ext cx="7948879" cy="12435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Why one split is not enough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09928" y="3346704"/>
            <a:ext cx="7948879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FB0C4"/>
                </a:solidFill>
                <a:latin typeface="Calibri"/>
              </a:rPr>
              <a:t>Same model, same data, thirty different random splits. The answer moves more than you expect.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A8443A"/>
                </a:solidFill>
                <a:latin typeface="Calibri"/>
              </a:rPr>
              <a:t>SESSION 6  ·  VALIDATION, MODEL SELECTION &amp;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>
                <a:solidFill>
                  <a:srgbClr val="12233A"/>
                </a:solidFill>
                <a:latin typeface="Cambria"/>
              </a:rPr>
              <a:t>The experiment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865376"/>
            <a:ext cx="11057839" cy="2560320"/>
          </a:xfrm>
          <a:prstGeom prst="roundRect">
            <a:avLst>
              <a:gd name="adj" fmla="val 3571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2048256"/>
            <a:ext cx="10399471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2233A"/>
                </a:solidFill>
                <a:latin typeface="Courier New"/>
              </a:rPr>
              <a:t>for seed in range(30):</a:t>
            </a:r>
          </a:p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2233A"/>
                </a:solidFill>
                <a:latin typeface="Courier New"/>
              </a:rPr>
              <a:t>    tr, te = next(GroupShuffleSplit(</a:t>
            </a:r>
          </a:p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2233A"/>
                </a:solidFill>
                <a:latin typeface="Courier New"/>
              </a:rPr>
              <a:t>        n_splits=1, test_size=0.2, random_state=seed)</a:t>
            </a:r>
          </a:p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2233A"/>
                </a:solidFill>
                <a:latin typeface="Courier New"/>
              </a:rPr>
              <a:t>        .split(work, y, groups=groups))</a:t>
            </a:r>
          </a:p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2233A"/>
                </a:solidFill>
                <a:latin typeface="Courier New"/>
              </a:rPr>
              <a:t>    model = Pipeline([("prep", make_preprocessor()),</a:t>
            </a:r>
          </a:p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2233A"/>
                </a:solidFill>
                <a:latin typeface="Courier New"/>
              </a:rPr>
              <a:t>                      ("model", Ridge())])</a:t>
            </a:r>
          </a:p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2233A"/>
                </a:solidFill>
                <a:latin typeface="Courier New"/>
              </a:rPr>
              <a:t>    model.fit(work.iloc[tr][COLS], y.iloc[tr])</a:t>
            </a:r>
          </a:p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2233A"/>
                </a:solidFill>
                <a:latin typeface="Courier New"/>
              </a:rPr>
              <a:t>    scores.append(model.score(work.iloc[te][COLS], y.iloc[te]))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4645152"/>
            <a:ext cx="11057839" cy="1700784"/>
          </a:xfrm>
          <a:prstGeom prst="roundRect">
            <a:avLst>
              <a:gd name="adj" fmla="val 7526"/>
            </a:avLst>
          </a:prstGeom>
          <a:solidFill>
            <a:srgbClr val="F9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9536" y="4773168"/>
            <a:ext cx="10472623" cy="1444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50" b="0" i="0">
                <a:solidFill>
                  <a:srgbClr val="2B3440"/>
                </a:solidFill>
                <a:latin typeface="Calibri"/>
              </a:rPr>
              <a:t>random_state=seed is the only thing that changes in this loop. A fresh pipeline is built each time, so nothing carries over between splits. Whatever spread comes out is pure luck of the draw.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A8443A"/>
                </a:solidFill>
                <a:latin typeface="Calibri"/>
              </a:rPr>
              <a:t>SESSION 6  ·  VALIDATION, MODEL SELECTION &amp;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>
                <a:solidFill>
                  <a:srgbClr val="12233A"/>
                </a:solidFill>
                <a:latin typeface="Cambria"/>
              </a:rPr>
              <a:t>Thirty splits of one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956816"/>
            <a:ext cx="4617720" cy="4398264"/>
          </a:xfrm>
          <a:prstGeom prst="roundRect">
            <a:avLst>
              <a:gd name="adj" fmla="val 2910"/>
            </a:avLst>
          </a:prstGeom>
          <a:solidFill>
            <a:srgbClr val="F9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7" y="2924434"/>
            <a:ext cx="406908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600" b="1" i="0">
                <a:solidFill>
                  <a:srgbClr val="A9660B"/>
                </a:solidFill>
                <a:latin typeface="Cambria"/>
              </a:rPr>
              <a:t>0.117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4683739"/>
            <a:ext cx="4069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0" i="0">
                <a:solidFill>
                  <a:srgbClr val="6E7A8A"/>
                </a:solidFill>
                <a:latin typeface="Calibri"/>
              </a:rPr>
              <a:t>the gap between the best and the worst of thirty 80/20 grouped splits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04688" y="1956816"/>
            <a:ext cx="6120079" cy="1356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1" i="0">
                <a:solidFill>
                  <a:srgbClr val="A8443A"/>
                </a:solidFill>
                <a:latin typeface="Calibri"/>
              </a:rPr>
              <a:t>Worst: 0.726.  Best: 0.843.</a:t>
            </a:r>
            <a:r>
              <a:rPr sz="1600" b="0" i="0">
                <a:solidFill>
                  <a:srgbClr val="2B3440"/>
                </a:solidFill>
                <a:latin typeface="Calibri"/>
              </a:rPr>
              <a:t>  Mean 0.796, sd 0.030.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04688" y="3422904"/>
            <a:ext cx="6120079" cy="1356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0" i="0">
                <a:solidFill>
                  <a:srgbClr val="2B3440"/>
                </a:solidFill>
                <a:latin typeface="Calibri"/>
              </a:rPr>
              <a:t>That gap is the size of the result you could report simply by choosing your random seed.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04688" y="4888992"/>
            <a:ext cx="6120079" cy="1356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0" i="0">
                <a:solidFill>
                  <a:srgbClr val="2B3440"/>
                </a:solidFill>
                <a:latin typeface="Calibri"/>
              </a:rPr>
              <a:t>Any “improvement” smaller than this, measured on a single split, is not evidence of anything.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D8ABA6"/>
                </a:solidFill>
                <a:latin typeface="Calibri"/>
              </a:rPr>
              <a:t>SESSION 6  ·  VALIDATION, MODEL SELECTION &amp;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121408"/>
            <a:ext cx="11057839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600" b="1" i="0">
                <a:solidFill>
                  <a:srgbClr val="FFFFFF"/>
                </a:solidFill>
                <a:latin typeface="Cambria"/>
              </a:rPr>
              <a:t>A single train/test split is a lottery ticket.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4224528"/>
            <a:ext cx="2011680" cy="0"/>
          </a:xfrm>
          <a:prstGeom prst="line">
            <a:avLst/>
          </a:prstGeom>
          <a:ln w="25400">
            <a:solidFill>
              <a:srgbClr val="E9A9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4443984"/>
            <a:ext cx="11057839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9FB0C4"/>
                </a:solidFill>
                <a:latin typeface="Calibri"/>
              </a:rPr>
              <a:t>It reports one draw from a wide distribution, and reports it as though it were the truth. Cross-validation is what we do instead: draw every ticket, and report the spread as well as the average.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A8443A"/>
                </a:solidFill>
                <a:latin typeface="Calibri"/>
              </a:rPr>
              <a:t>SESSION 6  ·  VALIDATION, MODEL SELECTION &amp;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dirty="0">
                <a:solidFill>
                  <a:srgbClr val="12233A"/>
                </a:solidFill>
                <a:latin typeface="Cambria"/>
              </a:rPr>
              <a:t>So we draw every ticket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6E7A8A"/>
                </a:solidFill>
                <a:latin typeface="Calibri"/>
              </a:rPr>
              <a:t>Cross-validation: not one split, but every split in turn.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157984"/>
            <a:ext cx="5391759" cy="3106674"/>
          </a:xfrm>
          <a:prstGeom prst="roundRect">
            <a:avLst>
              <a:gd name="adj" fmla="val 4120"/>
            </a:avLst>
          </a:prstGeom>
          <a:solidFill>
            <a:srgbClr val="FC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5-fold-C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613" y="2286000"/>
            <a:ext cx="4146388" cy="285064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33007" y="2157984"/>
            <a:ext cx="5391759" cy="3106674"/>
          </a:xfrm>
          <a:prstGeom prst="roundRect">
            <a:avLst>
              <a:gd name="adj" fmla="val 4120"/>
            </a:avLst>
          </a:prstGeom>
          <a:solidFill>
            <a:srgbClr val="FC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2-fold-C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5693" y="2286000"/>
            <a:ext cx="4146388" cy="285064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5447538"/>
            <a:ext cx="11057839" cy="934974"/>
          </a:xfrm>
          <a:prstGeom prst="roundRect">
            <a:avLst>
              <a:gd name="adj" fmla="val 13691"/>
            </a:avLst>
          </a:prstGeom>
          <a:solidFill>
            <a:srgbClr val="F8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5529833"/>
            <a:ext cx="10472623" cy="77038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 i="0">
                <a:solidFill>
                  <a:srgbClr val="2B3440"/>
                </a:solidFill>
                <a:latin typeface="Calibri"/>
              </a:rPr>
              <a:t>Five trials, the validation block moving along one place at a time; then the two-fold case, the same idea at its smallest. Every row is a </a:t>
            </a:r>
            <a:r>
              <a:rPr sz="1500" b="1" i="0">
                <a:solidFill>
                  <a:srgbClr val="A8443A"/>
                </a:solidFill>
                <a:latin typeface="Calibri"/>
              </a:rPr>
              <a:t>complete refit from scratch</a:t>
            </a:r>
            <a:r>
              <a:rPr sz="1500" b="0" i="0">
                <a:solidFill>
                  <a:srgbClr val="2B3440"/>
                </a:solidFill>
                <a:latin typeface="Calibri"/>
              </a:rPr>
              <a:t> - which is why five-fold costs five times a single split, and why nothing may be fitted outside the strip it belongs 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D8ABA6"/>
                </a:solidFill>
                <a:latin typeface="Calibri"/>
              </a:rPr>
              <a:t>SESSION 6  ·  VALIDATION, MODEL SELECTION &amp;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4" name="Oval 3"/>
          <p:cNvSpPr/>
          <p:nvPr/>
        </p:nvSpPr>
        <p:spPr>
          <a:xfrm>
            <a:off x="566928" y="1993392"/>
            <a:ext cx="841248" cy="841248"/>
          </a:xfrm>
          <a:prstGeom prst="ellipse">
            <a:avLst/>
          </a:prstGeom>
          <a:solidFill>
            <a:srgbClr val="E9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fr-FR" sz="2600" b="1" dirty="0">
                <a:solidFill>
                  <a:srgbClr val="12233A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09928" y="1975104"/>
            <a:ext cx="7948879" cy="12435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Choosing a splitter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09928" y="3346704"/>
            <a:ext cx="7948879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FB0C4"/>
                </a:solidFill>
                <a:latin typeface="Calibri"/>
              </a:rPr>
              <a:t>Grouped or random. One of them is wrong here, and it is the one that looks better.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A8443A"/>
                </a:solidFill>
                <a:latin typeface="Calibri"/>
              </a:rPr>
              <a:t>SESSION 6  ·  VALIDATION, MODEL SELECTION &amp;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>
                <a:solidFill>
                  <a:srgbClr val="12233A"/>
                </a:solidFill>
                <a:latin typeface="Cambria"/>
              </a:rPr>
              <a:t>The loop, start to finish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00784"/>
            <a:ext cx="11057839" cy="4133087"/>
          </a:xfrm>
          <a:prstGeom prst="roundRect">
            <a:avLst>
              <a:gd name="adj" fmla="val 3097"/>
            </a:avLst>
          </a:prstGeom>
          <a:solidFill>
            <a:srgbClr val="FC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076" y="1828800"/>
            <a:ext cx="6889542" cy="387705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" y="5943600"/>
            <a:ext cx="11057839" cy="658368"/>
          </a:xfrm>
          <a:prstGeom prst="roundRect">
            <a:avLst>
              <a:gd name="adj" fmla="val 19444"/>
            </a:avLst>
          </a:prstGeom>
          <a:solidFill>
            <a:srgbClr val="F8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9536" y="6025896"/>
            <a:ext cx="10472623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2B3440"/>
                </a:solidFill>
                <a:latin typeface="Calibri"/>
              </a:rPr>
              <a:t>Split into folds, then fit and evaluate five times, then average. Grouping changes </a:t>
            </a:r>
            <a:r>
              <a:rPr sz="1350" b="1" i="0">
                <a:solidFill>
                  <a:srgbClr val="A8443A"/>
                </a:solidFill>
                <a:latin typeface="Calibri"/>
              </a:rPr>
              <a:t>nothing</a:t>
            </a:r>
            <a:r>
              <a:rPr sz="1350" b="0" i="0">
                <a:solidFill>
                  <a:srgbClr val="2B3440"/>
                </a:solidFill>
                <a:latin typeface="Calibri"/>
              </a:rPr>
              <a:t> in this picture except which rows are allowed to share a strip - that is the entire content of GroupKFold, and the next slide is what it costs to get it wrong.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A8443A"/>
                </a:solidFill>
                <a:latin typeface="Calibri"/>
              </a:rPr>
              <a:t>SESSION 6  ·  VALIDATION, MODEL SELECTION &amp;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>
                <a:solidFill>
                  <a:srgbClr val="12233A"/>
                </a:solidFill>
                <a:latin typeface="Cambria"/>
              </a:rPr>
              <a:t>One model, two ways of building folds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6E7A8A"/>
                </a:solidFill>
                <a:latin typeface="Calibri"/>
              </a:rPr>
              <a:t>Identical model, identical data. Only the fold construction differs.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157984"/>
            <a:ext cx="5373471" cy="4197096"/>
          </a:xfrm>
          <a:prstGeom prst="roundRect">
            <a:avLst>
              <a:gd name="adj" fmla="val 3050"/>
            </a:avLst>
          </a:prstGeom>
          <a:solidFill>
            <a:srgbClr val="F8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2340864"/>
            <a:ext cx="4824831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9E2B25"/>
                </a:solidFill>
                <a:latin typeface="Cambria"/>
              </a:rPr>
              <a:t>Random KFold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889504"/>
            <a:ext cx="4824831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9E2B25"/>
                </a:solidFill>
                <a:latin typeface="Cambria"/>
              </a:rPr>
              <a:t>0.8704  ±  0.0028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3858768"/>
            <a:ext cx="4824831" cy="701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2B3440"/>
                </a:solidFill>
                <a:latin typeface="Calibri"/>
              </a:rPr>
              <a:t>Ignores host entirely. A host's listings land on both sides of every fold boundary.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4632960"/>
            <a:ext cx="4824831" cy="701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2B3440"/>
                </a:solidFill>
                <a:latin typeface="Calibri"/>
              </a:rPr>
              <a:t>The model recognises a neighbour rather than generalising to an unseen host.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5407152"/>
            <a:ext cx="4824831" cy="701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2B3440"/>
                </a:solidFill>
                <a:latin typeface="Calibri"/>
              </a:rPr>
              <a:t>Per fold: 0.871, 0.874, 0.866, 0.873, 0.869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1295" y="2157984"/>
            <a:ext cx="5373471" cy="4197096"/>
          </a:xfrm>
          <a:prstGeom prst="roundRect">
            <a:avLst>
              <a:gd name="adj" fmla="val 3050"/>
            </a:avLst>
          </a:prstGeom>
          <a:solidFill>
            <a:srgbClr val="EF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25615" y="2340864"/>
            <a:ext cx="4824831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1F6F5C"/>
                </a:solidFill>
                <a:latin typeface="Cambria"/>
              </a:rPr>
              <a:t>GroupKFold on host_id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5615" y="2889504"/>
            <a:ext cx="4824831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1F6F5C"/>
                </a:solidFill>
                <a:latin typeface="Cambria"/>
              </a:rPr>
              <a:t>0.8249  ±  0.0132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5615" y="3858768"/>
            <a:ext cx="4824831" cy="701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2B3440"/>
                </a:solidFill>
                <a:latin typeface="Calibri"/>
              </a:rPr>
              <a:t>Every host stays whole. Each fold is a genuinely unseen set of hosts.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5615" y="4632960"/>
            <a:ext cx="4824831" cy="701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2B3440"/>
                </a:solidFill>
                <a:latin typeface="Calibri"/>
              </a:rPr>
              <a:t>80.5% of listings belong to a host with more than one listing, which is why this matters here.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5615" y="5407152"/>
            <a:ext cx="4824831" cy="701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2B3440"/>
                </a:solidFill>
                <a:latin typeface="Calibri"/>
              </a:rPr>
              <a:t>Per fold: 0.830, 0.807, 0.839, 0.811, 0.838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A8443A"/>
                </a:solidFill>
                <a:latin typeface="Calibri"/>
              </a:rPr>
              <a:t>SESSION 6  ·  VALIDATION, MODEL SELECTION &amp;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>
                <a:solidFill>
                  <a:srgbClr val="12233A"/>
                </a:solidFill>
                <a:latin typeface="Cambria"/>
              </a:rPr>
              <a:t>What the wrong splitter buys you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956816"/>
            <a:ext cx="4617720" cy="4398264"/>
          </a:xfrm>
          <a:prstGeom prst="roundRect">
            <a:avLst>
              <a:gd name="adj" fmla="val 2910"/>
            </a:avLst>
          </a:prstGeom>
          <a:solidFill>
            <a:srgbClr val="F9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7" y="2924434"/>
            <a:ext cx="406908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600" b="1" i="0">
                <a:solidFill>
                  <a:srgbClr val="A9660B"/>
                </a:solidFill>
                <a:latin typeface="Cambria"/>
              </a:rPr>
              <a:t>+0.0455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4683739"/>
            <a:ext cx="4069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0" i="0">
                <a:solidFill>
                  <a:srgbClr val="6E7A8A"/>
                </a:solidFill>
                <a:latin typeface="Calibri"/>
              </a:rPr>
              <a:t>free R², from nothing but letting hosts straddle the fold boundary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04688" y="1956816"/>
            <a:ext cx="6120079" cy="1356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0" i="0">
                <a:solidFill>
                  <a:srgbClr val="2B3440"/>
                </a:solidFill>
                <a:latin typeface="Calibri"/>
              </a:rPr>
              <a:t>This is not a rounding difference. It is larger than most of the model improvements anyone will report all semester.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04688" y="3422904"/>
            <a:ext cx="6120079" cy="1356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0" i="0">
                <a:solidFill>
                  <a:srgbClr val="2B3440"/>
                </a:solidFill>
                <a:latin typeface="Calibri"/>
              </a:rPr>
              <a:t>And nobody would ever detect it from the random-KFold numbers alone. They look perfectly respectable on their own.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04688" y="4888992"/>
            <a:ext cx="6120079" cy="1356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1" i="0">
                <a:solidFill>
                  <a:srgbClr val="A8443A"/>
                </a:solidFill>
                <a:latin typeface="Calibri"/>
              </a:rPr>
              <a:t>You cannot find this by looking at a score. You find it by looking at the data's structure.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D8ABA6"/>
                </a:solidFill>
                <a:latin typeface="Calibri"/>
              </a:rPr>
              <a:t>SESSION 6  ·  VALIDATION, MODEL SELECTION &amp;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121408"/>
            <a:ext cx="11057839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600" b="1" i="0">
                <a:solidFill>
                  <a:srgbClr val="FFFFFF"/>
                </a:solidFill>
                <a:latin typeface="Cambria"/>
              </a:rPr>
              <a:t>The wrong method looked both better and more precise.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4224528"/>
            <a:ext cx="2011680" cy="0"/>
          </a:xfrm>
          <a:prstGeom prst="line">
            <a:avLst/>
          </a:prstGeom>
          <a:ln w="25400">
            <a:solidFill>
              <a:srgbClr val="E9A9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4443984"/>
            <a:ext cx="11057839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9FB0C4"/>
                </a:solidFill>
                <a:latin typeface="Calibri"/>
              </a:rPr>
              <a:t>Random KFold reported ± 0.0028 against GroupKFold's ± 0.0132 - four times narrower. A tight interval is not evidence of a trustworthy estimate. Grouped folds are more variable because hosts genuinely differ, and that honesty is the point.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D8ABA6"/>
                </a:solidFill>
                <a:latin typeface="Calibri"/>
              </a:rPr>
              <a:t>SESSION 6  ·  VALIDATION, MODEL SELECTION &amp;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4" name="Oval 3"/>
          <p:cNvSpPr/>
          <p:nvPr/>
        </p:nvSpPr>
        <p:spPr>
          <a:xfrm>
            <a:off x="566928" y="1993392"/>
            <a:ext cx="841248" cy="841248"/>
          </a:xfrm>
          <a:prstGeom prst="ellipse">
            <a:avLst/>
          </a:prstGeom>
          <a:solidFill>
            <a:srgbClr val="E9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fr-FR" sz="2600" b="1" dirty="0">
                <a:solidFill>
                  <a:srgbClr val="12233A"/>
                </a:solidFill>
                <a:latin typeface="Calibri"/>
              </a:rPr>
              <a:t>4</a:t>
            </a:r>
            <a:endParaRPr sz="2600" b="1" i="0" dirty="0">
              <a:solidFill>
                <a:srgbClr val="12233A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09928" y="1975104"/>
            <a:ext cx="7948879" cy="12435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THE INVESTIGATION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09928" y="3346704"/>
            <a:ext cx="7948879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FB0C4"/>
                </a:solidFill>
                <a:latin typeface="Calibri"/>
              </a:rPr>
              <a:t>The best-defended number in the course so far is still wrong. Here is how you find that out.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A8443A"/>
                </a:solidFill>
                <a:latin typeface="Calibri"/>
              </a:rPr>
              <a:t>SESSION 6  ·  VALIDATION, MODEL SELECTION &amp;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>
                <a:solidFill>
                  <a:srgbClr val="12233A"/>
                </a:solidFill>
                <a:latin typeface="Cambria"/>
              </a:rPr>
              <a:t>Where we 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 dirty="0">
                <a:solidFill>
                  <a:srgbClr val="6E7A8A"/>
                </a:solidFill>
                <a:latin typeface="Calibri"/>
              </a:rPr>
              <a:t>Everything a careful student would have done, has been done.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103120"/>
            <a:ext cx="11057839" cy="786384"/>
          </a:xfrm>
          <a:prstGeom prst="roundRect">
            <a:avLst>
              <a:gd name="adj" fmla="val 16279"/>
            </a:avLst>
          </a:prstGeom>
          <a:solidFill>
            <a:srgbClr val="FA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9536" y="2194560"/>
            <a:ext cx="10472623" cy="603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A8443A"/>
                </a:solidFill>
                <a:latin typeface="Calibri"/>
              </a:rPr>
              <a:t>Cleaned  </a:t>
            </a:r>
            <a:r>
              <a:rPr sz="1600" b="0" i="0">
                <a:solidFill>
                  <a:srgbClr val="2B3440"/>
                </a:solidFill>
                <a:latin typeface="Calibri"/>
              </a:rPr>
              <a:t>Session 2. Every decision logged.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035808"/>
            <a:ext cx="11057839" cy="786384"/>
          </a:xfrm>
          <a:prstGeom prst="roundRect">
            <a:avLst>
              <a:gd name="adj" fmla="val 16279"/>
            </a:avLst>
          </a:prstGeom>
          <a:solidFill>
            <a:srgbClr val="FA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3127248"/>
            <a:ext cx="10472623" cy="603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A8443A"/>
                </a:solidFill>
                <a:latin typeface="Calibri"/>
              </a:rPr>
              <a:t>Leak-audited  </a:t>
            </a:r>
            <a:r>
              <a:rPr sz="1600" b="0" i="0">
                <a:solidFill>
                  <a:srgbClr val="2B3440"/>
                </a:solidFill>
                <a:latin typeface="Calibri"/>
              </a:rPr>
              <a:t>Session 3. Three leaks found, mechanisms named, removed.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968496"/>
            <a:ext cx="11057839" cy="786384"/>
          </a:xfrm>
          <a:prstGeom prst="roundRect">
            <a:avLst>
              <a:gd name="adj" fmla="val 16279"/>
            </a:avLst>
          </a:prstGeom>
          <a:solidFill>
            <a:srgbClr val="FA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4059935"/>
            <a:ext cx="10472623" cy="603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A8443A"/>
                </a:solidFill>
                <a:latin typeface="Calibri"/>
              </a:rPr>
              <a:t>Group-validated  </a:t>
            </a:r>
            <a:r>
              <a:rPr sz="1600" b="0" i="0">
                <a:solidFill>
                  <a:srgbClr val="2B3440"/>
                </a:solidFill>
                <a:latin typeface="Calibri"/>
              </a:rPr>
              <a:t>Today, §4. Folds respect host structure.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901183"/>
            <a:ext cx="11057839" cy="786384"/>
          </a:xfrm>
          <a:prstGeom prst="roundRect">
            <a:avLst>
              <a:gd name="adj" fmla="val 16279"/>
            </a:avLst>
          </a:prstGeom>
          <a:solidFill>
            <a:srgbClr val="FA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" y="4992623"/>
            <a:ext cx="10472623" cy="603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A8443A"/>
                </a:solidFill>
                <a:latin typeface="Calibri"/>
              </a:rPr>
              <a:t>Result  </a:t>
            </a:r>
            <a:r>
              <a:rPr sz="1600" b="0" i="0">
                <a:solidFill>
                  <a:srgbClr val="2B3440"/>
                </a:solidFill>
                <a:latin typeface="Calibri"/>
              </a:rPr>
              <a:t>R² = 0.8249 ± 0.0132 - and it is still not real.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A8443A"/>
                </a:solidFill>
                <a:latin typeface="Calibri"/>
              </a:rPr>
              <a:t>SESSION 6  ·  VALIDATION, MODEL SELECTION &amp;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50" b="1" i="0">
                <a:solidFill>
                  <a:srgbClr val="12233A"/>
                </a:solidFill>
                <a:latin typeface="Cambria"/>
              </a:rPr>
              <a:t>Permutation importance - drop in R² when a column is shuffled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6E7A8A"/>
                </a:solidFill>
                <a:latin typeface="Calibri"/>
              </a:rPr>
              <a:t>Measured on held-out data, so it rewards generalisation rather than memorisation.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39696"/>
            <a:ext cx="11057839" cy="420624"/>
          </a:xfrm>
          <a:prstGeom prst="rect">
            <a:avLst/>
          </a:prstGeom>
          <a:solidFill>
            <a:srgbClr val="F3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7964195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A8443A"/>
                </a:solidFill>
                <a:latin typeface="Calibri"/>
              </a:rPr>
              <a:t>Feature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24899" y="2194560"/>
            <a:ext cx="2435275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A8443A"/>
                </a:solidFill>
                <a:latin typeface="Calibri"/>
              </a:rPr>
              <a:t>ΔR²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560320"/>
            <a:ext cx="11057839" cy="525780"/>
          </a:xfrm>
          <a:prstGeom prst="rect">
            <a:avLst/>
          </a:prstGeom>
          <a:solidFill>
            <a:srgbClr val="F6F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615184"/>
            <a:ext cx="7964195" cy="4160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A9660B"/>
                </a:solidFill>
                <a:latin typeface="Calibri"/>
              </a:rPr>
              <a:t>minimum_nights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24899" y="2615184"/>
            <a:ext cx="2435275" cy="4160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1" i="0">
                <a:solidFill>
                  <a:srgbClr val="A9660B"/>
                </a:solidFill>
                <a:latin typeface="Calibri"/>
              </a:rPr>
              <a:t>0.7729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086100"/>
            <a:ext cx="11057839" cy="5257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140964"/>
            <a:ext cx="7964195" cy="4160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2B3440"/>
                </a:solidFill>
                <a:latin typeface="Calibri"/>
              </a:rPr>
              <a:t>accommodates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24899" y="3140964"/>
            <a:ext cx="2435275" cy="4160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0" i="0">
                <a:solidFill>
                  <a:srgbClr val="2B3440"/>
                </a:solidFill>
                <a:latin typeface="Calibri"/>
              </a:rPr>
              <a:t>0.1321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611880"/>
            <a:ext cx="11057839" cy="525780"/>
          </a:xfrm>
          <a:prstGeom prst="rect">
            <a:avLst/>
          </a:prstGeom>
          <a:solidFill>
            <a:srgbClr val="FC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666744"/>
            <a:ext cx="7964195" cy="4160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2B3440"/>
                </a:solidFill>
                <a:latin typeface="Calibri"/>
              </a:rPr>
              <a:t>room_type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24899" y="3666744"/>
            <a:ext cx="2435275" cy="4160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0" i="0">
                <a:solidFill>
                  <a:srgbClr val="2B3440"/>
                </a:solidFill>
                <a:latin typeface="Calibri"/>
              </a:rPr>
              <a:t>0.1190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137660"/>
            <a:ext cx="11057839" cy="5257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4192524"/>
            <a:ext cx="7964195" cy="4160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2B3440"/>
                </a:solidFill>
                <a:latin typeface="Calibri"/>
              </a:rPr>
              <a:t>property_type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4899" y="4192524"/>
            <a:ext cx="2435275" cy="4160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0" i="0">
                <a:solidFill>
                  <a:srgbClr val="2B3440"/>
                </a:solidFill>
                <a:latin typeface="Calibri"/>
              </a:rPr>
              <a:t>0.0252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663440"/>
            <a:ext cx="11057839" cy="525780"/>
          </a:xfrm>
          <a:prstGeom prst="rect">
            <a:avLst/>
          </a:prstGeom>
          <a:solidFill>
            <a:srgbClr val="FC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4718304"/>
            <a:ext cx="7964195" cy="4160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2B3440"/>
                </a:solidFill>
                <a:latin typeface="Calibri"/>
              </a:rPr>
              <a:t>review_scores_rating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24899" y="4718304"/>
            <a:ext cx="2435275" cy="4160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0" i="0">
                <a:solidFill>
                  <a:srgbClr val="2B3440"/>
                </a:solidFill>
                <a:latin typeface="Calibri"/>
              </a:rPr>
              <a:t>0.0126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5189220"/>
            <a:ext cx="11057839" cy="5257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5244084"/>
            <a:ext cx="7964195" cy="4160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2B3440"/>
                </a:solidFill>
                <a:latin typeface="Calibri"/>
              </a:rPr>
              <a:t>latitude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4899" y="5244084"/>
            <a:ext cx="2435275" cy="4160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0" i="0">
                <a:solidFill>
                  <a:srgbClr val="2B3440"/>
                </a:solidFill>
                <a:latin typeface="Calibri"/>
              </a:rPr>
              <a:t>0.0110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A8443A"/>
                </a:solidFill>
                <a:latin typeface="Calibri"/>
              </a:rPr>
              <a:t>SESSION 6  ·  VALIDATION, MODEL SELECTION &amp;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>
                <a:solidFill>
                  <a:srgbClr val="12233A"/>
                </a:solidFill>
                <a:latin typeface="Cambria"/>
              </a:rPr>
              <a:t>The number that should stop you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956816"/>
            <a:ext cx="4617720" cy="4398264"/>
          </a:xfrm>
          <a:prstGeom prst="roundRect">
            <a:avLst>
              <a:gd name="adj" fmla="val 2910"/>
            </a:avLst>
          </a:prstGeom>
          <a:solidFill>
            <a:srgbClr val="F9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7" y="2924434"/>
            <a:ext cx="406908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600" b="1" i="0">
                <a:solidFill>
                  <a:srgbClr val="A9660B"/>
                </a:solidFill>
                <a:latin typeface="Cambria"/>
              </a:rPr>
              <a:t>5.9×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4683739"/>
            <a:ext cx="4069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0" i="0">
                <a:solidFill>
                  <a:srgbClr val="6E7A8A"/>
                </a:solidFill>
                <a:latin typeface="Calibri"/>
              </a:rPr>
              <a:t>minimum_nights against the next most important feature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04688" y="1956816"/>
            <a:ext cx="6120079" cy="1356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0" i="0">
                <a:solidFill>
                  <a:srgbClr val="2B3440"/>
                </a:solidFill>
                <a:latin typeface="Calibri"/>
              </a:rPr>
              <a:t>A booking constraint out-predicts </a:t>
            </a:r>
            <a:r>
              <a:rPr sz="1600" b="1" i="0">
                <a:solidFill>
                  <a:srgbClr val="A8443A"/>
                </a:solidFill>
                <a:latin typeface="Calibri"/>
              </a:rPr>
              <a:t>capacity</a:t>
            </a:r>
            <a:r>
              <a:rPr sz="1600" b="0" i="0">
                <a:solidFill>
                  <a:srgbClr val="2B3440"/>
                </a:solidFill>
                <a:latin typeface="Calibri"/>
              </a:rPr>
              <a:t> and </a:t>
            </a:r>
            <a:r>
              <a:rPr sz="1600" b="1" i="0">
                <a:solidFill>
                  <a:srgbClr val="A8443A"/>
                </a:solidFill>
                <a:latin typeface="Calibri"/>
              </a:rPr>
              <a:t>location</a:t>
            </a:r>
            <a:r>
              <a:rPr sz="1600" b="0" i="0">
                <a:solidFill>
                  <a:srgbClr val="2B3440"/>
                </a:solidFill>
                <a:latin typeface="Calibri"/>
              </a:rPr>
              <a:t> on a question about what a listing charges per night.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04688" y="3422904"/>
            <a:ext cx="6120079" cy="1356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0" i="0">
                <a:solidFill>
                  <a:srgbClr val="2B3440"/>
                </a:solidFill>
                <a:latin typeface="Calibri"/>
              </a:rPr>
              <a:t>Nothing is broken. The protocol is correct, the folds are grouped, the leaks are gone.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04688" y="4888992"/>
            <a:ext cx="6120079" cy="1356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1" i="0">
                <a:solidFill>
                  <a:srgbClr val="A8443A"/>
                </a:solidFill>
                <a:latin typeface="Calibri"/>
              </a:rPr>
              <a:t>The correct response to a surprisingly good result is to investigate it, not to report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A8443A"/>
                </a:solidFill>
                <a:latin typeface="Calibri"/>
              </a:rPr>
              <a:t>SESSION 6  ·  VALIDATION, MODEL SELECTION &amp;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>
                <a:solidFill>
                  <a:srgbClr val="12233A"/>
                </a:solidFill>
                <a:latin typeface="Cambria"/>
              </a:rPr>
              <a:t>The mechanism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865376"/>
            <a:ext cx="11057839" cy="1737360"/>
          </a:xfrm>
          <a:prstGeom prst="roundRect">
            <a:avLst>
              <a:gd name="adj" fmla="val 5263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2048256"/>
            <a:ext cx="10399471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2233A"/>
                </a:solidFill>
                <a:latin typeface="Courier New"/>
              </a:rPr>
              <a:t>checkin  = pd.to_datetime(work["price_quote_checkin_date"])</a:t>
            </a:r>
          </a:p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2233A"/>
                </a:solidFill>
                <a:latin typeface="Courier New"/>
              </a:rPr>
              <a:t>checkout = pd.to_datetime(work["price_quote_checkout_date"])</a:t>
            </a:r>
          </a:p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2233A"/>
                </a:solidFill>
                <a:latin typeface="Courier New"/>
              </a:rPr>
              <a:t>quote_nights = (checkout - checkin).dt.days</a:t>
            </a:r>
          </a:p>
          <a:p>
            <a:pPr algn="l">
              <a:lnSpc>
                <a:spcPct val="132000"/>
              </a:lnSpc>
            </a:pPr>
            <a:endParaRPr sz="1450" b="0" i="0">
              <a:solidFill>
                <a:srgbClr val="12233A"/>
              </a:solidFill>
              <a:latin typeface="Courier New"/>
            </a:endParaRPr>
          </a:p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2233A"/>
                </a:solidFill>
                <a:latin typeface="Courier New"/>
              </a:rPr>
              <a:t>corr(quote_nights, minimum_nights)  -&gt;  0.9801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3822191"/>
            <a:ext cx="11057839" cy="2523744"/>
          </a:xfrm>
          <a:prstGeom prst="roundRect">
            <a:avLst>
              <a:gd name="adj" fmla="val 5072"/>
            </a:avLst>
          </a:prstGeom>
          <a:solidFill>
            <a:srgbClr val="F9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9536" y="3950208"/>
            <a:ext cx="10472623" cy="22677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50" b="0" i="0">
                <a:solidFill>
                  <a:srgbClr val="2B3440"/>
                </a:solidFill>
                <a:latin typeface="Calibri"/>
              </a:rPr>
              <a:t>The scraper asked each listing for a price quote, and the stay it asked for had to satisfy that listing's own minimum. So the two columns are not independent measurements of anything - one was chosen to satisfy the other.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A8443A"/>
                </a:solidFill>
                <a:latin typeface="Calibri"/>
              </a:rPr>
              <a:t>SESSION 6  ·  VALIDATION, MODEL SELECTION &amp;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>
                <a:solidFill>
                  <a:srgbClr val="12233A"/>
                </a:solidFill>
                <a:latin typeface="Cambria"/>
              </a:rPr>
              <a:t>What the price column actually 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847088"/>
            <a:ext cx="11057839" cy="420624"/>
          </a:xfrm>
          <a:prstGeom prst="rect">
            <a:avLst/>
          </a:prstGeom>
          <a:solidFill>
            <a:srgbClr val="F3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901952"/>
            <a:ext cx="2665647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A8443A"/>
                </a:solidFill>
                <a:latin typeface="Calibri"/>
              </a:rPr>
              <a:t>minimum_nights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26351" y="1901952"/>
            <a:ext cx="1744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A8443A"/>
                </a:solidFill>
                <a:latin typeface="Calibri"/>
              </a:rPr>
              <a:t>listings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9696" y="1901952"/>
            <a:ext cx="312639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A8443A"/>
                </a:solidFill>
                <a:latin typeface="Calibri"/>
              </a:rPr>
              <a:t>median quoted nights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55271" y="1901952"/>
            <a:ext cx="220490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A8443A"/>
                </a:solidFill>
                <a:latin typeface="Calibri"/>
              </a:rPr>
              <a:t>median price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267712"/>
            <a:ext cx="11057839" cy="585216"/>
          </a:xfrm>
          <a:prstGeom prst="rect">
            <a:avLst/>
          </a:prstGeom>
          <a:solidFill>
            <a:srgbClr val="FC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322576"/>
            <a:ext cx="2665647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2B3440"/>
                </a:solidFill>
                <a:latin typeface="Calibri"/>
              </a:rPr>
              <a:t>1 night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6351" y="2322576"/>
            <a:ext cx="17441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0" i="0">
                <a:solidFill>
                  <a:srgbClr val="2B3440"/>
                </a:solidFill>
                <a:latin typeface="Calibri"/>
              </a:rPr>
              <a:t>3,956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99696" y="2322576"/>
            <a:ext cx="312639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0" i="0">
                <a:solidFill>
                  <a:srgbClr val="2B3440"/>
                </a:solidFill>
                <a:latin typeface="Calibri"/>
              </a:rPr>
              <a:t>1.0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5271" y="2322576"/>
            <a:ext cx="220490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2B3440"/>
                </a:solidFill>
                <a:latin typeface="Calibri"/>
              </a:rPr>
              <a:t>€259.0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11057839" cy="585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2907792"/>
            <a:ext cx="2665647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2B3440"/>
                </a:solidFill>
                <a:latin typeface="Calibri"/>
              </a:rPr>
              <a:t>2-3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26351" y="2907792"/>
            <a:ext cx="17441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0" i="0">
                <a:solidFill>
                  <a:srgbClr val="2B3440"/>
                </a:solidFill>
                <a:latin typeface="Calibri"/>
              </a:rPr>
              <a:t>2,346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99696" y="2907792"/>
            <a:ext cx="312639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0" i="0">
                <a:solidFill>
                  <a:srgbClr val="2B3440"/>
                </a:solidFill>
                <a:latin typeface="Calibri"/>
              </a:rPr>
              <a:t>2.0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55271" y="2907792"/>
            <a:ext cx="220490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2B3440"/>
                </a:solidFill>
                <a:latin typeface="Calibri"/>
              </a:rPr>
              <a:t>€259.5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438144"/>
            <a:ext cx="11057839" cy="585216"/>
          </a:xfrm>
          <a:prstGeom prst="rect">
            <a:avLst/>
          </a:prstGeom>
          <a:solidFill>
            <a:srgbClr val="FC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3493008"/>
            <a:ext cx="2665647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2B3440"/>
                </a:solidFill>
                <a:latin typeface="Calibri"/>
              </a:rPr>
              <a:t>4-7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26351" y="3493008"/>
            <a:ext cx="17441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0" i="0">
                <a:solidFill>
                  <a:srgbClr val="2B3440"/>
                </a:solidFill>
                <a:latin typeface="Calibri"/>
              </a:rPr>
              <a:t>226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99696" y="3493008"/>
            <a:ext cx="312639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0" i="0">
                <a:solidFill>
                  <a:srgbClr val="2B3440"/>
                </a:solidFill>
                <a:latin typeface="Calibri"/>
              </a:rPr>
              <a:t>5.0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5271" y="3493008"/>
            <a:ext cx="220490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2B3440"/>
                </a:solidFill>
                <a:latin typeface="Calibri"/>
              </a:rPr>
              <a:t>€228.4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023360"/>
            <a:ext cx="11057839" cy="585216"/>
          </a:xfrm>
          <a:prstGeom prst="rect">
            <a:avLst/>
          </a:prstGeom>
          <a:solidFill>
            <a:srgbClr val="F6F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4078224"/>
            <a:ext cx="2665647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A9660B"/>
                </a:solidFill>
                <a:latin typeface="Calibri"/>
              </a:rPr>
              <a:t>8-31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26351" y="4078224"/>
            <a:ext cx="17441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1" i="0">
                <a:solidFill>
                  <a:srgbClr val="A9660B"/>
                </a:solidFill>
                <a:latin typeface="Calibri"/>
              </a:rPr>
              <a:t>2,342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99696" y="4078224"/>
            <a:ext cx="312639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1" i="0">
                <a:solidFill>
                  <a:srgbClr val="A9660B"/>
                </a:solidFill>
                <a:latin typeface="Calibri"/>
              </a:rPr>
              <a:t>31.0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5271" y="4078224"/>
            <a:ext cx="220490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A9660B"/>
                </a:solidFill>
                <a:latin typeface="Calibri"/>
              </a:rPr>
              <a:t>€99.9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4608576"/>
            <a:ext cx="11057839" cy="585216"/>
          </a:xfrm>
          <a:prstGeom prst="rect">
            <a:avLst/>
          </a:prstGeom>
          <a:solidFill>
            <a:srgbClr val="F6F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1520" y="4663440"/>
            <a:ext cx="2665647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A9660B"/>
                </a:solidFill>
                <a:latin typeface="Calibri"/>
              </a:rPr>
              <a:t>32+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26351" y="4663440"/>
            <a:ext cx="17441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1" i="0">
                <a:solidFill>
                  <a:srgbClr val="A9660B"/>
                </a:solidFill>
                <a:latin typeface="Calibri"/>
              </a:rPr>
              <a:t>2,058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99696" y="4663440"/>
            <a:ext cx="312639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1" i="0">
                <a:solidFill>
                  <a:srgbClr val="A9660B"/>
                </a:solidFill>
                <a:latin typeface="Calibri"/>
              </a:rPr>
              <a:t>32.0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55271" y="4663440"/>
            <a:ext cx="220490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A9660B"/>
                </a:solidFill>
                <a:latin typeface="Calibri"/>
              </a:rPr>
              <a:t>€69.5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5779008"/>
            <a:ext cx="11057839" cy="603504"/>
          </a:xfrm>
          <a:prstGeom prst="roundRect">
            <a:avLst>
              <a:gd name="adj" fmla="val 21212"/>
            </a:avLst>
          </a:prstGeom>
          <a:solidFill>
            <a:srgbClr val="F8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1247" y="5852160"/>
            <a:ext cx="1050919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1">
                <a:solidFill>
                  <a:srgbClr val="2B3440"/>
                </a:solidFill>
                <a:latin typeface="Calibri"/>
              </a:rPr>
              <a:t>Read the price column downwards. These are not the same market. A monthly let at €69 a night and a weekend flat at €259 are different products that happen to share a column.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D8ABA6"/>
                </a:solidFill>
                <a:latin typeface="Calibri"/>
              </a:rPr>
              <a:t>SESSION 6  ·  VALIDATION, MODEL SELECTION &amp;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121408"/>
            <a:ext cx="11057839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600" b="1" i="0">
                <a:solidFill>
                  <a:srgbClr val="FFFFFF"/>
                </a:solidFill>
                <a:latin typeface="Cambria"/>
              </a:rPr>
              <a:t>The model was learning which market a listing belongs to.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4224528"/>
            <a:ext cx="2011680" cy="0"/>
          </a:xfrm>
          <a:prstGeom prst="line">
            <a:avLst/>
          </a:prstGeom>
          <a:ln w="25400">
            <a:solidFill>
              <a:srgbClr val="E9A9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4443984"/>
            <a:ext cx="11057839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9FB0C4"/>
                </a:solidFill>
                <a:latin typeface="Calibri"/>
              </a:rPr>
              <a:t>Not what a night in it costs. </a:t>
            </a:r>
            <a:r>
              <a:rPr sz="1350" b="0" i="0">
                <a:solidFill>
                  <a:srgbClr val="9FB0C4"/>
                </a:solidFill>
                <a:latin typeface="Courier New"/>
              </a:rPr>
              <a:t>minimum_nights</a:t>
            </a:r>
            <a:r>
              <a:rPr sz="1700" b="0" i="0">
                <a:solidFill>
                  <a:srgbClr val="9FB0C4"/>
                </a:solidFill>
                <a:latin typeface="Calibri"/>
              </a:rPr>
              <a:t> is a near-perfect indicator of long-stay against short-stay, and those two populations have very different prices. The signal was real. The question it answered was not ours.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A8443A"/>
                </a:solidFill>
                <a:latin typeface="Calibri"/>
              </a:rPr>
              <a:t>SESSION 6  ·  VALIDATION, MODEL SELECTION &amp;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>
                <a:solidFill>
                  <a:srgbClr val="12233A"/>
                </a:solidFill>
                <a:latin typeface="Cambria"/>
              </a:rPr>
              <a:t>Is this leakage?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6E7A8A"/>
                </a:solidFill>
                <a:latin typeface="Calibri"/>
              </a:rPr>
              <a:t>Both columns are correct. That is what makes this hard.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157984"/>
            <a:ext cx="5373471" cy="4197096"/>
          </a:xfrm>
          <a:prstGeom prst="roundRect">
            <a:avLst>
              <a:gd name="adj" fmla="val 3050"/>
            </a:avLst>
          </a:prstGeom>
          <a:solidFill>
            <a:srgbClr val="F8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2340864"/>
            <a:ext cx="4824831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9E2B25"/>
                </a:solidFill>
                <a:latin typeface="Cambria"/>
              </a:rPr>
              <a:t>The case against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889504"/>
            <a:ext cx="4824831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9E2B25"/>
                </a:solidFill>
                <a:latin typeface="Cambria"/>
              </a:rPr>
              <a:t>It is not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3858768"/>
            <a:ext cx="4824831" cy="507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2B3440"/>
                </a:solidFill>
                <a:latin typeface="Calibri"/>
              </a:rPr>
              <a:t>The column is available before any booking is made.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4439412"/>
            <a:ext cx="4824831" cy="507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2B3440"/>
                </a:solidFill>
                <a:latin typeface="Calibri"/>
              </a:rPr>
              <a:t>It would be present at prediction time in production.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5020056"/>
            <a:ext cx="4824831" cy="507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2B3440"/>
                </a:solidFill>
                <a:latin typeface="Calibri"/>
              </a:rPr>
              <a:t>It passes every mechanical leakage test we built in Session 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5600700"/>
            <a:ext cx="4824831" cy="507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2B3440"/>
                </a:solidFill>
                <a:latin typeface="Calibri"/>
              </a:rPr>
              <a:t>Nothing about it is unavailable, future, or derived from the target.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1295" y="2157984"/>
            <a:ext cx="5373471" cy="4197096"/>
          </a:xfrm>
          <a:prstGeom prst="roundRect">
            <a:avLst>
              <a:gd name="adj" fmla="val 3050"/>
            </a:avLst>
          </a:prstGeom>
          <a:solidFill>
            <a:srgbClr val="EF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25615" y="2340864"/>
            <a:ext cx="4824831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1F6F5C"/>
                </a:solidFill>
                <a:latin typeface="Cambria"/>
              </a:rPr>
              <a:t>The case for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5615" y="2889504"/>
            <a:ext cx="4824831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1F6F5C"/>
                </a:solidFill>
                <a:latin typeface="Cambria"/>
              </a:rPr>
              <a:t>It 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5615" y="3858768"/>
            <a:ext cx="4824831" cy="701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2B3440"/>
                </a:solidFill>
                <a:latin typeface="Calibri"/>
              </a:rPr>
              <a:t>Client B prices </a:t>
            </a:r>
            <a:r>
              <a:rPr sz="1450" b="1" i="0">
                <a:solidFill>
                  <a:srgbClr val="A8443A"/>
                </a:solidFill>
                <a:latin typeface="Calibri"/>
              </a:rPr>
              <a:t>short stays</a:t>
            </a:r>
            <a:r>
              <a:rPr sz="1450" b="0" i="0">
                <a:solidFill>
                  <a:srgbClr val="2B3440"/>
                </a:solidFill>
                <a:latin typeface="Calibri"/>
              </a:rPr>
              <a:t>. Their question presupposes a population this feature silently mixes.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5615" y="4632960"/>
            <a:ext cx="4824831" cy="701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2B3440"/>
                </a:solidFill>
                <a:latin typeface="Calibri"/>
              </a:rPr>
              <a:t>The model looks excellent on a question nobody asked.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5615" y="5407152"/>
            <a:ext cx="4824831" cy="701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2B3440"/>
                </a:solidFill>
                <a:latin typeface="Calibri"/>
              </a:rPr>
              <a:t>Deployed as is, it would price a weekend flat using the pattern of monthly lets.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D8ABA6"/>
                </a:solidFill>
                <a:latin typeface="Calibri"/>
              </a:rPr>
              <a:t>SESSION 6  ·  VALIDATION, MODEL SELECTION &amp;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121408"/>
            <a:ext cx="11057839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600" b="1" i="0">
                <a:solidFill>
                  <a:srgbClr val="FFFFFF"/>
                </a:solidFill>
                <a:latin typeface="Cambria"/>
              </a:rPr>
              <a:t>Only the client's question decides.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4224528"/>
            <a:ext cx="2011680" cy="0"/>
          </a:xfrm>
          <a:prstGeom prst="line">
            <a:avLst/>
          </a:prstGeom>
          <a:ln w="25400">
            <a:solidFill>
              <a:srgbClr val="E9A9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4443984"/>
            <a:ext cx="11057839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9FB0C4"/>
                </a:solidFill>
                <a:latin typeface="Calibri"/>
              </a:rPr>
              <a:t>This is the lesson of the session, and it does not generalise into a rule you can automate. A feature available at prediction time can still be illegitimate, and no test on the data alone will ever tell you so.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A8443A"/>
                </a:solidFill>
                <a:latin typeface="Calibri"/>
              </a:rPr>
              <a:t>SESSION 6  ·  VALIDATION, MODEL SELECTION &amp;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>
                <a:solidFill>
                  <a:srgbClr val="12233A"/>
                </a:solidFill>
                <a:latin typeface="Cambria"/>
              </a:rPr>
              <a:t>The re-scope, and what it costs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6E7A8A"/>
                </a:solidFill>
                <a:latin typeface="Calibri"/>
              </a:rPr>
              <a:t>Re-scoping, not deleting a column. The distinction matters.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103120"/>
            <a:ext cx="11057839" cy="786384"/>
          </a:xfrm>
          <a:prstGeom prst="roundRect">
            <a:avLst>
              <a:gd name="adj" fmla="val 16279"/>
            </a:avLst>
          </a:prstGeom>
          <a:solidFill>
            <a:srgbClr val="FA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9536" y="2194560"/>
            <a:ext cx="10472623" cy="603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A8443A"/>
                </a:solidFill>
                <a:latin typeface="Calibri"/>
              </a:rPr>
              <a:t>Decision  </a:t>
            </a:r>
            <a:r>
              <a:rPr sz="1600" b="0" i="0">
                <a:solidFill>
                  <a:srgbClr val="2B3440"/>
                </a:solidFill>
                <a:latin typeface="Calibri"/>
              </a:rPr>
              <a:t>keep only listings with minimum_nights ≤ 3, and drop the column from the feature set.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035808"/>
            <a:ext cx="11057839" cy="786384"/>
          </a:xfrm>
          <a:prstGeom prst="roundRect">
            <a:avLst>
              <a:gd name="adj" fmla="val 16279"/>
            </a:avLst>
          </a:prstGeom>
          <a:solidFill>
            <a:srgbClr val="FA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3127248"/>
            <a:ext cx="10472623" cy="603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A8443A"/>
                </a:solidFill>
                <a:latin typeface="Calibri"/>
              </a:rPr>
              <a:t>Cost  </a:t>
            </a:r>
            <a:r>
              <a:rPr sz="1600" b="0" i="0">
                <a:solidFill>
                  <a:srgbClr val="2B3440"/>
                </a:solidFill>
                <a:latin typeface="Calibri"/>
              </a:rPr>
              <a:t>10,929 rows → 6,302. </a:t>
            </a:r>
            <a:r>
              <a:rPr sz="1600" b="1" i="0">
                <a:solidFill>
                  <a:srgbClr val="A8443A"/>
                </a:solidFill>
                <a:latin typeface="Calibri"/>
              </a:rPr>
              <a:t>42% of the data discarded.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968496"/>
            <a:ext cx="11057839" cy="786384"/>
          </a:xfrm>
          <a:prstGeom prst="roundRect">
            <a:avLst>
              <a:gd name="adj" fmla="val 16279"/>
            </a:avLst>
          </a:prstGeom>
          <a:solidFill>
            <a:srgbClr val="FA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4059935"/>
            <a:ext cx="10472623" cy="603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A8443A"/>
                </a:solidFill>
                <a:latin typeface="Calibri"/>
              </a:rPr>
              <a:t>Why it is right  </a:t>
            </a:r>
            <a:r>
              <a:rPr sz="1600" b="0" i="0">
                <a:solidFill>
                  <a:srgbClr val="2B3440"/>
                </a:solidFill>
                <a:latin typeface="Calibri"/>
              </a:rPr>
              <a:t>Client B prices short stays. The population being modelled must be the population being priced.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901183"/>
            <a:ext cx="11057839" cy="786384"/>
          </a:xfrm>
          <a:prstGeom prst="roundRect">
            <a:avLst>
              <a:gd name="adj" fmla="val 16279"/>
            </a:avLst>
          </a:prstGeom>
          <a:solidFill>
            <a:srgbClr val="FA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" y="5156516"/>
            <a:ext cx="10472623" cy="27571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dirty="0">
                <a:solidFill>
                  <a:srgbClr val="A8443A"/>
                </a:solidFill>
                <a:latin typeface="Calibri"/>
              </a:rPr>
              <a:t>Why it is uncomfortable  </a:t>
            </a:r>
            <a:r>
              <a:rPr sz="1600" b="0" i="0" dirty="0">
                <a:solidFill>
                  <a:srgbClr val="2B3440"/>
                </a:solidFill>
                <a:latin typeface="Calibri"/>
              </a:rPr>
              <a:t>You are throwing away data to get a worse number</a:t>
            </a:r>
            <a:r>
              <a:rPr lang="fr-FR" sz="1600" dirty="0">
                <a:solidFill>
                  <a:srgbClr val="2B3440"/>
                </a:solidFill>
                <a:latin typeface="Calibri"/>
              </a:rPr>
              <a:t>.</a:t>
            </a:r>
            <a:endParaRPr sz="1600" b="0" i="0" dirty="0">
              <a:solidFill>
                <a:srgbClr val="2B344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A8443A"/>
                </a:solidFill>
                <a:latin typeface="Calibri"/>
              </a:rPr>
              <a:t>SESSION 6  ·  VALIDATION, MODEL SELECTION &amp;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>
                <a:solidFill>
                  <a:srgbClr val="12233A"/>
                </a:solidFill>
                <a:latin typeface="Cambria"/>
              </a:rPr>
              <a:t>Did losing 42% of the rows hurt?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00784"/>
            <a:ext cx="11057839" cy="3717035"/>
          </a:xfrm>
          <a:prstGeom prst="roundRect">
            <a:avLst>
              <a:gd name="adj" fmla="val 3444"/>
            </a:avLst>
          </a:prstGeom>
          <a:solidFill>
            <a:srgbClr val="FC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earning-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753" y="1828800"/>
            <a:ext cx="5034187" cy="346100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" y="5527548"/>
            <a:ext cx="11057839" cy="1074419"/>
          </a:xfrm>
          <a:prstGeom prst="roundRect">
            <a:avLst>
              <a:gd name="adj" fmla="val 11914"/>
            </a:avLst>
          </a:prstGeom>
          <a:solidFill>
            <a:srgbClr val="F8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9536" y="5609844"/>
            <a:ext cx="10472623" cy="9098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2B3440"/>
                </a:solidFill>
                <a:latin typeface="Calibri"/>
              </a:rPr>
              <a:t>A learning curve answers it: score against training-set size. If both curves have flattened by the time you reach your row count, more data would not have helped and the re-scope cost you nothing. If the validation curve is still climbing, it did. </a:t>
            </a:r>
            <a:r>
              <a:rPr sz="1350" b="1" i="0">
                <a:solidFill>
                  <a:srgbClr val="A8443A"/>
                </a:solidFill>
                <a:latin typeface="Calibri"/>
              </a:rPr>
              <a:t>We do not run this today</a:t>
            </a:r>
            <a:r>
              <a:rPr sz="1350" b="0" i="0">
                <a:solidFill>
                  <a:srgbClr val="2B3440"/>
                </a:solidFill>
                <a:latin typeface="Calibri"/>
              </a:rPr>
              <a:t> - it is the check to reach for when somebody objects to the row loss on principle. This is a schematic, not one of our results.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A8443A"/>
                </a:solidFill>
                <a:latin typeface="Calibri"/>
              </a:rPr>
              <a:t>SESSION 6  ·  VALIDATION, MODEL SELECTION &amp;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>
                <a:solidFill>
                  <a:srgbClr val="12233A"/>
                </a:solidFill>
                <a:latin typeface="Cambria"/>
              </a:rPr>
              <a:t>The full descent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847088"/>
            <a:ext cx="11057839" cy="420624"/>
          </a:xfrm>
          <a:prstGeom prst="rect">
            <a:avLst/>
          </a:prstGeom>
          <a:solidFill>
            <a:srgbClr val="F3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901952"/>
            <a:ext cx="48048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A8443A"/>
                </a:solidFill>
                <a:latin typeface="Calibri"/>
              </a:rPr>
              <a:t>Stage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65516" y="1901952"/>
            <a:ext cx="1250507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A8443A"/>
                </a:solidFill>
                <a:latin typeface="Calibri"/>
              </a:rPr>
              <a:t>R²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45208" y="1901952"/>
            <a:ext cx="4014967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A8443A"/>
                </a:solidFill>
                <a:latin typeface="Calibri"/>
              </a:rPr>
              <a:t>What changed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267712"/>
            <a:ext cx="11057839" cy="585216"/>
          </a:xfrm>
          <a:prstGeom prst="rect">
            <a:avLst/>
          </a:prstGeom>
          <a:solidFill>
            <a:srgbClr val="FC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322576"/>
            <a:ext cx="4804812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2B3440"/>
                </a:solidFill>
                <a:latin typeface="Calibri"/>
              </a:rPr>
              <a:t>Session 3, every numeric column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65516" y="2322576"/>
            <a:ext cx="1250507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0" i="0">
                <a:solidFill>
                  <a:srgbClr val="2B3440"/>
                </a:solidFill>
                <a:latin typeface="Calibri"/>
              </a:rPr>
              <a:t>0.999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45208" y="2322576"/>
            <a:ext cx="4014967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2B3440"/>
                </a:solidFill>
                <a:latin typeface="Calibri"/>
              </a:rPr>
              <a:t>three leaks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852928"/>
            <a:ext cx="11057839" cy="585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2907792"/>
            <a:ext cx="4804812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2B3440"/>
                </a:solidFill>
                <a:latin typeface="Calibri"/>
              </a:rPr>
              <a:t>Leaks removed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65516" y="2907792"/>
            <a:ext cx="1250507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0" i="0">
                <a:solidFill>
                  <a:srgbClr val="2B3440"/>
                </a:solidFill>
                <a:latin typeface="Calibri"/>
              </a:rPr>
              <a:t>0.834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45208" y="2907792"/>
            <a:ext cx="4014967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2B3440"/>
                </a:solidFill>
                <a:latin typeface="Calibri"/>
              </a:rPr>
              <a:t>still not honest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438144"/>
            <a:ext cx="11057839" cy="585216"/>
          </a:xfrm>
          <a:prstGeom prst="rect">
            <a:avLst/>
          </a:prstGeom>
          <a:solidFill>
            <a:srgbClr val="FC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3493008"/>
            <a:ext cx="4804812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2B3440"/>
                </a:solidFill>
                <a:latin typeface="Calibri"/>
              </a:rPr>
              <a:t>Random KFold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65516" y="3493008"/>
            <a:ext cx="1250507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0" i="0">
                <a:solidFill>
                  <a:srgbClr val="2B3440"/>
                </a:solidFill>
                <a:latin typeface="Calibri"/>
              </a:rPr>
              <a:t>0.870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45208" y="3493008"/>
            <a:ext cx="4014967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2B3440"/>
                </a:solidFill>
                <a:latin typeface="Calibri"/>
              </a:rPr>
              <a:t>hosts straddling folds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023360"/>
            <a:ext cx="11057839" cy="585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4078224"/>
            <a:ext cx="4804812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2B3440"/>
                </a:solidFill>
                <a:latin typeface="Calibri"/>
              </a:rPr>
              <a:t>GroupKFold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5516" y="4078224"/>
            <a:ext cx="1250507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0" i="0">
                <a:solidFill>
                  <a:srgbClr val="2B3440"/>
                </a:solidFill>
                <a:latin typeface="Calibri"/>
              </a:rPr>
              <a:t>0.825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45208" y="4078224"/>
            <a:ext cx="4014967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2B3440"/>
                </a:solidFill>
                <a:latin typeface="Calibri"/>
              </a:rPr>
              <a:t>hosts kept whole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608576"/>
            <a:ext cx="11057839" cy="585216"/>
          </a:xfrm>
          <a:prstGeom prst="rect">
            <a:avLst/>
          </a:prstGeom>
          <a:solidFill>
            <a:srgbClr val="F6F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4663440"/>
            <a:ext cx="4804812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A9660B"/>
                </a:solidFill>
                <a:latin typeface="Calibri"/>
              </a:rPr>
              <a:t>Re-scoped, Ridge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65516" y="4663440"/>
            <a:ext cx="1250507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1" i="0">
                <a:solidFill>
                  <a:srgbClr val="A9660B"/>
                </a:solidFill>
                <a:latin typeface="Calibri"/>
              </a:rPr>
              <a:t>0.606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5208" y="4663440"/>
            <a:ext cx="4014967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A9660B"/>
                </a:solidFill>
                <a:latin typeface="Calibri"/>
              </a:rPr>
              <a:t>the honest number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779008"/>
            <a:ext cx="11057839" cy="603504"/>
          </a:xfrm>
          <a:prstGeom prst="roundRect">
            <a:avLst>
              <a:gd name="adj" fmla="val 21212"/>
            </a:avLst>
          </a:prstGeom>
          <a:solidFill>
            <a:srgbClr val="F8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1247" y="5852160"/>
            <a:ext cx="1050919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1">
                <a:solidFill>
                  <a:srgbClr val="2B3440"/>
                </a:solidFill>
                <a:latin typeface="Calibri"/>
              </a:rPr>
              <a:t>Every step down is a step towards a number you could defend in front of the client.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A8443A"/>
                </a:solidFill>
                <a:latin typeface="Calibri"/>
              </a:rPr>
              <a:t>SESSION 6  ·  VALIDATION, MODEL SELECTION &amp;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>
                <a:solidFill>
                  <a:srgbClr val="12233A"/>
                </a:solidFill>
                <a:latin typeface="Cambria"/>
              </a:rPr>
              <a:t>The honest number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956816"/>
            <a:ext cx="4617720" cy="4398264"/>
          </a:xfrm>
          <a:prstGeom prst="roundRect">
            <a:avLst>
              <a:gd name="adj" fmla="val 2910"/>
            </a:avLst>
          </a:prstGeom>
          <a:solidFill>
            <a:srgbClr val="F9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7" y="2924434"/>
            <a:ext cx="406908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600" b="1" i="0">
                <a:solidFill>
                  <a:srgbClr val="1F6F5C"/>
                </a:solidFill>
                <a:latin typeface="Cambria"/>
              </a:rPr>
              <a:t>0.606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4683739"/>
            <a:ext cx="4069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0" i="0">
                <a:solidFill>
                  <a:srgbClr val="6E7A8A"/>
                </a:solidFill>
                <a:latin typeface="Calibri"/>
              </a:rPr>
              <a:t>Ridge, short-stay listings only, GroupKFold  ·  ± 0.0997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04688" y="1956816"/>
            <a:ext cx="6120079" cy="1356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0" i="0">
                <a:solidFill>
                  <a:srgbClr val="2B3440"/>
                </a:solidFill>
                <a:latin typeface="Calibri"/>
              </a:rPr>
              <a:t>This is the first figure in this course that is genuinely defensible.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04688" y="3422904"/>
            <a:ext cx="6120079" cy="1356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0" i="0">
                <a:solidFill>
                  <a:srgbClr val="2B3440"/>
                </a:solidFill>
                <a:latin typeface="Calibri"/>
              </a:rPr>
              <a:t>It is also the worst-looking one, and both facts are true at once.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04688" y="4888992"/>
            <a:ext cx="6120079" cy="1356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1" i="0">
                <a:solidFill>
                  <a:srgbClr val="A8443A"/>
                </a:solidFill>
                <a:latin typeface="Calibri"/>
              </a:rPr>
              <a:t>A lower number that answers the right question beats a higher one that answers a different question.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D8ABA6"/>
                </a:solidFill>
                <a:latin typeface="Calibri"/>
              </a:rPr>
              <a:t>SESSION 6  ·  VALIDATION, MODEL SELECTION &amp;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4" name="Oval 3"/>
          <p:cNvSpPr/>
          <p:nvPr/>
        </p:nvSpPr>
        <p:spPr>
          <a:xfrm>
            <a:off x="566928" y="1993392"/>
            <a:ext cx="841248" cy="841248"/>
          </a:xfrm>
          <a:prstGeom prst="ellipse">
            <a:avLst/>
          </a:prstGeom>
          <a:solidFill>
            <a:srgbClr val="E9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fr-FR" sz="2600" b="1" dirty="0">
                <a:solidFill>
                  <a:srgbClr val="12233A"/>
                </a:solidFill>
                <a:latin typeface="Calibri"/>
              </a:rPr>
              <a:t>5</a:t>
            </a:r>
            <a:endParaRPr sz="2600" b="1" i="0" dirty="0">
              <a:solidFill>
                <a:srgbClr val="12233A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09928" y="1975104"/>
            <a:ext cx="7948879" cy="12435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Uncertainty, and whether a difference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09928" y="3346704"/>
            <a:ext cx="7948879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FB0C4"/>
                </a:solidFill>
                <a:latin typeface="Calibri"/>
              </a:rPr>
              <a:t>Three tools: the fold spread, the paired comparison, and the bootstrap.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A8443A"/>
                </a:solidFill>
                <a:latin typeface="Calibri"/>
              </a:rPr>
              <a:t>SESSION 6  ·  VALIDATION, MODEL SELECTION &amp;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>
                <a:solidFill>
                  <a:srgbClr val="12233A"/>
                </a:solidFill>
                <a:latin typeface="Cambria"/>
              </a:rPr>
              <a:t>Five models. Five numbers. Which one is best?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00784"/>
            <a:ext cx="11057839" cy="3926204"/>
          </a:xfrm>
          <a:prstGeom prst="roundRect">
            <a:avLst>
              <a:gd name="adj" fmla="val 3260"/>
            </a:avLst>
          </a:prstGeom>
          <a:solidFill>
            <a:srgbClr val="FC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ample-comparis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7634" y="1828800"/>
            <a:ext cx="6016425" cy="367017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" y="5736717"/>
            <a:ext cx="11057839" cy="865250"/>
          </a:xfrm>
          <a:prstGeom prst="roundRect">
            <a:avLst>
              <a:gd name="adj" fmla="val 14795"/>
            </a:avLst>
          </a:prstGeom>
          <a:solidFill>
            <a:srgbClr val="F8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9536" y="5819013"/>
            <a:ext cx="10472623" cy="7006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2B3440"/>
                </a:solidFill>
                <a:latin typeface="Calibri"/>
              </a:rPr>
              <a:t>Read the bottom row: .93, .93, .95, .95, .95. Five models inside two hundredths of each other, each scored </a:t>
            </a:r>
            <a:r>
              <a:rPr sz="1350" b="1" i="0">
                <a:solidFill>
                  <a:srgbClr val="A8443A"/>
                </a:solidFill>
                <a:latin typeface="Calibri"/>
              </a:rPr>
              <a:t>once, on one split</a:t>
            </a:r>
            <a:r>
              <a:rPr sz="1350" b="0" i="0">
                <a:solidFill>
                  <a:srgbClr val="2B3440"/>
                </a:solidFill>
                <a:latin typeface="Calibri"/>
              </a:rPr>
              <a:t>, quoted to two decimals with no interval. We measured the spread across seeds in §3 and it was </a:t>
            </a:r>
            <a:r>
              <a:rPr sz="1350" b="1" i="0">
                <a:solidFill>
                  <a:srgbClr val="A8443A"/>
                </a:solidFill>
                <a:latin typeface="Calibri"/>
              </a:rPr>
              <a:t>0.117</a:t>
            </a:r>
            <a:r>
              <a:rPr sz="1350" b="0" i="0">
                <a:solidFill>
                  <a:srgbClr val="2B3440"/>
                </a:solidFill>
                <a:latin typeface="Calibri"/>
              </a:rPr>
              <a:t>. Nothing on this figure can distinguish these models, and the figure does not say so. This is the standard comparison plot, and the reason §6 exists.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A8443A"/>
                </a:solidFill>
                <a:latin typeface="Calibri"/>
              </a:rPr>
              <a:t>SESSION 6  ·  VALIDATION, MODEL SELECTION &amp;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>
                <a:solidFill>
                  <a:srgbClr val="12233A"/>
                </a:solidFill>
                <a:latin typeface="Cambria"/>
              </a:rPr>
              <a:t>Two models, one protocol, identical folds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6E7A8A"/>
                </a:solidFill>
                <a:latin typeface="Calibri"/>
              </a:rPr>
              <a:t>Ridge is ahead by 0.015. Before concluding anything, look at the fold columns.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39696"/>
            <a:ext cx="11057839" cy="420624"/>
          </a:xfrm>
          <a:prstGeom prst="rect">
            <a:avLst/>
          </a:prstGeom>
          <a:solidFill>
            <a:srgbClr val="F3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757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A8443A"/>
                </a:solidFill>
                <a:latin typeface="Calibri"/>
              </a:rPr>
              <a:t>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17904" y="2194560"/>
            <a:ext cx="1131285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A8443A"/>
                </a:solidFill>
                <a:latin typeface="Calibri"/>
              </a:rPr>
              <a:t>R²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78374" y="2194560"/>
            <a:ext cx="92264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A8443A"/>
                </a:solidFill>
                <a:latin typeface="Calibri"/>
              </a:rPr>
              <a:t>sd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0204" y="2194560"/>
            <a:ext cx="592997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A8443A"/>
                </a:solidFill>
                <a:latin typeface="Calibri"/>
              </a:rPr>
              <a:t>per-fold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560320"/>
            <a:ext cx="11057839" cy="585216"/>
          </a:xfrm>
          <a:prstGeom prst="rect">
            <a:avLst/>
          </a:prstGeom>
          <a:solidFill>
            <a:srgbClr val="FC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615184"/>
            <a:ext cx="17572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2B3440"/>
                </a:solidFill>
                <a:latin typeface="Calibri"/>
              </a:rPr>
              <a:t>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17904" y="2615184"/>
            <a:ext cx="1131285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0" i="0">
                <a:solidFill>
                  <a:srgbClr val="2B3440"/>
                </a:solidFill>
                <a:latin typeface="Calibri"/>
              </a:rPr>
              <a:t>0.6056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8374" y="2615184"/>
            <a:ext cx="92264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0" i="0">
                <a:solidFill>
                  <a:srgbClr val="2B3440"/>
                </a:solidFill>
                <a:latin typeface="Calibri"/>
              </a:rPr>
              <a:t>0.0997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0204" y="2615184"/>
            <a:ext cx="592997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0" i="0">
                <a:solidFill>
                  <a:srgbClr val="2B3440"/>
                </a:solidFill>
                <a:latin typeface="Calibri"/>
              </a:rPr>
              <a:t>0.743  0.514  0.708  0.552  0.510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145536"/>
            <a:ext cx="11057839" cy="585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200400"/>
            <a:ext cx="17572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2B3440"/>
                </a:solidFill>
                <a:latin typeface="Calibri"/>
              </a:rPr>
              <a:t>HistGB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17904" y="3200400"/>
            <a:ext cx="1131285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0" i="0">
                <a:solidFill>
                  <a:srgbClr val="2B3440"/>
                </a:solidFill>
                <a:latin typeface="Calibri"/>
              </a:rPr>
              <a:t>0.5907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8374" y="3200400"/>
            <a:ext cx="92264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0" i="0">
                <a:solidFill>
                  <a:srgbClr val="2B3440"/>
                </a:solidFill>
                <a:latin typeface="Calibri"/>
              </a:rPr>
              <a:t>0.0688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0204" y="3200400"/>
            <a:ext cx="592997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0" i="0">
                <a:solidFill>
                  <a:srgbClr val="2B3440"/>
                </a:solidFill>
                <a:latin typeface="Calibri"/>
              </a:rPr>
              <a:t>0.652  0.555  0.687  0.561  0.498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779008"/>
            <a:ext cx="11057839" cy="603504"/>
          </a:xfrm>
          <a:prstGeom prst="roundRect">
            <a:avLst>
              <a:gd name="adj" fmla="val 21212"/>
            </a:avLst>
          </a:prstGeom>
          <a:solidFill>
            <a:srgbClr val="F8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7" y="5852160"/>
            <a:ext cx="1050919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1">
                <a:solidFill>
                  <a:srgbClr val="2B3440"/>
                </a:solidFill>
                <a:latin typeface="Calibri"/>
              </a:rPr>
              <a:t>Each model's own range is far wider than the gap between their means. Ridge spans 0.510 to 0.743.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A8443A"/>
                </a:solidFill>
                <a:latin typeface="Calibri"/>
              </a:rPr>
              <a:t>SESSION 6  ·  VALIDATION, MODEL SELECTION &amp;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>
                <a:solidFill>
                  <a:srgbClr val="12233A"/>
                </a:solidFill>
                <a:latin typeface="Cambria"/>
              </a:rPr>
              <a:t>Why the comparison must be PAIRED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6E7A8A"/>
                </a:solidFill>
                <a:latin typeface="Calibri"/>
              </a:rPr>
              <a:t>scipy.stats.ttest_rel, not ttest_ind. The folds are not independent samples.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103120"/>
            <a:ext cx="11057839" cy="786384"/>
          </a:xfrm>
          <a:prstGeom prst="roundRect">
            <a:avLst>
              <a:gd name="adj" fmla="val 16279"/>
            </a:avLst>
          </a:prstGeom>
          <a:solidFill>
            <a:srgbClr val="FA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9536" y="2194560"/>
            <a:ext cx="10472623" cy="603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2B3440"/>
                </a:solidFill>
                <a:latin typeface="Calibri"/>
              </a:rPr>
              <a:t>Fold 3 is easier than fold 5 for </a:t>
            </a:r>
            <a:r>
              <a:rPr sz="1600" b="1" i="0">
                <a:solidFill>
                  <a:srgbClr val="A8443A"/>
                </a:solidFill>
                <a:latin typeface="Calibri"/>
              </a:rPr>
              <a:t>both</a:t>
            </a:r>
            <a:r>
              <a:rPr sz="1600" b="0" i="0">
                <a:solidFill>
                  <a:srgbClr val="2B3440"/>
                </a:solidFill>
                <a:latin typeface="Calibri"/>
              </a:rPr>
              <a:t> models. That difficulty is shared, and it dominates the raw spread.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035808"/>
            <a:ext cx="11057839" cy="786384"/>
          </a:xfrm>
          <a:prstGeom prst="roundRect">
            <a:avLst>
              <a:gd name="adj" fmla="val 16279"/>
            </a:avLst>
          </a:prstGeom>
          <a:solidFill>
            <a:srgbClr val="FA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3127248"/>
            <a:ext cx="10472623" cy="603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2B3440"/>
                </a:solidFill>
                <a:latin typeface="Calibri"/>
              </a:rPr>
              <a:t>Subtracting model B from model A </a:t>
            </a:r>
            <a:r>
              <a:rPr sz="1600" b="1" i="0">
                <a:solidFill>
                  <a:srgbClr val="A8443A"/>
                </a:solidFill>
                <a:latin typeface="Calibri"/>
              </a:rPr>
              <a:t>within each fold</a:t>
            </a:r>
            <a:r>
              <a:rPr sz="1600" b="0" i="0">
                <a:solidFill>
                  <a:srgbClr val="2B3440"/>
                </a:solidFill>
                <a:latin typeface="Calibri"/>
              </a:rPr>
              <a:t> cancels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968496"/>
            <a:ext cx="11057839" cy="786384"/>
          </a:xfrm>
          <a:prstGeom prst="roundRect">
            <a:avLst>
              <a:gd name="adj" fmla="val 16279"/>
            </a:avLst>
          </a:prstGeom>
          <a:solidFill>
            <a:srgbClr val="FA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4059935"/>
            <a:ext cx="10472623" cy="603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A8443A"/>
                </a:solidFill>
                <a:latin typeface="Calibri"/>
              </a:rPr>
              <a:t>The differences  </a:t>
            </a:r>
            <a:r>
              <a:rPr sz="1600" b="0" i="0">
                <a:solidFill>
                  <a:srgbClr val="2B3440"/>
                </a:solidFill>
                <a:latin typeface="Calibri"/>
              </a:rPr>
              <a:t>-0.0909, +0.0407, -0.0212, +0.0086, -0.0117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901183"/>
            <a:ext cx="11057839" cy="786384"/>
          </a:xfrm>
          <a:prstGeom prst="roundRect">
            <a:avLst>
              <a:gd name="adj" fmla="val 16279"/>
            </a:avLst>
          </a:prstGeom>
          <a:solidFill>
            <a:srgbClr val="FA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" y="4992623"/>
            <a:ext cx="10472623" cy="603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A8443A"/>
                </a:solidFill>
                <a:latin typeface="Calibri"/>
              </a:rPr>
              <a:t>Look at the signs before the p-value  </a:t>
            </a:r>
            <a:r>
              <a:rPr sz="1600" b="0" i="0">
                <a:solidFill>
                  <a:srgbClr val="2B3440"/>
                </a:solidFill>
                <a:latin typeface="Calibri"/>
              </a:rPr>
              <a:t>they do not even agree on a direction.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A8443A"/>
                </a:solidFill>
                <a:latin typeface="Calibri"/>
              </a:rPr>
              <a:t>SESSION 6  ·  VALIDATION, MODEL SELECTION &amp;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>
                <a:solidFill>
                  <a:srgbClr val="12233A"/>
                </a:solidFill>
                <a:latin typeface="Cambria"/>
              </a:rPr>
              <a:t>The verdict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956816"/>
            <a:ext cx="4617720" cy="4398264"/>
          </a:xfrm>
          <a:prstGeom prst="roundRect">
            <a:avLst>
              <a:gd name="adj" fmla="val 2910"/>
            </a:avLst>
          </a:prstGeom>
          <a:solidFill>
            <a:srgbClr val="F9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7" y="2924434"/>
            <a:ext cx="406908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600" b="1" i="0">
                <a:solidFill>
                  <a:srgbClr val="A9660B"/>
                </a:solidFill>
                <a:latin typeface="Cambria"/>
              </a:rPr>
              <a:t>p = 0.531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4683739"/>
            <a:ext cx="4069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0" i="0">
                <a:solidFill>
                  <a:srgbClr val="6E7A8A"/>
                </a:solidFill>
                <a:latin typeface="Calibri"/>
              </a:rPr>
              <a:t>paired t-test, HistGB against Ridge  ·  t = -0.685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04688" y="1956816"/>
            <a:ext cx="6120079" cy="1356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0" i="0">
                <a:solidFill>
                  <a:srgbClr val="2B3440"/>
                </a:solidFill>
                <a:latin typeface="Calibri"/>
              </a:rPr>
              <a:t>Mean difference -0.0149, standard deviation 0.0486 - three times the difference itself.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04688" y="3422904"/>
            <a:ext cx="6120079" cy="1356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0" i="0">
                <a:solidFill>
                  <a:srgbClr val="2B3440"/>
                </a:solidFill>
                <a:latin typeface="Calibri"/>
              </a:rPr>
              <a:t>HistGB wins on 2 folds of 5 and loses on 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04688" y="4888992"/>
            <a:ext cx="6120079" cy="1356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1" i="0">
                <a:solidFill>
                  <a:srgbClr val="A8443A"/>
                </a:solidFill>
                <a:latin typeface="Calibri"/>
              </a:rPr>
              <a:t>Conclusion: no detectable difference.</a:t>
            </a:r>
            <a:r>
              <a:rPr sz="1600" b="0" i="0">
                <a:solidFill>
                  <a:srgbClr val="2B3440"/>
                </a:solidFill>
                <a:latin typeface="Calibri"/>
              </a:rPr>
              <a:t> Not “Ridge is better”. Reporting either as the winner would be unsupported.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A8443A"/>
                </a:solidFill>
                <a:latin typeface="Calibri"/>
              </a:rPr>
              <a:t>SESSION 6  ·  VALIDATION, MODEL SELECTION &amp;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>
                <a:solidFill>
                  <a:srgbClr val="12233A"/>
                </a:solidFill>
                <a:latin typeface="Cambria"/>
              </a:rPr>
              <a:t>Contrast this with Session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6E7A8A"/>
                </a:solidFill>
                <a:latin typeface="Calibri"/>
              </a:rPr>
              <a:t>Same test, same course, opposite conclusions. The signs tell you before the p-value does.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157984"/>
            <a:ext cx="5373471" cy="4197096"/>
          </a:xfrm>
          <a:prstGeom prst="roundRect">
            <a:avLst>
              <a:gd name="adj" fmla="val 3050"/>
            </a:avLst>
          </a:prstGeom>
          <a:solidFill>
            <a:srgbClr val="F8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2340864"/>
            <a:ext cx="4824831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9E2B25"/>
                </a:solidFill>
                <a:latin typeface="Cambria"/>
              </a:rPr>
              <a:t>Session 6  ·  Ridge vs HistGB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889504"/>
            <a:ext cx="4824831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9E2B25"/>
                </a:solidFill>
                <a:latin typeface="Cambria"/>
              </a:rPr>
              <a:t>p = 0.531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3858768"/>
            <a:ext cx="4824831" cy="701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2B3440"/>
                </a:solidFill>
                <a:latin typeface="Calibri"/>
              </a:rPr>
              <a:t>Signs: - + - + 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4632960"/>
            <a:ext cx="4824831" cy="701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2B3440"/>
                </a:solidFill>
                <a:latin typeface="Calibri"/>
              </a:rPr>
              <a:t>Two wins, three losses, no consistent direction.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5407152"/>
            <a:ext cx="4824831" cy="701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2B3440"/>
                </a:solidFill>
                <a:latin typeface="Calibri"/>
              </a:rPr>
              <a:t>The correct report is “within noise”.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1295" y="2157984"/>
            <a:ext cx="5373471" cy="4197096"/>
          </a:xfrm>
          <a:prstGeom prst="roundRect">
            <a:avLst>
              <a:gd name="adj" fmla="val 3050"/>
            </a:avLst>
          </a:prstGeom>
          <a:solidFill>
            <a:srgbClr val="EF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25615" y="2340864"/>
            <a:ext cx="4824831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1F6F5C"/>
                </a:solidFill>
                <a:latin typeface="Cambria"/>
              </a:rPr>
              <a:t>Session 5  ·  the licence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5615" y="2889504"/>
            <a:ext cx="4824831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1F6F5C"/>
                </a:solidFill>
                <a:latin typeface="Cambria"/>
              </a:rPr>
              <a:t>p = 0.0017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5615" y="3858768"/>
            <a:ext cx="4824831" cy="701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2B3440"/>
                </a:solidFill>
                <a:latin typeface="Calibri"/>
              </a:rPr>
              <a:t>Signs: all five the same.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5615" y="4632960"/>
            <a:ext cx="4824831" cy="701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2B3440"/>
                </a:solidFill>
                <a:latin typeface="Calibri"/>
              </a:rPr>
              <a:t>Every fold agrees on the direction.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5615" y="5407152"/>
            <a:ext cx="4824831" cy="701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2B3440"/>
                </a:solidFill>
                <a:latin typeface="Calibri"/>
              </a:rPr>
              <a:t>That is what a real difference looks like.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D8ABA6"/>
                </a:solidFill>
                <a:latin typeface="Calibri"/>
              </a:rPr>
              <a:t>SESSION 6  ·  VALIDATION, MODEL SELECTION &amp;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121408"/>
            <a:ext cx="11057839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600" b="1" i="0">
                <a:solidFill>
                  <a:srgbClr val="FFFFFF"/>
                </a:solidFill>
                <a:latin typeface="Cambria"/>
              </a:rPr>
              <a:t>Report the interval, not the point.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4224528"/>
            <a:ext cx="2011680" cy="0"/>
          </a:xfrm>
          <a:prstGeom prst="line">
            <a:avLst/>
          </a:prstGeom>
          <a:ln w="25400">
            <a:solidFill>
              <a:srgbClr val="E9A9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4443984"/>
            <a:ext cx="11057839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9FB0C4"/>
                </a:solidFill>
                <a:latin typeface="Calibri"/>
              </a:rPr>
              <a:t>“R² = 0.61” is a claim you cannot support. “R² = 0.61, and the fold-to-fold spread is ± 0.10” is a claim a client can act on - including the action of deciding it is not good enough yet.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D8ABA6"/>
                </a:solidFill>
                <a:latin typeface="Calibri"/>
              </a:rPr>
              <a:t>SESSION 6  ·  VALIDATION, MODEL SELECTION &amp;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4" name="Oval 3"/>
          <p:cNvSpPr/>
          <p:nvPr/>
        </p:nvSpPr>
        <p:spPr>
          <a:xfrm>
            <a:off x="566928" y="1993392"/>
            <a:ext cx="841248" cy="841248"/>
          </a:xfrm>
          <a:prstGeom prst="ellipse">
            <a:avLst/>
          </a:prstGeom>
          <a:solidFill>
            <a:srgbClr val="E9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fr-FR" sz="2600" b="1" dirty="0">
                <a:solidFill>
                  <a:srgbClr val="12233A"/>
                </a:solidFill>
                <a:latin typeface="Calibri"/>
              </a:rPr>
              <a:t>6</a:t>
            </a:r>
            <a:endParaRPr sz="2600" b="1" i="0" dirty="0">
              <a:solidFill>
                <a:srgbClr val="12233A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09928" y="1975104"/>
            <a:ext cx="7948879" cy="12435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Search, and the last hiding place for optimism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09928" y="3346704"/>
            <a:ext cx="7948879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FB0C4"/>
                </a:solidFill>
                <a:latin typeface="Calibri"/>
              </a:rPr>
              <a:t>How to look for hyperparameters, and why looking costs you something.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A8443A"/>
                </a:solidFill>
                <a:latin typeface="Calibri"/>
              </a:rPr>
              <a:t>SESSION 6  ·  VALIDATION, MODEL SELECTION &amp;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>
                <a:solidFill>
                  <a:srgbClr val="12233A"/>
                </a:solidFill>
                <a:latin typeface="Cambria"/>
              </a:rPr>
              <a:t>Three ways to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6E7A8A"/>
                </a:solidFill>
                <a:latin typeface="Calibri"/>
              </a:rPr>
              <a:t>The choice matters less than what you do with the result.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377440"/>
            <a:ext cx="3527450" cy="2514600"/>
          </a:xfrm>
          <a:prstGeom prst="roundRect">
            <a:avLst>
              <a:gd name="adj" fmla="val 5090"/>
            </a:avLst>
          </a:prstGeom>
          <a:solidFill>
            <a:srgbClr val="F9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" y="2615184"/>
            <a:ext cx="457200" cy="457200"/>
          </a:xfrm>
          <a:prstGeom prst="ellipse">
            <a:avLst/>
          </a:prstGeom>
          <a:solidFill>
            <a:srgbClr val="A84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18688"/>
            <a:ext cx="301538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A8443A"/>
                </a:solidFill>
                <a:latin typeface="Cambria"/>
              </a:rPr>
              <a:t>Grid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03904"/>
            <a:ext cx="3015386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B3440"/>
                </a:solidFill>
                <a:latin typeface="Calibri"/>
              </a:rPr>
              <a:t>Every combination. Exhaustive, and the cost explodes with the number of parameters.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2666" y="3429000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0" i="0">
                <a:solidFill>
                  <a:srgbClr val="D4A29C"/>
                </a:solidFill>
                <a:latin typeface="Calibr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2122" y="2377440"/>
            <a:ext cx="3527450" cy="2514600"/>
          </a:xfrm>
          <a:prstGeom prst="roundRect">
            <a:avLst>
              <a:gd name="adj" fmla="val 5090"/>
            </a:avLst>
          </a:prstGeom>
          <a:solidFill>
            <a:srgbClr val="F9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88154" y="2615184"/>
            <a:ext cx="457200" cy="457200"/>
          </a:xfrm>
          <a:prstGeom prst="ellipse">
            <a:avLst/>
          </a:prstGeom>
          <a:solidFill>
            <a:srgbClr val="A84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8154" y="3218688"/>
            <a:ext cx="301538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A8443A"/>
                </a:solidFill>
                <a:latin typeface="Cambria"/>
              </a:rPr>
              <a:t>Random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8154" y="3803904"/>
            <a:ext cx="3015386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B3440"/>
                </a:solidFill>
                <a:latin typeface="Calibri"/>
              </a:rPr>
              <a:t>Sample combinations. Usually finds as good a point for far less compute.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77860" y="3429000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0" i="0">
                <a:solidFill>
                  <a:srgbClr val="D4A29C"/>
                </a:solidFill>
                <a:latin typeface="Calibr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7316" y="2377440"/>
            <a:ext cx="3527450" cy="2514600"/>
          </a:xfrm>
          <a:prstGeom prst="roundRect">
            <a:avLst>
              <a:gd name="adj" fmla="val 5090"/>
            </a:avLst>
          </a:prstGeom>
          <a:solidFill>
            <a:srgbClr val="F9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353348" y="2615184"/>
            <a:ext cx="457200" cy="457200"/>
          </a:xfrm>
          <a:prstGeom prst="ellipse">
            <a:avLst/>
          </a:prstGeom>
          <a:solidFill>
            <a:srgbClr val="A84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348" y="3218688"/>
            <a:ext cx="301538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A8443A"/>
                </a:solidFill>
                <a:latin typeface="Cambria"/>
              </a:rPr>
              <a:t>Halving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3348" y="3803904"/>
            <a:ext cx="3015386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B3440"/>
                </a:solidFill>
                <a:latin typeface="Calibri"/>
              </a:rPr>
              <a:t>Start many candidates on little data; keep the survivors and give them more.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D8ABA6"/>
                </a:solidFill>
                <a:latin typeface="Calibri"/>
              </a:rPr>
              <a:t>SESSION 6  ·  VALIDATION, MODEL SELECTION &amp;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121408"/>
            <a:ext cx="11057839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600" b="1" i="0">
                <a:solidFill>
                  <a:srgbClr val="FFFFFF"/>
                </a:solidFill>
                <a:latin typeface="Cambria"/>
              </a:rPr>
              <a:t>If you choose the winner by looking at the folds, the folds can no longer score it honestly.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4224528"/>
            <a:ext cx="2011680" cy="0"/>
          </a:xfrm>
          <a:prstGeom prst="line">
            <a:avLst/>
          </a:prstGeom>
          <a:ln w="25400">
            <a:solidFill>
              <a:srgbClr val="E9A9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4443984"/>
            <a:ext cx="11057839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9FB0C4"/>
                </a:solidFill>
                <a:latin typeface="Calibri"/>
              </a:rPr>
              <a:t>This is selection optimism. It is the same mistake as the sealed test set, one level down - and it is much easier to make, because nothing about it looks like cheating.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A8443A"/>
                </a:solidFill>
                <a:latin typeface="Calibri"/>
              </a:rPr>
              <a:t>SESSION 6  ·  VALIDATION, MODEL SELECTION &amp;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>
                <a:solidFill>
                  <a:srgbClr val="12233A"/>
                </a:solidFill>
                <a:latin typeface="Cambria"/>
              </a:rPr>
              <a:t>Nested cross-validation, measured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6E7A8A"/>
                </a:solidFill>
                <a:latin typeface="Calibri"/>
              </a:rPr>
              <a:t>Inner loop picks α. Outer loop measures how well “fit a model and tune α” generalises.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157984"/>
            <a:ext cx="5373471" cy="4197096"/>
          </a:xfrm>
          <a:prstGeom prst="roundRect">
            <a:avLst>
              <a:gd name="adj" fmla="val 3050"/>
            </a:avLst>
          </a:prstGeom>
          <a:solidFill>
            <a:srgbClr val="F8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2340864"/>
            <a:ext cx="4824831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9E2B25"/>
                </a:solidFill>
                <a:latin typeface="Cambria"/>
              </a:rPr>
              <a:t>Report the best inner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889504"/>
            <a:ext cx="4824831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9E2B25"/>
                </a:solidFill>
                <a:latin typeface="Cambria"/>
              </a:rPr>
              <a:t>0.6284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3858768"/>
            <a:ext cx="4824831" cy="701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2B3440"/>
                </a:solidFill>
                <a:latin typeface="Calibri"/>
              </a:rPr>
              <a:t>Run GridSearchCV, take </a:t>
            </a:r>
            <a:r>
              <a:rPr sz="1350" b="0" i="0">
                <a:solidFill>
                  <a:srgbClr val="2B3440"/>
                </a:solidFill>
                <a:latin typeface="Courier New"/>
              </a:rPr>
              <a:t>best_score_</a:t>
            </a:r>
            <a:r>
              <a:rPr sz="1450" b="0" i="0">
                <a:solidFill>
                  <a:srgbClr val="2B3440"/>
                </a:solidFill>
                <a:latin typeface="Calibri"/>
              </a:rPr>
              <a:t>, report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4632960"/>
            <a:ext cx="4824831" cy="701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2B3440"/>
                </a:solidFill>
                <a:latin typeface="Calibri"/>
              </a:rPr>
              <a:t>This is what almost everyone does.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5407152"/>
            <a:ext cx="4824831" cy="701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2B3440"/>
                </a:solidFill>
                <a:latin typeface="Calibri"/>
              </a:rPr>
              <a:t>α = 10 won, out of only six candidates.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1295" y="2157984"/>
            <a:ext cx="5373471" cy="4197096"/>
          </a:xfrm>
          <a:prstGeom prst="roundRect">
            <a:avLst>
              <a:gd name="adj" fmla="val 3050"/>
            </a:avLst>
          </a:prstGeom>
          <a:solidFill>
            <a:srgbClr val="EF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25615" y="2340864"/>
            <a:ext cx="4824831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1F6F5C"/>
                </a:solidFill>
                <a:latin typeface="Cambria"/>
              </a:rPr>
              <a:t>Nested CV - the honest estimate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5615" y="2889504"/>
            <a:ext cx="4824831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1F6F5C"/>
                </a:solidFill>
                <a:latin typeface="Cambria"/>
              </a:rPr>
              <a:t>0.6103  ±  0.0967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5615" y="3858768"/>
            <a:ext cx="4824831" cy="701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2B3440"/>
                </a:solidFill>
                <a:latin typeface="Calibri"/>
              </a:rPr>
              <a:t>The whole search becomes the estimator.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5615" y="4632960"/>
            <a:ext cx="4824831" cy="701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2B3440"/>
                </a:solidFill>
                <a:latin typeface="Calibri"/>
              </a:rPr>
              <a:t>An outer loop scores it on folds the search never saw.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5615" y="5407152"/>
            <a:ext cx="4824831" cy="701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2B3440"/>
                </a:solidFill>
                <a:latin typeface="Calibri"/>
              </a:rPr>
              <a:t>Measures the procedure, not the winner.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A8443A"/>
                </a:solidFill>
                <a:latin typeface="Calibri"/>
              </a:rPr>
              <a:t>SESSION 6  ·  VALIDATION, MODEL SELECTION &amp;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>
                <a:solidFill>
                  <a:srgbClr val="12233A"/>
                </a:solidFill>
                <a:latin typeface="Cambria"/>
              </a:rPr>
              <a:t>The price of having looked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956816"/>
            <a:ext cx="4617720" cy="4398264"/>
          </a:xfrm>
          <a:prstGeom prst="roundRect">
            <a:avLst>
              <a:gd name="adj" fmla="val 2910"/>
            </a:avLst>
          </a:prstGeom>
          <a:solidFill>
            <a:srgbClr val="F9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7" y="2924434"/>
            <a:ext cx="406908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600" b="1" i="0">
                <a:solidFill>
                  <a:srgbClr val="A9660B"/>
                </a:solidFill>
                <a:latin typeface="Cambria"/>
              </a:rPr>
              <a:t>+0.0182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4683739"/>
            <a:ext cx="4069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0" i="0">
                <a:solidFill>
                  <a:srgbClr val="6E7A8A"/>
                </a:solidFill>
                <a:latin typeface="Calibri"/>
              </a:rPr>
              <a:t>optimism from reporting the inner score, on a grid of just six values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04688" y="1956816"/>
            <a:ext cx="6120079" cy="1356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0" i="0">
                <a:solidFill>
                  <a:srgbClr val="2B3440"/>
                </a:solidFill>
                <a:latin typeface="Calibri"/>
              </a:rPr>
              <a:t>Six candidates. A realistic search has hundreds, and the optimism grows with the size of the grid.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04688" y="3422904"/>
            <a:ext cx="6120079" cy="1356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0" i="0">
                <a:solidFill>
                  <a:srgbClr val="2B3440"/>
                </a:solidFill>
                <a:latin typeface="Calibri"/>
              </a:rPr>
              <a:t>This is why cross-validation does </a:t>
            </a:r>
            <a:r>
              <a:rPr sz="1600" b="1" i="0">
                <a:solidFill>
                  <a:srgbClr val="A8443A"/>
                </a:solidFill>
                <a:latin typeface="Calibri"/>
              </a:rPr>
              <a:t>not</a:t>
            </a:r>
            <a:r>
              <a:rPr sz="1600" b="0" i="0">
                <a:solidFill>
                  <a:srgbClr val="2B3440"/>
                </a:solidFill>
                <a:latin typeface="Calibri"/>
              </a:rPr>
              <a:t> remove the need for a test set.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04688" y="4888992"/>
            <a:ext cx="6120079" cy="1356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0" i="0">
                <a:solidFill>
                  <a:srgbClr val="2B3440"/>
                </a:solidFill>
                <a:latin typeface="Calibri"/>
              </a:rPr>
              <a:t>It is also small enough to be invisible unless you measure it - which is precisely the problem.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D8ABA6"/>
                </a:solidFill>
                <a:latin typeface="Calibri"/>
              </a:rPr>
              <a:t>SESSION 6  ·  VALIDATION, MODEL SELECTION &amp;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4" name="Oval 3"/>
          <p:cNvSpPr/>
          <p:nvPr/>
        </p:nvSpPr>
        <p:spPr>
          <a:xfrm>
            <a:off x="566928" y="1993392"/>
            <a:ext cx="841248" cy="841248"/>
          </a:xfrm>
          <a:prstGeom prst="ellipse">
            <a:avLst/>
          </a:prstGeom>
          <a:solidFill>
            <a:srgbClr val="E9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2600" b="1" dirty="0">
                <a:solidFill>
                  <a:srgbClr val="12233A"/>
                </a:solidFill>
                <a:latin typeface="Calibri"/>
              </a:rPr>
              <a:t>7</a:t>
            </a:r>
            <a:endParaRPr sz="2600" b="1" i="0" dirty="0">
              <a:solidFill>
                <a:srgbClr val="12233A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09928" y="1975104"/>
            <a:ext cx="7948879" cy="12435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Common mistakes, and what to take 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09928" y="3346704"/>
            <a:ext cx="7948879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FB0C4"/>
                </a:solidFill>
                <a:latin typeface="Calibri"/>
              </a:rPr>
              <a:t>The four beliefs this session exists to break.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A8443A"/>
                </a:solidFill>
                <a:latin typeface="Calibri"/>
              </a:rPr>
              <a:t>SESSION 6  ·  VALIDATION, MODEL SELECTION &amp;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dirty="0">
                <a:solidFill>
                  <a:srgbClr val="12233A"/>
                </a:solidFill>
                <a:latin typeface="Cambria"/>
              </a:rPr>
              <a:t>Four things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847088"/>
            <a:ext cx="11057839" cy="420624"/>
          </a:xfrm>
          <a:prstGeom prst="rect">
            <a:avLst/>
          </a:prstGeom>
          <a:solidFill>
            <a:srgbClr val="F3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901952"/>
            <a:ext cx="427824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A8443A"/>
                </a:solidFill>
                <a:latin typeface="Calibri"/>
              </a:rPr>
              <a:t>Belief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8952" y="1901952"/>
            <a:ext cx="612122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A8443A"/>
                </a:solidFill>
                <a:latin typeface="Calibri"/>
              </a:rPr>
              <a:t>What today measured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267712"/>
            <a:ext cx="11057839" cy="585216"/>
          </a:xfrm>
          <a:prstGeom prst="rect">
            <a:avLst/>
          </a:prstGeom>
          <a:solidFill>
            <a:srgbClr val="FC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322576"/>
            <a:ext cx="427824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2B3440"/>
                </a:solidFill>
                <a:latin typeface="Calibri"/>
              </a:rPr>
              <a:t>“0.834 beats 0.831, so A is better.”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8952" y="2322576"/>
            <a:ext cx="6121222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2B3440"/>
                </a:solidFill>
                <a:latin typeface="Calibri"/>
              </a:rPr>
              <a:t>The fold spread is around ± 0.09. Compare per fold and look at the signs.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852928"/>
            <a:ext cx="11057839" cy="585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907792"/>
            <a:ext cx="427824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2B3440"/>
                </a:solidFill>
                <a:latin typeface="Calibri"/>
              </a:rPr>
              <a:t>“Cross-validation removes the need for a test set.”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8952" y="2907792"/>
            <a:ext cx="6121222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2B3440"/>
                </a:solidFill>
                <a:latin typeface="Calibri"/>
              </a:rPr>
              <a:t>Selecting on CV makes CV optimistic. +0.018 from six candidates.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438144"/>
            <a:ext cx="11057839" cy="585216"/>
          </a:xfrm>
          <a:prstGeom prst="rect">
            <a:avLst/>
          </a:prstGeom>
          <a:solidFill>
            <a:srgbClr val="FC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493008"/>
            <a:ext cx="427824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2B3440"/>
                </a:solidFill>
                <a:latin typeface="Calibri"/>
              </a:rPr>
              <a:t>“Random K-fold is the sensible default.”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8952" y="3493008"/>
            <a:ext cx="6121222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2B3440"/>
                </a:solidFill>
                <a:latin typeface="Calibri"/>
              </a:rPr>
              <a:t>80.5% of listings share a host. The inflation is +0.0455.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4023360"/>
            <a:ext cx="11057839" cy="585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4078224"/>
            <a:ext cx="427824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2B3440"/>
                </a:solidFill>
                <a:latin typeface="Calibri"/>
              </a:rPr>
              <a:t>“A feature available at prediction time cannot be leakage.”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8952" y="4078224"/>
            <a:ext cx="6121222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2B3440"/>
                </a:solidFill>
                <a:latin typeface="Calibri"/>
              </a:rPr>
              <a:t>minimum_nights is available, passes every test, and is still wrong here.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D8ABA6"/>
                </a:solidFill>
                <a:latin typeface="Calibri"/>
              </a:rPr>
              <a:t>SESSION 6  ·  VALIDATION, MODEL SELECTION &amp;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121408"/>
            <a:ext cx="11057839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600" b="1" i="0">
                <a:solidFill>
                  <a:srgbClr val="FFFFFF"/>
                </a:solidFill>
                <a:latin typeface="Cambria"/>
              </a:rPr>
              <a:t>If one thing survives today: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4224528"/>
            <a:ext cx="2011680" cy="0"/>
          </a:xfrm>
          <a:prstGeom prst="line">
            <a:avLst/>
          </a:prstGeom>
          <a:ln w="25400">
            <a:solidFill>
              <a:srgbClr val="E9A9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4443984"/>
            <a:ext cx="11057839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9FB0C4"/>
                </a:solidFill>
                <a:latin typeface="Calibri"/>
              </a:rPr>
              <a:t>The student reports “the difference is within noise” instead of picking the higher number - and asks for the per-fold figures before forming an opinion.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742432"/>
            <a:ext cx="1105783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E9A93D"/>
                </a:solidFill>
                <a:latin typeface="Calibri"/>
              </a:rPr>
              <a:t>M5  ·  tuned model, CV report with intervals, written methodology </a:t>
            </a:r>
            <a:r>
              <a:rPr sz="1400" b="1" i="0" dirty="0" err="1">
                <a:solidFill>
                  <a:srgbClr val="E9A93D"/>
                </a:solidFill>
                <a:latin typeface="Calibri"/>
              </a:rPr>
              <a:t>defence</a:t>
            </a:r>
            <a:r>
              <a:rPr sz="1400" b="1" i="0" dirty="0">
                <a:solidFill>
                  <a:srgbClr val="E9A93D"/>
                </a:solidFill>
                <a:latin typeface="Calibri"/>
              </a:rPr>
              <a:t>, and the re-scoping decision.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f1f443f-436d-4cdc-a6a0-33881fea1bfe}" enabled="0" method="" siteId="{7f1f443f-436d-4cdc-a6a0-33881fea1bf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3500</Words>
  <Application>Microsoft Office PowerPoint</Application>
  <PresentationFormat>Widescreen</PresentationFormat>
  <Paragraphs>363</Paragraphs>
  <Slides>46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Mamadou BALDE</cp:lastModifiedBy>
  <cp:revision>3</cp:revision>
  <dcterms:created xsi:type="dcterms:W3CDTF">2013-01-27T09:14:16Z</dcterms:created>
  <dcterms:modified xsi:type="dcterms:W3CDTF">2026-09-24T21:45:56Z</dcterms:modified>
  <cp:category/>
</cp:coreProperties>
</file>