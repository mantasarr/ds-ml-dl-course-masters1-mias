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Assign with 00a. It is reference, not a lecture - nothing in it is assessed directly, and everything in it is assumed from Session 1 onward.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to spend time on. Managers who have never seen a model built do not know which of these questions is cheap to ask and which is expensive to answer.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habit is the course's spine. Say it here without explaining why - they find out.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8396935" y="-2057400"/>
            <a:ext cx="6126480" cy="6126480"/>
          </a:xfrm>
          <a:prstGeom prst="ellipse">
            <a:avLst/>
          </a:prstGeom>
          <a:solidFill>
            <a:srgbClr val="0545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9677095" y="-777240"/>
            <a:ext cx="3108960" cy="3108960"/>
          </a:xfrm>
          <a:prstGeom prst="ellipse">
            <a:avLst/>
          </a:prstGeom>
          <a:solidFill>
            <a:srgbClr val="075C6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932688"/>
            <a:ext cx="7863840" cy="237744"/>
          </a:xfrm>
          <a:prstGeom prst="rect">
            <a:avLst/>
          </a:prstGeom>
          <a:noFill/>
        </p:spPr>
        <p:txBody>
          <a:bodyPr wrap="square" lIns="0" rIns="0" tIns="0" bIns="0" anchor="t">
            <a:spAutoFit/>
          </a:bodyPr>
          <a:lstStyle/>
          <a:p>
            <a:pPr algn="l"/>
            <a:r>
              <a:rPr sz="1150" b="1" i="0">
                <a:solidFill>
                  <a:srgbClr val="A1C6C9"/>
                </a:solidFill>
                <a:latin typeface="Calibri"/>
              </a:rPr>
              <a:t>MASTER  ·  MANAGEMENT DE L'INTELLIGENCE ARTIFICIELLE EN SANTÉ</a:t>
            </a:r>
          </a:p>
        </p:txBody>
      </p:sp>
      <p:sp>
        <p:nvSpPr>
          <p:cNvPr id="6" name="TextBox 5"/>
          <p:cNvSpPr txBox="1"/>
          <p:nvPr/>
        </p:nvSpPr>
        <p:spPr>
          <a:xfrm>
            <a:off x="566928" y="1188720"/>
            <a:ext cx="7863840" cy="219456"/>
          </a:xfrm>
          <a:prstGeom prst="rect">
            <a:avLst/>
          </a:prstGeom>
          <a:noFill/>
        </p:spPr>
        <p:txBody>
          <a:bodyPr wrap="square" lIns="0" rIns="0" tIns="0" bIns="0" anchor="t">
            <a:spAutoFit/>
          </a:bodyPr>
          <a:lstStyle/>
          <a:p>
            <a:pPr algn="l"/>
            <a:r>
              <a:rPr sz="1000" b="1" i="0">
                <a:solidFill>
                  <a:srgbClr val="70A8AD"/>
                </a:solidFill>
                <a:latin typeface="Calibri"/>
              </a:rPr>
              <a:t>DATA SCIENCE, MACHINE LEARNING &amp; DEEP LEARNING</a:t>
            </a:r>
          </a:p>
        </p:txBody>
      </p:sp>
      <p:sp>
        <p:nvSpPr>
          <p:cNvPr id="7" name="TextBox 6"/>
          <p:cNvSpPr txBox="1"/>
          <p:nvPr/>
        </p:nvSpPr>
        <p:spPr>
          <a:xfrm>
            <a:off x="566928" y="1591056"/>
            <a:ext cx="7315200" cy="1920240"/>
          </a:xfrm>
          <a:prstGeom prst="rect">
            <a:avLst/>
          </a:prstGeom>
          <a:noFill/>
        </p:spPr>
        <p:txBody>
          <a:bodyPr wrap="square" lIns="0" rIns="0" tIns="0" bIns="0" anchor="t">
            <a:spAutoFit/>
          </a:bodyPr>
          <a:lstStyle/>
          <a:p>
            <a:pPr algn="l">
              <a:lnSpc>
                <a:spcPct val="106000"/>
              </a:lnSpc>
            </a:pPr>
            <a:r>
              <a:rPr sz="4000" b="1" i="0">
                <a:solidFill>
                  <a:srgbClr val="FFFFFF"/>
                </a:solidFill>
                <a:latin typeface="Cambria"/>
              </a:rPr>
              <a:t>Fundamentals
and vocabulary</a:t>
            </a:r>
          </a:p>
        </p:txBody>
      </p:sp>
      <p:sp>
        <p:nvSpPr>
          <p:cNvPr id="8" name="TextBox 7"/>
          <p:cNvSpPr txBox="1"/>
          <p:nvPr/>
        </p:nvSpPr>
        <p:spPr>
          <a:xfrm>
            <a:off x="566928" y="3703320"/>
            <a:ext cx="7498079" cy="1005840"/>
          </a:xfrm>
          <a:prstGeom prst="rect">
            <a:avLst/>
          </a:prstGeom>
          <a:noFill/>
        </p:spPr>
        <p:txBody>
          <a:bodyPr wrap="square" lIns="0" rIns="0" tIns="0" bIns="0" anchor="t">
            <a:spAutoFit/>
          </a:bodyPr>
          <a:lstStyle/>
          <a:p>
            <a:pPr algn="l">
              <a:lnSpc>
                <a:spcPct val="128000"/>
              </a:lnSpc>
            </a:pPr>
            <a:r>
              <a:rPr sz="1600" b="0" i="1">
                <a:solidFill>
                  <a:srgbClr val="9FB0C4"/>
                </a:solidFill>
                <a:latin typeface="Calibri"/>
              </a:rPr>
              <a:t>The ideas and the words the rest of the course assumes. Read it before Session 1, then come back to it whenever a term stops making sense.</a:t>
            </a:r>
          </a:p>
        </p:txBody>
      </p:sp>
      <p:sp>
        <p:nvSpPr>
          <p:cNvPr id="9" name="TextBox 8"/>
          <p:cNvSpPr txBox="1"/>
          <p:nvPr/>
        </p:nvSpPr>
        <p:spPr>
          <a:xfrm>
            <a:off x="566928" y="5029200"/>
            <a:ext cx="7498079" cy="274320"/>
          </a:xfrm>
          <a:prstGeom prst="rect">
            <a:avLst/>
          </a:prstGeom>
          <a:noFill/>
        </p:spPr>
        <p:txBody>
          <a:bodyPr wrap="square" lIns="0" rIns="0" tIns="0" bIns="0" anchor="t">
            <a:spAutoFit/>
          </a:bodyPr>
          <a:lstStyle/>
          <a:p>
            <a:pPr algn="l"/>
            <a:r>
              <a:rPr sz="1300" b="1" i="0">
                <a:solidFill>
                  <a:srgbClr val="FFFFFF"/>
                </a:solidFill>
                <a:latin typeface="Calibri"/>
              </a:rPr>
              <a:t>Start here</a:t>
            </a:r>
            <a:r>
              <a:rPr sz="1300" b="0" i="0">
                <a:solidFill>
                  <a:srgbClr val="9CC3C7"/>
                </a:solidFill>
                <a:latin typeface="Calibri"/>
              </a:rPr>
              <a:t>     no prior machine learning assumed</a:t>
            </a:r>
          </a:p>
        </p:txBody>
      </p:sp>
      <p:sp>
        <p:nvSpPr>
          <p:cNvPr id="10" name="TextBox 9"/>
          <p:cNvSpPr txBox="1"/>
          <p:nvPr/>
        </p:nvSpPr>
        <p:spPr>
          <a:xfrm>
            <a:off x="566928" y="5705856"/>
            <a:ext cx="5486400" cy="201168"/>
          </a:xfrm>
          <a:prstGeom prst="rect">
            <a:avLst/>
          </a:prstGeom>
          <a:noFill/>
        </p:spPr>
        <p:txBody>
          <a:bodyPr wrap="square" lIns="0" rIns="0" tIns="0" bIns="0" anchor="t">
            <a:spAutoFit/>
          </a:bodyPr>
          <a:lstStyle/>
          <a:p>
            <a:pPr algn="l"/>
            <a:r>
              <a:rPr sz="950" b="1" i="0">
                <a:solidFill>
                  <a:srgbClr val="77ACB1"/>
                </a:solidFill>
                <a:latin typeface="Calibri"/>
              </a:rPr>
              <a:t>WHAT IS IN HERE</a:t>
            </a:r>
          </a:p>
        </p:txBody>
      </p:sp>
      <p:sp>
        <p:nvSpPr>
          <p:cNvPr id="11" name="Rounded Rectangle 10"/>
          <p:cNvSpPr/>
          <p:nvPr/>
        </p:nvSpPr>
        <p:spPr>
          <a:xfrm>
            <a:off x="566928"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Why it matters for you</a:t>
            </a:r>
          </a:p>
        </p:txBody>
      </p:sp>
      <p:sp>
        <p:nvSpPr>
          <p:cNvPr id="12" name="Rounded Rectangle 11"/>
          <p:cNvSpPr/>
          <p:nvPr/>
        </p:nvSpPr>
        <p:spPr>
          <a:xfrm>
            <a:off x="2428189"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What the work is</a:t>
            </a:r>
          </a:p>
        </p:txBody>
      </p:sp>
      <p:sp>
        <p:nvSpPr>
          <p:cNvPr id="13" name="Rounded Rectangle 12"/>
          <p:cNvSpPr/>
          <p:nvPr/>
        </p:nvSpPr>
        <p:spPr>
          <a:xfrm>
            <a:off x="4289450"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Data vs information</a:t>
            </a:r>
          </a:p>
        </p:txBody>
      </p:sp>
      <p:sp>
        <p:nvSpPr>
          <p:cNvPr id="14" name="Rounded Rectangle 13"/>
          <p:cNvSpPr/>
          <p:nvPr/>
        </p:nvSpPr>
        <p:spPr>
          <a:xfrm>
            <a:off x="6150711"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The vocabulary</a:t>
            </a:r>
          </a:p>
        </p:txBody>
      </p:sp>
      <p:sp>
        <p:nvSpPr>
          <p:cNvPr id="15" name="Rounded Rectangle 14"/>
          <p:cNvSpPr/>
          <p:nvPr/>
        </p:nvSpPr>
        <p:spPr>
          <a:xfrm>
            <a:off x="8011972"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How models learn</a:t>
            </a:r>
          </a:p>
        </p:txBody>
      </p:sp>
      <p:sp>
        <p:nvSpPr>
          <p:cNvPr id="16" name="Rounded Rectangle 15"/>
          <p:cNvSpPr/>
          <p:nvPr/>
        </p:nvSpPr>
        <p:spPr>
          <a:xfrm>
            <a:off x="9873234" y="5998464"/>
            <a:ext cx="1751533" cy="457200"/>
          </a:xfrm>
          <a:prstGeom prst="roundRect">
            <a:avLst>
              <a:gd name="adj" fmla="val 20000"/>
            </a:avLst>
          </a:prstGeom>
          <a:solidFill>
            <a:srgbClr val="064A5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050" b="0" i="0">
                <a:solidFill>
                  <a:srgbClr val="BAD5D8"/>
                </a:solidFill>
                <a:latin typeface="Calibri"/>
              </a:rPr>
              <a:t>Buzzwords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82735" y="1280160"/>
            <a:ext cx="4206240" cy="4206240"/>
          </a:xfrm>
          <a:prstGeom prst="ellipse">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097280" cy="457200"/>
          </a:xfrm>
          <a:prstGeom prst="rect">
            <a:avLst/>
          </a:prstGeom>
          <a:noFill/>
        </p:spPr>
        <p:txBody>
          <a:bodyPr wrap="square" lIns="0" rIns="0" tIns="0" bIns="0" anchor="t">
            <a:spAutoFit/>
          </a:bodyPr>
          <a:lstStyle/>
          <a:p>
            <a:pPr algn="l"/>
            <a:r>
              <a:rPr sz="4400" b="1" i="0">
                <a:solidFill>
                  <a:srgbClr val="E9A93D"/>
                </a:solidFill>
                <a:latin typeface="Cambria"/>
              </a:rPr>
              <a:t>1</a:t>
            </a:r>
          </a:p>
        </p:txBody>
      </p:sp>
      <p:sp>
        <p:nvSpPr>
          <p:cNvPr id="5" name="TextBox 4"/>
          <p:cNvSpPr txBox="1"/>
          <p:nvPr/>
        </p:nvSpPr>
        <p:spPr>
          <a:xfrm>
            <a:off x="1801368" y="2377440"/>
            <a:ext cx="6766560" cy="914400"/>
          </a:xfrm>
          <a:prstGeom prst="rect">
            <a:avLst/>
          </a:prstGeom>
          <a:noFill/>
        </p:spPr>
        <p:txBody>
          <a:bodyPr wrap="square" lIns="0" rIns="0" tIns="0" bIns="0" anchor="t">
            <a:spAutoFit/>
          </a:bodyPr>
          <a:lstStyle/>
          <a:p>
            <a:pPr algn="l">
              <a:lnSpc>
                <a:spcPct val="108000"/>
              </a:lnSpc>
            </a:pPr>
            <a:r>
              <a:rPr sz="3400" b="1" i="0">
                <a:solidFill>
                  <a:srgbClr val="FFFFFF"/>
                </a:solidFill>
                <a:latin typeface="Cambria"/>
              </a:rPr>
              <a:t>Why this course, for this Master</a:t>
            </a:r>
          </a:p>
        </p:txBody>
      </p:sp>
      <p:sp>
        <p:nvSpPr>
          <p:cNvPr id="6" name="TextBox 5"/>
          <p:cNvSpPr txBox="1"/>
          <p:nvPr/>
        </p:nvSpPr>
        <p:spPr>
          <a:xfrm>
            <a:off x="1801368" y="3429000"/>
            <a:ext cx="6766560" cy="822960"/>
          </a:xfrm>
          <a:prstGeom prst="rect">
            <a:avLst/>
          </a:prstGeom>
          <a:noFill/>
        </p:spPr>
        <p:txBody>
          <a:bodyPr wrap="square" lIns="0" rIns="0" tIns="0" bIns="0" anchor="t">
            <a:spAutoFit/>
          </a:bodyPr>
          <a:lstStyle/>
          <a:p>
            <a:pPr algn="l">
              <a:lnSpc>
                <a:spcPct val="130000"/>
              </a:lnSpc>
            </a:pPr>
            <a:r>
              <a:rPr sz="1500" b="0" i="1">
                <a:solidFill>
                  <a:srgbClr val="9FB0C4"/>
                </a:solidFill>
                <a:latin typeface="Calibri"/>
              </a:rPr>
              <a:t>You are being trained to manage artificial intelligence in health. That is a judgement job, and this is where the judgement is built.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What this course is actually for</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None of this requires you to become a developer. It requires you to become impossible to mislead.</a:t>
            </a:r>
          </a:p>
        </p:txBody>
      </p:sp>
      <p:sp>
        <p:nvSpPr>
          <p:cNvPr id="5" name="Rounded Rectangle 4"/>
          <p:cNvSpPr/>
          <p:nvPr/>
        </p:nvSpPr>
        <p:spPr>
          <a:xfrm>
            <a:off x="566928" y="1874520"/>
            <a:ext cx="5400903" cy="2011680"/>
          </a:xfrm>
          <a:prstGeom prst="roundRect">
            <a:avLst>
              <a:gd name="adj" fmla="val 6363"/>
            </a:avLst>
          </a:prstGeom>
          <a:solidFill>
            <a:srgbClr val="EB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112264"/>
            <a:ext cx="402336" cy="402336"/>
          </a:xfrm>
          <a:prstGeom prst="ellipse">
            <a:avLst/>
          </a:prstGeom>
          <a:solidFill>
            <a:srgbClr val="086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1</a:t>
            </a:r>
          </a:p>
        </p:txBody>
      </p:sp>
      <p:sp>
        <p:nvSpPr>
          <p:cNvPr id="7" name="TextBox 6"/>
          <p:cNvSpPr txBox="1"/>
          <p:nvPr/>
        </p:nvSpPr>
        <p:spPr>
          <a:xfrm>
            <a:off x="1444752" y="2148840"/>
            <a:ext cx="4267047" cy="274320"/>
          </a:xfrm>
          <a:prstGeom prst="rect">
            <a:avLst/>
          </a:prstGeom>
          <a:noFill/>
        </p:spPr>
        <p:txBody>
          <a:bodyPr wrap="square" lIns="0" rIns="0" tIns="0" bIns="0" anchor="t">
            <a:spAutoFit/>
          </a:bodyPr>
          <a:lstStyle/>
          <a:p>
            <a:pPr algn="l"/>
            <a:r>
              <a:rPr sz="1500" b="1" i="0">
                <a:solidFill>
                  <a:srgbClr val="06545B"/>
                </a:solidFill>
                <a:latin typeface="Calibri"/>
              </a:rPr>
              <a:t>You will commission this work</a:t>
            </a:r>
          </a:p>
        </p:txBody>
      </p:sp>
      <p:sp>
        <p:nvSpPr>
          <p:cNvPr id="8" name="TextBox 7"/>
          <p:cNvSpPr txBox="1"/>
          <p:nvPr/>
        </p:nvSpPr>
        <p:spPr>
          <a:xfrm>
            <a:off x="1444752" y="2478024"/>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Most of you will not write the model. You will decide whether to trust one, buy one, deploy one or stop one. That decision cannot be delegated to the person selling it.</a:t>
            </a:r>
          </a:p>
        </p:txBody>
      </p:sp>
      <p:sp>
        <p:nvSpPr>
          <p:cNvPr id="9" name="Rounded Rectangle 8"/>
          <p:cNvSpPr/>
          <p:nvPr/>
        </p:nvSpPr>
        <p:spPr>
          <a:xfrm>
            <a:off x="6223863" y="1874520"/>
            <a:ext cx="5400903" cy="2011680"/>
          </a:xfrm>
          <a:prstGeom prst="roundRect">
            <a:avLst>
              <a:gd name="adj" fmla="val 6363"/>
            </a:avLst>
          </a:prstGeom>
          <a:solidFill>
            <a:srgbClr val="F8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79895" y="2112264"/>
            <a:ext cx="402336" cy="402336"/>
          </a:xfrm>
          <a:prstGeom prst="ellipse">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2</a:t>
            </a:r>
          </a:p>
        </p:txBody>
      </p:sp>
      <p:sp>
        <p:nvSpPr>
          <p:cNvPr id="11" name="TextBox 10"/>
          <p:cNvSpPr txBox="1"/>
          <p:nvPr/>
        </p:nvSpPr>
        <p:spPr>
          <a:xfrm>
            <a:off x="7101687" y="2148840"/>
            <a:ext cx="4267047" cy="274320"/>
          </a:xfrm>
          <a:prstGeom prst="rect">
            <a:avLst/>
          </a:prstGeom>
          <a:noFill/>
        </p:spPr>
        <p:txBody>
          <a:bodyPr wrap="square" lIns="0" rIns="0" tIns="0" bIns="0" anchor="t">
            <a:spAutoFit/>
          </a:bodyPr>
          <a:lstStyle/>
          <a:p>
            <a:pPr algn="l"/>
            <a:r>
              <a:rPr sz="1500" b="1" i="0">
                <a:solidFill>
                  <a:srgbClr val="875209"/>
                </a:solidFill>
                <a:latin typeface="Calibri"/>
              </a:rPr>
              <a:t>The failure modes do not care about the domain</a:t>
            </a:r>
          </a:p>
        </p:txBody>
      </p:sp>
      <p:sp>
        <p:nvSpPr>
          <p:cNvPr id="12" name="TextBox 11"/>
          <p:cNvSpPr txBox="1"/>
          <p:nvPr/>
        </p:nvSpPr>
        <p:spPr>
          <a:xfrm>
            <a:off x="7101687" y="2478024"/>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Leakage, group structure and optimistic validation behave identically in a rental market and in a hospital record system. Learn them once, recognise them anywhere.</a:t>
            </a:r>
          </a:p>
        </p:txBody>
      </p:sp>
      <p:sp>
        <p:nvSpPr>
          <p:cNvPr id="13" name="Rounded Rectangle 12"/>
          <p:cNvSpPr/>
          <p:nvPr/>
        </p:nvSpPr>
        <p:spPr>
          <a:xfrm>
            <a:off x="566928" y="4142232"/>
            <a:ext cx="5400903" cy="2011680"/>
          </a:xfrm>
          <a:prstGeom prst="roundRect">
            <a:avLst>
              <a:gd name="adj" fmla="val 6363"/>
            </a:avLst>
          </a:prstGeom>
          <a:solidFill>
            <a:srgbClr val="EB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 y="4379976"/>
            <a:ext cx="402336" cy="402336"/>
          </a:xfrm>
          <a:prstGeom prst="ellipse">
            <a:avLst/>
          </a:prstGeom>
          <a:solidFill>
            <a:srgbClr val="086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3</a:t>
            </a:r>
          </a:p>
        </p:txBody>
      </p:sp>
      <p:sp>
        <p:nvSpPr>
          <p:cNvPr id="15" name="TextBox 14"/>
          <p:cNvSpPr txBox="1"/>
          <p:nvPr/>
        </p:nvSpPr>
        <p:spPr>
          <a:xfrm>
            <a:off x="1444752" y="4416552"/>
            <a:ext cx="4267047" cy="274320"/>
          </a:xfrm>
          <a:prstGeom prst="rect">
            <a:avLst/>
          </a:prstGeom>
          <a:noFill/>
        </p:spPr>
        <p:txBody>
          <a:bodyPr wrap="square" lIns="0" rIns="0" tIns="0" bIns="0" anchor="t">
            <a:spAutoFit/>
          </a:bodyPr>
          <a:lstStyle/>
          <a:p>
            <a:pPr algn="l"/>
            <a:r>
              <a:rPr sz="1500" b="1" i="0">
                <a:solidFill>
                  <a:srgbClr val="06545B"/>
                </a:solidFill>
                <a:latin typeface="Calibri"/>
              </a:rPr>
              <a:t>You need to have built one, once</a:t>
            </a:r>
          </a:p>
        </p:txBody>
      </p:sp>
      <p:sp>
        <p:nvSpPr>
          <p:cNvPr id="16" name="TextBox 15"/>
          <p:cNvSpPr txBox="1"/>
          <p:nvPr/>
        </p:nvSpPr>
        <p:spPr>
          <a:xfrm>
            <a:off x="1444752" y="4745736"/>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You cannot audit a process you have never performed. Eleven weeks of doing it yourself is what makes the twelfth week's questions land.</a:t>
            </a:r>
          </a:p>
        </p:txBody>
      </p:sp>
      <p:sp>
        <p:nvSpPr>
          <p:cNvPr id="17" name="Rounded Rectangle 16"/>
          <p:cNvSpPr/>
          <p:nvPr/>
        </p:nvSpPr>
        <p:spPr>
          <a:xfrm>
            <a:off x="6223863" y="4142232"/>
            <a:ext cx="5400903" cy="2011680"/>
          </a:xfrm>
          <a:prstGeom prst="roundRect">
            <a:avLst>
              <a:gd name="adj" fmla="val 6363"/>
            </a:avLst>
          </a:prstGeom>
          <a:solidFill>
            <a:srgbClr val="EB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79895" y="4379976"/>
            <a:ext cx="402336" cy="402336"/>
          </a:xfrm>
          <a:prstGeom prst="ellipse">
            <a:avLst/>
          </a:prstGeom>
          <a:solidFill>
            <a:srgbClr val="086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4</a:t>
            </a:r>
          </a:p>
        </p:txBody>
      </p:sp>
      <p:sp>
        <p:nvSpPr>
          <p:cNvPr id="19" name="TextBox 18"/>
          <p:cNvSpPr txBox="1"/>
          <p:nvPr/>
        </p:nvSpPr>
        <p:spPr>
          <a:xfrm>
            <a:off x="7101687" y="4416552"/>
            <a:ext cx="4267047" cy="274320"/>
          </a:xfrm>
          <a:prstGeom prst="rect">
            <a:avLst/>
          </a:prstGeom>
          <a:noFill/>
        </p:spPr>
        <p:txBody>
          <a:bodyPr wrap="square" lIns="0" rIns="0" tIns="0" bIns="0" anchor="t">
            <a:spAutoFit/>
          </a:bodyPr>
          <a:lstStyle/>
          <a:p>
            <a:pPr algn="l"/>
            <a:r>
              <a:rPr sz="1500" b="1" i="0">
                <a:solidFill>
                  <a:srgbClr val="06545B"/>
                </a:solidFill>
                <a:latin typeface="Calibri"/>
              </a:rPr>
              <a:t>In health, a bad number has a patient behind it</a:t>
            </a:r>
          </a:p>
        </p:txBody>
      </p:sp>
      <p:sp>
        <p:nvSpPr>
          <p:cNvPr id="20" name="TextBox 19"/>
          <p:cNvSpPr txBox="1"/>
          <p:nvPr/>
        </p:nvSpPr>
        <p:spPr>
          <a:xfrm>
            <a:off x="7101687" y="4745736"/>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An over-stated performance figure in a clinical tool is not an embarrassment. It is a safety issue, and increasingly a regulatory one.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Barcelona now, a clinical dataset later</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The dataset is a rental market because it is public, small and messy in exactly the ways health data is. The ideas transfer one to one.</a:t>
            </a:r>
          </a:p>
        </p:txBody>
      </p:sp>
      <p:sp>
        <p:nvSpPr>
          <p:cNvPr id="5" name="TextBox 4"/>
          <p:cNvSpPr txBox="1"/>
          <p:nvPr/>
        </p:nvSpPr>
        <p:spPr>
          <a:xfrm>
            <a:off x="822960" y="1792224"/>
            <a:ext cx="3657600" cy="219456"/>
          </a:xfrm>
          <a:prstGeom prst="rect">
            <a:avLst/>
          </a:prstGeom>
          <a:noFill/>
        </p:spPr>
        <p:txBody>
          <a:bodyPr wrap="square" lIns="0" rIns="0" tIns="0" bIns="0" anchor="t">
            <a:spAutoFit/>
          </a:bodyPr>
          <a:lstStyle/>
          <a:p>
            <a:pPr algn="l"/>
            <a:r>
              <a:rPr sz="1000" b="1" i="0">
                <a:solidFill>
                  <a:srgbClr val="086972"/>
                </a:solidFill>
                <a:latin typeface="Calibri"/>
              </a:rPr>
              <a:t>IN THIS COURSE</a:t>
            </a:r>
          </a:p>
        </p:txBody>
      </p:sp>
      <p:sp>
        <p:nvSpPr>
          <p:cNvPr id="6" name="TextBox 5"/>
          <p:cNvSpPr txBox="1"/>
          <p:nvPr/>
        </p:nvSpPr>
        <p:spPr>
          <a:xfrm>
            <a:off x="5230368" y="1792224"/>
            <a:ext cx="5486400" cy="219456"/>
          </a:xfrm>
          <a:prstGeom prst="rect">
            <a:avLst/>
          </a:prstGeom>
          <a:noFill/>
        </p:spPr>
        <p:txBody>
          <a:bodyPr wrap="square" lIns="0" rIns="0" tIns="0" bIns="0" anchor="t">
            <a:spAutoFit/>
          </a:bodyPr>
          <a:lstStyle/>
          <a:p>
            <a:pPr algn="l"/>
            <a:r>
              <a:rPr sz="1000" b="1" i="0">
                <a:solidFill>
                  <a:srgbClr val="875209"/>
                </a:solidFill>
                <a:latin typeface="Calibri"/>
              </a:rPr>
              <a:t>IN YOUR WORKING LIFE</a:t>
            </a:r>
          </a:p>
        </p:txBody>
      </p:sp>
      <p:sp>
        <p:nvSpPr>
          <p:cNvPr id="7" name="Rounded Rectangle 6"/>
          <p:cNvSpPr/>
          <p:nvPr/>
        </p:nvSpPr>
        <p:spPr>
          <a:xfrm>
            <a:off x="566928" y="2048256"/>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001768" y="2048256"/>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ight Arrow 8"/>
          <p:cNvSpPr/>
          <p:nvPr/>
        </p:nvSpPr>
        <p:spPr>
          <a:xfrm>
            <a:off x="4645152" y="2199785"/>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093976"/>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The sealed test set</a:t>
            </a:r>
          </a:p>
        </p:txBody>
      </p:sp>
      <p:sp>
        <p:nvSpPr>
          <p:cNvPr id="11" name="TextBox 10"/>
          <p:cNvSpPr txBox="1"/>
          <p:nvPr/>
        </p:nvSpPr>
        <p:spPr>
          <a:xfrm>
            <a:off x="5257800" y="2093976"/>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External validation: a site, or a period, the model has never seen</a:t>
            </a:r>
          </a:p>
        </p:txBody>
      </p:sp>
      <p:sp>
        <p:nvSpPr>
          <p:cNvPr id="12" name="Rounded Rectangle 11"/>
          <p:cNvSpPr/>
          <p:nvPr/>
        </p:nvSpPr>
        <p:spPr>
          <a:xfrm>
            <a:off x="566928" y="2634778"/>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001768" y="2634778"/>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ight Arrow 13"/>
          <p:cNvSpPr/>
          <p:nvPr/>
        </p:nvSpPr>
        <p:spPr>
          <a:xfrm>
            <a:off x="4645152" y="2786307"/>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80498"/>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Grouping the split by host</a:t>
            </a:r>
          </a:p>
        </p:txBody>
      </p:sp>
      <p:sp>
        <p:nvSpPr>
          <p:cNvPr id="16" name="TextBox 15"/>
          <p:cNvSpPr txBox="1"/>
          <p:nvPr/>
        </p:nvSpPr>
        <p:spPr>
          <a:xfrm>
            <a:off x="5257800" y="2680498"/>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Grouping by patient and by hospital site, so no one appears on both sides</a:t>
            </a:r>
          </a:p>
        </p:txBody>
      </p:sp>
      <p:sp>
        <p:nvSpPr>
          <p:cNvPr id="17" name="Rounded Rectangle 16"/>
          <p:cNvSpPr/>
          <p:nvPr/>
        </p:nvSpPr>
        <p:spPr>
          <a:xfrm>
            <a:off x="566928" y="3221300"/>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001768" y="3221300"/>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4645152" y="3372829"/>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3267020"/>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Data leakage</a:t>
            </a:r>
          </a:p>
        </p:txBody>
      </p:sp>
      <p:sp>
        <p:nvSpPr>
          <p:cNvPr id="21" name="TextBox 20"/>
          <p:cNvSpPr txBox="1"/>
          <p:nvPr/>
        </p:nvSpPr>
        <p:spPr>
          <a:xfrm>
            <a:off x="5257800" y="3267020"/>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A field completed only because the outcome was already known</a:t>
            </a:r>
          </a:p>
        </p:txBody>
      </p:sp>
      <p:sp>
        <p:nvSpPr>
          <p:cNvPr id="22" name="Rounded Rectangle 21"/>
          <p:cNvSpPr/>
          <p:nvPr/>
        </p:nvSpPr>
        <p:spPr>
          <a:xfrm>
            <a:off x="566928" y="3807822"/>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001768" y="3807822"/>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ight Arrow 23"/>
          <p:cNvSpPr/>
          <p:nvPr/>
        </p:nvSpPr>
        <p:spPr>
          <a:xfrm>
            <a:off x="4645152" y="3959352"/>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2960" y="3853542"/>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Choosing a metric from costs</a:t>
            </a:r>
          </a:p>
        </p:txBody>
      </p:sp>
      <p:sp>
        <p:nvSpPr>
          <p:cNvPr id="26" name="TextBox 25"/>
          <p:cNvSpPr txBox="1"/>
          <p:nvPr/>
        </p:nvSpPr>
        <p:spPr>
          <a:xfrm>
            <a:off x="5257800" y="3853542"/>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A missed diagnosis and an unnecessary intervention are not equally costly</a:t>
            </a:r>
          </a:p>
        </p:txBody>
      </p:sp>
      <p:sp>
        <p:nvSpPr>
          <p:cNvPr id="27" name="Rounded Rectangle 26"/>
          <p:cNvSpPr/>
          <p:nvPr/>
        </p:nvSpPr>
        <p:spPr>
          <a:xfrm>
            <a:off x="566928" y="4394345"/>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001768" y="4394345"/>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ight Arrow 28"/>
          <p:cNvSpPr/>
          <p:nvPr/>
        </p:nvSpPr>
        <p:spPr>
          <a:xfrm>
            <a:off x="4645152" y="4545874"/>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22960" y="4440065"/>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Choosing an operating threshold</a:t>
            </a:r>
          </a:p>
        </p:txBody>
      </p:sp>
      <p:sp>
        <p:nvSpPr>
          <p:cNvPr id="31" name="TextBox 30"/>
          <p:cNvSpPr txBox="1"/>
          <p:nvPr/>
        </p:nvSpPr>
        <p:spPr>
          <a:xfrm>
            <a:off x="5257800" y="4440065"/>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Where to sit on the sensitivity and specificity trade-off, and who decides</a:t>
            </a:r>
          </a:p>
        </p:txBody>
      </p:sp>
      <p:sp>
        <p:nvSpPr>
          <p:cNvPr id="32" name="Rounded Rectangle 31"/>
          <p:cNvSpPr/>
          <p:nvPr/>
        </p:nvSpPr>
        <p:spPr>
          <a:xfrm>
            <a:off x="566928" y="4980867"/>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001768" y="4980867"/>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ight Arrow 33"/>
          <p:cNvSpPr/>
          <p:nvPr/>
        </p:nvSpPr>
        <p:spPr>
          <a:xfrm>
            <a:off x="4645152" y="5132396"/>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22960" y="5026587"/>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Subgroup error analysis</a:t>
            </a:r>
          </a:p>
        </p:txBody>
      </p:sp>
      <p:sp>
        <p:nvSpPr>
          <p:cNvPr id="36" name="TextBox 35"/>
          <p:cNvSpPr txBox="1"/>
          <p:nvPr/>
        </p:nvSpPr>
        <p:spPr>
          <a:xfrm>
            <a:off x="5257800" y="5026587"/>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An equity audit across age, sex, site and deprivation</a:t>
            </a:r>
          </a:p>
        </p:txBody>
      </p:sp>
      <p:sp>
        <p:nvSpPr>
          <p:cNvPr id="37" name="Rounded Rectangle 36"/>
          <p:cNvSpPr/>
          <p:nvPr/>
        </p:nvSpPr>
        <p:spPr>
          <a:xfrm>
            <a:off x="566928" y="5567389"/>
            <a:ext cx="3977639" cy="467650"/>
          </a:xfrm>
          <a:prstGeom prst="roundRect">
            <a:avLst>
              <a:gd name="adj" fmla="val 2737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001768" y="5567389"/>
            <a:ext cx="6622999" cy="467650"/>
          </a:xfrm>
          <a:prstGeom prst="roundRect">
            <a:avLst>
              <a:gd name="adj" fmla="val 27374"/>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ight Arrow 38"/>
          <p:cNvSpPr/>
          <p:nvPr/>
        </p:nvSpPr>
        <p:spPr>
          <a:xfrm>
            <a:off x="4645152" y="5718918"/>
            <a:ext cx="256032"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22960" y="5613109"/>
            <a:ext cx="3520439" cy="376210"/>
          </a:xfrm>
          <a:prstGeom prst="rect">
            <a:avLst/>
          </a:prstGeom>
          <a:noFill/>
        </p:spPr>
        <p:txBody>
          <a:bodyPr wrap="square" lIns="0" rIns="0" tIns="0" bIns="0" anchor="ctr">
            <a:spAutoFit/>
          </a:bodyPr>
          <a:lstStyle/>
          <a:p>
            <a:pPr algn="l">
              <a:lnSpc>
                <a:spcPct val="115000"/>
              </a:lnSpc>
            </a:pPr>
            <a:r>
              <a:rPr sz="1250" b="1" i="0">
                <a:solidFill>
                  <a:srgbClr val="06545B"/>
                </a:solidFill>
                <a:latin typeface="Calibri"/>
              </a:rPr>
              <a:t>The Model Card</a:t>
            </a:r>
          </a:p>
        </p:txBody>
      </p:sp>
      <p:sp>
        <p:nvSpPr>
          <p:cNvPr id="41" name="TextBox 40"/>
          <p:cNvSpPr txBox="1"/>
          <p:nvPr/>
        </p:nvSpPr>
        <p:spPr>
          <a:xfrm>
            <a:off x="5257800" y="5613109"/>
            <a:ext cx="6110935" cy="376210"/>
          </a:xfrm>
          <a:prstGeom prst="rect">
            <a:avLst/>
          </a:prstGeom>
          <a:noFill/>
        </p:spPr>
        <p:txBody>
          <a:bodyPr wrap="square" lIns="0" rIns="0" tIns="0" bIns="0" anchor="ctr">
            <a:spAutoFit/>
          </a:bodyPr>
          <a:lstStyle/>
          <a:p>
            <a:pPr algn="l">
              <a:lnSpc>
                <a:spcPct val="115000"/>
              </a:lnSpc>
            </a:pPr>
            <a:r>
              <a:rPr sz="1200" b="0" i="0">
                <a:solidFill>
                  <a:srgbClr val="2B3440"/>
                </a:solidFill>
                <a:latin typeface="Calibri"/>
              </a:rPr>
              <a:t>The technical documentation a regulator or an ethics board will ask for</a:t>
            </a:r>
          </a:p>
        </p:txBody>
      </p:sp>
      <p:sp>
        <p:nvSpPr>
          <p:cNvPr id="42" name="TextBox 41"/>
          <p:cNvSpPr txBox="1"/>
          <p:nvPr/>
        </p:nvSpPr>
        <p:spPr>
          <a:xfrm>
            <a:off x="566928" y="6144768"/>
            <a:ext cx="11057839" cy="41148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Health data is not better behaved than this. It is worse: repeated measurements on the same patient, differences between sites, and missingness that records how someone was cared for.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The questions you will be able to ask</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By the end of the course, each of these is a question you can ask a vendor or a data team, and judge the answer to.</a:t>
            </a:r>
          </a:p>
        </p:txBody>
      </p:sp>
      <p:sp>
        <p:nvSpPr>
          <p:cNvPr id="5" name="Rounded Rectangle 4"/>
          <p:cNvSpPr/>
          <p:nvPr/>
        </p:nvSpPr>
        <p:spPr>
          <a:xfrm>
            <a:off x="566928" y="1664208"/>
            <a:ext cx="5373471" cy="1466088"/>
          </a:xfrm>
          <a:prstGeom prst="roundRect">
            <a:avLst>
              <a:gd name="adj" fmla="val 8731"/>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83080"/>
            <a:ext cx="4916271" cy="237744"/>
          </a:xfrm>
          <a:prstGeom prst="rect">
            <a:avLst/>
          </a:prstGeom>
          <a:noFill/>
        </p:spPr>
        <p:txBody>
          <a:bodyPr wrap="square" lIns="0" rIns="0" tIns="0" bIns="0" anchor="t">
            <a:spAutoFit/>
          </a:bodyPr>
          <a:lstStyle/>
          <a:p>
            <a:pPr algn="l"/>
            <a:r>
              <a:rPr sz="1350" b="1" i="0">
                <a:solidFill>
                  <a:srgbClr val="875209"/>
                </a:solidFill>
                <a:latin typeface="Calibri"/>
              </a:rPr>
              <a:t>"How was the test set built?"</a:t>
            </a:r>
          </a:p>
        </p:txBody>
      </p:sp>
      <p:sp>
        <p:nvSpPr>
          <p:cNvPr id="7" name="TextBox 6"/>
          <p:cNvSpPr txBox="1"/>
          <p:nvPr/>
        </p:nvSpPr>
        <p:spPr>
          <a:xfrm>
            <a:off x="804672" y="2066544"/>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If it was a random split of records with several rows per patient, the reported performance is optimistic and the number is not the number.</a:t>
            </a:r>
          </a:p>
        </p:txBody>
      </p:sp>
      <p:sp>
        <p:nvSpPr>
          <p:cNvPr id="8" name="Rounded Rectangle 7"/>
          <p:cNvSpPr/>
          <p:nvPr/>
        </p:nvSpPr>
        <p:spPr>
          <a:xfrm>
            <a:off x="6251295" y="1664208"/>
            <a:ext cx="5373471" cy="1466088"/>
          </a:xfrm>
          <a:prstGeom prst="roundRect">
            <a:avLst>
              <a:gd name="adj" fmla="val 8731"/>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9039" y="1783080"/>
            <a:ext cx="4916271" cy="237744"/>
          </a:xfrm>
          <a:prstGeom prst="rect">
            <a:avLst/>
          </a:prstGeom>
          <a:noFill/>
        </p:spPr>
        <p:txBody>
          <a:bodyPr wrap="square" lIns="0" rIns="0" tIns="0" bIns="0" anchor="t">
            <a:spAutoFit/>
          </a:bodyPr>
          <a:lstStyle/>
          <a:p>
            <a:pPr algn="l"/>
            <a:r>
              <a:rPr sz="1350" b="1" i="0">
                <a:solidFill>
                  <a:srgbClr val="06545B"/>
                </a:solidFill>
                <a:latin typeface="Calibri"/>
              </a:rPr>
              <a:t>"Show me the per-fold results."</a:t>
            </a:r>
          </a:p>
        </p:txBody>
      </p:sp>
      <p:sp>
        <p:nvSpPr>
          <p:cNvPr id="10" name="TextBox 9"/>
          <p:cNvSpPr txBox="1"/>
          <p:nvPr/>
        </p:nvSpPr>
        <p:spPr>
          <a:xfrm>
            <a:off x="6489039" y="2066544"/>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single figure with no spread cannot tell you whether one model is genuinely better than another, or whether you are looking at noise.</a:t>
            </a:r>
          </a:p>
        </p:txBody>
      </p:sp>
      <p:sp>
        <p:nvSpPr>
          <p:cNvPr id="11" name="Rounded Rectangle 10"/>
          <p:cNvSpPr/>
          <p:nvPr/>
        </p:nvSpPr>
        <p:spPr>
          <a:xfrm>
            <a:off x="566928" y="3276599"/>
            <a:ext cx="5373471" cy="1466088"/>
          </a:xfrm>
          <a:prstGeom prst="roundRect">
            <a:avLst>
              <a:gd name="adj" fmla="val 8731"/>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3395471"/>
            <a:ext cx="4916271" cy="237744"/>
          </a:xfrm>
          <a:prstGeom prst="rect">
            <a:avLst/>
          </a:prstGeom>
          <a:noFill/>
        </p:spPr>
        <p:txBody>
          <a:bodyPr wrap="square" lIns="0" rIns="0" tIns="0" bIns="0" anchor="t">
            <a:spAutoFit/>
          </a:bodyPr>
          <a:lstStyle/>
          <a:p>
            <a:pPr algn="l"/>
            <a:r>
              <a:rPr sz="1350" b="1" i="0">
                <a:solidFill>
                  <a:srgbClr val="875209"/>
                </a:solidFill>
                <a:latin typeface="Calibri"/>
              </a:rPr>
              <a:t>"Would this field exist at the moment of prediction?"</a:t>
            </a:r>
          </a:p>
        </p:txBody>
      </p:sp>
      <p:sp>
        <p:nvSpPr>
          <p:cNvPr id="13" name="TextBox 12"/>
          <p:cNvSpPr txBox="1"/>
          <p:nvPr/>
        </p:nvSpPr>
        <p:spPr>
          <a:xfrm>
            <a:off x="804672" y="3678936"/>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The cheapest and most reliable leakage test there is, and it needs no mathematics to apply.</a:t>
            </a:r>
          </a:p>
        </p:txBody>
      </p:sp>
      <p:sp>
        <p:nvSpPr>
          <p:cNvPr id="14" name="Rounded Rectangle 13"/>
          <p:cNvSpPr/>
          <p:nvPr/>
        </p:nvSpPr>
        <p:spPr>
          <a:xfrm>
            <a:off x="6251295" y="3276599"/>
            <a:ext cx="5373471" cy="1466088"/>
          </a:xfrm>
          <a:prstGeom prst="roundRect">
            <a:avLst>
              <a:gd name="adj" fmla="val 8731"/>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3395471"/>
            <a:ext cx="4916271" cy="237744"/>
          </a:xfrm>
          <a:prstGeom prst="rect">
            <a:avLst/>
          </a:prstGeom>
          <a:noFill/>
        </p:spPr>
        <p:txBody>
          <a:bodyPr wrap="square" lIns="0" rIns="0" tIns="0" bIns="0" anchor="t">
            <a:spAutoFit/>
          </a:bodyPr>
          <a:lstStyle/>
          <a:p>
            <a:pPr algn="l"/>
            <a:r>
              <a:rPr sz="1350" b="1" i="0">
                <a:solidFill>
                  <a:srgbClr val="06545B"/>
                </a:solidFill>
                <a:latin typeface="Calibri"/>
              </a:rPr>
              <a:t>"What is the performance in each subgroup?"</a:t>
            </a:r>
          </a:p>
        </p:txBody>
      </p:sp>
      <p:sp>
        <p:nvSpPr>
          <p:cNvPr id="16" name="TextBox 15"/>
          <p:cNvSpPr txBox="1"/>
          <p:nvPr/>
        </p:nvSpPr>
        <p:spPr>
          <a:xfrm>
            <a:off x="6489039" y="3678936"/>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An aggregate metric is an average over people. Ask which patients the model is worst for, and what the plan is for them.</a:t>
            </a:r>
          </a:p>
        </p:txBody>
      </p:sp>
      <p:sp>
        <p:nvSpPr>
          <p:cNvPr id="17" name="Rounded Rectangle 16"/>
          <p:cNvSpPr/>
          <p:nvPr/>
        </p:nvSpPr>
        <p:spPr>
          <a:xfrm>
            <a:off x="566928" y="4888992"/>
            <a:ext cx="5373471" cy="1466088"/>
          </a:xfrm>
          <a:prstGeom prst="roundRect">
            <a:avLst>
              <a:gd name="adj" fmla="val 8731"/>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04672" y="5007864"/>
            <a:ext cx="4916271" cy="237744"/>
          </a:xfrm>
          <a:prstGeom prst="rect">
            <a:avLst/>
          </a:prstGeom>
          <a:noFill/>
        </p:spPr>
        <p:txBody>
          <a:bodyPr wrap="square" lIns="0" rIns="0" tIns="0" bIns="0" anchor="t">
            <a:spAutoFit/>
          </a:bodyPr>
          <a:lstStyle/>
          <a:p>
            <a:pPr algn="l"/>
            <a:r>
              <a:rPr sz="1350" b="1" i="0">
                <a:solidFill>
                  <a:srgbClr val="06545B"/>
                </a:solidFill>
                <a:latin typeface="Calibri"/>
              </a:rPr>
              <a:t>"What threshold is it operating at, and who chose it?"</a:t>
            </a:r>
          </a:p>
        </p:txBody>
      </p:sp>
      <p:sp>
        <p:nvSpPr>
          <p:cNvPr id="19" name="TextBox 18"/>
          <p:cNvSpPr txBox="1"/>
          <p:nvPr/>
        </p:nvSpPr>
        <p:spPr>
          <a:xfrm>
            <a:off x="804672" y="5291328"/>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It is a clinical and economic decision about which errors you prefer, not a technical default to be left at one half.</a:t>
            </a:r>
          </a:p>
        </p:txBody>
      </p:sp>
      <p:sp>
        <p:nvSpPr>
          <p:cNvPr id="20" name="Rounded Rectangle 19"/>
          <p:cNvSpPr/>
          <p:nvPr/>
        </p:nvSpPr>
        <p:spPr>
          <a:xfrm>
            <a:off x="6251295" y="4888992"/>
            <a:ext cx="5373471" cy="1466088"/>
          </a:xfrm>
          <a:prstGeom prst="roundRect">
            <a:avLst>
              <a:gd name="adj" fmla="val 8731"/>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89039" y="5007864"/>
            <a:ext cx="4916271" cy="237744"/>
          </a:xfrm>
          <a:prstGeom prst="rect">
            <a:avLst/>
          </a:prstGeom>
          <a:noFill/>
        </p:spPr>
        <p:txBody>
          <a:bodyPr wrap="square" lIns="0" rIns="0" tIns="0" bIns="0" anchor="t">
            <a:spAutoFit/>
          </a:bodyPr>
          <a:lstStyle/>
          <a:p>
            <a:pPr algn="l"/>
            <a:r>
              <a:rPr sz="1350" b="1" i="0">
                <a:solidFill>
                  <a:srgbClr val="06545B"/>
                </a:solidFill>
                <a:latin typeface="Calibri"/>
              </a:rPr>
              <a:t>"What happens as the population shifts?"</a:t>
            </a:r>
          </a:p>
        </p:txBody>
      </p:sp>
      <p:sp>
        <p:nvSpPr>
          <p:cNvPr id="22" name="TextBox 21"/>
          <p:cNvSpPr txBox="1"/>
          <p:nvPr/>
        </p:nvSpPr>
        <p:spPr>
          <a:xfrm>
            <a:off x="6489039" y="5291328"/>
            <a:ext cx="4916271" cy="963167"/>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Performance decays after deployment. Someone must own the monitoring, and that ownership belongs in the contract.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82735" y="1280160"/>
            <a:ext cx="4206240" cy="4206240"/>
          </a:xfrm>
          <a:prstGeom prst="ellipse">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097280" cy="457200"/>
          </a:xfrm>
          <a:prstGeom prst="rect">
            <a:avLst/>
          </a:prstGeom>
          <a:noFill/>
        </p:spPr>
        <p:txBody>
          <a:bodyPr wrap="square" lIns="0" rIns="0" tIns="0" bIns="0" anchor="t">
            <a:spAutoFit/>
          </a:bodyPr>
          <a:lstStyle/>
          <a:p>
            <a:pPr algn="l"/>
            <a:r>
              <a:rPr sz="4400" b="1" i="0">
                <a:solidFill>
                  <a:srgbClr val="E9A93D"/>
                </a:solidFill>
                <a:latin typeface="Cambria"/>
              </a:rPr>
              <a:t>2</a:t>
            </a:r>
          </a:p>
        </p:txBody>
      </p:sp>
      <p:sp>
        <p:nvSpPr>
          <p:cNvPr id="5" name="TextBox 4"/>
          <p:cNvSpPr txBox="1"/>
          <p:nvPr/>
        </p:nvSpPr>
        <p:spPr>
          <a:xfrm>
            <a:off x="1801368" y="2377440"/>
            <a:ext cx="6766560" cy="914400"/>
          </a:xfrm>
          <a:prstGeom prst="rect">
            <a:avLst/>
          </a:prstGeom>
          <a:noFill/>
        </p:spPr>
        <p:txBody>
          <a:bodyPr wrap="square" lIns="0" rIns="0" tIns="0" bIns="0" anchor="t">
            <a:spAutoFit/>
          </a:bodyPr>
          <a:lstStyle/>
          <a:p>
            <a:pPr algn="l">
              <a:lnSpc>
                <a:spcPct val="108000"/>
              </a:lnSpc>
            </a:pPr>
            <a:r>
              <a:rPr sz="3400" b="1" i="0">
                <a:solidFill>
                  <a:srgbClr val="FFFFFF"/>
                </a:solidFill>
                <a:latin typeface="Cambria"/>
              </a:rPr>
              <a:t>What this work actually is</a:t>
            </a:r>
          </a:p>
        </p:txBody>
      </p:sp>
      <p:sp>
        <p:nvSpPr>
          <p:cNvPr id="6" name="TextBox 5"/>
          <p:cNvSpPr txBox="1"/>
          <p:nvPr/>
        </p:nvSpPr>
        <p:spPr>
          <a:xfrm>
            <a:off x="1801368" y="3429000"/>
            <a:ext cx="6766560" cy="822960"/>
          </a:xfrm>
          <a:prstGeom prst="rect">
            <a:avLst/>
          </a:prstGeom>
          <a:noFill/>
        </p:spPr>
        <p:txBody>
          <a:bodyPr wrap="square" lIns="0" rIns="0" tIns="0" bIns="0" anchor="t">
            <a:spAutoFit/>
          </a:bodyPr>
          <a:lstStyle/>
          <a:p>
            <a:pPr algn="l">
              <a:lnSpc>
                <a:spcPct val="130000"/>
              </a:lnSpc>
            </a:pPr>
            <a:r>
              <a:rPr sz="1500" b="0" i="1">
                <a:solidFill>
                  <a:srgbClr val="9FB0C4"/>
                </a:solidFill>
                <a:latin typeface="Calibri"/>
              </a:rPr>
              <a:t>Data science is not modelling. Modelling is one stage of it, and not the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The shape of the work, start to finish</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Thirteen stages. The one you have heard of is the seventh.</a:t>
            </a:r>
          </a:p>
        </p:txBody>
      </p:sp>
      <p:sp>
        <p:nvSpPr>
          <p:cNvPr id="5" name="Rounded Rectangle 4"/>
          <p:cNvSpPr/>
          <p:nvPr/>
        </p:nvSpPr>
        <p:spPr>
          <a:xfrm>
            <a:off x="566928" y="2057400"/>
            <a:ext cx="1675333" cy="2011680"/>
          </a:xfrm>
          <a:prstGeom prst="roundRect">
            <a:avLst>
              <a:gd name="adj" fmla="val 7641"/>
            </a:avLst>
          </a:prstGeom>
          <a:solidFill>
            <a:srgbClr val="E6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2" y="2203704"/>
            <a:ext cx="1382725" cy="201168"/>
          </a:xfrm>
          <a:prstGeom prst="rect">
            <a:avLst/>
          </a:prstGeom>
          <a:noFill/>
        </p:spPr>
        <p:txBody>
          <a:bodyPr wrap="square" lIns="0" rIns="0" tIns="0" bIns="0" anchor="t">
            <a:spAutoFit/>
          </a:bodyPr>
          <a:lstStyle/>
          <a:p>
            <a:pPr algn="l"/>
            <a:r>
              <a:rPr sz="1000" b="1" i="0">
                <a:solidFill>
                  <a:srgbClr val="086972"/>
                </a:solidFill>
                <a:latin typeface="Calibri"/>
              </a:rPr>
              <a:t>STAGE 1</a:t>
            </a:r>
          </a:p>
        </p:txBody>
      </p:sp>
      <p:sp>
        <p:nvSpPr>
          <p:cNvPr id="7" name="TextBox 6"/>
          <p:cNvSpPr txBox="1"/>
          <p:nvPr/>
        </p:nvSpPr>
        <p:spPr>
          <a:xfrm>
            <a:off x="713232"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A decision</a:t>
            </a:r>
          </a:p>
        </p:txBody>
      </p:sp>
      <p:sp>
        <p:nvSpPr>
          <p:cNvPr id="8" name="TextBox 7"/>
          <p:cNvSpPr txBox="1"/>
          <p:nvPr/>
        </p:nvSpPr>
        <p:spPr>
          <a:xfrm>
            <a:off x="713232" y="3008376"/>
            <a:ext cx="1382725" cy="914400"/>
          </a:xfrm>
          <a:prstGeom prst="rect">
            <a:avLst/>
          </a:prstGeom>
          <a:noFill/>
        </p:spPr>
        <p:txBody>
          <a:bodyPr wrap="square" lIns="0" rIns="0" tIns="0" bIns="0" anchor="t">
            <a:spAutoFit/>
          </a:bodyPr>
          <a:lstStyle/>
          <a:p>
            <a:pPr algn="l">
              <a:lnSpc>
                <a:spcPct val="120000"/>
              </a:lnSpc>
            </a:pPr>
            <a:r>
              <a:rPr sz="1050" b="0" i="0">
                <a:solidFill>
                  <a:srgbClr val="6E7A8A"/>
                </a:solidFill>
                <a:latin typeface="Calibri"/>
              </a:rPr>
              <a:t>Someone has to choose something, and is not sure. Without this, nothing that follows has a purpose.</a:t>
            </a:r>
          </a:p>
        </p:txBody>
      </p:sp>
      <p:sp>
        <p:nvSpPr>
          <p:cNvPr id="9" name="Right Arrow 8"/>
          <p:cNvSpPr/>
          <p:nvPr/>
        </p:nvSpPr>
        <p:spPr>
          <a:xfrm>
            <a:off x="2269693" y="2980944"/>
            <a:ext cx="146304"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443429" y="2057400"/>
            <a:ext cx="1675333" cy="2011680"/>
          </a:xfrm>
          <a:prstGeom prst="roundRect">
            <a:avLst>
              <a:gd name="adj" fmla="val 7641"/>
            </a:avLst>
          </a:prstGeom>
          <a:solidFill>
            <a:srgbClr val="E6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589733" y="2203704"/>
            <a:ext cx="1382725" cy="201168"/>
          </a:xfrm>
          <a:prstGeom prst="rect">
            <a:avLst/>
          </a:prstGeom>
          <a:noFill/>
        </p:spPr>
        <p:txBody>
          <a:bodyPr wrap="square" lIns="0" rIns="0" tIns="0" bIns="0" anchor="t">
            <a:spAutoFit/>
          </a:bodyPr>
          <a:lstStyle/>
          <a:p>
            <a:pPr algn="l"/>
            <a:r>
              <a:rPr sz="1000" b="1" i="0">
                <a:solidFill>
                  <a:srgbClr val="086972"/>
                </a:solidFill>
                <a:latin typeface="Calibri"/>
              </a:rPr>
              <a:t>STAGE 2</a:t>
            </a:r>
          </a:p>
        </p:txBody>
      </p:sp>
      <p:sp>
        <p:nvSpPr>
          <p:cNvPr id="12" name="TextBox 11"/>
          <p:cNvSpPr txBox="1"/>
          <p:nvPr/>
        </p:nvSpPr>
        <p:spPr>
          <a:xfrm>
            <a:off x="2589733"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A question</a:t>
            </a:r>
          </a:p>
        </p:txBody>
      </p:sp>
      <p:sp>
        <p:nvSpPr>
          <p:cNvPr id="13" name="TextBox 12"/>
          <p:cNvSpPr txBox="1"/>
          <p:nvPr/>
        </p:nvSpPr>
        <p:spPr>
          <a:xfrm>
            <a:off x="2589733" y="3008376"/>
            <a:ext cx="1382725" cy="914400"/>
          </a:xfrm>
          <a:prstGeom prst="rect">
            <a:avLst/>
          </a:prstGeom>
          <a:noFill/>
        </p:spPr>
        <p:txBody>
          <a:bodyPr wrap="square" lIns="0" rIns="0" tIns="0" bIns="0" anchor="t">
            <a:spAutoFit/>
          </a:bodyPr>
          <a:lstStyle/>
          <a:p>
            <a:pPr algn="l">
              <a:lnSpc>
                <a:spcPct val="120000"/>
              </a:lnSpc>
            </a:pPr>
            <a:r>
              <a:rPr sz="1200" b="0" i="0">
                <a:solidFill>
                  <a:srgbClr val="6E7A8A"/>
                </a:solidFill>
                <a:latin typeface="Calibri"/>
              </a:rPr>
              <a:t>Stated precisely enough that an answer would change the decision.</a:t>
            </a:r>
          </a:p>
        </p:txBody>
      </p:sp>
      <p:sp>
        <p:nvSpPr>
          <p:cNvPr id="14" name="Right Arrow 13"/>
          <p:cNvSpPr/>
          <p:nvPr/>
        </p:nvSpPr>
        <p:spPr>
          <a:xfrm>
            <a:off x="4146194" y="2980944"/>
            <a:ext cx="146304"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19930" y="2057400"/>
            <a:ext cx="1675333" cy="2011680"/>
          </a:xfrm>
          <a:prstGeom prst="roundRect">
            <a:avLst>
              <a:gd name="adj" fmla="val 7641"/>
            </a:avLst>
          </a:prstGeom>
          <a:solidFill>
            <a:srgbClr val="E6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66234" y="2203704"/>
            <a:ext cx="1382725" cy="201168"/>
          </a:xfrm>
          <a:prstGeom prst="rect">
            <a:avLst/>
          </a:prstGeom>
          <a:noFill/>
        </p:spPr>
        <p:txBody>
          <a:bodyPr wrap="square" lIns="0" rIns="0" tIns="0" bIns="0" anchor="t">
            <a:spAutoFit/>
          </a:bodyPr>
          <a:lstStyle/>
          <a:p>
            <a:pPr algn="l"/>
            <a:r>
              <a:rPr sz="1000" b="1" i="0">
                <a:solidFill>
                  <a:srgbClr val="086972"/>
                </a:solidFill>
                <a:latin typeface="Calibri"/>
              </a:rPr>
              <a:t>STAGES 3–6</a:t>
            </a:r>
          </a:p>
        </p:txBody>
      </p:sp>
      <p:sp>
        <p:nvSpPr>
          <p:cNvPr id="17" name="TextBox 16"/>
          <p:cNvSpPr txBox="1"/>
          <p:nvPr/>
        </p:nvSpPr>
        <p:spPr>
          <a:xfrm>
            <a:off x="4466234"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Data work</a:t>
            </a:r>
          </a:p>
        </p:txBody>
      </p:sp>
      <p:sp>
        <p:nvSpPr>
          <p:cNvPr id="18" name="TextBox 17"/>
          <p:cNvSpPr txBox="1"/>
          <p:nvPr/>
        </p:nvSpPr>
        <p:spPr>
          <a:xfrm>
            <a:off x="4466234" y="3008376"/>
            <a:ext cx="1382725" cy="914400"/>
          </a:xfrm>
          <a:prstGeom prst="rect">
            <a:avLst/>
          </a:prstGeom>
          <a:noFill/>
        </p:spPr>
        <p:txBody>
          <a:bodyPr wrap="square" lIns="0" rIns="0" tIns="0" bIns="0" anchor="t">
            <a:spAutoFit/>
          </a:bodyPr>
          <a:lstStyle/>
          <a:p>
            <a:pPr algn="l">
              <a:lnSpc>
                <a:spcPct val="120000"/>
              </a:lnSpc>
            </a:pPr>
            <a:r>
              <a:rPr sz="1150" b="0" i="0">
                <a:solidFill>
                  <a:srgbClr val="6E7A8A"/>
                </a:solidFill>
                <a:latin typeface="Calibri"/>
              </a:rPr>
              <a:t>Acquire, split, clean, engineer. Most of the effort, and where most errors are made.</a:t>
            </a:r>
          </a:p>
        </p:txBody>
      </p:sp>
      <p:sp>
        <p:nvSpPr>
          <p:cNvPr id="19" name="Right Arrow 18"/>
          <p:cNvSpPr/>
          <p:nvPr/>
        </p:nvSpPr>
        <p:spPr>
          <a:xfrm>
            <a:off x="6022695" y="2980944"/>
            <a:ext cx="146304"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196431" y="2057400"/>
            <a:ext cx="1675333" cy="2011680"/>
          </a:xfrm>
          <a:prstGeom prst="roundRect">
            <a:avLst>
              <a:gd name="adj" fmla="val 7641"/>
            </a:avLst>
          </a:prstGeom>
          <a:solidFill>
            <a:srgbClr val="F3EA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2735" y="2203704"/>
            <a:ext cx="1382725" cy="201168"/>
          </a:xfrm>
          <a:prstGeom prst="rect">
            <a:avLst/>
          </a:prstGeom>
          <a:noFill/>
        </p:spPr>
        <p:txBody>
          <a:bodyPr wrap="square" lIns="0" rIns="0" tIns="0" bIns="0" anchor="t">
            <a:spAutoFit/>
          </a:bodyPr>
          <a:lstStyle/>
          <a:p>
            <a:pPr algn="l"/>
            <a:r>
              <a:rPr sz="1000" b="1" i="0">
                <a:solidFill>
                  <a:srgbClr val="7F4C08"/>
                </a:solidFill>
                <a:latin typeface="Calibri"/>
              </a:rPr>
              <a:t>STAGE 7</a:t>
            </a:r>
          </a:p>
        </p:txBody>
      </p:sp>
      <p:sp>
        <p:nvSpPr>
          <p:cNvPr id="22" name="TextBox 21"/>
          <p:cNvSpPr txBox="1"/>
          <p:nvPr/>
        </p:nvSpPr>
        <p:spPr>
          <a:xfrm>
            <a:off x="6342735"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A model</a:t>
            </a:r>
          </a:p>
        </p:txBody>
      </p:sp>
      <p:sp>
        <p:nvSpPr>
          <p:cNvPr id="23" name="TextBox 22"/>
          <p:cNvSpPr txBox="1"/>
          <p:nvPr/>
        </p:nvSpPr>
        <p:spPr>
          <a:xfrm>
            <a:off x="6342735" y="3008376"/>
            <a:ext cx="1382725" cy="914400"/>
          </a:xfrm>
          <a:prstGeom prst="rect">
            <a:avLst/>
          </a:prstGeom>
          <a:noFill/>
        </p:spPr>
        <p:txBody>
          <a:bodyPr wrap="square" lIns="0" rIns="0" tIns="0" bIns="0" anchor="t">
            <a:spAutoFit/>
          </a:bodyPr>
          <a:lstStyle/>
          <a:p>
            <a:pPr algn="l">
              <a:lnSpc>
                <a:spcPct val="120000"/>
              </a:lnSpc>
            </a:pPr>
            <a:r>
              <a:rPr sz="1250" b="0" i="0">
                <a:solidFill>
                  <a:srgbClr val="6E7A8A"/>
                </a:solidFill>
                <a:latin typeface="Calibri"/>
              </a:rPr>
              <a:t>The part everyone pictures when they hear the phrase “data science”.</a:t>
            </a:r>
          </a:p>
        </p:txBody>
      </p:sp>
      <p:sp>
        <p:nvSpPr>
          <p:cNvPr id="24" name="Right Arrow 23"/>
          <p:cNvSpPr/>
          <p:nvPr/>
        </p:nvSpPr>
        <p:spPr>
          <a:xfrm>
            <a:off x="7899196" y="2980944"/>
            <a:ext cx="146304"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72932" y="2057400"/>
            <a:ext cx="1675333" cy="2011680"/>
          </a:xfrm>
          <a:prstGeom prst="roundRect">
            <a:avLst>
              <a:gd name="adj" fmla="val 7641"/>
            </a:avLst>
          </a:prstGeom>
          <a:solidFill>
            <a:srgbClr val="E6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19236" y="2203704"/>
            <a:ext cx="1382725" cy="201168"/>
          </a:xfrm>
          <a:prstGeom prst="rect">
            <a:avLst/>
          </a:prstGeom>
          <a:noFill/>
        </p:spPr>
        <p:txBody>
          <a:bodyPr wrap="square" lIns="0" rIns="0" tIns="0" bIns="0" anchor="t">
            <a:spAutoFit/>
          </a:bodyPr>
          <a:lstStyle/>
          <a:p>
            <a:pPr algn="l"/>
            <a:r>
              <a:rPr sz="1000" b="1" i="0">
                <a:solidFill>
                  <a:srgbClr val="086972"/>
                </a:solidFill>
                <a:latin typeface="Calibri"/>
              </a:rPr>
              <a:t>STAGES 8–11</a:t>
            </a:r>
          </a:p>
        </p:txBody>
      </p:sp>
      <p:sp>
        <p:nvSpPr>
          <p:cNvPr id="27" name="TextBox 26"/>
          <p:cNvSpPr txBox="1"/>
          <p:nvPr/>
        </p:nvSpPr>
        <p:spPr>
          <a:xfrm>
            <a:off x="8219236"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Judgement</a:t>
            </a:r>
          </a:p>
        </p:txBody>
      </p:sp>
      <p:sp>
        <p:nvSpPr>
          <p:cNvPr id="28" name="TextBox 27"/>
          <p:cNvSpPr txBox="1"/>
          <p:nvPr/>
        </p:nvSpPr>
        <p:spPr>
          <a:xfrm>
            <a:off x="8219236" y="3008376"/>
            <a:ext cx="1382725" cy="914400"/>
          </a:xfrm>
          <a:prstGeom prst="rect">
            <a:avLst/>
          </a:prstGeom>
          <a:noFill/>
        </p:spPr>
        <p:txBody>
          <a:bodyPr wrap="square" lIns="0" rIns="0" tIns="0" bIns="0" anchor="t">
            <a:spAutoFit/>
          </a:bodyPr>
          <a:lstStyle/>
          <a:p>
            <a:pPr algn="l">
              <a:lnSpc>
                <a:spcPct val="120000"/>
              </a:lnSpc>
            </a:pPr>
            <a:r>
              <a:rPr sz="1250" b="0" i="0">
                <a:solidFill>
                  <a:srgbClr val="6E7A8A"/>
                </a:solidFill>
                <a:latin typeface="Calibri"/>
              </a:rPr>
              <a:t>Is the number real? Who does it fail? What does it not tell us?</a:t>
            </a:r>
          </a:p>
        </p:txBody>
      </p:sp>
      <p:sp>
        <p:nvSpPr>
          <p:cNvPr id="29" name="Right Arrow 28"/>
          <p:cNvSpPr/>
          <p:nvPr/>
        </p:nvSpPr>
        <p:spPr>
          <a:xfrm>
            <a:off x="9775697" y="2980944"/>
            <a:ext cx="146304" cy="164592"/>
          </a:xfrm>
          <a:prstGeom prst="rightArrow">
            <a:avLst/>
          </a:prstGeom>
          <a:solidFill>
            <a:srgbClr val="6BA5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9949434" y="2057400"/>
            <a:ext cx="1675333" cy="2011680"/>
          </a:xfrm>
          <a:prstGeom prst="roundRect">
            <a:avLst>
              <a:gd name="adj" fmla="val 7641"/>
            </a:avLst>
          </a:prstGeom>
          <a:solidFill>
            <a:srgbClr val="E6F0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0095738" y="2203704"/>
            <a:ext cx="1382725" cy="201168"/>
          </a:xfrm>
          <a:prstGeom prst="rect">
            <a:avLst/>
          </a:prstGeom>
          <a:noFill/>
        </p:spPr>
        <p:txBody>
          <a:bodyPr wrap="square" lIns="0" rIns="0" tIns="0" bIns="0" anchor="t">
            <a:spAutoFit/>
          </a:bodyPr>
          <a:lstStyle/>
          <a:p>
            <a:pPr algn="l"/>
            <a:r>
              <a:rPr sz="1000" b="1" i="0">
                <a:solidFill>
                  <a:srgbClr val="086972"/>
                </a:solidFill>
                <a:latin typeface="Calibri"/>
              </a:rPr>
              <a:t>STAGES 12–13</a:t>
            </a:r>
          </a:p>
        </p:txBody>
      </p:sp>
      <p:sp>
        <p:nvSpPr>
          <p:cNvPr id="32" name="TextBox 31"/>
          <p:cNvSpPr txBox="1"/>
          <p:nvPr/>
        </p:nvSpPr>
        <p:spPr>
          <a:xfrm>
            <a:off x="10095738" y="2459736"/>
            <a:ext cx="1382725" cy="475488"/>
          </a:xfrm>
          <a:prstGeom prst="rect">
            <a:avLst/>
          </a:prstGeom>
          <a:noFill/>
        </p:spPr>
        <p:txBody>
          <a:bodyPr wrap="square" lIns="0" rIns="0" tIns="0" bIns="0" anchor="t">
            <a:spAutoFit/>
          </a:bodyPr>
          <a:lstStyle/>
          <a:p>
            <a:pPr algn="l">
              <a:lnSpc>
                <a:spcPct val="115000"/>
              </a:lnSpc>
            </a:pPr>
            <a:r>
              <a:rPr sz="1450" b="1" i="0">
                <a:solidFill>
                  <a:srgbClr val="12233A"/>
                </a:solidFill>
                <a:latin typeface="Calibri"/>
              </a:rPr>
              <a:t>A decision, again</a:t>
            </a:r>
          </a:p>
        </p:txBody>
      </p:sp>
      <p:sp>
        <p:nvSpPr>
          <p:cNvPr id="33" name="TextBox 32"/>
          <p:cNvSpPr txBox="1"/>
          <p:nvPr/>
        </p:nvSpPr>
        <p:spPr>
          <a:xfrm>
            <a:off x="10095738" y="3008376"/>
            <a:ext cx="1382725" cy="914400"/>
          </a:xfrm>
          <a:prstGeom prst="rect">
            <a:avLst/>
          </a:prstGeom>
          <a:noFill/>
        </p:spPr>
        <p:txBody>
          <a:bodyPr wrap="square" lIns="0" rIns="0" tIns="0" bIns="0" anchor="t">
            <a:spAutoFit/>
          </a:bodyPr>
          <a:lstStyle/>
          <a:p>
            <a:pPr algn="l">
              <a:lnSpc>
                <a:spcPct val="120000"/>
              </a:lnSpc>
            </a:pPr>
            <a:r>
              <a:rPr sz="1250" b="0" i="0">
                <a:solidFill>
                  <a:srgbClr val="6E7A8A"/>
                </a:solidFill>
                <a:latin typeface="Calibri"/>
              </a:rPr>
              <a:t>Communicated to someone who can act on it, and then monitored.</a:t>
            </a:r>
          </a:p>
        </p:txBody>
      </p:sp>
      <p:sp>
        <p:nvSpPr>
          <p:cNvPr id="34" name="Rounded Rectangle 33"/>
          <p:cNvSpPr/>
          <p:nvPr/>
        </p:nvSpPr>
        <p:spPr>
          <a:xfrm>
            <a:off x="566928" y="4453128"/>
            <a:ext cx="11057839" cy="713613"/>
          </a:xfrm>
          <a:prstGeom prst="roundRect">
            <a:avLst>
              <a:gd name="adj" fmla="val 17939"/>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32688" y="4544568"/>
            <a:ext cx="10326319" cy="530733"/>
          </a:xfrm>
          <a:prstGeom prst="rect">
            <a:avLst/>
          </a:prstGeom>
          <a:noFill/>
        </p:spPr>
        <p:txBody>
          <a:bodyPr wrap="square" lIns="0" rIns="0" tIns="0" bIns="0" anchor="ctr">
            <a:spAutoFit/>
          </a:bodyPr>
          <a:lstStyle/>
          <a:p>
            <a:pPr algn="l">
              <a:lnSpc>
                <a:spcPct val="122000"/>
              </a:lnSpc>
            </a:pPr>
            <a:r>
              <a:rPr sz="1500" b="0" i="0">
                <a:solidFill>
                  <a:srgbClr val="2B3440"/>
                </a:solidFill>
                <a:latin typeface="Calibri"/>
              </a:rPr>
              <a:t>The stages before the model can each invalidate everything after it - and none of them raise an error message.</a:t>
            </a:r>
          </a:p>
        </p:txBody>
      </p:sp>
      <p:sp>
        <p:nvSpPr>
          <p:cNvPr id="36" name="TextBox 35"/>
          <p:cNvSpPr txBox="1"/>
          <p:nvPr/>
        </p:nvSpPr>
        <p:spPr>
          <a:xfrm>
            <a:off x="566928" y="6108192"/>
            <a:ext cx="11057839" cy="45720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You will walk this spine twelve times, on one dataset, and be asked at each session which stage you are standing in.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AI, machine learning, deep learning</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Three nested things, used interchangeably in public and meaning different things.</a:t>
            </a:r>
          </a:p>
        </p:txBody>
      </p:sp>
      <p:sp>
        <p:nvSpPr>
          <p:cNvPr id="5" name="Rounded Rectangle 4"/>
          <p:cNvSpPr/>
          <p:nvPr/>
        </p:nvSpPr>
        <p:spPr>
          <a:xfrm>
            <a:off x="566928" y="1856232"/>
            <a:ext cx="11057839" cy="3611880"/>
          </a:xfrm>
          <a:prstGeom prst="roundRect">
            <a:avLst>
              <a:gd name="adj" fmla="val 354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39112"/>
            <a:ext cx="10472623" cy="274320"/>
          </a:xfrm>
          <a:prstGeom prst="rect">
            <a:avLst/>
          </a:prstGeom>
          <a:noFill/>
        </p:spPr>
        <p:txBody>
          <a:bodyPr wrap="square" lIns="0" rIns="0" tIns="0" bIns="0" anchor="t">
            <a:spAutoFit/>
          </a:bodyPr>
          <a:lstStyle/>
          <a:p>
            <a:pPr algn="l"/>
            <a:r>
              <a:rPr sz="1400" b="1" i="0">
                <a:solidFill>
                  <a:srgbClr val="064F56"/>
                </a:solidFill>
                <a:latin typeface="Calibri"/>
              </a:rPr>
              <a:t>Artificial intelligence</a:t>
            </a:r>
          </a:p>
        </p:txBody>
      </p:sp>
      <p:sp>
        <p:nvSpPr>
          <p:cNvPr id="7" name="TextBox 6"/>
          <p:cNvSpPr txBox="1"/>
          <p:nvPr/>
        </p:nvSpPr>
        <p:spPr>
          <a:xfrm>
            <a:off x="859536" y="2368296"/>
            <a:ext cx="6766560" cy="463296"/>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The umbrella term. Any system doing something we associate with intelligence - including rule-based systems with no learning in them at all.</a:t>
            </a:r>
          </a:p>
        </p:txBody>
      </p:sp>
      <p:sp>
        <p:nvSpPr>
          <p:cNvPr id="8" name="Rounded Rectangle 7"/>
          <p:cNvSpPr/>
          <p:nvPr/>
        </p:nvSpPr>
        <p:spPr>
          <a:xfrm>
            <a:off x="877824" y="2849880"/>
            <a:ext cx="10436047" cy="2362200"/>
          </a:xfrm>
          <a:prstGeom prst="roundRect">
            <a:avLst>
              <a:gd name="adj" fmla="val 5419"/>
            </a:avLst>
          </a:prstGeom>
          <a:solidFill>
            <a:srgbClr val="D7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3032760"/>
            <a:ext cx="9850831" cy="274320"/>
          </a:xfrm>
          <a:prstGeom prst="rect">
            <a:avLst/>
          </a:prstGeom>
          <a:noFill/>
        </p:spPr>
        <p:txBody>
          <a:bodyPr wrap="square" lIns="0" rIns="0" tIns="0" bIns="0" anchor="t">
            <a:spAutoFit/>
          </a:bodyPr>
          <a:lstStyle/>
          <a:p>
            <a:pPr algn="l"/>
            <a:r>
              <a:rPr sz="1400" b="1" i="0">
                <a:solidFill>
                  <a:srgbClr val="064F56"/>
                </a:solidFill>
                <a:latin typeface="Calibri"/>
              </a:rPr>
              <a:t>Machine learning</a:t>
            </a:r>
          </a:p>
        </p:txBody>
      </p:sp>
      <p:sp>
        <p:nvSpPr>
          <p:cNvPr id="10" name="TextBox 9"/>
          <p:cNvSpPr txBox="1"/>
          <p:nvPr/>
        </p:nvSpPr>
        <p:spPr>
          <a:xfrm>
            <a:off x="1170432" y="3361944"/>
            <a:ext cx="6766560" cy="277368"/>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Programs that get better at a task by being shown examples instead of being given rules.</a:t>
            </a:r>
          </a:p>
        </p:txBody>
      </p:sp>
      <p:sp>
        <p:nvSpPr>
          <p:cNvPr id="11" name="Rounded Rectangle 10"/>
          <p:cNvSpPr/>
          <p:nvPr/>
        </p:nvSpPr>
        <p:spPr>
          <a:xfrm>
            <a:off x="1188720" y="3657600"/>
            <a:ext cx="9814255" cy="1298448"/>
          </a:xfrm>
          <a:prstGeom prst="roundRect">
            <a:avLst>
              <a:gd name="adj" fmla="val 9859"/>
            </a:avLst>
          </a:prstGeom>
          <a:solidFill>
            <a:srgbClr val="BC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81328" y="3840480"/>
            <a:ext cx="9229039" cy="274320"/>
          </a:xfrm>
          <a:prstGeom prst="rect">
            <a:avLst/>
          </a:prstGeom>
          <a:noFill/>
        </p:spPr>
        <p:txBody>
          <a:bodyPr wrap="square" lIns="0" rIns="0" tIns="0" bIns="0" anchor="t">
            <a:spAutoFit/>
          </a:bodyPr>
          <a:lstStyle/>
          <a:p>
            <a:pPr algn="l"/>
            <a:r>
              <a:rPr sz="1400" b="1" i="0">
                <a:solidFill>
                  <a:srgbClr val="064F56"/>
                </a:solidFill>
                <a:latin typeface="Calibri"/>
              </a:rPr>
              <a:t>Deep learning</a:t>
            </a:r>
          </a:p>
        </p:txBody>
      </p:sp>
      <p:sp>
        <p:nvSpPr>
          <p:cNvPr id="13" name="TextBox 12"/>
          <p:cNvSpPr txBox="1"/>
          <p:nvPr/>
        </p:nvSpPr>
        <p:spPr>
          <a:xfrm>
            <a:off x="1481328" y="4169664"/>
            <a:ext cx="6766560" cy="463296"/>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Machine learning with multi-layer neural networks. A subset - not a synonym, and not automatically better.</a:t>
            </a:r>
          </a:p>
        </p:txBody>
      </p:sp>
      <p:sp>
        <p:nvSpPr>
          <p:cNvPr id="14" name="TextBox 13"/>
          <p:cNvSpPr txBox="1"/>
          <p:nvPr/>
        </p:nvSpPr>
        <p:spPr>
          <a:xfrm>
            <a:off x="1499616" y="4632960"/>
            <a:ext cx="3657600" cy="219456"/>
          </a:xfrm>
          <a:prstGeom prst="rect">
            <a:avLst/>
          </a:prstGeom>
          <a:noFill/>
        </p:spPr>
        <p:txBody>
          <a:bodyPr wrap="square" lIns="0" rIns="0" tIns="0" bIns="0" anchor="t">
            <a:spAutoFit/>
          </a:bodyPr>
          <a:lstStyle/>
          <a:p>
            <a:pPr algn="l"/>
            <a:r>
              <a:rPr sz="950" b="1" i="0">
                <a:solidFill>
                  <a:srgbClr val="075E67"/>
                </a:solidFill>
                <a:latin typeface="Calibri"/>
              </a:rPr>
              <a:t>ONE ROTATION</a:t>
            </a:r>
          </a:p>
        </p:txBody>
      </p:sp>
      <p:sp>
        <p:nvSpPr>
          <p:cNvPr id="15" name="Rounded Rectangle 14"/>
          <p:cNvSpPr/>
          <p:nvPr/>
        </p:nvSpPr>
        <p:spPr>
          <a:xfrm>
            <a:off x="1481328" y="4907280"/>
            <a:ext cx="4559655" cy="475488"/>
          </a:xfrm>
          <a:prstGeom prst="roundRect">
            <a:avLst>
              <a:gd name="adj" fmla="val 269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06545B"/>
                </a:solidFill>
                <a:latin typeface="Calibri"/>
              </a:rPr>
              <a:t>Blocks 1–2: the data work and classical ML</a:t>
            </a:r>
          </a:p>
        </p:txBody>
      </p:sp>
      <p:sp>
        <p:nvSpPr>
          <p:cNvPr id="16" name="Rounded Rectangle 15"/>
          <p:cNvSpPr/>
          <p:nvPr/>
        </p:nvSpPr>
        <p:spPr>
          <a:xfrm>
            <a:off x="6150711" y="4907280"/>
            <a:ext cx="4559655" cy="475488"/>
          </a:xfrm>
          <a:prstGeom prst="roundRect">
            <a:avLst>
              <a:gd name="adj" fmla="val 26923"/>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alibri"/>
              </a:rPr>
              <a:t>Block 3: deep learning</a:t>
            </a:r>
          </a:p>
        </p:txBody>
      </p:sp>
      <p:sp>
        <p:nvSpPr>
          <p:cNvPr id="17" name="TextBox 16"/>
          <p:cNvSpPr txBox="1"/>
          <p:nvPr/>
        </p:nvSpPr>
        <p:spPr>
          <a:xfrm>
            <a:off x="566928" y="6108192"/>
            <a:ext cx="11057839" cy="45720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Data science is the wider practice again: it contains all three, plus the framing, the data work and the communication.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82735" y="1280160"/>
            <a:ext cx="4206240" cy="4206240"/>
          </a:xfrm>
          <a:prstGeom prst="ellipse">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097280" cy="457200"/>
          </a:xfrm>
          <a:prstGeom prst="rect">
            <a:avLst/>
          </a:prstGeom>
          <a:noFill/>
        </p:spPr>
        <p:txBody>
          <a:bodyPr wrap="square" lIns="0" rIns="0" tIns="0" bIns="0" anchor="t">
            <a:spAutoFit/>
          </a:bodyPr>
          <a:lstStyle/>
          <a:p>
            <a:pPr algn="l"/>
            <a:r>
              <a:rPr sz="4400" b="1" i="0">
                <a:solidFill>
                  <a:srgbClr val="E9A93D"/>
                </a:solidFill>
                <a:latin typeface="Cambria"/>
              </a:rPr>
              <a:t>3</a:t>
            </a:r>
          </a:p>
        </p:txBody>
      </p:sp>
      <p:sp>
        <p:nvSpPr>
          <p:cNvPr id="5" name="TextBox 4"/>
          <p:cNvSpPr txBox="1"/>
          <p:nvPr/>
        </p:nvSpPr>
        <p:spPr>
          <a:xfrm>
            <a:off x="1801368" y="2377440"/>
            <a:ext cx="6766560" cy="914400"/>
          </a:xfrm>
          <a:prstGeom prst="rect">
            <a:avLst/>
          </a:prstGeom>
          <a:noFill/>
        </p:spPr>
        <p:txBody>
          <a:bodyPr wrap="square" lIns="0" rIns="0" tIns="0" bIns="0" anchor="t">
            <a:spAutoFit/>
          </a:bodyPr>
          <a:lstStyle/>
          <a:p>
            <a:pPr algn="l">
              <a:lnSpc>
                <a:spcPct val="108000"/>
              </a:lnSpc>
            </a:pPr>
            <a:r>
              <a:rPr sz="3400" b="1" i="0">
                <a:solidFill>
                  <a:srgbClr val="FFFFFF"/>
                </a:solidFill>
                <a:latin typeface="Cambria"/>
              </a:rPr>
              <a:t>Data is not information</a:t>
            </a:r>
          </a:p>
        </p:txBody>
      </p:sp>
      <p:sp>
        <p:nvSpPr>
          <p:cNvPr id="6" name="TextBox 5"/>
          <p:cNvSpPr txBox="1"/>
          <p:nvPr/>
        </p:nvSpPr>
        <p:spPr>
          <a:xfrm>
            <a:off x="1801368" y="3429000"/>
            <a:ext cx="6766560" cy="822960"/>
          </a:xfrm>
          <a:prstGeom prst="rect">
            <a:avLst/>
          </a:prstGeom>
          <a:noFill/>
        </p:spPr>
        <p:txBody>
          <a:bodyPr wrap="square" lIns="0" rIns="0" tIns="0" bIns="0" anchor="t">
            <a:spAutoFit/>
          </a:bodyPr>
          <a:lstStyle/>
          <a:p>
            <a:pPr algn="l">
              <a:lnSpc>
                <a:spcPct val="130000"/>
              </a:lnSpc>
            </a:pPr>
            <a:r>
              <a:rPr sz="1500" b="0" i="1">
                <a:solidFill>
                  <a:srgbClr val="9FB0C4"/>
                </a:solidFill>
                <a:latin typeface="Calibri"/>
              </a:rPr>
              <a:t>The distinction the whole course rests on, and the one most often skipped.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From data to a decision</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Each step adds something the step before it did not have.</a:t>
            </a:r>
          </a:p>
        </p:txBody>
      </p:sp>
      <p:sp>
        <p:nvSpPr>
          <p:cNvPr id="5" name="Rounded Rectangle 4"/>
          <p:cNvSpPr/>
          <p:nvPr/>
        </p:nvSpPr>
        <p:spPr>
          <a:xfrm>
            <a:off x="566928" y="3337559"/>
            <a:ext cx="2395728" cy="1325880"/>
          </a:xfrm>
          <a:prstGeom prst="roundRect">
            <a:avLst>
              <a:gd name="adj" fmla="val 9655"/>
            </a:avLst>
          </a:prstGeom>
          <a:solidFill>
            <a:srgbClr val="D3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8096" y="3483863"/>
            <a:ext cx="1993392" cy="219456"/>
          </a:xfrm>
          <a:prstGeom prst="rect">
            <a:avLst/>
          </a:prstGeom>
          <a:noFill/>
        </p:spPr>
        <p:txBody>
          <a:bodyPr wrap="square" lIns="0" rIns="0" tIns="0" bIns="0" anchor="t">
            <a:spAutoFit/>
          </a:bodyPr>
          <a:lstStyle/>
          <a:p>
            <a:pPr algn="l"/>
            <a:r>
              <a:rPr sz="950" b="1" i="0">
                <a:solidFill>
                  <a:srgbClr val="075E67"/>
                </a:solidFill>
                <a:latin typeface="Calibri"/>
              </a:rPr>
              <a:t>RECORDED</a:t>
            </a:r>
          </a:p>
        </p:txBody>
      </p:sp>
      <p:sp>
        <p:nvSpPr>
          <p:cNvPr id="7" name="TextBox 6"/>
          <p:cNvSpPr txBox="1"/>
          <p:nvPr/>
        </p:nvSpPr>
        <p:spPr>
          <a:xfrm>
            <a:off x="768096" y="3739896"/>
            <a:ext cx="1993392" cy="310896"/>
          </a:xfrm>
          <a:prstGeom prst="rect">
            <a:avLst/>
          </a:prstGeom>
          <a:noFill/>
        </p:spPr>
        <p:txBody>
          <a:bodyPr wrap="square" lIns="0" rIns="0" tIns="0" bIns="0" anchor="t">
            <a:spAutoFit/>
          </a:bodyPr>
          <a:lstStyle/>
          <a:p>
            <a:pPr algn="l"/>
            <a:r>
              <a:rPr sz="1600" b="1" i="0">
                <a:solidFill>
                  <a:srgbClr val="12233A"/>
                </a:solidFill>
                <a:latin typeface="Cambria"/>
              </a:rPr>
              <a:t>Data</a:t>
            </a:r>
          </a:p>
        </p:txBody>
      </p:sp>
      <p:sp>
        <p:nvSpPr>
          <p:cNvPr id="8" name="TextBox 7"/>
          <p:cNvSpPr txBox="1"/>
          <p:nvPr/>
        </p:nvSpPr>
        <p:spPr>
          <a:xfrm>
            <a:off x="768096" y="4087368"/>
            <a:ext cx="1993392" cy="457200"/>
          </a:xfrm>
          <a:prstGeom prst="rect">
            <a:avLst/>
          </a:prstGeom>
          <a:noFill/>
        </p:spPr>
        <p:txBody>
          <a:bodyPr wrap="square" lIns="0" rIns="0" tIns="0" bIns="0" anchor="t">
            <a:spAutoFit/>
          </a:bodyPr>
          <a:lstStyle/>
          <a:p>
            <a:pPr algn="l">
              <a:lnSpc>
                <a:spcPct val="120000"/>
              </a:lnSpc>
            </a:pPr>
            <a:r>
              <a:rPr sz="950" b="0" i="0">
                <a:solidFill>
                  <a:srgbClr val="2B3440"/>
                </a:solidFill>
                <a:latin typeface="Calibri"/>
              </a:rPr>
              <a:t>"$409.00"
"Eixample"
2</a:t>
            </a:r>
          </a:p>
        </p:txBody>
      </p:sp>
      <p:sp>
        <p:nvSpPr>
          <p:cNvPr id="9" name="TextBox 8"/>
          <p:cNvSpPr txBox="1"/>
          <p:nvPr/>
        </p:nvSpPr>
        <p:spPr>
          <a:xfrm>
            <a:off x="566928" y="4791455"/>
            <a:ext cx="2395728" cy="566928"/>
          </a:xfrm>
          <a:prstGeom prst="rect">
            <a:avLst/>
          </a:prstGeom>
          <a:noFill/>
        </p:spPr>
        <p:txBody>
          <a:bodyPr wrap="square" lIns="0" rIns="0" tIns="0" bIns="0" anchor="t">
            <a:spAutoFit/>
          </a:bodyPr>
          <a:lstStyle/>
          <a:p>
            <a:pPr algn="ctr">
              <a:lnSpc>
                <a:spcPct val="120000"/>
              </a:lnSpc>
            </a:pPr>
            <a:r>
              <a:rPr sz="1150" b="0" i="0">
                <a:solidFill>
                  <a:srgbClr val="6E7A8A"/>
                </a:solidFill>
                <a:latin typeface="Calibri"/>
              </a:rPr>
              <a:t>No question attached. A value someone wrote down.</a:t>
            </a:r>
          </a:p>
        </p:txBody>
      </p:sp>
      <p:sp>
        <p:nvSpPr>
          <p:cNvPr id="10" name="Rounded Rectangle 9"/>
          <p:cNvSpPr/>
          <p:nvPr/>
        </p:nvSpPr>
        <p:spPr>
          <a:xfrm>
            <a:off x="3118104" y="2926079"/>
            <a:ext cx="2395728" cy="1737360"/>
          </a:xfrm>
          <a:prstGeom prst="roundRect">
            <a:avLst>
              <a:gd name="adj" fmla="val 7368"/>
            </a:avLst>
          </a:prstGeom>
          <a:solidFill>
            <a:srgbClr val="ABCCC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19272" y="3072384"/>
            <a:ext cx="1993392" cy="219456"/>
          </a:xfrm>
          <a:prstGeom prst="rect">
            <a:avLst/>
          </a:prstGeom>
          <a:noFill/>
        </p:spPr>
        <p:txBody>
          <a:bodyPr wrap="square" lIns="0" rIns="0" tIns="0" bIns="0" anchor="t">
            <a:spAutoFit/>
          </a:bodyPr>
          <a:lstStyle/>
          <a:p>
            <a:pPr algn="l"/>
            <a:r>
              <a:rPr sz="950" b="1" i="0">
                <a:solidFill>
                  <a:srgbClr val="075E67"/>
                </a:solidFill>
                <a:latin typeface="Calibri"/>
              </a:rPr>
              <a:t>IN CONTEXT</a:t>
            </a:r>
          </a:p>
        </p:txBody>
      </p:sp>
      <p:sp>
        <p:nvSpPr>
          <p:cNvPr id="12" name="TextBox 11"/>
          <p:cNvSpPr txBox="1"/>
          <p:nvPr/>
        </p:nvSpPr>
        <p:spPr>
          <a:xfrm>
            <a:off x="3319272" y="3328415"/>
            <a:ext cx="1993392" cy="310896"/>
          </a:xfrm>
          <a:prstGeom prst="rect">
            <a:avLst/>
          </a:prstGeom>
          <a:noFill/>
        </p:spPr>
        <p:txBody>
          <a:bodyPr wrap="square" lIns="0" rIns="0" tIns="0" bIns="0" anchor="t">
            <a:spAutoFit/>
          </a:bodyPr>
          <a:lstStyle/>
          <a:p>
            <a:pPr algn="l"/>
            <a:r>
              <a:rPr sz="1600" b="1" i="0">
                <a:solidFill>
                  <a:srgbClr val="12233A"/>
                </a:solidFill>
                <a:latin typeface="Cambria"/>
              </a:rPr>
              <a:t>Information</a:t>
            </a:r>
          </a:p>
        </p:txBody>
      </p:sp>
      <p:sp>
        <p:nvSpPr>
          <p:cNvPr id="13" name="TextBox 12"/>
          <p:cNvSpPr txBox="1"/>
          <p:nvPr/>
        </p:nvSpPr>
        <p:spPr>
          <a:xfrm>
            <a:off x="3319272" y="3675887"/>
            <a:ext cx="1993392" cy="868680"/>
          </a:xfrm>
          <a:prstGeom prst="rect">
            <a:avLst/>
          </a:prstGeom>
          <a:noFill/>
        </p:spPr>
        <p:txBody>
          <a:bodyPr wrap="square" lIns="0" rIns="0" tIns="0" bIns="0" anchor="t">
            <a:spAutoFit/>
          </a:bodyPr>
          <a:lstStyle/>
          <a:p>
            <a:pPr algn="l">
              <a:lnSpc>
                <a:spcPct val="120000"/>
              </a:lnSpc>
            </a:pPr>
            <a:r>
              <a:rPr sz="1200" b="0" i="0">
                <a:solidFill>
                  <a:srgbClr val="2B3440"/>
                </a:solidFill>
                <a:latin typeface="Calibri"/>
              </a:rPr>
              <a:t>"Two-bedroom flats in this district list above the city median."</a:t>
            </a:r>
          </a:p>
        </p:txBody>
      </p:sp>
      <p:sp>
        <p:nvSpPr>
          <p:cNvPr id="14" name="TextBox 13"/>
          <p:cNvSpPr txBox="1"/>
          <p:nvPr/>
        </p:nvSpPr>
        <p:spPr>
          <a:xfrm>
            <a:off x="3118104" y="4791455"/>
            <a:ext cx="2395728" cy="566928"/>
          </a:xfrm>
          <a:prstGeom prst="rect">
            <a:avLst/>
          </a:prstGeom>
          <a:noFill/>
        </p:spPr>
        <p:txBody>
          <a:bodyPr wrap="square" lIns="0" rIns="0" tIns="0" bIns="0" anchor="t">
            <a:spAutoFit/>
          </a:bodyPr>
          <a:lstStyle/>
          <a:p>
            <a:pPr algn="ctr">
              <a:lnSpc>
                <a:spcPct val="120000"/>
              </a:lnSpc>
            </a:pPr>
            <a:r>
              <a:rPr sz="1150" b="0" i="0">
                <a:solidFill>
                  <a:srgbClr val="6E7A8A"/>
                </a:solidFill>
                <a:latin typeface="Calibri"/>
              </a:rPr>
              <a:t>Answers a stated question, with a scope and a unit.</a:t>
            </a:r>
          </a:p>
        </p:txBody>
      </p:sp>
      <p:sp>
        <p:nvSpPr>
          <p:cNvPr id="15" name="Rounded Rectangle 14"/>
          <p:cNvSpPr/>
          <p:nvPr/>
        </p:nvSpPr>
        <p:spPr>
          <a:xfrm>
            <a:off x="5669280" y="2514599"/>
            <a:ext cx="2395728" cy="2148840"/>
          </a:xfrm>
          <a:prstGeom prst="roundRect">
            <a:avLst>
              <a:gd name="adj" fmla="val 5957"/>
            </a:avLst>
          </a:prstGeom>
          <a:solidFill>
            <a:srgbClr val="84B4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70448" y="2660903"/>
            <a:ext cx="1993392" cy="219456"/>
          </a:xfrm>
          <a:prstGeom prst="rect">
            <a:avLst/>
          </a:prstGeom>
          <a:noFill/>
        </p:spPr>
        <p:txBody>
          <a:bodyPr wrap="square" lIns="0" rIns="0" tIns="0" bIns="0" anchor="t">
            <a:spAutoFit/>
          </a:bodyPr>
          <a:lstStyle/>
          <a:p>
            <a:pPr algn="l"/>
            <a:r>
              <a:rPr sz="950" b="1" i="0">
                <a:solidFill>
                  <a:srgbClr val="FFFFFF"/>
                </a:solidFill>
                <a:latin typeface="Calibri"/>
              </a:rPr>
              <a:t>GENERALISED</a:t>
            </a:r>
          </a:p>
        </p:txBody>
      </p:sp>
      <p:sp>
        <p:nvSpPr>
          <p:cNvPr id="17" name="TextBox 16"/>
          <p:cNvSpPr txBox="1"/>
          <p:nvPr/>
        </p:nvSpPr>
        <p:spPr>
          <a:xfrm>
            <a:off x="5870448" y="2916935"/>
            <a:ext cx="1993392" cy="310896"/>
          </a:xfrm>
          <a:prstGeom prst="rect">
            <a:avLst/>
          </a:prstGeom>
          <a:noFill/>
        </p:spPr>
        <p:txBody>
          <a:bodyPr wrap="square" lIns="0" rIns="0" tIns="0" bIns="0" anchor="t">
            <a:spAutoFit/>
          </a:bodyPr>
          <a:lstStyle/>
          <a:p>
            <a:pPr algn="l"/>
            <a:r>
              <a:rPr sz="1600" b="1" i="0">
                <a:solidFill>
                  <a:srgbClr val="FFFFFF"/>
                </a:solidFill>
                <a:latin typeface="Cambria"/>
              </a:rPr>
              <a:t>Knowledge</a:t>
            </a:r>
          </a:p>
        </p:txBody>
      </p:sp>
      <p:sp>
        <p:nvSpPr>
          <p:cNvPr id="18" name="TextBox 17"/>
          <p:cNvSpPr txBox="1"/>
          <p:nvPr/>
        </p:nvSpPr>
        <p:spPr>
          <a:xfrm>
            <a:off x="5870448" y="3264407"/>
            <a:ext cx="1993392" cy="1280160"/>
          </a:xfrm>
          <a:prstGeom prst="rect">
            <a:avLst/>
          </a:prstGeom>
          <a:noFill/>
        </p:spPr>
        <p:txBody>
          <a:bodyPr wrap="square" lIns="0" rIns="0" tIns="0" bIns="0" anchor="t">
            <a:spAutoFit/>
          </a:bodyPr>
          <a:lstStyle/>
          <a:p>
            <a:pPr algn="l">
              <a:lnSpc>
                <a:spcPct val="120000"/>
              </a:lnSpc>
            </a:pPr>
            <a:r>
              <a:rPr sz="1200" b="0" i="0">
                <a:solidFill>
                  <a:srgbClr val="FFFFFF"/>
                </a:solidFill>
                <a:latin typeface="Calibri"/>
              </a:rPr>
              <a:t>"Capacity and district explain much of the variation in price."</a:t>
            </a:r>
          </a:p>
        </p:txBody>
      </p:sp>
      <p:sp>
        <p:nvSpPr>
          <p:cNvPr id="19" name="TextBox 18"/>
          <p:cNvSpPr txBox="1"/>
          <p:nvPr/>
        </p:nvSpPr>
        <p:spPr>
          <a:xfrm>
            <a:off x="5669280" y="4791455"/>
            <a:ext cx="2395728" cy="566928"/>
          </a:xfrm>
          <a:prstGeom prst="rect">
            <a:avLst/>
          </a:prstGeom>
          <a:noFill/>
        </p:spPr>
        <p:txBody>
          <a:bodyPr wrap="square" lIns="0" rIns="0" tIns="0" bIns="0" anchor="t">
            <a:spAutoFit/>
          </a:bodyPr>
          <a:lstStyle/>
          <a:p>
            <a:pPr algn="ctr">
              <a:lnSpc>
                <a:spcPct val="120000"/>
              </a:lnSpc>
            </a:pPr>
            <a:r>
              <a:rPr sz="1150" b="0" i="0">
                <a:solidFill>
                  <a:srgbClr val="6E7A8A"/>
                </a:solidFill>
                <a:latin typeface="Calibri"/>
              </a:rPr>
              <a:t>Holds across cases, not just the ones you looked at.</a:t>
            </a:r>
          </a:p>
        </p:txBody>
      </p:sp>
      <p:sp>
        <p:nvSpPr>
          <p:cNvPr id="20" name="Rounded Rectangle 19"/>
          <p:cNvSpPr/>
          <p:nvPr/>
        </p:nvSpPr>
        <p:spPr>
          <a:xfrm>
            <a:off x="8220456" y="2103120"/>
            <a:ext cx="2395728" cy="2560320"/>
          </a:xfrm>
          <a:prstGeom prst="roundRect">
            <a:avLst>
              <a:gd name="adj" fmla="val 5343"/>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21624" y="2249424"/>
            <a:ext cx="1993392" cy="219456"/>
          </a:xfrm>
          <a:prstGeom prst="rect">
            <a:avLst/>
          </a:prstGeom>
          <a:noFill/>
        </p:spPr>
        <p:txBody>
          <a:bodyPr wrap="square" lIns="0" rIns="0" tIns="0" bIns="0" anchor="t">
            <a:spAutoFit/>
          </a:bodyPr>
          <a:lstStyle/>
          <a:p>
            <a:pPr algn="l"/>
            <a:r>
              <a:rPr sz="950" b="1" i="0">
                <a:solidFill>
                  <a:srgbClr val="FFFFFF"/>
                </a:solidFill>
                <a:latin typeface="Calibri"/>
              </a:rPr>
              <a:t>ACTED ON</a:t>
            </a:r>
          </a:p>
        </p:txBody>
      </p:sp>
      <p:sp>
        <p:nvSpPr>
          <p:cNvPr id="22" name="TextBox 21"/>
          <p:cNvSpPr txBox="1"/>
          <p:nvPr/>
        </p:nvSpPr>
        <p:spPr>
          <a:xfrm>
            <a:off x="8421624" y="2505456"/>
            <a:ext cx="1993392" cy="310896"/>
          </a:xfrm>
          <a:prstGeom prst="rect">
            <a:avLst/>
          </a:prstGeom>
          <a:noFill/>
        </p:spPr>
        <p:txBody>
          <a:bodyPr wrap="square" lIns="0" rIns="0" tIns="0" bIns="0" anchor="t">
            <a:spAutoFit/>
          </a:bodyPr>
          <a:lstStyle/>
          <a:p>
            <a:pPr algn="l"/>
            <a:r>
              <a:rPr sz="1600" b="1" i="0">
                <a:solidFill>
                  <a:srgbClr val="FFFFFF"/>
                </a:solidFill>
                <a:latin typeface="Cambria"/>
              </a:rPr>
              <a:t>Decision</a:t>
            </a:r>
          </a:p>
        </p:txBody>
      </p:sp>
      <p:sp>
        <p:nvSpPr>
          <p:cNvPr id="23" name="TextBox 22"/>
          <p:cNvSpPr txBox="1"/>
          <p:nvPr/>
        </p:nvSpPr>
        <p:spPr>
          <a:xfrm>
            <a:off x="8421624" y="2852927"/>
            <a:ext cx="1993392" cy="1691639"/>
          </a:xfrm>
          <a:prstGeom prst="rect">
            <a:avLst/>
          </a:prstGeom>
          <a:noFill/>
        </p:spPr>
        <p:txBody>
          <a:bodyPr wrap="square" lIns="0" rIns="0" tIns="0" bIns="0" anchor="t">
            <a:spAutoFit/>
          </a:bodyPr>
          <a:lstStyle/>
          <a:p>
            <a:pPr algn="l">
              <a:lnSpc>
                <a:spcPct val="120000"/>
              </a:lnSpc>
            </a:pPr>
            <a:r>
              <a:rPr sz="1200" b="0" i="0">
                <a:solidFill>
                  <a:srgbClr val="FFFFFF"/>
                </a:solidFill>
                <a:latin typeface="Calibri"/>
              </a:rPr>
              <a:t>"List this flat at this price."
"Inspect this listing."</a:t>
            </a:r>
          </a:p>
        </p:txBody>
      </p:sp>
      <p:sp>
        <p:nvSpPr>
          <p:cNvPr id="24" name="TextBox 23"/>
          <p:cNvSpPr txBox="1"/>
          <p:nvPr/>
        </p:nvSpPr>
        <p:spPr>
          <a:xfrm>
            <a:off x="8220456" y="4791455"/>
            <a:ext cx="2395728" cy="566928"/>
          </a:xfrm>
          <a:prstGeom prst="rect">
            <a:avLst/>
          </a:prstGeom>
          <a:noFill/>
        </p:spPr>
        <p:txBody>
          <a:bodyPr wrap="square" lIns="0" rIns="0" tIns="0" bIns="0" anchor="t">
            <a:spAutoFit/>
          </a:bodyPr>
          <a:lstStyle/>
          <a:p>
            <a:pPr algn="ctr">
              <a:lnSpc>
                <a:spcPct val="120000"/>
              </a:lnSpc>
            </a:pPr>
            <a:r>
              <a:rPr sz="1150" b="0" i="0">
                <a:solidFill>
                  <a:srgbClr val="6E7A8A"/>
                </a:solidFill>
                <a:latin typeface="Calibri"/>
              </a:rPr>
              <a:t>Someone does something differently. The only real output.</a:t>
            </a:r>
          </a:p>
        </p:txBody>
      </p:sp>
      <p:sp>
        <p:nvSpPr>
          <p:cNvPr id="25" name="Rounded Rectangle 24"/>
          <p:cNvSpPr/>
          <p:nvPr/>
        </p:nvSpPr>
        <p:spPr>
          <a:xfrm>
            <a:off x="566928" y="5532120"/>
            <a:ext cx="11057839" cy="749808"/>
          </a:xfrm>
          <a:prstGeom prst="roundRect">
            <a:avLst>
              <a:gd name="adj" fmla="val 17073"/>
            </a:avLst>
          </a:prstGeom>
          <a:solidFill>
            <a:srgbClr val="F5ED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32688" y="5660136"/>
            <a:ext cx="10326319" cy="219456"/>
          </a:xfrm>
          <a:prstGeom prst="rect">
            <a:avLst/>
          </a:prstGeom>
          <a:noFill/>
        </p:spPr>
        <p:txBody>
          <a:bodyPr wrap="square" lIns="0" rIns="0" tIns="0" bIns="0" anchor="t">
            <a:spAutoFit/>
          </a:bodyPr>
          <a:lstStyle/>
          <a:p>
            <a:pPr algn="l"/>
            <a:r>
              <a:rPr sz="1000" b="1" i="0">
                <a:solidFill>
                  <a:srgbClr val="7F4C08"/>
                </a:solidFill>
                <a:latin typeface="Calibri"/>
              </a:rPr>
              <a:t>THE PRACTICAL TEST</a:t>
            </a:r>
          </a:p>
        </p:txBody>
      </p:sp>
      <p:sp>
        <p:nvSpPr>
          <p:cNvPr id="27" name="TextBox 26"/>
          <p:cNvSpPr txBox="1"/>
          <p:nvPr/>
        </p:nvSpPr>
        <p:spPr>
          <a:xfrm>
            <a:off x="932688" y="5897880"/>
            <a:ext cx="10326319" cy="365760"/>
          </a:xfrm>
          <a:prstGeom prst="rect">
            <a:avLst/>
          </a:prstGeom>
          <a:noFill/>
        </p:spPr>
        <p:txBody>
          <a:bodyPr wrap="square" lIns="0" rIns="0" tIns="0" bIns="0" anchor="t">
            <a:spAutoFit/>
          </a:bodyPr>
          <a:lstStyle/>
          <a:p>
            <a:pPr algn="l"/>
            <a:r>
              <a:rPr sz="1600" b="1" i="0">
                <a:solidFill>
                  <a:srgbClr val="12233A"/>
                </a:solidFill>
                <a:latin typeface="Cambria"/>
              </a:rPr>
              <a:t>If you cannot say what question it answers, it is still data.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Telling them apart, in practice</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The test is not about the number. It is about whether a question came first.</a:t>
            </a:r>
          </a:p>
        </p:txBody>
      </p:sp>
      <p:sp>
        <p:nvSpPr>
          <p:cNvPr id="5" name="Rounded Rectangle 4"/>
          <p:cNvSpPr/>
          <p:nvPr/>
        </p:nvSpPr>
        <p:spPr>
          <a:xfrm>
            <a:off x="566928" y="1691640"/>
            <a:ext cx="5277459" cy="4206240"/>
          </a:xfrm>
          <a:prstGeom prst="roundRect">
            <a:avLst>
              <a:gd name="adj" fmla="val 3043"/>
            </a:avLst>
          </a:prstGeom>
          <a:solidFill>
            <a:srgbClr val="F9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947672"/>
            <a:ext cx="4692243" cy="237744"/>
          </a:xfrm>
          <a:prstGeom prst="rect">
            <a:avLst/>
          </a:prstGeom>
          <a:noFill/>
        </p:spPr>
        <p:txBody>
          <a:bodyPr wrap="square" lIns="0" rIns="0" tIns="0" bIns="0" anchor="t">
            <a:spAutoFit/>
          </a:bodyPr>
          <a:lstStyle/>
          <a:p>
            <a:pPr algn="l"/>
            <a:r>
              <a:rPr sz="1050" b="1" i="0">
                <a:solidFill>
                  <a:srgbClr val="9E2B25"/>
                </a:solidFill>
                <a:latin typeface="Calibri"/>
              </a:rPr>
              <a:t>THIS IS DATA</a:t>
            </a:r>
          </a:p>
        </p:txBody>
      </p:sp>
      <p:sp>
        <p:nvSpPr>
          <p:cNvPr id="7" name="TextBox 6"/>
          <p:cNvSpPr txBox="1"/>
          <p:nvPr/>
        </p:nvSpPr>
        <p:spPr>
          <a:xfrm>
            <a:off x="859536" y="2258568"/>
            <a:ext cx="4692243" cy="621792"/>
          </a:xfrm>
          <a:prstGeom prst="rect">
            <a:avLst/>
          </a:prstGeom>
          <a:noFill/>
        </p:spPr>
        <p:txBody>
          <a:bodyPr wrap="square" lIns="0" rIns="0" tIns="0" bIns="0" anchor="t">
            <a:spAutoFit/>
          </a:bodyPr>
          <a:lstStyle/>
          <a:p>
            <a:pPr algn="l">
              <a:lnSpc>
                <a:spcPct val="115000"/>
              </a:lnSpc>
            </a:pPr>
            <a:r>
              <a:rPr sz="2000" b="1" i="0">
                <a:solidFill>
                  <a:srgbClr val="7E221E"/>
                </a:solidFill>
                <a:latin typeface="Cambria"/>
              </a:rPr>
              <a:t>A value, correctly recorded</a:t>
            </a:r>
          </a:p>
        </p:txBody>
      </p:sp>
      <p:sp>
        <p:nvSpPr>
          <p:cNvPr id="8" name="Oval 7"/>
          <p:cNvSpPr/>
          <p:nvPr/>
        </p:nvSpPr>
        <p:spPr>
          <a:xfrm>
            <a:off x="877824" y="281482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2144" y="276453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It is in a cell of a table.</a:t>
            </a:r>
          </a:p>
        </p:txBody>
      </p:sp>
      <p:sp>
        <p:nvSpPr>
          <p:cNvPr id="10" name="Oval 9"/>
          <p:cNvSpPr/>
          <p:nvPr/>
        </p:nvSpPr>
        <p:spPr>
          <a:xfrm>
            <a:off x="877824" y="321995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16966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It is accurate, and it is not useful yet.</a:t>
            </a:r>
          </a:p>
        </p:txBody>
      </p:sp>
      <p:sp>
        <p:nvSpPr>
          <p:cNvPr id="12" name="Oval 11"/>
          <p:cNvSpPr/>
          <p:nvPr/>
        </p:nvSpPr>
        <p:spPr>
          <a:xfrm>
            <a:off x="877824" y="362508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2144" y="357479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No question has been asked of it.</a:t>
            </a:r>
          </a:p>
        </p:txBody>
      </p:sp>
      <p:sp>
        <p:nvSpPr>
          <p:cNvPr id="14" name="Oval 13"/>
          <p:cNvSpPr/>
          <p:nvPr/>
        </p:nvSpPr>
        <p:spPr>
          <a:xfrm>
            <a:off x="877824" y="403021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 y="397992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Nobody can act on it.</a:t>
            </a:r>
          </a:p>
        </p:txBody>
      </p:sp>
      <p:sp>
        <p:nvSpPr>
          <p:cNvPr id="16" name="Oval 15"/>
          <p:cNvSpPr/>
          <p:nvPr/>
        </p:nvSpPr>
        <p:spPr>
          <a:xfrm>
            <a:off x="877824" y="443534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152144" y="438505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More of it is still just more data.</a:t>
            </a:r>
          </a:p>
        </p:txBody>
      </p:sp>
      <p:sp>
        <p:nvSpPr>
          <p:cNvPr id="18" name="TextBox 17"/>
          <p:cNvSpPr txBox="1"/>
          <p:nvPr/>
        </p:nvSpPr>
        <p:spPr>
          <a:xfrm>
            <a:off x="859536" y="5120640"/>
            <a:ext cx="4692243" cy="274320"/>
          </a:xfrm>
          <a:prstGeom prst="rect">
            <a:avLst/>
          </a:prstGeom>
          <a:noFill/>
        </p:spPr>
        <p:txBody>
          <a:bodyPr wrap="square" lIns="0" rIns="0" tIns="0" bIns="0" anchor="t">
            <a:spAutoFit/>
          </a:bodyPr>
          <a:lstStyle/>
          <a:p>
            <a:pPr algn="l"/>
            <a:r>
              <a:rPr sz="950" b="1" i="0">
                <a:solidFill>
                  <a:srgbClr val="6E7A8A"/>
                </a:solidFill>
                <a:latin typeface="Calibri"/>
              </a:rPr>
              <a:t>WHAT IT GIVES YOU</a:t>
            </a:r>
          </a:p>
        </p:txBody>
      </p:sp>
      <p:sp>
        <p:nvSpPr>
          <p:cNvPr id="19" name="TextBox 18"/>
          <p:cNvSpPr txBox="1"/>
          <p:nvPr/>
        </p:nvSpPr>
        <p:spPr>
          <a:xfrm>
            <a:off x="859536" y="5376672"/>
            <a:ext cx="4692243" cy="457200"/>
          </a:xfrm>
          <a:prstGeom prst="rect">
            <a:avLst/>
          </a:prstGeom>
          <a:noFill/>
        </p:spPr>
        <p:txBody>
          <a:bodyPr wrap="square" lIns="0" rIns="0" tIns="0" bIns="0" anchor="t">
            <a:spAutoFit/>
          </a:bodyPr>
          <a:lstStyle/>
          <a:p>
            <a:pPr algn="l"/>
            <a:r>
              <a:rPr sz="2000" b="1" i="0">
                <a:solidFill>
                  <a:srgbClr val="8E2721"/>
                </a:solidFill>
                <a:latin typeface="Cambria"/>
              </a:rPr>
              <a:t>A record</a:t>
            </a:r>
          </a:p>
        </p:txBody>
      </p:sp>
      <p:sp>
        <p:nvSpPr>
          <p:cNvPr id="20" name="Rounded Rectangle 19"/>
          <p:cNvSpPr/>
          <p:nvPr/>
        </p:nvSpPr>
        <p:spPr>
          <a:xfrm>
            <a:off x="6347307" y="1691640"/>
            <a:ext cx="5277459" cy="4206240"/>
          </a:xfrm>
          <a:prstGeom prst="roundRect">
            <a:avLst>
              <a:gd name="adj" fmla="val 3043"/>
            </a:avLst>
          </a:prstGeom>
          <a:solidFill>
            <a:srgbClr val="F2F6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39915" y="1947672"/>
            <a:ext cx="4692243" cy="237744"/>
          </a:xfrm>
          <a:prstGeom prst="rect">
            <a:avLst/>
          </a:prstGeom>
          <a:noFill/>
        </p:spPr>
        <p:txBody>
          <a:bodyPr wrap="square" lIns="0" rIns="0" tIns="0" bIns="0" anchor="t">
            <a:spAutoFit/>
          </a:bodyPr>
          <a:lstStyle/>
          <a:p>
            <a:pPr algn="l"/>
            <a:r>
              <a:rPr sz="1050" b="1" i="0">
                <a:solidFill>
                  <a:srgbClr val="1F6F5C"/>
                </a:solidFill>
                <a:latin typeface="Calibri"/>
              </a:rPr>
              <a:t>THIS IS INFORMATION</a:t>
            </a:r>
          </a:p>
        </p:txBody>
      </p:sp>
      <p:sp>
        <p:nvSpPr>
          <p:cNvPr id="22" name="TextBox 21"/>
          <p:cNvSpPr txBox="1"/>
          <p:nvPr/>
        </p:nvSpPr>
        <p:spPr>
          <a:xfrm>
            <a:off x="6639915" y="2258568"/>
            <a:ext cx="4692243" cy="621792"/>
          </a:xfrm>
          <a:prstGeom prst="rect">
            <a:avLst/>
          </a:prstGeom>
          <a:noFill/>
        </p:spPr>
        <p:txBody>
          <a:bodyPr wrap="square" lIns="0" rIns="0" tIns="0" bIns="0" anchor="t">
            <a:spAutoFit/>
          </a:bodyPr>
          <a:lstStyle/>
          <a:p>
            <a:pPr algn="l">
              <a:lnSpc>
                <a:spcPct val="115000"/>
              </a:lnSpc>
            </a:pPr>
            <a:r>
              <a:rPr sz="1850" b="1" i="0">
                <a:solidFill>
                  <a:srgbClr val="19594A"/>
                </a:solidFill>
                <a:latin typeface="Cambria"/>
              </a:rPr>
              <a:t>An answer to a question someone asked</a:t>
            </a:r>
          </a:p>
        </p:txBody>
      </p:sp>
      <p:sp>
        <p:nvSpPr>
          <p:cNvPr id="23" name="Oval 22"/>
          <p:cNvSpPr/>
          <p:nvPr/>
        </p:nvSpPr>
        <p:spPr>
          <a:xfrm>
            <a:off x="6658203" y="2791968"/>
            <a:ext cx="128016" cy="128016"/>
          </a:xfrm>
          <a:prstGeom prst="ellipse">
            <a:avLst/>
          </a:prstGeom>
          <a:solidFill>
            <a:srgbClr val="6DA1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2523" y="2741676"/>
            <a:ext cx="4363059" cy="297815"/>
          </a:xfrm>
          <a:prstGeom prst="rect">
            <a:avLst/>
          </a:prstGeom>
          <a:noFill/>
        </p:spPr>
        <p:txBody>
          <a:bodyPr wrap="square" lIns="0" rIns="0" tIns="0" bIns="0" anchor="t">
            <a:spAutoFit/>
          </a:bodyPr>
          <a:lstStyle/>
          <a:p>
            <a:pPr algn="l">
              <a:lnSpc>
                <a:spcPct val="125000"/>
              </a:lnSpc>
            </a:pPr>
            <a:r>
              <a:rPr sz="1300" b="0" i="0">
                <a:solidFill>
                  <a:srgbClr val="2B3440"/>
                </a:solidFill>
                <a:latin typeface="Calibri"/>
              </a:rPr>
              <a:t>It states a question, a scope and a unit.</a:t>
            </a:r>
          </a:p>
        </p:txBody>
      </p:sp>
      <p:sp>
        <p:nvSpPr>
          <p:cNvPr id="25" name="Oval 24"/>
          <p:cNvSpPr/>
          <p:nvPr/>
        </p:nvSpPr>
        <p:spPr>
          <a:xfrm>
            <a:off x="6658203" y="3181223"/>
            <a:ext cx="128016" cy="128016"/>
          </a:xfrm>
          <a:prstGeom prst="ellipse">
            <a:avLst/>
          </a:prstGeom>
          <a:solidFill>
            <a:srgbClr val="6DA1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2523" y="3130931"/>
            <a:ext cx="4363059" cy="297815"/>
          </a:xfrm>
          <a:prstGeom prst="rect">
            <a:avLst/>
          </a:prstGeom>
          <a:noFill/>
        </p:spPr>
        <p:txBody>
          <a:bodyPr wrap="square" lIns="0" rIns="0" tIns="0" bIns="0" anchor="t">
            <a:spAutoFit/>
          </a:bodyPr>
          <a:lstStyle/>
          <a:p>
            <a:pPr algn="l">
              <a:lnSpc>
                <a:spcPct val="125000"/>
              </a:lnSpc>
            </a:pPr>
            <a:r>
              <a:rPr sz="1300" b="0" i="0">
                <a:solidFill>
                  <a:srgbClr val="2B3440"/>
                </a:solidFill>
                <a:latin typeface="Calibri"/>
              </a:rPr>
              <a:t>It is a comparison, a rate, a distribution or a trend.</a:t>
            </a:r>
          </a:p>
        </p:txBody>
      </p:sp>
      <p:sp>
        <p:nvSpPr>
          <p:cNvPr id="27" name="Oval 26"/>
          <p:cNvSpPr/>
          <p:nvPr/>
        </p:nvSpPr>
        <p:spPr>
          <a:xfrm>
            <a:off x="6658203" y="3570478"/>
            <a:ext cx="128016" cy="128016"/>
          </a:xfrm>
          <a:prstGeom prst="ellipse">
            <a:avLst/>
          </a:prstGeom>
          <a:solidFill>
            <a:srgbClr val="6DA1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32523" y="3520186"/>
            <a:ext cx="4363059" cy="504190"/>
          </a:xfrm>
          <a:prstGeom prst="rect">
            <a:avLst/>
          </a:prstGeom>
          <a:noFill/>
        </p:spPr>
        <p:txBody>
          <a:bodyPr wrap="square" lIns="0" rIns="0" tIns="0" bIns="0" anchor="t">
            <a:spAutoFit/>
          </a:bodyPr>
          <a:lstStyle/>
          <a:p>
            <a:pPr algn="l">
              <a:lnSpc>
                <a:spcPct val="125000"/>
              </a:lnSpc>
            </a:pPr>
            <a:r>
              <a:rPr sz="1300" b="0" i="0">
                <a:solidFill>
                  <a:srgbClr val="2B3440"/>
                </a:solidFill>
                <a:latin typeface="Calibri"/>
              </a:rPr>
              <a:t>It can be wrong - which is what makes it worth checking.</a:t>
            </a:r>
          </a:p>
        </p:txBody>
      </p:sp>
      <p:sp>
        <p:nvSpPr>
          <p:cNvPr id="29" name="Oval 28"/>
          <p:cNvSpPr/>
          <p:nvPr/>
        </p:nvSpPr>
        <p:spPr>
          <a:xfrm>
            <a:off x="6658203" y="4166108"/>
            <a:ext cx="128016" cy="128016"/>
          </a:xfrm>
          <a:prstGeom prst="ellipse">
            <a:avLst/>
          </a:prstGeom>
          <a:solidFill>
            <a:srgbClr val="6DA1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932523" y="4115816"/>
            <a:ext cx="4363059" cy="297815"/>
          </a:xfrm>
          <a:prstGeom prst="rect">
            <a:avLst/>
          </a:prstGeom>
          <a:noFill/>
        </p:spPr>
        <p:txBody>
          <a:bodyPr wrap="square" lIns="0" rIns="0" tIns="0" bIns="0" anchor="t">
            <a:spAutoFit/>
          </a:bodyPr>
          <a:lstStyle/>
          <a:p>
            <a:pPr algn="l">
              <a:lnSpc>
                <a:spcPct val="125000"/>
              </a:lnSpc>
            </a:pPr>
            <a:r>
              <a:rPr sz="1300" b="0" i="0">
                <a:solidFill>
                  <a:srgbClr val="2B3440"/>
                </a:solidFill>
                <a:latin typeface="Calibri"/>
              </a:rPr>
              <a:t>Someone can act on it, or decide not to.</a:t>
            </a:r>
          </a:p>
        </p:txBody>
      </p:sp>
      <p:sp>
        <p:nvSpPr>
          <p:cNvPr id="31" name="Oval 30"/>
          <p:cNvSpPr/>
          <p:nvPr/>
        </p:nvSpPr>
        <p:spPr>
          <a:xfrm>
            <a:off x="6658203" y="4555363"/>
            <a:ext cx="128016" cy="128016"/>
          </a:xfrm>
          <a:prstGeom prst="ellipse">
            <a:avLst/>
          </a:prstGeom>
          <a:solidFill>
            <a:srgbClr val="6DA1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932523" y="4505071"/>
            <a:ext cx="4363059" cy="297815"/>
          </a:xfrm>
          <a:prstGeom prst="rect">
            <a:avLst/>
          </a:prstGeom>
          <a:noFill/>
        </p:spPr>
        <p:txBody>
          <a:bodyPr wrap="square" lIns="0" rIns="0" tIns="0" bIns="0" anchor="t">
            <a:spAutoFit/>
          </a:bodyPr>
          <a:lstStyle/>
          <a:p>
            <a:pPr algn="l">
              <a:lnSpc>
                <a:spcPct val="125000"/>
              </a:lnSpc>
            </a:pPr>
            <a:r>
              <a:rPr sz="1300" b="0" i="0">
                <a:solidFill>
                  <a:srgbClr val="2B3440"/>
                </a:solidFill>
                <a:latin typeface="Calibri"/>
              </a:rPr>
              <a:t>It survives being written in a sentence.</a:t>
            </a:r>
          </a:p>
        </p:txBody>
      </p:sp>
      <p:sp>
        <p:nvSpPr>
          <p:cNvPr id="33" name="TextBox 32"/>
          <p:cNvSpPr txBox="1"/>
          <p:nvPr/>
        </p:nvSpPr>
        <p:spPr>
          <a:xfrm>
            <a:off x="6639915" y="5120640"/>
            <a:ext cx="4692243" cy="274320"/>
          </a:xfrm>
          <a:prstGeom prst="rect">
            <a:avLst/>
          </a:prstGeom>
          <a:noFill/>
        </p:spPr>
        <p:txBody>
          <a:bodyPr wrap="square" lIns="0" rIns="0" tIns="0" bIns="0" anchor="t">
            <a:spAutoFit/>
          </a:bodyPr>
          <a:lstStyle/>
          <a:p>
            <a:pPr algn="l"/>
            <a:r>
              <a:rPr sz="950" b="1" i="0">
                <a:solidFill>
                  <a:srgbClr val="6E7A8A"/>
                </a:solidFill>
                <a:latin typeface="Calibri"/>
              </a:rPr>
              <a:t>WHAT IT GIVES YOU</a:t>
            </a:r>
          </a:p>
        </p:txBody>
      </p:sp>
      <p:sp>
        <p:nvSpPr>
          <p:cNvPr id="34" name="TextBox 33"/>
          <p:cNvSpPr txBox="1"/>
          <p:nvPr/>
        </p:nvSpPr>
        <p:spPr>
          <a:xfrm>
            <a:off x="6639915" y="5376672"/>
            <a:ext cx="4692243" cy="457200"/>
          </a:xfrm>
          <a:prstGeom prst="rect">
            <a:avLst/>
          </a:prstGeom>
          <a:noFill/>
        </p:spPr>
        <p:txBody>
          <a:bodyPr wrap="square" lIns="0" rIns="0" tIns="0" bIns="0" anchor="t">
            <a:spAutoFit/>
          </a:bodyPr>
          <a:lstStyle/>
          <a:p>
            <a:pPr algn="l"/>
            <a:r>
              <a:rPr sz="2000" b="1" i="0">
                <a:solidFill>
                  <a:srgbClr val="1C6453"/>
                </a:solidFill>
                <a:latin typeface="Cambria"/>
              </a:rPr>
              <a:t>A basis for a decision</a:t>
            </a:r>
          </a:p>
        </p:txBody>
      </p:sp>
      <p:sp>
        <p:nvSpPr>
          <p:cNvPr id="35" name="TextBox 34"/>
          <p:cNvSpPr txBox="1"/>
          <p:nvPr/>
        </p:nvSpPr>
        <p:spPr>
          <a:xfrm>
            <a:off x="566928" y="6108192"/>
            <a:ext cx="11057839" cy="45720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This is why every figure you produce in this course must have a stated question attached to it. A chart with no question is data that took effort.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Four traps in the gap between the two</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Each of these is data mistaken for information.</a:t>
            </a:r>
          </a:p>
        </p:txBody>
      </p:sp>
      <p:sp>
        <p:nvSpPr>
          <p:cNvPr id="5" name="Rounded Rectangle 4"/>
          <p:cNvSpPr/>
          <p:nvPr/>
        </p:nvSpPr>
        <p:spPr>
          <a:xfrm>
            <a:off x="566928" y="1664208"/>
            <a:ext cx="5373471" cy="2272284"/>
          </a:xfrm>
          <a:prstGeom prst="roundRect">
            <a:avLst>
              <a:gd name="adj" fmla="val 5633"/>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2" y="1783080"/>
            <a:ext cx="4916271" cy="237744"/>
          </a:xfrm>
          <a:prstGeom prst="rect">
            <a:avLst/>
          </a:prstGeom>
          <a:noFill/>
        </p:spPr>
        <p:txBody>
          <a:bodyPr wrap="square" lIns="0" rIns="0" tIns="0" bIns="0" anchor="t">
            <a:spAutoFit/>
          </a:bodyPr>
          <a:lstStyle/>
          <a:p>
            <a:pPr algn="l"/>
            <a:r>
              <a:rPr sz="1350" b="1" i="0">
                <a:solidFill>
                  <a:srgbClr val="875209"/>
                </a:solidFill>
                <a:latin typeface="Calibri"/>
              </a:rPr>
              <a:t>More columns = more information</a:t>
            </a:r>
          </a:p>
        </p:txBody>
      </p:sp>
      <p:sp>
        <p:nvSpPr>
          <p:cNvPr id="7" name="TextBox 6"/>
          <p:cNvSpPr txBox="1"/>
          <p:nvPr/>
        </p:nvSpPr>
        <p:spPr>
          <a:xfrm>
            <a:off x="804672" y="2066544"/>
            <a:ext cx="4916271" cy="1769363"/>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Adding a column adds data. Whether it adds information is an empirical question, and you check it rather than assume it. Some columns carry nothing at all.</a:t>
            </a:r>
          </a:p>
        </p:txBody>
      </p:sp>
      <p:sp>
        <p:nvSpPr>
          <p:cNvPr id="8" name="Rounded Rectangle 7"/>
          <p:cNvSpPr/>
          <p:nvPr/>
        </p:nvSpPr>
        <p:spPr>
          <a:xfrm>
            <a:off x="6251295" y="1664208"/>
            <a:ext cx="5373471" cy="2272284"/>
          </a:xfrm>
          <a:prstGeom prst="roundRect">
            <a:avLst>
              <a:gd name="adj" fmla="val 5633"/>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89039" y="1783080"/>
            <a:ext cx="4916271" cy="237744"/>
          </a:xfrm>
          <a:prstGeom prst="rect">
            <a:avLst/>
          </a:prstGeom>
          <a:noFill/>
        </p:spPr>
        <p:txBody>
          <a:bodyPr wrap="square" lIns="0" rIns="0" tIns="0" bIns="0" anchor="t">
            <a:spAutoFit/>
          </a:bodyPr>
          <a:lstStyle/>
          <a:p>
            <a:pPr algn="l"/>
            <a:r>
              <a:rPr sz="1350" b="1" i="0">
                <a:solidFill>
                  <a:srgbClr val="06545B"/>
                </a:solidFill>
                <a:latin typeface="Calibri"/>
              </a:rPr>
              <a:t>The average as a summary</a:t>
            </a:r>
          </a:p>
        </p:txBody>
      </p:sp>
      <p:sp>
        <p:nvSpPr>
          <p:cNvPr id="10" name="TextBox 9"/>
          <p:cNvSpPr txBox="1"/>
          <p:nvPr/>
        </p:nvSpPr>
        <p:spPr>
          <a:xfrm>
            <a:off x="6489039" y="2066544"/>
            <a:ext cx="4916271" cy="1769363"/>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One number for a skewed distribution hides the shape that mattered. Report the shape, or say which question the average answers.</a:t>
            </a:r>
          </a:p>
        </p:txBody>
      </p:sp>
      <p:sp>
        <p:nvSpPr>
          <p:cNvPr id="11" name="Rounded Rectangle 10"/>
          <p:cNvSpPr/>
          <p:nvPr/>
        </p:nvSpPr>
        <p:spPr>
          <a:xfrm>
            <a:off x="566928" y="4082796"/>
            <a:ext cx="5373471" cy="2272284"/>
          </a:xfrm>
          <a:prstGeom prst="roundRect">
            <a:avLst>
              <a:gd name="adj" fmla="val 5633"/>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4201668"/>
            <a:ext cx="4916271" cy="237744"/>
          </a:xfrm>
          <a:prstGeom prst="rect">
            <a:avLst/>
          </a:prstGeom>
          <a:noFill/>
        </p:spPr>
        <p:txBody>
          <a:bodyPr wrap="square" lIns="0" rIns="0" tIns="0" bIns="0" anchor="t">
            <a:spAutoFit/>
          </a:bodyPr>
          <a:lstStyle/>
          <a:p>
            <a:pPr algn="l"/>
            <a:r>
              <a:rPr sz="1350" b="1" i="0">
                <a:solidFill>
                  <a:srgbClr val="06545B"/>
                </a:solidFill>
                <a:latin typeface="Calibri"/>
              </a:rPr>
              <a:t>A correlation as an explanation</a:t>
            </a:r>
          </a:p>
        </p:txBody>
      </p:sp>
      <p:sp>
        <p:nvSpPr>
          <p:cNvPr id="13" name="TextBox 12"/>
          <p:cNvSpPr txBox="1"/>
          <p:nvPr/>
        </p:nvSpPr>
        <p:spPr>
          <a:xfrm>
            <a:off x="804672" y="4485132"/>
            <a:ext cx="4916271" cy="1769363"/>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Two things moving together has at least three explanations before it has one. A third variable is usually the first candidate.</a:t>
            </a:r>
          </a:p>
        </p:txBody>
      </p:sp>
      <p:sp>
        <p:nvSpPr>
          <p:cNvPr id="14" name="Rounded Rectangle 13"/>
          <p:cNvSpPr/>
          <p:nvPr/>
        </p:nvSpPr>
        <p:spPr>
          <a:xfrm>
            <a:off x="6251295" y="4082796"/>
            <a:ext cx="5373471" cy="2272284"/>
          </a:xfrm>
          <a:prstGeom prst="roundRect">
            <a:avLst>
              <a:gd name="adj" fmla="val 5633"/>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89039" y="4201668"/>
            <a:ext cx="4916271" cy="237744"/>
          </a:xfrm>
          <a:prstGeom prst="rect">
            <a:avLst/>
          </a:prstGeom>
          <a:noFill/>
        </p:spPr>
        <p:txBody>
          <a:bodyPr wrap="square" lIns="0" rIns="0" tIns="0" bIns="0" anchor="t">
            <a:spAutoFit/>
          </a:bodyPr>
          <a:lstStyle/>
          <a:p>
            <a:pPr algn="l"/>
            <a:r>
              <a:rPr sz="1350" b="1" i="0">
                <a:solidFill>
                  <a:srgbClr val="06545B"/>
                </a:solidFill>
                <a:latin typeface="Calibri"/>
              </a:rPr>
              <a:t>Precision as accuracy</a:t>
            </a:r>
          </a:p>
        </p:txBody>
      </p:sp>
      <p:sp>
        <p:nvSpPr>
          <p:cNvPr id="16" name="TextBox 15"/>
          <p:cNvSpPr txBox="1"/>
          <p:nvPr/>
        </p:nvSpPr>
        <p:spPr>
          <a:xfrm>
            <a:off x="6489039" y="4485132"/>
            <a:ext cx="4916271" cy="1769363"/>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number quoted to four decimal places can be confidently wrong. Precision is about how tightly it is measured, not whether it is right.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82735" y="1280160"/>
            <a:ext cx="4206240" cy="4206240"/>
          </a:xfrm>
          <a:prstGeom prst="ellipse">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097280" cy="457200"/>
          </a:xfrm>
          <a:prstGeom prst="rect">
            <a:avLst/>
          </a:prstGeom>
          <a:noFill/>
        </p:spPr>
        <p:txBody>
          <a:bodyPr wrap="square" lIns="0" rIns="0" tIns="0" bIns="0" anchor="t">
            <a:spAutoFit/>
          </a:bodyPr>
          <a:lstStyle/>
          <a:p>
            <a:pPr algn="l"/>
            <a:r>
              <a:rPr sz="4400" b="1" i="0">
                <a:solidFill>
                  <a:srgbClr val="E9A93D"/>
                </a:solidFill>
                <a:latin typeface="Cambria"/>
              </a:rPr>
              <a:t>4</a:t>
            </a:r>
          </a:p>
        </p:txBody>
      </p:sp>
      <p:sp>
        <p:nvSpPr>
          <p:cNvPr id="5" name="TextBox 4"/>
          <p:cNvSpPr txBox="1"/>
          <p:nvPr/>
        </p:nvSpPr>
        <p:spPr>
          <a:xfrm>
            <a:off x="1801368" y="2377440"/>
            <a:ext cx="6766560" cy="914400"/>
          </a:xfrm>
          <a:prstGeom prst="rect">
            <a:avLst/>
          </a:prstGeom>
          <a:noFill/>
        </p:spPr>
        <p:txBody>
          <a:bodyPr wrap="square" lIns="0" rIns="0" tIns="0" bIns="0" anchor="t">
            <a:spAutoFit/>
          </a:bodyPr>
          <a:lstStyle/>
          <a:p>
            <a:pPr algn="l">
              <a:lnSpc>
                <a:spcPct val="108000"/>
              </a:lnSpc>
            </a:pPr>
            <a:r>
              <a:rPr sz="3400" b="1" i="0">
                <a:solidFill>
                  <a:srgbClr val="FFFFFF"/>
                </a:solidFill>
                <a:latin typeface="Cambria"/>
              </a:rPr>
              <a:t>The vocabulary</a:t>
            </a:r>
          </a:p>
        </p:txBody>
      </p:sp>
      <p:sp>
        <p:nvSpPr>
          <p:cNvPr id="6" name="TextBox 5"/>
          <p:cNvSpPr txBox="1"/>
          <p:nvPr/>
        </p:nvSpPr>
        <p:spPr>
          <a:xfrm>
            <a:off x="1801368" y="3429000"/>
            <a:ext cx="6766560" cy="822960"/>
          </a:xfrm>
          <a:prstGeom prst="rect">
            <a:avLst/>
          </a:prstGeom>
          <a:noFill/>
        </p:spPr>
        <p:txBody>
          <a:bodyPr wrap="square" lIns="0" rIns="0" tIns="0" bIns="0" anchor="t">
            <a:spAutoFit/>
          </a:bodyPr>
          <a:lstStyle/>
          <a:p>
            <a:pPr algn="l">
              <a:lnSpc>
                <a:spcPct val="130000"/>
              </a:lnSpc>
            </a:pPr>
            <a:r>
              <a:rPr sz="1500" b="0" i="1">
                <a:solidFill>
                  <a:srgbClr val="9FB0C4"/>
                </a:solidFill>
                <a:latin typeface="Calibri"/>
              </a:rPr>
              <a:t>The words the notebooks use from Session 1 without stopping to define them.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The anatomy of a dataset</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Four words to be precise about before Session 1. Nearly every early mistake is a confusion between them.</a:t>
            </a:r>
          </a:p>
        </p:txBody>
      </p:sp>
      <p:sp>
        <p:nvSpPr>
          <p:cNvPr id="5" name="Rounded Rectangle 4"/>
          <p:cNvSpPr/>
          <p:nvPr/>
        </p:nvSpPr>
        <p:spPr>
          <a:xfrm>
            <a:off x="1984248" y="2148840"/>
            <a:ext cx="1517904" cy="420624"/>
          </a:xfrm>
          <a:prstGeom prst="roundRect">
            <a:avLst>
              <a:gd name="adj" fmla="val 21739"/>
            </a:avLst>
          </a:prstGeom>
          <a:solidFill>
            <a:srgbClr val="075E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ourier New"/>
              </a:rPr>
              <a:t>district</a:t>
            </a:r>
          </a:p>
        </p:txBody>
      </p:sp>
      <p:sp>
        <p:nvSpPr>
          <p:cNvPr id="6" name="Rounded Rectangle 5"/>
          <p:cNvSpPr/>
          <p:nvPr/>
        </p:nvSpPr>
        <p:spPr>
          <a:xfrm>
            <a:off x="3557015" y="2148840"/>
            <a:ext cx="1517904" cy="420624"/>
          </a:xfrm>
          <a:prstGeom prst="roundRect">
            <a:avLst>
              <a:gd name="adj" fmla="val 21739"/>
            </a:avLst>
          </a:prstGeom>
          <a:solidFill>
            <a:srgbClr val="075E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ourier New"/>
              </a:rPr>
              <a:t>bedrooms</a:t>
            </a:r>
          </a:p>
        </p:txBody>
      </p:sp>
      <p:sp>
        <p:nvSpPr>
          <p:cNvPr id="7" name="Rounded Rectangle 6"/>
          <p:cNvSpPr/>
          <p:nvPr/>
        </p:nvSpPr>
        <p:spPr>
          <a:xfrm>
            <a:off x="5129783" y="2148840"/>
            <a:ext cx="1517904" cy="420624"/>
          </a:xfrm>
          <a:prstGeom prst="roundRect">
            <a:avLst>
              <a:gd name="adj" fmla="val 21739"/>
            </a:avLst>
          </a:prstGeom>
          <a:solidFill>
            <a:srgbClr val="075E6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ourier New"/>
              </a:rPr>
              <a:t>capacity</a:t>
            </a:r>
          </a:p>
        </p:txBody>
      </p:sp>
      <p:sp>
        <p:nvSpPr>
          <p:cNvPr id="8" name="Rounded Rectangle 7"/>
          <p:cNvSpPr/>
          <p:nvPr/>
        </p:nvSpPr>
        <p:spPr>
          <a:xfrm>
            <a:off x="6702552" y="2148840"/>
            <a:ext cx="1517904" cy="420624"/>
          </a:xfrm>
          <a:prstGeom prst="roundRect">
            <a:avLst>
              <a:gd name="adj" fmla="val 21739"/>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ourier New"/>
              </a:rPr>
              <a:t>price</a:t>
            </a:r>
          </a:p>
        </p:txBody>
      </p:sp>
      <p:sp>
        <p:nvSpPr>
          <p:cNvPr id="9" name="Rounded Rectangle 8"/>
          <p:cNvSpPr/>
          <p:nvPr/>
        </p:nvSpPr>
        <p:spPr>
          <a:xfrm>
            <a:off x="1984248" y="2624328"/>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Eixample</a:t>
            </a:r>
          </a:p>
        </p:txBody>
      </p:sp>
      <p:sp>
        <p:nvSpPr>
          <p:cNvPr id="10" name="Rounded Rectangle 9"/>
          <p:cNvSpPr/>
          <p:nvPr/>
        </p:nvSpPr>
        <p:spPr>
          <a:xfrm>
            <a:off x="3557015" y="2624328"/>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2</a:t>
            </a:r>
          </a:p>
        </p:txBody>
      </p:sp>
      <p:sp>
        <p:nvSpPr>
          <p:cNvPr id="11" name="Rounded Rectangle 10"/>
          <p:cNvSpPr/>
          <p:nvPr/>
        </p:nvSpPr>
        <p:spPr>
          <a:xfrm>
            <a:off x="5129783" y="2624328"/>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4</a:t>
            </a:r>
          </a:p>
        </p:txBody>
      </p:sp>
      <p:sp>
        <p:nvSpPr>
          <p:cNvPr id="12" name="Rounded Rectangle 11"/>
          <p:cNvSpPr/>
          <p:nvPr/>
        </p:nvSpPr>
        <p:spPr>
          <a:xfrm>
            <a:off x="6702552" y="2624328"/>
            <a:ext cx="1517904" cy="420624"/>
          </a:xfrm>
          <a:prstGeom prst="roundRect">
            <a:avLst>
              <a:gd name="adj" fmla="val 21739"/>
            </a:avLst>
          </a:prstGeom>
          <a:solidFill>
            <a:srgbClr val="F3EA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764708"/>
                </a:solidFill>
                <a:latin typeface="Courier New"/>
              </a:rPr>
              <a:t>€…</a:t>
            </a:r>
          </a:p>
        </p:txBody>
      </p:sp>
      <p:sp>
        <p:nvSpPr>
          <p:cNvPr id="13" name="Rounded Rectangle 12"/>
          <p:cNvSpPr/>
          <p:nvPr/>
        </p:nvSpPr>
        <p:spPr>
          <a:xfrm>
            <a:off x="1984248" y="3090672"/>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Gràcia</a:t>
            </a:r>
          </a:p>
        </p:txBody>
      </p:sp>
      <p:sp>
        <p:nvSpPr>
          <p:cNvPr id="14" name="Rounded Rectangle 13"/>
          <p:cNvSpPr/>
          <p:nvPr/>
        </p:nvSpPr>
        <p:spPr>
          <a:xfrm>
            <a:off x="3557015" y="3090672"/>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1</a:t>
            </a:r>
          </a:p>
        </p:txBody>
      </p:sp>
      <p:sp>
        <p:nvSpPr>
          <p:cNvPr id="15" name="Rounded Rectangle 14"/>
          <p:cNvSpPr/>
          <p:nvPr/>
        </p:nvSpPr>
        <p:spPr>
          <a:xfrm>
            <a:off x="5129783" y="3090672"/>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2</a:t>
            </a:r>
          </a:p>
        </p:txBody>
      </p:sp>
      <p:sp>
        <p:nvSpPr>
          <p:cNvPr id="16" name="Rounded Rectangle 15"/>
          <p:cNvSpPr/>
          <p:nvPr/>
        </p:nvSpPr>
        <p:spPr>
          <a:xfrm>
            <a:off x="6702552" y="3090672"/>
            <a:ext cx="1517904" cy="420624"/>
          </a:xfrm>
          <a:prstGeom prst="roundRect">
            <a:avLst>
              <a:gd name="adj" fmla="val 21739"/>
            </a:avLst>
          </a:prstGeom>
          <a:solidFill>
            <a:srgbClr val="F3EA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764708"/>
                </a:solidFill>
                <a:latin typeface="Courier New"/>
              </a:rPr>
              <a:t>€…</a:t>
            </a:r>
          </a:p>
        </p:txBody>
      </p:sp>
      <p:sp>
        <p:nvSpPr>
          <p:cNvPr id="17" name="Rounded Rectangle 16"/>
          <p:cNvSpPr/>
          <p:nvPr/>
        </p:nvSpPr>
        <p:spPr>
          <a:xfrm>
            <a:off x="1984248" y="3557016"/>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Sants</a:t>
            </a:r>
          </a:p>
        </p:txBody>
      </p:sp>
      <p:sp>
        <p:nvSpPr>
          <p:cNvPr id="18" name="Rounded Rectangle 17"/>
          <p:cNvSpPr/>
          <p:nvPr/>
        </p:nvSpPr>
        <p:spPr>
          <a:xfrm>
            <a:off x="3557015" y="3557016"/>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3</a:t>
            </a:r>
          </a:p>
        </p:txBody>
      </p:sp>
      <p:sp>
        <p:nvSpPr>
          <p:cNvPr id="19" name="Rounded Rectangle 18"/>
          <p:cNvSpPr/>
          <p:nvPr/>
        </p:nvSpPr>
        <p:spPr>
          <a:xfrm>
            <a:off x="5129783" y="3557016"/>
            <a:ext cx="1517904" cy="420624"/>
          </a:xfrm>
          <a:prstGeom prst="roundRect">
            <a:avLst>
              <a:gd name="adj" fmla="val 21739"/>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2B3440"/>
                </a:solidFill>
                <a:latin typeface="Courier New"/>
              </a:rPr>
              <a:t>6</a:t>
            </a:r>
          </a:p>
        </p:txBody>
      </p:sp>
      <p:sp>
        <p:nvSpPr>
          <p:cNvPr id="20" name="Rounded Rectangle 19"/>
          <p:cNvSpPr/>
          <p:nvPr/>
        </p:nvSpPr>
        <p:spPr>
          <a:xfrm>
            <a:off x="6702552" y="3557016"/>
            <a:ext cx="1517904" cy="420624"/>
          </a:xfrm>
          <a:prstGeom prst="roundRect">
            <a:avLst>
              <a:gd name="adj" fmla="val 21739"/>
            </a:avLst>
          </a:prstGeom>
          <a:solidFill>
            <a:srgbClr val="F3EAD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0" i="0">
                <a:solidFill>
                  <a:srgbClr val="764708"/>
                </a:solidFill>
                <a:latin typeface="Courier New"/>
              </a:rPr>
              <a:t>€…</a:t>
            </a:r>
          </a:p>
        </p:txBody>
      </p:sp>
      <p:sp>
        <p:nvSpPr>
          <p:cNvPr id="21" name="TextBox 20"/>
          <p:cNvSpPr txBox="1"/>
          <p:nvPr/>
        </p:nvSpPr>
        <p:spPr>
          <a:xfrm>
            <a:off x="521207" y="3026664"/>
            <a:ext cx="1325880" cy="457200"/>
          </a:xfrm>
          <a:prstGeom prst="rect">
            <a:avLst/>
          </a:prstGeom>
          <a:noFill/>
        </p:spPr>
        <p:txBody>
          <a:bodyPr wrap="square" lIns="0" rIns="0" tIns="0" bIns="0" anchor="t">
            <a:spAutoFit/>
          </a:bodyPr>
          <a:lstStyle/>
          <a:p>
            <a:pPr algn="r">
              <a:lnSpc>
                <a:spcPct val="120000"/>
              </a:lnSpc>
            </a:pPr>
            <a:r>
              <a:rPr sz="1150" b="1" i="0">
                <a:solidFill>
                  <a:srgbClr val="075E67"/>
                </a:solidFill>
                <a:latin typeface="Calibri"/>
              </a:rPr>
              <a:t>one row =
one observation</a:t>
            </a:r>
          </a:p>
        </p:txBody>
      </p:sp>
      <p:sp>
        <p:nvSpPr>
          <p:cNvPr id="22" name="TextBox 21"/>
          <p:cNvSpPr txBox="1"/>
          <p:nvPr/>
        </p:nvSpPr>
        <p:spPr>
          <a:xfrm>
            <a:off x="1984248" y="1764792"/>
            <a:ext cx="4718304" cy="256032"/>
          </a:xfrm>
          <a:prstGeom prst="rect">
            <a:avLst/>
          </a:prstGeom>
          <a:noFill/>
        </p:spPr>
        <p:txBody>
          <a:bodyPr wrap="square" lIns="0" rIns="0" tIns="0" bIns="0" anchor="t">
            <a:spAutoFit/>
          </a:bodyPr>
          <a:lstStyle/>
          <a:p>
            <a:pPr algn="ctr"/>
            <a:r>
              <a:rPr sz="1100" b="1" i="0">
                <a:solidFill>
                  <a:srgbClr val="075E67"/>
                </a:solidFill>
                <a:latin typeface="Calibri"/>
              </a:rPr>
              <a:t>these columns are the FEATURES</a:t>
            </a:r>
          </a:p>
        </p:txBody>
      </p:sp>
      <p:sp>
        <p:nvSpPr>
          <p:cNvPr id="23" name="TextBox 22"/>
          <p:cNvSpPr txBox="1"/>
          <p:nvPr/>
        </p:nvSpPr>
        <p:spPr>
          <a:xfrm>
            <a:off x="6428232" y="1764792"/>
            <a:ext cx="1938528" cy="256032"/>
          </a:xfrm>
          <a:prstGeom prst="rect">
            <a:avLst/>
          </a:prstGeom>
          <a:noFill/>
        </p:spPr>
        <p:txBody>
          <a:bodyPr wrap="square" lIns="0" rIns="0" tIns="0" bIns="0" anchor="t">
            <a:spAutoFit/>
          </a:bodyPr>
          <a:lstStyle/>
          <a:p>
            <a:pPr algn="ctr"/>
            <a:r>
              <a:rPr sz="1100" b="1" i="0">
                <a:solidFill>
                  <a:srgbClr val="875209"/>
                </a:solidFill>
                <a:latin typeface="Calibri"/>
              </a:rPr>
              <a:t>this one is the TARGET</a:t>
            </a:r>
          </a:p>
        </p:txBody>
      </p:sp>
      <p:sp>
        <p:nvSpPr>
          <p:cNvPr id="24" name="Rounded Rectangle 23"/>
          <p:cNvSpPr/>
          <p:nvPr/>
        </p:nvSpPr>
        <p:spPr>
          <a:xfrm>
            <a:off x="566928" y="4334256"/>
            <a:ext cx="7653528" cy="1207008"/>
          </a:xfrm>
          <a:prstGeom prst="roundRect">
            <a:avLst>
              <a:gd name="adj" fmla="val 10606"/>
            </a:avLst>
          </a:prstGeom>
          <a:solidFill>
            <a:srgbClr val="F6F0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77824" y="4498848"/>
            <a:ext cx="7031736" cy="219456"/>
          </a:xfrm>
          <a:prstGeom prst="rect">
            <a:avLst/>
          </a:prstGeom>
          <a:noFill/>
        </p:spPr>
        <p:txBody>
          <a:bodyPr wrap="square" lIns="0" rIns="0" tIns="0" bIns="0" anchor="t">
            <a:spAutoFit/>
          </a:bodyPr>
          <a:lstStyle/>
          <a:p>
            <a:pPr algn="l"/>
            <a:r>
              <a:rPr sz="1000" b="1" i="0">
                <a:solidFill>
                  <a:srgbClr val="7F4C08"/>
                </a:solidFill>
                <a:latin typeface="Calibri"/>
              </a:rPr>
              <a:t>THE SAME TABLE POSES BOTH OF THIS COURSE'S QUESTIONS</a:t>
            </a:r>
          </a:p>
        </p:txBody>
      </p:sp>
      <p:sp>
        <p:nvSpPr>
          <p:cNvPr id="26" name="TextBox 25"/>
          <p:cNvSpPr txBox="1"/>
          <p:nvPr/>
        </p:nvSpPr>
        <p:spPr>
          <a:xfrm>
            <a:off x="877824" y="4791456"/>
            <a:ext cx="7031736" cy="658368"/>
          </a:xfrm>
          <a:prstGeom prst="rect">
            <a:avLst/>
          </a:prstGeom>
          <a:noFill/>
        </p:spPr>
        <p:txBody>
          <a:bodyPr wrap="square" lIns="0" rIns="0" tIns="0" bIns="0" anchor="t">
            <a:spAutoFit/>
          </a:bodyPr>
          <a:lstStyle/>
          <a:p>
            <a:pPr algn="l">
              <a:lnSpc>
                <a:spcPct val="125000"/>
              </a:lnSpc>
            </a:pPr>
            <a:r>
              <a:rPr sz="1250" b="0" i="0">
                <a:solidFill>
                  <a:srgbClr val="2B3440"/>
                </a:solidFill>
                <a:latin typeface="Calibri"/>
              </a:rPr>
              <a:t>Make price the target and it is a regression problem. Make "is this listing licensed?" the target and the very same rows become a classification problem. The data does not decide which you are doing - the question does.</a:t>
            </a:r>
          </a:p>
        </p:txBody>
      </p:sp>
      <p:sp>
        <p:nvSpPr>
          <p:cNvPr id="27" name="Rounded Rectangle 26"/>
          <p:cNvSpPr/>
          <p:nvPr/>
        </p:nvSpPr>
        <p:spPr>
          <a:xfrm>
            <a:off x="8595360" y="1874519"/>
            <a:ext cx="3029407" cy="1124712"/>
          </a:xfrm>
          <a:prstGeom prst="roundRect">
            <a:avLst>
              <a:gd name="adj" fmla="val 1138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823960" y="1993391"/>
            <a:ext cx="2572207" cy="219456"/>
          </a:xfrm>
          <a:prstGeom prst="rect">
            <a:avLst/>
          </a:prstGeom>
          <a:noFill/>
        </p:spPr>
        <p:txBody>
          <a:bodyPr wrap="square" lIns="0" rIns="0" tIns="0" bIns="0" anchor="t">
            <a:spAutoFit/>
          </a:bodyPr>
          <a:lstStyle/>
          <a:p>
            <a:pPr algn="l"/>
            <a:r>
              <a:rPr sz="1000" b="1" i="0">
                <a:solidFill>
                  <a:srgbClr val="086972"/>
                </a:solidFill>
                <a:latin typeface="Calibri"/>
              </a:rPr>
              <a:t>UNIT OF OBSERVATION</a:t>
            </a:r>
          </a:p>
        </p:txBody>
      </p:sp>
      <p:sp>
        <p:nvSpPr>
          <p:cNvPr id="29" name="TextBox 28"/>
          <p:cNvSpPr txBox="1"/>
          <p:nvPr/>
        </p:nvSpPr>
        <p:spPr>
          <a:xfrm>
            <a:off x="8823960" y="2258568"/>
            <a:ext cx="2572207" cy="649224"/>
          </a:xfrm>
          <a:prstGeom prst="rect">
            <a:avLst/>
          </a:prstGeom>
          <a:noFill/>
        </p:spPr>
        <p:txBody>
          <a:bodyPr wrap="square" lIns="0" rIns="0" tIns="0" bIns="0" anchor="t">
            <a:spAutoFit/>
          </a:bodyPr>
          <a:lstStyle/>
          <a:p>
            <a:pPr algn="l">
              <a:lnSpc>
                <a:spcPct val="122000"/>
              </a:lnSpc>
            </a:pPr>
            <a:r>
              <a:rPr sz="1200" b="0" i="0">
                <a:solidFill>
                  <a:srgbClr val="2B3440"/>
                </a:solidFill>
                <a:latin typeface="Calibri"/>
              </a:rPr>
              <a:t>What one row represents. Here: one listing. Get this wrong and every count you report is wrong.</a:t>
            </a:r>
          </a:p>
        </p:txBody>
      </p:sp>
      <p:sp>
        <p:nvSpPr>
          <p:cNvPr id="30" name="Rounded Rectangle 29"/>
          <p:cNvSpPr/>
          <p:nvPr/>
        </p:nvSpPr>
        <p:spPr>
          <a:xfrm>
            <a:off x="8595360" y="3145536"/>
            <a:ext cx="3029407" cy="1124712"/>
          </a:xfrm>
          <a:prstGeom prst="roundRect">
            <a:avLst>
              <a:gd name="adj" fmla="val 1138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823960" y="3264408"/>
            <a:ext cx="2572207" cy="219456"/>
          </a:xfrm>
          <a:prstGeom prst="rect">
            <a:avLst/>
          </a:prstGeom>
          <a:noFill/>
        </p:spPr>
        <p:txBody>
          <a:bodyPr wrap="square" lIns="0" rIns="0" tIns="0" bIns="0" anchor="t">
            <a:spAutoFit/>
          </a:bodyPr>
          <a:lstStyle/>
          <a:p>
            <a:pPr algn="l"/>
            <a:r>
              <a:rPr sz="1000" b="1" i="0">
                <a:solidFill>
                  <a:srgbClr val="086972"/>
                </a:solidFill>
                <a:latin typeface="Calibri"/>
              </a:rPr>
              <a:t>GRAIN</a:t>
            </a:r>
          </a:p>
        </p:txBody>
      </p:sp>
      <p:sp>
        <p:nvSpPr>
          <p:cNvPr id="32" name="TextBox 31"/>
          <p:cNvSpPr txBox="1"/>
          <p:nvPr/>
        </p:nvSpPr>
        <p:spPr>
          <a:xfrm>
            <a:off x="8823960" y="3529584"/>
            <a:ext cx="2572207" cy="649224"/>
          </a:xfrm>
          <a:prstGeom prst="rect">
            <a:avLst/>
          </a:prstGeom>
          <a:noFill/>
        </p:spPr>
        <p:txBody>
          <a:bodyPr wrap="square" lIns="0" rIns="0" tIns="0" bIns="0" anchor="t">
            <a:spAutoFit/>
          </a:bodyPr>
          <a:lstStyle/>
          <a:p>
            <a:pPr algn="l">
              <a:lnSpc>
                <a:spcPct val="122000"/>
              </a:lnSpc>
            </a:pPr>
            <a:r>
              <a:rPr sz="1200" b="0" i="0">
                <a:solidFill>
                  <a:srgbClr val="2B3440"/>
                </a:solidFill>
                <a:latin typeface="Calibri"/>
              </a:rPr>
              <a:t>How fine the rows are. One row per listing is a different dataset from one row per booking.</a:t>
            </a:r>
          </a:p>
        </p:txBody>
      </p:sp>
      <p:sp>
        <p:nvSpPr>
          <p:cNvPr id="33" name="Rounded Rectangle 32"/>
          <p:cNvSpPr/>
          <p:nvPr/>
        </p:nvSpPr>
        <p:spPr>
          <a:xfrm>
            <a:off x="8595360" y="4416552"/>
            <a:ext cx="3029407" cy="938784"/>
          </a:xfrm>
          <a:prstGeom prst="roundRect">
            <a:avLst>
              <a:gd name="adj" fmla="val 13636"/>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823960" y="4535424"/>
            <a:ext cx="2572207" cy="219456"/>
          </a:xfrm>
          <a:prstGeom prst="rect">
            <a:avLst/>
          </a:prstGeom>
          <a:noFill/>
        </p:spPr>
        <p:txBody>
          <a:bodyPr wrap="square" lIns="0" rIns="0" tIns="0" bIns="0" anchor="t">
            <a:spAutoFit/>
          </a:bodyPr>
          <a:lstStyle/>
          <a:p>
            <a:pPr algn="l"/>
            <a:r>
              <a:rPr sz="1000" b="1" i="0">
                <a:solidFill>
                  <a:srgbClr val="086972"/>
                </a:solidFill>
                <a:latin typeface="Calibri"/>
              </a:rPr>
              <a:t>FEATURE</a:t>
            </a:r>
          </a:p>
        </p:txBody>
      </p:sp>
      <p:sp>
        <p:nvSpPr>
          <p:cNvPr id="35" name="TextBox 34"/>
          <p:cNvSpPr txBox="1"/>
          <p:nvPr/>
        </p:nvSpPr>
        <p:spPr>
          <a:xfrm>
            <a:off x="8823960" y="4800600"/>
            <a:ext cx="2572207" cy="463296"/>
          </a:xfrm>
          <a:prstGeom prst="rect">
            <a:avLst/>
          </a:prstGeom>
          <a:noFill/>
        </p:spPr>
        <p:txBody>
          <a:bodyPr wrap="square" lIns="0" rIns="0" tIns="0" bIns="0" anchor="t">
            <a:spAutoFit/>
          </a:bodyPr>
          <a:lstStyle/>
          <a:p>
            <a:pPr algn="l">
              <a:lnSpc>
                <a:spcPct val="122000"/>
              </a:lnSpc>
            </a:pPr>
            <a:r>
              <a:rPr sz="1200" b="0" i="0">
                <a:solidFill>
                  <a:srgbClr val="2B3440"/>
                </a:solidFill>
                <a:latin typeface="Calibri"/>
              </a:rPr>
              <a:t>A column you are allowed to use as an input.</a:t>
            </a:r>
          </a:p>
        </p:txBody>
      </p:sp>
      <p:sp>
        <p:nvSpPr>
          <p:cNvPr id="36" name="Rounded Rectangle 35"/>
          <p:cNvSpPr/>
          <p:nvPr/>
        </p:nvSpPr>
        <p:spPr>
          <a:xfrm>
            <a:off x="8595360" y="5501640"/>
            <a:ext cx="3029407" cy="938784"/>
          </a:xfrm>
          <a:prstGeom prst="roundRect">
            <a:avLst>
              <a:gd name="adj" fmla="val 13636"/>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23960" y="5620512"/>
            <a:ext cx="2572207" cy="219456"/>
          </a:xfrm>
          <a:prstGeom prst="rect">
            <a:avLst/>
          </a:prstGeom>
          <a:noFill/>
        </p:spPr>
        <p:txBody>
          <a:bodyPr wrap="square" lIns="0" rIns="0" tIns="0" bIns="0" anchor="t">
            <a:spAutoFit/>
          </a:bodyPr>
          <a:lstStyle/>
          <a:p>
            <a:pPr algn="l"/>
            <a:r>
              <a:rPr sz="1000" b="1" i="0">
                <a:solidFill>
                  <a:srgbClr val="086972"/>
                </a:solidFill>
                <a:latin typeface="Calibri"/>
              </a:rPr>
              <a:t>TARGET</a:t>
            </a:r>
          </a:p>
        </p:txBody>
      </p:sp>
      <p:sp>
        <p:nvSpPr>
          <p:cNvPr id="38" name="TextBox 37"/>
          <p:cNvSpPr txBox="1"/>
          <p:nvPr/>
        </p:nvSpPr>
        <p:spPr>
          <a:xfrm>
            <a:off x="8823960" y="5885688"/>
            <a:ext cx="2572207" cy="463296"/>
          </a:xfrm>
          <a:prstGeom prst="rect">
            <a:avLst/>
          </a:prstGeom>
          <a:noFill/>
        </p:spPr>
        <p:txBody>
          <a:bodyPr wrap="square" lIns="0" rIns="0" tIns="0" bIns="0" anchor="t">
            <a:spAutoFit/>
          </a:bodyPr>
          <a:lstStyle/>
          <a:p>
            <a:pPr algn="l">
              <a:lnSpc>
                <a:spcPct val="122000"/>
              </a:lnSpc>
            </a:pPr>
            <a:r>
              <a:rPr sz="1200" b="0" i="0">
                <a:solidFill>
                  <a:srgbClr val="2B3440"/>
                </a:solidFill>
                <a:latin typeface="Calibri"/>
              </a:rPr>
              <a:t>The column you are trying to predict. Also called the label.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Words that mean the same thing</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Every source uses different names for the same three objects. This is the single most common reason a tutorial stops making sense.</a:t>
            </a:r>
          </a:p>
        </p:txBody>
      </p:sp>
      <p:sp>
        <p:nvSpPr>
          <p:cNvPr id="5" name="TextBox 4"/>
          <p:cNvSpPr txBox="1"/>
          <p:nvPr/>
        </p:nvSpPr>
        <p:spPr>
          <a:xfrm>
            <a:off x="822960" y="1682496"/>
            <a:ext cx="2743200" cy="219456"/>
          </a:xfrm>
          <a:prstGeom prst="rect">
            <a:avLst/>
          </a:prstGeom>
          <a:noFill/>
        </p:spPr>
        <p:txBody>
          <a:bodyPr wrap="square" lIns="0" rIns="0" tIns="0" bIns="0" anchor="t">
            <a:spAutoFit/>
          </a:bodyPr>
          <a:lstStyle/>
          <a:p>
            <a:pPr algn="l"/>
            <a:r>
              <a:rPr sz="1000" b="1" i="0">
                <a:solidFill>
                  <a:srgbClr val="086972"/>
                </a:solidFill>
                <a:latin typeface="Calibri"/>
              </a:rPr>
              <a:t>THIS COURSE SAYS</a:t>
            </a:r>
          </a:p>
        </p:txBody>
      </p:sp>
      <p:sp>
        <p:nvSpPr>
          <p:cNvPr id="6" name="TextBox 5"/>
          <p:cNvSpPr txBox="1"/>
          <p:nvPr/>
        </p:nvSpPr>
        <p:spPr>
          <a:xfrm>
            <a:off x="5184648" y="1682496"/>
            <a:ext cx="5486400" cy="219456"/>
          </a:xfrm>
          <a:prstGeom prst="rect">
            <a:avLst/>
          </a:prstGeom>
          <a:noFill/>
        </p:spPr>
        <p:txBody>
          <a:bodyPr wrap="square" lIns="0" rIns="0" tIns="0" bIns="0" anchor="t">
            <a:spAutoFit/>
          </a:bodyPr>
          <a:lstStyle/>
          <a:p>
            <a:pPr algn="l"/>
            <a:r>
              <a:rPr sz="1000" b="1" i="0">
                <a:solidFill>
                  <a:srgbClr val="6E7A8A"/>
                </a:solidFill>
                <a:latin typeface="Calibri"/>
              </a:rPr>
              <a:t>YOU WILL ALSO SEE</a:t>
            </a:r>
          </a:p>
        </p:txBody>
      </p:sp>
      <p:sp>
        <p:nvSpPr>
          <p:cNvPr id="7" name="Rounded Rectangle 6"/>
          <p:cNvSpPr/>
          <p:nvPr/>
        </p:nvSpPr>
        <p:spPr>
          <a:xfrm>
            <a:off x="566928" y="1938528"/>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60" y="2011680"/>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One record</a:t>
            </a:r>
          </a:p>
        </p:txBody>
      </p:sp>
      <p:sp>
        <p:nvSpPr>
          <p:cNvPr id="9" name="TextBox 8"/>
          <p:cNvSpPr txBox="1"/>
          <p:nvPr/>
        </p:nvSpPr>
        <p:spPr>
          <a:xfrm>
            <a:off x="2944368" y="2011680"/>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row</a:t>
            </a:r>
          </a:p>
        </p:txBody>
      </p:sp>
      <p:sp>
        <p:nvSpPr>
          <p:cNvPr id="10" name="TextBox 9"/>
          <p:cNvSpPr txBox="1"/>
          <p:nvPr/>
        </p:nvSpPr>
        <p:spPr>
          <a:xfrm>
            <a:off x="5184648" y="2011680"/>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observation · instance · sample · record · example</a:t>
            </a:r>
          </a:p>
        </p:txBody>
      </p:sp>
      <p:sp>
        <p:nvSpPr>
          <p:cNvPr id="11" name="Rounded Rectangle 10"/>
          <p:cNvSpPr/>
          <p:nvPr/>
        </p:nvSpPr>
        <p:spPr>
          <a:xfrm>
            <a:off x="566928" y="2650236"/>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2960" y="2723388"/>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One measured quantity</a:t>
            </a:r>
          </a:p>
        </p:txBody>
      </p:sp>
      <p:sp>
        <p:nvSpPr>
          <p:cNvPr id="13" name="TextBox 12"/>
          <p:cNvSpPr txBox="1"/>
          <p:nvPr/>
        </p:nvSpPr>
        <p:spPr>
          <a:xfrm>
            <a:off x="2944368" y="2723388"/>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feature</a:t>
            </a:r>
          </a:p>
        </p:txBody>
      </p:sp>
      <p:sp>
        <p:nvSpPr>
          <p:cNvPr id="14" name="TextBox 13"/>
          <p:cNvSpPr txBox="1"/>
          <p:nvPr/>
        </p:nvSpPr>
        <p:spPr>
          <a:xfrm>
            <a:off x="5184648" y="2723388"/>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column · variable · predictor · attribute · input · X</a:t>
            </a:r>
          </a:p>
        </p:txBody>
      </p:sp>
      <p:sp>
        <p:nvSpPr>
          <p:cNvPr id="15" name="Rounded Rectangle 14"/>
          <p:cNvSpPr/>
          <p:nvPr/>
        </p:nvSpPr>
        <p:spPr>
          <a:xfrm>
            <a:off x="566928" y="3361944"/>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 y="3435096"/>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The thing you predict</a:t>
            </a:r>
          </a:p>
        </p:txBody>
      </p:sp>
      <p:sp>
        <p:nvSpPr>
          <p:cNvPr id="17" name="TextBox 16"/>
          <p:cNvSpPr txBox="1"/>
          <p:nvPr/>
        </p:nvSpPr>
        <p:spPr>
          <a:xfrm>
            <a:off x="2944368" y="3435096"/>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target</a:t>
            </a:r>
          </a:p>
        </p:txBody>
      </p:sp>
      <p:sp>
        <p:nvSpPr>
          <p:cNvPr id="18" name="TextBox 17"/>
          <p:cNvSpPr txBox="1"/>
          <p:nvPr/>
        </p:nvSpPr>
        <p:spPr>
          <a:xfrm>
            <a:off x="5184648" y="3435096"/>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label · outcome · response · dependent variable · y</a:t>
            </a:r>
          </a:p>
        </p:txBody>
      </p:sp>
      <p:sp>
        <p:nvSpPr>
          <p:cNvPr id="19" name="Rounded Rectangle 18"/>
          <p:cNvSpPr/>
          <p:nvPr/>
        </p:nvSpPr>
        <p:spPr>
          <a:xfrm>
            <a:off x="566928" y="4073652"/>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2960" y="4146804"/>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Learning from data</a:t>
            </a:r>
          </a:p>
        </p:txBody>
      </p:sp>
      <p:sp>
        <p:nvSpPr>
          <p:cNvPr id="21" name="TextBox 20"/>
          <p:cNvSpPr txBox="1"/>
          <p:nvPr/>
        </p:nvSpPr>
        <p:spPr>
          <a:xfrm>
            <a:off x="2944368" y="4146804"/>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fit</a:t>
            </a:r>
          </a:p>
        </p:txBody>
      </p:sp>
      <p:sp>
        <p:nvSpPr>
          <p:cNvPr id="22" name="TextBox 21"/>
          <p:cNvSpPr txBox="1"/>
          <p:nvPr/>
        </p:nvSpPr>
        <p:spPr>
          <a:xfrm>
            <a:off x="5184648" y="4146804"/>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train · learn · estimate</a:t>
            </a:r>
          </a:p>
        </p:txBody>
      </p:sp>
      <p:sp>
        <p:nvSpPr>
          <p:cNvPr id="23" name="Rounded Rectangle 22"/>
          <p:cNvSpPr/>
          <p:nvPr/>
        </p:nvSpPr>
        <p:spPr>
          <a:xfrm>
            <a:off x="566928" y="4785360"/>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2960" y="4858512"/>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Using the model</a:t>
            </a:r>
          </a:p>
        </p:txBody>
      </p:sp>
      <p:sp>
        <p:nvSpPr>
          <p:cNvPr id="25" name="TextBox 24"/>
          <p:cNvSpPr txBox="1"/>
          <p:nvPr/>
        </p:nvSpPr>
        <p:spPr>
          <a:xfrm>
            <a:off x="2944368" y="4858512"/>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predict</a:t>
            </a:r>
          </a:p>
        </p:txBody>
      </p:sp>
      <p:sp>
        <p:nvSpPr>
          <p:cNvPr id="26" name="TextBox 25"/>
          <p:cNvSpPr txBox="1"/>
          <p:nvPr/>
        </p:nvSpPr>
        <p:spPr>
          <a:xfrm>
            <a:off x="5184648" y="4858512"/>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infer · score · apply</a:t>
            </a:r>
          </a:p>
        </p:txBody>
      </p:sp>
      <p:sp>
        <p:nvSpPr>
          <p:cNvPr id="27" name="Rounded Rectangle 26"/>
          <p:cNvSpPr/>
          <p:nvPr/>
        </p:nvSpPr>
        <p:spPr>
          <a:xfrm>
            <a:off x="566928" y="5497068"/>
            <a:ext cx="11057839" cy="583692"/>
          </a:xfrm>
          <a:prstGeom prst="roundRect">
            <a:avLst>
              <a:gd name="adj" fmla="val 21932"/>
            </a:avLst>
          </a:prstGeom>
          <a:solidFill>
            <a:srgbClr val="F3F8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22960" y="5570220"/>
            <a:ext cx="2011680" cy="437387"/>
          </a:xfrm>
          <a:prstGeom prst="rect">
            <a:avLst/>
          </a:prstGeom>
          <a:noFill/>
        </p:spPr>
        <p:txBody>
          <a:bodyPr wrap="square" lIns="0" rIns="0" tIns="0" bIns="0" anchor="ctr">
            <a:spAutoFit/>
          </a:bodyPr>
          <a:lstStyle/>
          <a:p>
            <a:pPr algn="l">
              <a:lnSpc>
                <a:spcPct val="115000"/>
              </a:lnSpc>
            </a:pPr>
            <a:r>
              <a:rPr sz="1100" b="0" i="0">
                <a:solidFill>
                  <a:srgbClr val="6E7A8A"/>
                </a:solidFill>
                <a:latin typeface="Calibri"/>
              </a:rPr>
              <a:t>Settings you choose</a:t>
            </a:r>
          </a:p>
        </p:txBody>
      </p:sp>
      <p:sp>
        <p:nvSpPr>
          <p:cNvPr id="29" name="TextBox 28"/>
          <p:cNvSpPr txBox="1"/>
          <p:nvPr/>
        </p:nvSpPr>
        <p:spPr>
          <a:xfrm>
            <a:off x="2944368" y="5570220"/>
            <a:ext cx="2103120" cy="437387"/>
          </a:xfrm>
          <a:prstGeom prst="rect">
            <a:avLst/>
          </a:prstGeom>
          <a:noFill/>
        </p:spPr>
        <p:txBody>
          <a:bodyPr wrap="square" lIns="0" rIns="0" tIns="0" bIns="0" anchor="ctr">
            <a:spAutoFit/>
          </a:bodyPr>
          <a:lstStyle/>
          <a:p>
            <a:pPr algn="l"/>
            <a:r>
              <a:rPr sz="1500" b="1" i="0">
                <a:solidFill>
                  <a:srgbClr val="06545B"/>
                </a:solidFill>
                <a:latin typeface="Courier New"/>
              </a:rPr>
              <a:t>hyperparameter</a:t>
            </a:r>
          </a:p>
        </p:txBody>
      </p:sp>
      <p:sp>
        <p:nvSpPr>
          <p:cNvPr id="30" name="TextBox 29"/>
          <p:cNvSpPr txBox="1"/>
          <p:nvPr/>
        </p:nvSpPr>
        <p:spPr>
          <a:xfrm>
            <a:off x="5184648" y="5570220"/>
            <a:ext cx="6165799" cy="437387"/>
          </a:xfrm>
          <a:prstGeom prst="rect">
            <a:avLst/>
          </a:prstGeom>
          <a:noFill/>
        </p:spPr>
        <p:txBody>
          <a:bodyPr wrap="square" lIns="0" rIns="0" tIns="0" bIns="0" anchor="ctr">
            <a:spAutoFit/>
          </a:bodyPr>
          <a:lstStyle/>
          <a:p>
            <a:pPr algn="l">
              <a:lnSpc>
                <a:spcPct val="118000"/>
              </a:lnSpc>
            </a:pPr>
            <a:r>
              <a:rPr sz="1250" b="0" i="0">
                <a:solidFill>
                  <a:srgbClr val="2B3440"/>
                </a:solidFill>
                <a:latin typeface="Calibri"/>
              </a:rPr>
              <a:t>tuning parameter - as opposed to a parameter, which the model learns for itself</a:t>
            </a:r>
          </a:p>
        </p:txBody>
      </p:sp>
      <p:sp>
        <p:nvSpPr>
          <p:cNvPr id="31" name="TextBox 30"/>
          <p:cNvSpPr txBox="1"/>
          <p:nvPr/>
        </p:nvSpPr>
        <p:spPr>
          <a:xfrm>
            <a:off x="566928" y="6199632"/>
            <a:ext cx="11057839" cy="365760"/>
          </a:xfrm>
          <a:prstGeom prst="rect">
            <a:avLst/>
          </a:prstGeom>
          <a:noFill/>
        </p:spPr>
        <p:txBody>
          <a:bodyPr wrap="square" lIns="0" rIns="0" tIns="0" bIns="0" anchor="t">
            <a:spAutoFit/>
          </a:bodyPr>
          <a:lstStyle/>
          <a:p>
            <a:pPr algn="l"/>
            <a:r>
              <a:rPr sz="1250" b="0" i="1">
                <a:solidFill>
                  <a:srgbClr val="6E7A8A"/>
                </a:solidFill>
                <a:latin typeface="Calibri"/>
              </a:rPr>
              <a:t>When you read a paper or a blog post, translate into this column first. The ideas are almost always ones you already have.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Kinds of learning problem</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The same dataset can pose both. Which one you are doing depends on the decision you are supporting, not on the data.</a:t>
            </a:r>
          </a:p>
        </p:txBody>
      </p:sp>
      <p:sp>
        <p:nvSpPr>
          <p:cNvPr id="5" name="Rounded Rectangle 4"/>
          <p:cNvSpPr/>
          <p:nvPr/>
        </p:nvSpPr>
        <p:spPr>
          <a:xfrm>
            <a:off x="566928" y="1874520"/>
            <a:ext cx="5400903" cy="2011680"/>
          </a:xfrm>
          <a:prstGeom prst="roundRect">
            <a:avLst>
              <a:gd name="adj" fmla="val 6363"/>
            </a:avLst>
          </a:prstGeom>
          <a:solidFill>
            <a:srgbClr val="EB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822960" y="2112264"/>
            <a:ext cx="402336" cy="402336"/>
          </a:xfrm>
          <a:prstGeom prst="ellipse">
            <a:avLst/>
          </a:prstGeom>
          <a:solidFill>
            <a:srgbClr val="086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1</a:t>
            </a:r>
          </a:p>
        </p:txBody>
      </p:sp>
      <p:sp>
        <p:nvSpPr>
          <p:cNvPr id="7" name="TextBox 6"/>
          <p:cNvSpPr txBox="1"/>
          <p:nvPr/>
        </p:nvSpPr>
        <p:spPr>
          <a:xfrm>
            <a:off x="1444752" y="2148840"/>
            <a:ext cx="4267047" cy="274320"/>
          </a:xfrm>
          <a:prstGeom prst="rect">
            <a:avLst/>
          </a:prstGeom>
          <a:noFill/>
        </p:spPr>
        <p:txBody>
          <a:bodyPr wrap="square" lIns="0" rIns="0" tIns="0" bIns="0" anchor="t">
            <a:spAutoFit/>
          </a:bodyPr>
          <a:lstStyle/>
          <a:p>
            <a:pPr algn="l"/>
            <a:r>
              <a:rPr sz="1500" b="1" i="0">
                <a:solidFill>
                  <a:srgbClr val="06545B"/>
                </a:solidFill>
                <a:latin typeface="Calibri"/>
              </a:rPr>
              <a:t>Supervised learning</a:t>
            </a:r>
          </a:p>
        </p:txBody>
      </p:sp>
      <p:sp>
        <p:nvSpPr>
          <p:cNvPr id="8" name="TextBox 7"/>
          <p:cNvSpPr txBox="1"/>
          <p:nvPr/>
        </p:nvSpPr>
        <p:spPr>
          <a:xfrm>
            <a:off x="1444752" y="2478024"/>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You have examples with the answer attached, and you learn to predict the answer for new cases. Everything in this course is supervised.</a:t>
            </a:r>
          </a:p>
        </p:txBody>
      </p:sp>
      <p:sp>
        <p:nvSpPr>
          <p:cNvPr id="9" name="Rounded Rectangle 8"/>
          <p:cNvSpPr/>
          <p:nvPr/>
        </p:nvSpPr>
        <p:spPr>
          <a:xfrm>
            <a:off x="6223863" y="1874520"/>
            <a:ext cx="5400903" cy="2011680"/>
          </a:xfrm>
          <a:prstGeom prst="roundRect">
            <a:avLst>
              <a:gd name="adj" fmla="val 6363"/>
            </a:avLst>
          </a:prstGeom>
          <a:solidFill>
            <a:srgbClr val="EB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479895" y="2112264"/>
            <a:ext cx="402336" cy="402336"/>
          </a:xfrm>
          <a:prstGeom prst="ellipse">
            <a:avLst/>
          </a:prstGeom>
          <a:solidFill>
            <a:srgbClr val="08697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2</a:t>
            </a:r>
          </a:p>
        </p:txBody>
      </p:sp>
      <p:sp>
        <p:nvSpPr>
          <p:cNvPr id="11" name="TextBox 10"/>
          <p:cNvSpPr txBox="1"/>
          <p:nvPr/>
        </p:nvSpPr>
        <p:spPr>
          <a:xfrm>
            <a:off x="7101687" y="2148840"/>
            <a:ext cx="4267047" cy="274320"/>
          </a:xfrm>
          <a:prstGeom prst="rect">
            <a:avLst/>
          </a:prstGeom>
          <a:noFill/>
        </p:spPr>
        <p:txBody>
          <a:bodyPr wrap="square" lIns="0" rIns="0" tIns="0" bIns="0" anchor="t">
            <a:spAutoFit/>
          </a:bodyPr>
          <a:lstStyle/>
          <a:p>
            <a:pPr algn="l"/>
            <a:r>
              <a:rPr sz="1500" b="1" i="0">
                <a:solidFill>
                  <a:srgbClr val="06545B"/>
                </a:solidFill>
                <a:latin typeface="Calibri"/>
              </a:rPr>
              <a:t>Unsupervised learning</a:t>
            </a:r>
          </a:p>
        </p:txBody>
      </p:sp>
      <p:sp>
        <p:nvSpPr>
          <p:cNvPr id="12" name="TextBox 11"/>
          <p:cNvSpPr txBox="1"/>
          <p:nvPr/>
        </p:nvSpPr>
        <p:spPr>
          <a:xfrm>
            <a:off x="7101687" y="2478024"/>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No answers given. You look for structure - groups, directions of variation, anomalies.</a:t>
            </a:r>
          </a:p>
        </p:txBody>
      </p:sp>
      <p:sp>
        <p:nvSpPr>
          <p:cNvPr id="13" name="Rounded Rectangle 12"/>
          <p:cNvSpPr/>
          <p:nvPr/>
        </p:nvSpPr>
        <p:spPr>
          <a:xfrm>
            <a:off x="566928" y="4142232"/>
            <a:ext cx="5400903" cy="2011680"/>
          </a:xfrm>
          <a:prstGeom prst="roundRect">
            <a:avLst>
              <a:gd name="adj" fmla="val 6363"/>
            </a:avLst>
          </a:prstGeom>
          <a:solidFill>
            <a:srgbClr val="F8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822960" y="4379976"/>
            <a:ext cx="402336" cy="402336"/>
          </a:xfrm>
          <a:prstGeom prst="ellipse">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3</a:t>
            </a:r>
          </a:p>
        </p:txBody>
      </p:sp>
      <p:sp>
        <p:nvSpPr>
          <p:cNvPr id="15" name="TextBox 14"/>
          <p:cNvSpPr txBox="1"/>
          <p:nvPr/>
        </p:nvSpPr>
        <p:spPr>
          <a:xfrm>
            <a:off x="1444752" y="4416552"/>
            <a:ext cx="4267047" cy="274320"/>
          </a:xfrm>
          <a:prstGeom prst="rect">
            <a:avLst/>
          </a:prstGeom>
          <a:noFill/>
        </p:spPr>
        <p:txBody>
          <a:bodyPr wrap="square" lIns="0" rIns="0" tIns="0" bIns="0" anchor="t">
            <a:spAutoFit/>
          </a:bodyPr>
          <a:lstStyle/>
          <a:p>
            <a:pPr algn="l"/>
            <a:r>
              <a:rPr sz="1500" b="1" i="0">
                <a:solidFill>
                  <a:srgbClr val="875209"/>
                </a:solidFill>
                <a:latin typeface="Calibri"/>
              </a:rPr>
              <a:t>Regression</a:t>
            </a:r>
          </a:p>
        </p:txBody>
      </p:sp>
      <p:sp>
        <p:nvSpPr>
          <p:cNvPr id="16" name="TextBox 15"/>
          <p:cNvSpPr txBox="1"/>
          <p:nvPr/>
        </p:nvSpPr>
        <p:spPr>
          <a:xfrm>
            <a:off x="1444752" y="4745736"/>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Supervised, with a numeric target. “How much?” - a price, a duration, a count. One of this course's two questions.</a:t>
            </a:r>
          </a:p>
        </p:txBody>
      </p:sp>
      <p:sp>
        <p:nvSpPr>
          <p:cNvPr id="17" name="Rounded Rectangle 16"/>
          <p:cNvSpPr/>
          <p:nvPr/>
        </p:nvSpPr>
        <p:spPr>
          <a:xfrm>
            <a:off x="6223863" y="4142232"/>
            <a:ext cx="5400903" cy="2011680"/>
          </a:xfrm>
          <a:prstGeom prst="roundRect">
            <a:avLst>
              <a:gd name="adj" fmla="val 6363"/>
            </a:avLst>
          </a:prstGeom>
          <a:solidFill>
            <a:srgbClr val="F8F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6479895" y="4379976"/>
            <a:ext cx="402336" cy="402336"/>
          </a:xfrm>
          <a:prstGeom prst="ellipse">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200" b="1" i="0">
                <a:solidFill>
                  <a:srgbClr val="FFFFFF"/>
                </a:solidFill>
                <a:latin typeface="Calibri"/>
              </a:rPr>
              <a:t>4</a:t>
            </a:r>
          </a:p>
        </p:txBody>
      </p:sp>
      <p:sp>
        <p:nvSpPr>
          <p:cNvPr id="19" name="TextBox 18"/>
          <p:cNvSpPr txBox="1"/>
          <p:nvPr/>
        </p:nvSpPr>
        <p:spPr>
          <a:xfrm>
            <a:off x="7101687" y="4416552"/>
            <a:ext cx="4267047" cy="274320"/>
          </a:xfrm>
          <a:prstGeom prst="rect">
            <a:avLst/>
          </a:prstGeom>
          <a:noFill/>
        </p:spPr>
        <p:txBody>
          <a:bodyPr wrap="square" lIns="0" rIns="0" tIns="0" bIns="0" anchor="t">
            <a:spAutoFit/>
          </a:bodyPr>
          <a:lstStyle/>
          <a:p>
            <a:pPr algn="l"/>
            <a:r>
              <a:rPr sz="1500" b="1" i="0">
                <a:solidFill>
                  <a:srgbClr val="875209"/>
                </a:solidFill>
                <a:latin typeface="Calibri"/>
              </a:rPr>
              <a:t>Classification</a:t>
            </a:r>
          </a:p>
        </p:txBody>
      </p:sp>
      <p:sp>
        <p:nvSpPr>
          <p:cNvPr id="20" name="TextBox 19"/>
          <p:cNvSpPr txBox="1"/>
          <p:nvPr/>
        </p:nvSpPr>
        <p:spPr>
          <a:xfrm>
            <a:off x="7101687" y="4745736"/>
            <a:ext cx="4267047" cy="1280160"/>
          </a:xfrm>
          <a:prstGeom prst="rect">
            <a:avLst/>
          </a:prstGeom>
          <a:noFill/>
        </p:spPr>
        <p:txBody>
          <a:bodyPr wrap="square" lIns="0" rIns="0" tIns="0" bIns="0" anchor="t">
            <a:spAutoFit/>
          </a:bodyPr>
          <a:lstStyle/>
          <a:p>
            <a:pPr algn="l">
              <a:lnSpc>
                <a:spcPct val="122000"/>
              </a:lnSpc>
            </a:pPr>
            <a:r>
              <a:rPr sz="1300" b="0" i="0">
                <a:solidFill>
                  <a:srgbClr val="2B3440"/>
                </a:solidFill>
                <a:latin typeface="Calibri"/>
              </a:rPr>
              <a:t>Supervised, with a categorical target. “Which kind?” - yes or no, one of five types. The course's other question.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How a model actually works</a:t>
            </a:r>
          </a:p>
        </p:txBody>
      </p:sp>
      <p:sp>
        <p:nvSpPr>
          <p:cNvPr id="4" name="Rounded Rectangle 3"/>
          <p:cNvSpPr/>
          <p:nvPr/>
        </p:nvSpPr>
        <p:spPr>
          <a:xfrm>
            <a:off x="566928" y="1536192"/>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655064"/>
            <a:ext cx="4916271" cy="237744"/>
          </a:xfrm>
          <a:prstGeom prst="rect">
            <a:avLst/>
          </a:prstGeom>
          <a:noFill/>
        </p:spPr>
        <p:txBody>
          <a:bodyPr wrap="square" lIns="0" rIns="0" tIns="0" bIns="0" anchor="t">
            <a:spAutoFit/>
          </a:bodyPr>
          <a:lstStyle/>
          <a:p>
            <a:pPr algn="l"/>
            <a:r>
              <a:rPr sz="1350" b="1" i="0">
                <a:solidFill>
                  <a:srgbClr val="06545B"/>
                </a:solidFill>
                <a:latin typeface="Calibri"/>
              </a:rPr>
              <a:t>Fit (train)</a:t>
            </a:r>
          </a:p>
        </p:txBody>
      </p:sp>
      <p:sp>
        <p:nvSpPr>
          <p:cNvPr id="6" name="TextBox 5"/>
          <p:cNvSpPr txBox="1"/>
          <p:nvPr/>
        </p:nvSpPr>
        <p:spPr>
          <a:xfrm>
            <a:off x="804672"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Show the model examples and let it adjust itself so its outputs get closer to the known answers.</a:t>
            </a:r>
          </a:p>
        </p:txBody>
      </p:sp>
      <p:sp>
        <p:nvSpPr>
          <p:cNvPr id="7" name="Rounded Rectangle 6"/>
          <p:cNvSpPr/>
          <p:nvPr/>
        </p:nvSpPr>
        <p:spPr>
          <a:xfrm>
            <a:off x="6251295" y="1536192"/>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9039" y="1655064"/>
            <a:ext cx="4916271" cy="237744"/>
          </a:xfrm>
          <a:prstGeom prst="rect">
            <a:avLst/>
          </a:prstGeom>
          <a:noFill/>
        </p:spPr>
        <p:txBody>
          <a:bodyPr wrap="square" lIns="0" rIns="0" tIns="0" bIns="0" anchor="t">
            <a:spAutoFit/>
          </a:bodyPr>
          <a:lstStyle/>
          <a:p>
            <a:pPr algn="l"/>
            <a:r>
              <a:rPr sz="1350" b="1" i="0">
                <a:solidFill>
                  <a:srgbClr val="06545B"/>
                </a:solidFill>
                <a:latin typeface="Calibri"/>
              </a:rPr>
              <a:t>Predict (infer)</a:t>
            </a:r>
          </a:p>
        </p:txBody>
      </p:sp>
      <p:sp>
        <p:nvSpPr>
          <p:cNvPr id="9" name="TextBox 8"/>
          <p:cNvSpPr txBox="1"/>
          <p:nvPr/>
        </p:nvSpPr>
        <p:spPr>
          <a:xfrm>
            <a:off x="6489039"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Apply the fitted model to a case it has not seen, and get an output.</a:t>
            </a:r>
          </a:p>
        </p:txBody>
      </p:sp>
      <p:sp>
        <p:nvSpPr>
          <p:cNvPr id="10" name="Rounded Rectangle 9"/>
          <p:cNvSpPr/>
          <p:nvPr/>
        </p:nvSpPr>
        <p:spPr>
          <a:xfrm>
            <a:off x="566928"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Parameter</a:t>
            </a:r>
          </a:p>
        </p:txBody>
      </p:sp>
      <p:sp>
        <p:nvSpPr>
          <p:cNvPr id="12" name="TextBox 11"/>
          <p:cNvSpPr txBox="1"/>
          <p:nvPr/>
        </p:nvSpPr>
        <p:spPr>
          <a:xfrm>
            <a:off x="804672"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quantity the model learns from the data - a coefficient, a split point. You do not set these.</a:t>
            </a:r>
          </a:p>
        </p:txBody>
      </p:sp>
      <p:sp>
        <p:nvSpPr>
          <p:cNvPr id="13" name="Rounded Rectangle 12"/>
          <p:cNvSpPr/>
          <p:nvPr/>
        </p:nvSpPr>
        <p:spPr>
          <a:xfrm>
            <a:off x="6251295"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9039"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Hyperparameter</a:t>
            </a:r>
          </a:p>
        </p:txBody>
      </p:sp>
      <p:sp>
        <p:nvSpPr>
          <p:cNvPr id="15" name="TextBox 14"/>
          <p:cNvSpPr txBox="1"/>
          <p:nvPr/>
        </p:nvSpPr>
        <p:spPr>
          <a:xfrm>
            <a:off x="6489039"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setting you choose before fitting - how deep a tree may go, how strong the penalty is.</a:t>
            </a:r>
          </a:p>
        </p:txBody>
      </p:sp>
      <p:sp>
        <p:nvSpPr>
          <p:cNvPr id="16" name="Rounded Rectangle 15"/>
          <p:cNvSpPr/>
          <p:nvPr/>
        </p:nvSpPr>
        <p:spPr>
          <a:xfrm>
            <a:off x="566928" y="4846320"/>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965192"/>
            <a:ext cx="4916271" cy="237744"/>
          </a:xfrm>
          <a:prstGeom prst="rect">
            <a:avLst/>
          </a:prstGeom>
          <a:noFill/>
        </p:spPr>
        <p:txBody>
          <a:bodyPr wrap="square" lIns="0" rIns="0" tIns="0" bIns="0" anchor="t">
            <a:spAutoFit/>
          </a:bodyPr>
          <a:lstStyle/>
          <a:p>
            <a:pPr algn="l"/>
            <a:r>
              <a:rPr sz="1350" b="1" i="0">
                <a:solidFill>
                  <a:srgbClr val="06545B"/>
                </a:solidFill>
                <a:latin typeface="Calibri"/>
              </a:rPr>
              <a:t>Loss (cost)</a:t>
            </a:r>
          </a:p>
        </p:txBody>
      </p:sp>
      <p:sp>
        <p:nvSpPr>
          <p:cNvPr id="18" name="TextBox 17"/>
          <p:cNvSpPr txBox="1"/>
          <p:nvPr/>
        </p:nvSpPr>
        <p:spPr>
          <a:xfrm>
            <a:off x="804672"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single number measuring how wrong the model currently is. Fitting is the search for a smaller one.</a:t>
            </a:r>
          </a:p>
        </p:txBody>
      </p:sp>
      <p:sp>
        <p:nvSpPr>
          <p:cNvPr id="19" name="Rounded Rectangle 18"/>
          <p:cNvSpPr/>
          <p:nvPr/>
        </p:nvSpPr>
        <p:spPr>
          <a:xfrm>
            <a:off x="6251295" y="4846320"/>
            <a:ext cx="5373471" cy="1508760"/>
          </a:xfrm>
          <a:prstGeom prst="roundRect">
            <a:avLst>
              <a:gd name="adj" fmla="val 8484"/>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9039" y="4965192"/>
            <a:ext cx="4916271" cy="237744"/>
          </a:xfrm>
          <a:prstGeom prst="rect">
            <a:avLst/>
          </a:prstGeom>
          <a:noFill/>
        </p:spPr>
        <p:txBody>
          <a:bodyPr wrap="square" lIns="0" rIns="0" tIns="0" bIns="0" anchor="t">
            <a:spAutoFit/>
          </a:bodyPr>
          <a:lstStyle/>
          <a:p>
            <a:pPr algn="l"/>
            <a:r>
              <a:rPr sz="1350" b="1" i="0">
                <a:solidFill>
                  <a:srgbClr val="875209"/>
                </a:solidFill>
                <a:latin typeface="Calibri"/>
              </a:rPr>
              <a:t>Baseline</a:t>
            </a:r>
          </a:p>
        </p:txBody>
      </p:sp>
      <p:sp>
        <p:nvSpPr>
          <p:cNvPr id="21" name="TextBox 20"/>
          <p:cNvSpPr txBox="1"/>
          <p:nvPr/>
        </p:nvSpPr>
        <p:spPr>
          <a:xfrm>
            <a:off x="6489039"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The simplest possible answer - predict the average, or the most common class. Every score is meaningless without it.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Training, validation, test</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Three roles, and the discipline that keeps the last one honest.</a:t>
            </a:r>
          </a:p>
        </p:txBody>
      </p:sp>
      <p:sp>
        <p:nvSpPr>
          <p:cNvPr id="5" name="Rounded Rectangle 4"/>
          <p:cNvSpPr/>
          <p:nvPr/>
        </p:nvSpPr>
        <p:spPr>
          <a:xfrm>
            <a:off x="566928" y="1856232"/>
            <a:ext cx="11057839" cy="3611880"/>
          </a:xfrm>
          <a:prstGeom prst="roundRect">
            <a:avLst>
              <a:gd name="adj" fmla="val 354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2039112"/>
            <a:ext cx="10472623" cy="274320"/>
          </a:xfrm>
          <a:prstGeom prst="rect">
            <a:avLst/>
          </a:prstGeom>
          <a:noFill/>
        </p:spPr>
        <p:txBody>
          <a:bodyPr wrap="square" lIns="0" rIns="0" tIns="0" bIns="0" anchor="t">
            <a:spAutoFit/>
          </a:bodyPr>
          <a:lstStyle/>
          <a:p>
            <a:pPr algn="l"/>
            <a:r>
              <a:rPr sz="1400" b="1" i="0">
                <a:solidFill>
                  <a:srgbClr val="064F56"/>
                </a:solidFill>
                <a:latin typeface="Calibri"/>
              </a:rPr>
              <a:t>All the data you were given</a:t>
            </a:r>
          </a:p>
        </p:txBody>
      </p:sp>
      <p:sp>
        <p:nvSpPr>
          <p:cNvPr id="7" name="TextBox 6"/>
          <p:cNvSpPr txBox="1"/>
          <p:nvPr/>
        </p:nvSpPr>
        <p:spPr>
          <a:xfrm>
            <a:off x="859536" y="2368296"/>
            <a:ext cx="6766560" cy="463296"/>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Split it before you study it, and split it in a way that matches how the model will really be used.</a:t>
            </a:r>
          </a:p>
        </p:txBody>
      </p:sp>
      <p:sp>
        <p:nvSpPr>
          <p:cNvPr id="8" name="Rounded Rectangle 7"/>
          <p:cNvSpPr/>
          <p:nvPr/>
        </p:nvSpPr>
        <p:spPr>
          <a:xfrm>
            <a:off x="877824" y="2849880"/>
            <a:ext cx="10436047" cy="2362200"/>
          </a:xfrm>
          <a:prstGeom prst="roundRect">
            <a:avLst>
              <a:gd name="adj" fmla="val 5419"/>
            </a:avLst>
          </a:prstGeom>
          <a:solidFill>
            <a:srgbClr val="D7E7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70432" y="3032760"/>
            <a:ext cx="9850831" cy="274320"/>
          </a:xfrm>
          <a:prstGeom prst="rect">
            <a:avLst/>
          </a:prstGeom>
          <a:noFill/>
        </p:spPr>
        <p:txBody>
          <a:bodyPr wrap="square" lIns="0" rIns="0" tIns="0" bIns="0" anchor="t">
            <a:spAutoFit/>
          </a:bodyPr>
          <a:lstStyle/>
          <a:p>
            <a:pPr algn="l"/>
            <a:r>
              <a:rPr sz="1400" b="1" i="0">
                <a:solidFill>
                  <a:srgbClr val="064F56"/>
                </a:solidFill>
                <a:latin typeface="Calibri"/>
              </a:rPr>
              <a:t>Training set - where all learning happens</a:t>
            </a:r>
          </a:p>
        </p:txBody>
      </p:sp>
      <p:sp>
        <p:nvSpPr>
          <p:cNvPr id="10" name="TextBox 9"/>
          <p:cNvSpPr txBox="1"/>
          <p:nvPr/>
        </p:nvSpPr>
        <p:spPr>
          <a:xfrm>
            <a:off x="1170432" y="3361944"/>
            <a:ext cx="6766560" cy="277368"/>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Fit models here. Look at this as much as you like.</a:t>
            </a:r>
          </a:p>
        </p:txBody>
      </p:sp>
      <p:sp>
        <p:nvSpPr>
          <p:cNvPr id="11" name="Rounded Rectangle 10"/>
          <p:cNvSpPr/>
          <p:nvPr/>
        </p:nvSpPr>
        <p:spPr>
          <a:xfrm>
            <a:off x="1188720" y="3657600"/>
            <a:ext cx="9814255" cy="1298448"/>
          </a:xfrm>
          <a:prstGeom prst="roundRect">
            <a:avLst>
              <a:gd name="adj" fmla="val 9859"/>
            </a:avLst>
          </a:prstGeom>
          <a:solidFill>
            <a:srgbClr val="BCD6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81328" y="3840480"/>
            <a:ext cx="9229039" cy="274320"/>
          </a:xfrm>
          <a:prstGeom prst="rect">
            <a:avLst/>
          </a:prstGeom>
          <a:noFill/>
        </p:spPr>
        <p:txBody>
          <a:bodyPr wrap="square" lIns="0" rIns="0" tIns="0" bIns="0" anchor="t">
            <a:spAutoFit/>
          </a:bodyPr>
          <a:lstStyle/>
          <a:p>
            <a:pPr algn="l"/>
            <a:r>
              <a:rPr sz="1400" b="1" i="0">
                <a:solidFill>
                  <a:srgbClr val="064F56"/>
                </a:solidFill>
                <a:latin typeface="Calibri"/>
              </a:rPr>
              <a:t>Validation - for choosing between options</a:t>
            </a:r>
          </a:p>
        </p:txBody>
      </p:sp>
      <p:sp>
        <p:nvSpPr>
          <p:cNvPr id="13" name="TextBox 12"/>
          <p:cNvSpPr txBox="1"/>
          <p:nvPr/>
        </p:nvSpPr>
        <p:spPr>
          <a:xfrm>
            <a:off x="1481328" y="4169664"/>
            <a:ext cx="6766560" cy="277368"/>
          </a:xfrm>
          <a:prstGeom prst="rect">
            <a:avLst/>
          </a:prstGeom>
          <a:noFill/>
        </p:spPr>
        <p:txBody>
          <a:bodyPr wrap="square" lIns="0" rIns="0" tIns="0" bIns="0" anchor="t">
            <a:spAutoFit/>
          </a:bodyPr>
          <a:lstStyle/>
          <a:p>
            <a:pPr algn="l">
              <a:lnSpc>
                <a:spcPct val="122000"/>
              </a:lnSpc>
            </a:pPr>
            <a:r>
              <a:rPr sz="1200" b="0" i="0">
                <a:solidFill>
                  <a:srgbClr val="08646C"/>
                </a:solidFill>
                <a:latin typeface="Calibri"/>
              </a:rPr>
              <a:t>Used repeatedly, so it flatters you a little more each time you use it.</a:t>
            </a:r>
          </a:p>
        </p:txBody>
      </p:sp>
      <p:sp>
        <p:nvSpPr>
          <p:cNvPr id="14" name="TextBox 13"/>
          <p:cNvSpPr txBox="1"/>
          <p:nvPr/>
        </p:nvSpPr>
        <p:spPr>
          <a:xfrm>
            <a:off x="1499616" y="4447032"/>
            <a:ext cx="3657600" cy="219456"/>
          </a:xfrm>
          <a:prstGeom prst="rect">
            <a:avLst/>
          </a:prstGeom>
          <a:noFill/>
        </p:spPr>
        <p:txBody>
          <a:bodyPr wrap="square" lIns="0" rIns="0" tIns="0" bIns="0" anchor="t">
            <a:spAutoFit/>
          </a:bodyPr>
          <a:lstStyle/>
          <a:p>
            <a:pPr algn="l"/>
            <a:r>
              <a:rPr sz="950" b="1" i="0">
                <a:solidFill>
                  <a:srgbClr val="075E67"/>
                </a:solidFill>
                <a:latin typeface="Calibri"/>
              </a:rPr>
              <a:t>ONE ROTATION</a:t>
            </a:r>
          </a:p>
        </p:txBody>
      </p:sp>
      <p:sp>
        <p:nvSpPr>
          <p:cNvPr id="15" name="Rounded Rectangle 14"/>
          <p:cNvSpPr/>
          <p:nvPr/>
        </p:nvSpPr>
        <p:spPr>
          <a:xfrm>
            <a:off x="1481328" y="4721352"/>
            <a:ext cx="4559655" cy="475488"/>
          </a:xfrm>
          <a:prstGeom prst="roundRect">
            <a:avLst>
              <a:gd name="adj" fmla="val 26923"/>
            </a:avLst>
          </a:prstGeom>
          <a:solidFill>
            <a:srgbClr val="A9660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FFFFFF"/>
                </a:solidFill>
                <a:latin typeface="Calibri"/>
              </a:rPr>
              <a:t>Test set - opened once, at the very end</a:t>
            </a:r>
          </a:p>
        </p:txBody>
      </p:sp>
      <p:sp>
        <p:nvSpPr>
          <p:cNvPr id="16" name="Rounded Rectangle 15"/>
          <p:cNvSpPr/>
          <p:nvPr/>
        </p:nvSpPr>
        <p:spPr>
          <a:xfrm>
            <a:off x="6150711" y="4721352"/>
            <a:ext cx="4559655" cy="475488"/>
          </a:xfrm>
          <a:prstGeom prst="roundRect">
            <a:avLst>
              <a:gd name="adj" fmla="val 26923"/>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150" b="1" i="0">
                <a:solidFill>
                  <a:srgbClr val="06545B"/>
                </a:solidFill>
                <a:latin typeface="Calibri"/>
              </a:rPr>
              <a:t>and never used to make a choice</a:t>
            </a:r>
          </a:p>
        </p:txBody>
      </p:sp>
      <p:sp>
        <p:nvSpPr>
          <p:cNvPr id="17" name="TextBox 16"/>
          <p:cNvSpPr txBox="1"/>
          <p:nvPr/>
        </p:nvSpPr>
        <p:spPr>
          <a:xfrm>
            <a:off x="566928" y="6108192"/>
            <a:ext cx="11057839" cy="45720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You will seal a test set early in the course and not open it again until the final session. Nothing you learn from it can be unlearned.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The two ways a model fails</a:t>
            </a:r>
          </a:p>
        </p:txBody>
      </p:sp>
      <p:sp>
        <p:nvSpPr>
          <p:cNvPr id="4" name="TextBox 3"/>
          <p:cNvSpPr txBox="1"/>
          <p:nvPr/>
        </p:nvSpPr>
        <p:spPr>
          <a:xfrm>
            <a:off x="566928" y="1335024"/>
            <a:ext cx="11057839" cy="237744"/>
          </a:xfrm>
          <a:prstGeom prst="rect">
            <a:avLst/>
          </a:prstGeom>
          <a:noFill/>
        </p:spPr>
        <p:txBody>
          <a:bodyPr wrap="square" lIns="0" rIns="0" tIns="0" bIns="0" anchor="t">
            <a:spAutoFit/>
          </a:bodyPr>
          <a:lstStyle/>
          <a:p>
            <a:pPr algn="l"/>
            <a:r>
              <a:rPr sz="1300" b="0" i="1">
                <a:solidFill>
                  <a:srgbClr val="6E7A8A"/>
                </a:solidFill>
                <a:latin typeface="Calibri"/>
              </a:rPr>
              <a:t>Both are about the difference between what it saw and what it will meet.</a:t>
            </a:r>
          </a:p>
        </p:txBody>
      </p:sp>
      <p:sp>
        <p:nvSpPr>
          <p:cNvPr id="5" name="Rounded Rectangle 4"/>
          <p:cNvSpPr/>
          <p:nvPr/>
        </p:nvSpPr>
        <p:spPr>
          <a:xfrm>
            <a:off x="566928" y="1691640"/>
            <a:ext cx="5277459" cy="4206240"/>
          </a:xfrm>
          <a:prstGeom prst="roundRect">
            <a:avLst>
              <a:gd name="adj" fmla="val 3043"/>
            </a:avLst>
          </a:prstGeom>
          <a:solidFill>
            <a:srgbClr val="F9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1947672"/>
            <a:ext cx="4692243" cy="237744"/>
          </a:xfrm>
          <a:prstGeom prst="rect">
            <a:avLst/>
          </a:prstGeom>
          <a:noFill/>
        </p:spPr>
        <p:txBody>
          <a:bodyPr wrap="square" lIns="0" rIns="0" tIns="0" bIns="0" anchor="t">
            <a:spAutoFit/>
          </a:bodyPr>
          <a:lstStyle/>
          <a:p>
            <a:pPr algn="l"/>
            <a:r>
              <a:rPr sz="1050" b="1" i="0">
                <a:solidFill>
                  <a:srgbClr val="9E2B25"/>
                </a:solidFill>
                <a:latin typeface="Calibri"/>
              </a:rPr>
              <a:t>UNDERFITTING</a:t>
            </a:r>
          </a:p>
        </p:txBody>
      </p:sp>
      <p:sp>
        <p:nvSpPr>
          <p:cNvPr id="7" name="TextBox 6"/>
          <p:cNvSpPr txBox="1"/>
          <p:nvPr/>
        </p:nvSpPr>
        <p:spPr>
          <a:xfrm>
            <a:off x="859536" y="2258568"/>
            <a:ext cx="4692243" cy="621792"/>
          </a:xfrm>
          <a:prstGeom prst="rect">
            <a:avLst/>
          </a:prstGeom>
          <a:noFill/>
        </p:spPr>
        <p:txBody>
          <a:bodyPr wrap="square" lIns="0" rIns="0" tIns="0" bIns="0" anchor="t">
            <a:spAutoFit/>
          </a:bodyPr>
          <a:lstStyle/>
          <a:p>
            <a:pPr algn="l">
              <a:lnSpc>
                <a:spcPct val="115000"/>
              </a:lnSpc>
            </a:pPr>
            <a:r>
              <a:rPr sz="2000" b="1" i="0">
                <a:solidFill>
                  <a:srgbClr val="7E221E"/>
                </a:solidFill>
                <a:latin typeface="Cambria"/>
              </a:rPr>
              <a:t>Too simple to capture the pattern</a:t>
            </a:r>
          </a:p>
        </p:txBody>
      </p:sp>
      <p:sp>
        <p:nvSpPr>
          <p:cNvPr id="8" name="Oval 7"/>
          <p:cNvSpPr/>
          <p:nvPr/>
        </p:nvSpPr>
        <p:spPr>
          <a:xfrm>
            <a:off x="877824" y="281482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52144" y="276453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Poor on the training data and poor on new data.</a:t>
            </a:r>
          </a:p>
        </p:txBody>
      </p:sp>
      <p:sp>
        <p:nvSpPr>
          <p:cNvPr id="10" name="Oval 9"/>
          <p:cNvSpPr/>
          <p:nvPr/>
        </p:nvSpPr>
        <p:spPr>
          <a:xfrm>
            <a:off x="877824" y="321995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152144" y="316966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The model cannot represent what is there.</a:t>
            </a:r>
          </a:p>
        </p:txBody>
      </p:sp>
      <p:sp>
        <p:nvSpPr>
          <p:cNvPr id="12" name="Oval 11"/>
          <p:cNvSpPr/>
          <p:nvPr/>
        </p:nvSpPr>
        <p:spPr>
          <a:xfrm>
            <a:off x="877824" y="362508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52144" y="357479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Symptom: both scores are bad, and similar.</a:t>
            </a:r>
          </a:p>
        </p:txBody>
      </p:sp>
      <p:sp>
        <p:nvSpPr>
          <p:cNvPr id="14" name="Oval 13"/>
          <p:cNvSpPr/>
          <p:nvPr/>
        </p:nvSpPr>
        <p:spPr>
          <a:xfrm>
            <a:off x="877824" y="403021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152144" y="397992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Remedy: more capacity, better features.</a:t>
            </a:r>
          </a:p>
        </p:txBody>
      </p:sp>
      <p:sp>
        <p:nvSpPr>
          <p:cNvPr id="16" name="TextBox 15"/>
          <p:cNvSpPr txBox="1"/>
          <p:nvPr/>
        </p:nvSpPr>
        <p:spPr>
          <a:xfrm>
            <a:off x="859536" y="5120640"/>
            <a:ext cx="4692243" cy="274320"/>
          </a:xfrm>
          <a:prstGeom prst="rect">
            <a:avLst/>
          </a:prstGeom>
          <a:noFill/>
        </p:spPr>
        <p:txBody>
          <a:bodyPr wrap="square" lIns="0" rIns="0" tIns="0" bIns="0" anchor="t">
            <a:spAutoFit/>
          </a:bodyPr>
          <a:lstStyle/>
          <a:p>
            <a:pPr algn="l"/>
            <a:r>
              <a:rPr sz="950" b="1" i="0">
                <a:solidFill>
                  <a:srgbClr val="6E7A8A"/>
                </a:solidFill>
                <a:latin typeface="Calibri"/>
              </a:rPr>
              <a:t>THE SIGNATURE</a:t>
            </a:r>
          </a:p>
        </p:txBody>
      </p:sp>
      <p:sp>
        <p:nvSpPr>
          <p:cNvPr id="17" name="TextBox 16"/>
          <p:cNvSpPr txBox="1"/>
          <p:nvPr/>
        </p:nvSpPr>
        <p:spPr>
          <a:xfrm>
            <a:off x="859536" y="5376672"/>
            <a:ext cx="4692243" cy="457200"/>
          </a:xfrm>
          <a:prstGeom prst="rect">
            <a:avLst/>
          </a:prstGeom>
          <a:noFill/>
        </p:spPr>
        <p:txBody>
          <a:bodyPr wrap="square" lIns="0" rIns="0" tIns="0" bIns="0" anchor="t">
            <a:spAutoFit/>
          </a:bodyPr>
          <a:lstStyle/>
          <a:p>
            <a:pPr algn="l"/>
            <a:r>
              <a:rPr sz="2000" b="1" i="0">
                <a:solidFill>
                  <a:srgbClr val="8E2721"/>
                </a:solidFill>
                <a:latin typeface="Cambria"/>
              </a:rPr>
              <a:t>Bad, and consistent</a:t>
            </a:r>
          </a:p>
        </p:txBody>
      </p:sp>
      <p:sp>
        <p:nvSpPr>
          <p:cNvPr id="18" name="Rounded Rectangle 17"/>
          <p:cNvSpPr/>
          <p:nvPr/>
        </p:nvSpPr>
        <p:spPr>
          <a:xfrm>
            <a:off x="6347307" y="1691640"/>
            <a:ext cx="5277459" cy="4206240"/>
          </a:xfrm>
          <a:prstGeom prst="roundRect">
            <a:avLst>
              <a:gd name="adj" fmla="val 3043"/>
            </a:avLst>
          </a:prstGeom>
          <a:solidFill>
            <a:srgbClr val="F9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39915" y="1947672"/>
            <a:ext cx="4692243" cy="237744"/>
          </a:xfrm>
          <a:prstGeom prst="rect">
            <a:avLst/>
          </a:prstGeom>
          <a:noFill/>
        </p:spPr>
        <p:txBody>
          <a:bodyPr wrap="square" lIns="0" rIns="0" tIns="0" bIns="0" anchor="t">
            <a:spAutoFit/>
          </a:bodyPr>
          <a:lstStyle/>
          <a:p>
            <a:pPr algn="l"/>
            <a:r>
              <a:rPr sz="1050" b="1" i="0">
                <a:solidFill>
                  <a:srgbClr val="9E2B25"/>
                </a:solidFill>
                <a:latin typeface="Calibri"/>
              </a:rPr>
              <a:t>OVERFITTING</a:t>
            </a:r>
          </a:p>
        </p:txBody>
      </p:sp>
      <p:sp>
        <p:nvSpPr>
          <p:cNvPr id="20" name="TextBox 19"/>
          <p:cNvSpPr txBox="1"/>
          <p:nvPr/>
        </p:nvSpPr>
        <p:spPr>
          <a:xfrm>
            <a:off x="6639915" y="2258568"/>
            <a:ext cx="4692243" cy="621792"/>
          </a:xfrm>
          <a:prstGeom prst="rect">
            <a:avLst/>
          </a:prstGeom>
          <a:noFill/>
        </p:spPr>
        <p:txBody>
          <a:bodyPr wrap="square" lIns="0" rIns="0" tIns="0" bIns="0" anchor="t">
            <a:spAutoFit/>
          </a:bodyPr>
          <a:lstStyle/>
          <a:p>
            <a:pPr algn="l">
              <a:lnSpc>
                <a:spcPct val="115000"/>
              </a:lnSpc>
            </a:pPr>
            <a:r>
              <a:rPr sz="1800" b="1" i="0">
                <a:solidFill>
                  <a:srgbClr val="7E221E"/>
                </a:solidFill>
                <a:latin typeface="Cambria"/>
              </a:rPr>
              <a:t>Learned the noise as if it were signal</a:t>
            </a:r>
          </a:p>
        </p:txBody>
      </p:sp>
      <p:sp>
        <p:nvSpPr>
          <p:cNvPr id="21" name="Oval 20"/>
          <p:cNvSpPr/>
          <p:nvPr/>
        </p:nvSpPr>
        <p:spPr>
          <a:xfrm>
            <a:off x="6658203" y="278434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32523" y="273405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Excellent on the training data, worse on new data.</a:t>
            </a:r>
          </a:p>
        </p:txBody>
      </p:sp>
      <p:sp>
        <p:nvSpPr>
          <p:cNvPr id="23" name="Oval 22"/>
          <p:cNvSpPr/>
          <p:nvPr/>
        </p:nvSpPr>
        <p:spPr>
          <a:xfrm>
            <a:off x="6658203" y="318947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932523" y="3139186"/>
            <a:ext cx="4363059" cy="53594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The model memorised cases instead of learning rules.</a:t>
            </a:r>
          </a:p>
        </p:txBody>
      </p:sp>
      <p:sp>
        <p:nvSpPr>
          <p:cNvPr id="25" name="Oval 24"/>
          <p:cNvSpPr/>
          <p:nvPr/>
        </p:nvSpPr>
        <p:spPr>
          <a:xfrm>
            <a:off x="6658203" y="3816857"/>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932523" y="376656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Symptom: a large gap between the two scores.</a:t>
            </a:r>
          </a:p>
        </p:txBody>
      </p:sp>
      <p:sp>
        <p:nvSpPr>
          <p:cNvPr id="27" name="Oval 26"/>
          <p:cNvSpPr/>
          <p:nvPr/>
        </p:nvSpPr>
        <p:spPr>
          <a:xfrm>
            <a:off x="6658203" y="4221988"/>
            <a:ext cx="128016" cy="128016"/>
          </a:xfrm>
          <a:prstGeom prst="ellipse">
            <a:avLst/>
          </a:prstGeom>
          <a:solidFill>
            <a:srgbClr val="C075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932523" y="4171696"/>
            <a:ext cx="4363059" cy="313690"/>
          </a:xfrm>
          <a:prstGeom prst="rect">
            <a:avLst/>
          </a:prstGeom>
          <a:noFill/>
        </p:spPr>
        <p:txBody>
          <a:bodyPr wrap="square" lIns="0" rIns="0" tIns="0" bIns="0" anchor="t">
            <a:spAutoFit/>
          </a:bodyPr>
          <a:lstStyle/>
          <a:p>
            <a:pPr algn="l">
              <a:lnSpc>
                <a:spcPct val="125000"/>
              </a:lnSpc>
            </a:pPr>
            <a:r>
              <a:rPr sz="1400" b="0" i="0">
                <a:solidFill>
                  <a:srgbClr val="2B3440"/>
                </a:solidFill>
                <a:latin typeface="Calibri"/>
              </a:rPr>
              <a:t>Remedy: less capacity, more data, regularisation.</a:t>
            </a:r>
          </a:p>
        </p:txBody>
      </p:sp>
      <p:sp>
        <p:nvSpPr>
          <p:cNvPr id="29" name="TextBox 28"/>
          <p:cNvSpPr txBox="1"/>
          <p:nvPr/>
        </p:nvSpPr>
        <p:spPr>
          <a:xfrm>
            <a:off x="6639915" y="5120640"/>
            <a:ext cx="4692243" cy="274320"/>
          </a:xfrm>
          <a:prstGeom prst="rect">
            <a:avLst/>
          </a:prstGeom>
          <a:noFill/>
        </p:spPr>
        <p:txBody>
          <a:bodyPr wrap="square" lIns="0" rIns="0" tIns="0" bIns="0" anchor="t">
            <a:spAutoFit/>
          </a:bodyPr>
          <a:lstStyle/>
          <a:p>
            <a:pPr algn="l"/>
            <a:r>
              <a:rPr sz="950" b="1" i="0">
                <a:solidFill>
                  <a:srgbClr val="6E7A8A"/>
                </a:solidFill>
                <a:latin typeface="Calibri"/>
              </a:rPr>
              <a:t>THE SIGNATURE</a:t>
            </a:r>
          </a:p>
        </p:txBody>
      </p:sp>
      <p:sp>
        <p:nvSpPr>
          <p:cNvPr id="30" name="TextBox 29"/>
          <p:cNvSpPr txBox="1"/>
          <p:nvPr/>
        </p:nvSpPr>
        <p:spPr>
          <a:xfrm>
            <a:off x="6639915" y="5376672"/>
            <a:ext cx="4692243" cy="457200"/>
          </a:xfrm>
          <a:prstGeom prst="rect">
            <a:avLst/>
          </a:prstGeom>
          <a:noFill/>
        </p:spPr>
        <p:txBody>
          <a:bodyPr wrap="square" lIns="0" rIns="0" tIns="0" bIns="0" anchor="t">
            <a:spAutoFit/>
          </a:bodyPr>
          <a:lstStyle/>
          <a:p>
            <a:pPr algn="l"/>
            <a:r>
              <a:rPr sz="2000" b="1" i="0">
                <a:solidFill>
                  <a:srgbClr val="8E2721"/>
                </a:solidFill>
                <a:latin typeface="Cambria"/>
              </a:rPr>
              <a:t>A gap</a:t>
            </a:r>
          </a:p>
        </p:txBody>
      </p:sp>
      <p:sp>
        <p:nvSpPr>
          <p:cNvPr id="31" name="TextBox 30"/>
          <p:cNvSpPr txBox="1"/>
          <p:nvPr/>
        </p:nvSpPr>
        <p:spPr>
          <a:xfrm>
            <a:off x="566928" y="6108192"/>
            <a:ext cx="11057839" cy="457200"/>
          </a:xfrm>
          <a:prstGeom prst="rect">
            <a:avLst/>
          </a:prstGeom>
          <a:noFill/>
        </p:spPr>
        <p:txBody>
          <a:bodyPr wrap="square" lIns="0" rIns="0" tIns="0" bIns="0" anchor="t">
            <a:spAutoFit/>
          </a:bodyPr>
          <a:lstStyle/>
          <a:p>
            <a:pPr algn="l">
              <a:lnSpc>
                <a:spcPct val="125000"/>
              </a:lnSpc>
            </a:pPr>
            <a:r>
              <a:rPr sz="1250" b="0" i="1">
                <a:solidFill>
                  <a:srgbClr val="6E7A8A"/>
                </a:solidFill>
                <a:latin typeface="Calibri"/>
              </a:rPr>
              <a:t>Generalisation is the goal: performing well on cases the model has never seen. It is the only kind of performance anyone is paying for.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223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82735" y="1280160"/>
            <a:ext cx="4206240" cy="4206240"/>
          </a:xfrm>
          <a:prstGeom prst="ellipse">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2423160"/>
            <a:ext cx="1097280" cy="457200"/>
          </a:xfrm>
          <a:prstGeom prst="rect">
            <a:avLst/>
          </a:prstGeom>
          <a:noFill/>
        </p:spPr>
        <p:txBody>
          <a:bodyPr wrap="square" lIns="0" rIns="0" tIns="0" bIns="0" anchor="t">
            <a:spAutoFit/>
          </a:bodyPr>
          <a:lstStyle/>
          <a:p>
            <a:pPr algn="l"/>
            <a:r>
              <a:rPr sz="4400" b="1" i="0">
                <a:solidFill>
                  <a:srgbClr val="E9A93D"/>
                </a:solidFill>
                <a:latin typeface="Cambria"/>
              </a:rPr>
              <a:t>5</a:t>
            </a:r>
          </a:p>
        </p:txBody>
      </p:sp>
      <p:sp>
        <p:nvSpPr>
          <p:cNvPr id="5" name="TextBox 4"/>
          <p:cNvSpPr txBox="1"/>
          <p:nvPr/>
        </p:nvSpPr>
        <p:spPr>
          <a:xfrm>
            <a:off x="1801368" y="2377440"/>
            <a:ext cx="6766560" cy="914400"/>
          </a:xfrm>
          <a:prstGeom prst="rect">
            <a:avLst/>
          </a:prstGeom>
          <a:noFill/>
        </p:spPr>
        <p:txBody>
          <a:bodyPr wrap="square" lIns="0" rIns="0" tIns="0" bIns="0" anchor="t">
            <a:spAutoFit/>
          </a:bodyPr>
          <a:lstStyle/>
          <a:p>
            <a:pPr algn="l">
              <a:lnSpc>
                <a:spcPct val="108000"/>
              </a:lnSpc>
            </a:pPr>
            <a:r>
              <a:rPr sz="3400" b="1" i="0">
                <a:solidFill>
                  <a:srgbClr val="FFFFFF"/>
                </a:solidFill>
                <a:latin typeface="Cambria"/>
              </a:rPr>
              <a:t>Buzzwords, decoded</a:t>
            </a:r>
          </a:p>
        </p:txBody>
      </p:sp>
      <p:sp>
        <p:nvSpPr>
          <p:cNvPr id="6" name="TextBox 5"/>
          <p:cNvSpPr txBox="1"/>
          <p:nvPr/>
        </p:nvSpPr>
        <p:spPr>
          <a:xfrm>
            <a:off x="1801368" y="3429000"/>
            <a:ext cx="6766560" cy="822960"/>
          </a:xfrm>
          <a:prstGeom prst="rect">
            <a:avLst/>
          </a:prstGeom>
          <a:noFill/>
        </p:spPr>
        <p:txBody>
          <a:bodyPr wrap="square" lIns="0" rIns="0" tIns="0" bIns="0" anchor="t">
            <a:spAutoFit/>
          </a:bodyPr>
          <a:lstStyle/>
          <a:p>
            <a:pPr algn="l">
              <a:lnSpc>
                <a:spcPct val="130000"/>
              </a:lnSpc>
            </a:pPr>
            <a:r>
              <a:rPr sz="1500" b="0" i="1">
                <a:solidFill>
                  <a:srgbClr val="9FB0C4"/>
                </a:solidFill>
                <a:latin typeface="Calibri"/>
              </a:rPr>
              <a:t>Terms you will hear in industry, with the marketing removed.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Buzzwords you will hear this year</a:t>
            </a:r>
          </a:p>
        </p:txBody>
      </p:sp>
      <p:sp>
        <p:nvSpPr>
          <p:cNvPr id="4" name="Rounded Rectangle 3"/>
          <p:cNvSpPr/>
          <p:nvPr/>
        </p:nvSpPr>
        <p:spPr>
          <a:xfrm>
            <a:off x="566928" y="1536192"/>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655064"/>
            <a:ext cx="4916271" cy="237744"/>
          </a:xfrm>
          <a:prstGeom prst="rect">
            <a:avLst/>
          </a:prstGeom>
          <a:noFill/>
        </p:spPr>
        <p:txBody>
          <a:bodyPr wrap="square" lIns="0" rIns="0" tIns="0" bIns="0" anchor="t">
            <a:spAutoFit/>
          </a:bodyPr>
          <a:lstStyle/>
          <a:p>
            <a:pPr algn="l"/>
            <a:r>
              <a:rPr sz="1350" b="1" i="0">
                <a:solidFill>
                  <a:srgbClr val="06545B"/>
                </a:solidFill>
                <a:latin typeface="Calibri"/>
              </a:rPr>
              <a:t>Big data</a:t>
            </a:r>
          </a:p>
        </p:txBody>
      </p:sp>
      <p:sp>
        <p:nvSpPr>
          <p:cNvPr id="6" name="TextBox 5"/>
          <p:cNvSpPr txBox="1"/>
          <p:nvPr/>
        </p:nvSpPr>
        <p:spPr>
          <a:xfrm>
            <a:off x="804672"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Data too large to handle on one machine. Most problems described this way are not - the dataset for this course is 8 MB and carries twelve weeks of work.</a:t>
            </a:r>
          </a:p>
        </p:txBody>
      </p:sp>
      <p:sp>
        <p:nvSpPr>
          <p:cNvPr id="7" name="Rounded Rectangle 6"/>
          <p:cNvSpPr/>
          <p:nvPr/>
        </p:nvSpPr>
        <p:spPr>
          <a:xfrm>
            <a:off x="6251295" y="1536192"/>
            <a:ext cx="5373471" cy="1508760"/>
          </a:xfrm>
          <a:prstGeom prst="roundRect">
            <a:avLst>
              <a:gd name="adj" fmla="val 8484"/>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9039" y="1655064"/>
            <a:ext cx="4916271" cy="237744"/>
          </a:xfrm>
          <a:prstGeom prst="rect">
            <a:avLst/>
          </a:prstGeom>
          <a:noFill/>
        </p:spPr>
        <p:txBody>
          <a:bodyPr wrap="square" lIns="0" rIns="0" tIns="0" bIns="0" anchor="t">
            <a:spAutoFit/>
          </a:bodyPr>
          <a:lstStyle/>
          <a:p>
            <a:pPr algn="l"/>
            <a:r>
              <a:rPr sz="1350" b="1" i="0">
                <a:solidFill>
                  <a:srgbClr val="875209"/>
                </a:solidFill>
                <a:latin typeface="Calibri"/>
              </a:rPr>
              <a:t>Feature engineering</a:t>
            </a:r>
          </a:p>
        </p:txBody>
      </p:sp>
      <p:sp>
        <p:nvSpPr>
          <p:cNvPr id="9" name="TextBox 8"/>
          <p:cNvSpPr txBox="1"/>
          <p:nvPr/>
        </p:nvSpPr>
        <p:spPr>
          <a:xfrm>
            <a:off x="6489039"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Turning raw columns into inputs a model can use. Routinely worth more than the choice of algorithm.</a:t>
            </a:r>
          </a:p>
        </p:txBody>
      </p:sp>
      <p:sp>
        <p:nvSpPr>
          <p:cNvPr id="10" name="Rounded Rectangle 9"/>
          <p:cNvSpPr/>
          <p:nvPr/>
        </p:nvSpPr>
        <p:spPr>
          <a:xfrm>
            <a:off x="566928"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Pipeline</a:t>
            </a:r>
          </a:p>
        </p:txBody>
      </p:sp>
      <p:sp>
        <p:nvSpPr>
          <p:cNvPr id="12" name="TextBox 11"/>
          <p:cNvSpPr txBox="1"/>
          <p:nvPr/>
        </p:nvSpPr>
        <p:spPr>
          <a:xfrm>
            <a:off x="804672"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Preprocessing and model bound into one object, so new data is treated exactly as the training data was. A correctness device, not a convenience.</a:t>
            </a:r>
          </a:p>
        </p:txBody>
      </p:sp>
      <p:sp>
        <p:nvSpPr>
          <p:cNvPr id="13" name="Rounded Rectangle 12"/>
          <p:cNvSpPr/>
          <p:nvPr/>
        </p:nvSpPr>
        <p:spPr>
          <a:xfrm>
            <a:off x="6251295"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9039"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Ground truth</a:t>
            </a:r>
          </a:p>
        </p:txBody>
      </p:sp>
      <p:sp>
        <p:nvSpPr>
          <p:cNvPr id="15" name="TextBox 14"/>
          <p:cNvSpPr txBox="1"/>
          <p:nvPr/>
        </p:nvSpPr>
        <p:spPr>
          <a:xfrm>
            <a:off x="6489039"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The recorded correct answer. “Truth” is generous: it is what somebody wrote down, with all the error that implies.</a:t>
            </a:r>
          </a:p>
        </p:txBody>
      </p:sp>
      <p:sp>
        <p:nvSpPr>
          <p:cNvPr id="16" name="Rounded Rectangle 15"/>
          <p:cNvSpPr/>
          <p:nvPr/>
        </p:nvSpPr>
        <p:spPr>
          <a:xfrm>
            <a:off x="566928" y="4846320"/>
            <a:ext cx="5373471" cy="1508760"/>
          </a:xfrm>
          <a:prstGeom prst="roundRect">
            <a:avLst>
              <a:gd name="adj" fmla="val 8484"/>
            </a:avLst>
          </a:prstGeom>
          <a:solidFill>
            <a:srgbClr val="F9F4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965192"/>
            <a:ext cx="4916271" cy="237744"/>
          </a:xfrm>
          <a:prstGeom prst="rect">
            <a:avLst/>
          </a:prstGeom>
          <a:noFill/>
        </p:spPr>
        <p:txBody>
          <a:bodyPr wrap="square" lIns="0" rIns="0" tIns="0" bIns="0" anchor="t">
            <a:spAutoFit/>
          </a:bodyPr>
          <a:lstStyle/>
          <a:p>
            <a:pPr algn="l"/>
            <a:r>
              <a:rPr sz="1350" b="1" i="0">
                <a:solidFill>
                  <a:srgbClr val="875209"/>
                </a:solidFill>
                <a:latin typeface="Calibri"/>
              </a:rPr>
              <a:t>Data leakage</a:t>
            </a:r>
          </a:p>
        </p:txBody>
      </p:sp>
      <p:sp>
        <p:nvSpPr>
          <p:cNvPr id="18" name="TextBox 17"/>
          <p:cNvSpPr txBox="1"/>
          <p:nvPr/>
        </p:nvSpPr>
        <p:spPr>
          <a:xfrm>
            <a:off x="804672"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Information reaching the model that would not be available when the prediction is really needed. Produces excellent scores and useless models.</a:t>
            </a:r>
          </a:p>
        </p:txBody>
      </p:sp>
      <p:sp>
        <p:nvSpPr>
          <p:cNvPr id="19" name="Rounded Rectangle 18"/>
          <p:cNvSpPr/>
          <p:nvPr/>
        </p:nvSpPr>
        <p:spPr>
          <a:xfrm>
            <a:off x="6251295" y="4846320"/>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9039" y="4965192"/>
            <a:ext cx="4916271" cy="237744"/>
          </a:xfrm>
          <a:prstGeom prst="rect">
            <a:avLst/>
          </a:prstGeom>
          <a:noFill/>
        </p:spPr>
        <p:txBody>
          <a:bodyPr wrap="square" lIns="0" rIns="0" tIns="0" bIns="0" anchor="t">
            <a:spAutoFit/>
          </a:bodyPr>
          <a:lstStyle/>
          <a:p>
            <a:pPr algn="l"/>
            <a:r>
              <a:rPr sz="1350" b="1" i="0">
                <a:solidFill>
                  <a:srgbClr val="06545B"/>
                </a:solidFill>
                <a:latin typeface="Calibri"/>
              </a:rPr>
              <a:t>Model drift</a:t>
            </a:r>
          </a:p>
        </p:txBody>
      </p:sp>
      <p:sp>
        <p:nvSpPr>
          <p:cNvPr id="21" name="TextBox 20"/>
          <p:cNvSpPr txBox="1"/>
          <p:nvPr/>
        </p:nvSpPr>
        <p:spPr>
          <a:xfrm>
            <a:off x="6489039"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The world moves, the model does not, and accuracy quietly decays after deployment. The reason stage 13 exists.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086972"/>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12233A"/>
                </a:solidFill>
                <a:latin typeface="Cambria"/>
              </a:rPr>
              <a:t>And six more, briefly</a:t>
            </a:r>
          </a:p>
        </p:txBody>
      </p:sp>
      <p:sp>
        <p:nvSpPr>
          <p:cNvPr id="4" name="Rounded Rectangle 3"/>
          <p:cNvSpPr/>
          <p:nvPr/>
        </p:nvSpPr>
        <p:spPr>
          <a:xfrm>
            <a:off x="566928" y="1536192"/>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04672" y="1655064"/>
            <a:ext cx="4916271" cy="237744"/>
          </a:xfrm>
          <a:prstGeom prst="rect">
            <a:avLst/>
          </a:prstGeom>
          <a:noFill/>
        </p:spPr>
        <p:txBody>
          <a:bodyPr wrap="square" lIns="0" rIns="0" tIns="0" bIns="0" anchor="t">
            <a:spAutoFit/>
          </a:bodyPr>
          <a:lstStyle/>
          <a:p>
            <a:pPr algn="l"/>
            <a:r>
              <a:rPr sz="1350" b="1" i="0">
                <a:solidFill>
                  <a:srgbClr val="06545B"/>
                </a:solidFill>
                <a:latin typeface="Calibri"/>
              </a:rPr>
              <a:t>Epoch</a:t>
            </a:r>
          </a:p>
        </p:txBody>
      </p:sp>
      <p:sp>
        <p:nvSpPr>
          <p:cNvPr id="6" name="TextBox 5"/>
          <p:cNvSpPr txBox="1"/>
          <p:nvPr/>
        </p:nvSpPr>
        <p:spPr>
          <a:xfrm>
            <a:off x="804672"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One full pass over the training data. A deep-learning word; it has no meaning for the models in Block 2.</a:t>
            </a:r>
          </a:p>
        </p:txBody>
      </p:sp>
      <p:sp>
        <p:nvSpPr>
          <p:cNvPr id="7" name="Rounded Rectangle 6"/>
          <p:cNvSpPr/>
          <p:nvPr/>
        </p:nvSpPr>
        <p:spPr>
          <a:xfrm>
            <a:off x="6251295" y="1536192"/>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89039" y="1655064"/>
            <a:ext cx="4916271" cy="237744"/>
          </a:xfrm>
          <a:prstGeom prst="rect">
            <a:avLst/>
          </a:prstGeom>
          <a:noFill/>
        </p:spPr>
        <p:txBody>
          <a:bodyPr wrap="square" lIns="0" rIns="0" tIns="0" bIns="0" anchor="t">
            <a:spAutoFit/>
          </a:bodyPr>
          <a:lstStyle/>
          <a:p>
            <a:pPr algn="l"/>
            <a:r>
              <a:rPr sz="1350" b="1" i="0">
                <a:solidFill>
                  <a:srgbClr val="06545B"/>
                </a:solidFill>
                <a:latin typeface="Calibri"/>
              </a:rPr>
              <a:t>Black box</a:t>
            </a:r>
          </a:p>
        </p:txBody>
      </p:sp>
      <p:sp>
        <p:nvSpPr>
          <p:cNvPr id="9" name="TextBox 8"/>
          <p:cNvSpPr txBox="1"/>
          <p:nvPr/>
        </p:nvSpPr>
        <p:spPr>
          <a:xfrm>
            <a:off x="6489039" y="1938528"/>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model whose reasoning cannot be read off directly. A property to manage and disclose - not an excuse.</a:t>
            </a:r>
          </a:p>
        </p:txBody>
      </p:sp>
      <p:sp>
        <p:nvSpPr>
          <p:cNvPr id="10" name="Rounded Rectangle 9"/>
          <p:cNvSpPr/>
          <p:nvPr/>
        </p:nvSpPr>
        <p:spPr>
          <a:xfrm>
            <a:off x="566928"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MLOps</a:t>
            </a:r>
          </a:p>
        </p:txBody>
      </p:sp>
      <p:sp>
        <p:nvSpPr>
          <p:cNvPr id="12" name="TextBox 11"/>
          <p:cNvSpPr txBox="1"/>
          <p:nvPr/>
        </p:nvSpPr>
        <p:spPr>
          <a:xfrm>
            <a:off x="804672"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The engineering around getting models deployed, monitored and retrained. Mostly software practice, not statistics.</a:t>
            </a:r>
          </a:p>
        </p:txBody>
      </p:sp>
      <p:sp>
        <p:nvSpPr>
          <p:cNvPr id="13" name="Rounded Rectangle 12"/>
          <p:cNvSpPr/>
          <p:nvPr/>
        </p:nvSpPr>
        <p:spPr>
          <a:xfrm>
            <a:off x="6251295" y="3191256"/>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89039" y="3310128"/>
            <a:ext cx="4916271" cy="237744"/>
          </a:xfrm>
          <a:prstGeom prst="rect">
            <a:avLst/>
          </a:prstGeom>
          <a:noFill/>
        </p:spPr>
        <p:txBody>
          <a:bodyPr wrap="square" lIns="0" rIns="0" tIns="0" bIns="0" anchor="t">
            <a:spAutoFit/>
          </a:bodyPr>
          <a:lstStyle/>
          <a:p>
            <a:pPr algn="l"/>
            <a:r>
              <a:rPr sz="1350" b="1" i="0">
                <a:solidFill>
                  <a:srgbClr val="06545B"/>
                </a:solidFill>
                <a:latin typeface="Calibri"/>
              </a:rPr>
              <a:t>ETL / data pipeline</a:t>
            </a:r>
          </a:p>
        </p:txBody>
      </p:sp>
      <p:sp>
        <p:nvSpPr>
          <p:cNvPr id="15" name="TextBox 14"/>
          <p:cNvSpPr txBox="1"/>
          <p:nvPr/>
        </p:nvSpPr>
        <p:spPr>
          <a:xfrm>
            <a:off x="6489039" y="3593592"/>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Extract, transform, load: moving data from where it is produced to where it is analysed. Different sense of “pipeline” from the modelling one.</a:t>
            </a:r>
          </a:p>
        </p:txBody>
      </p:sp>
      <p:sp>
        <p:nvSpPr>
          <p:cNvPr id="16" name="Rounded Rectangle 15"/>
          <p:cNvSpPr/>
          <p:nvPr/>
        </p:nvSpPr>
        <p:spPr>
          <a:xfrm>
            <a:off x="566928" y="4846320"/>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04672" y="4965192"/>
            <a:ext cx="4916271" cy="237744"/>
          </a:xfrm>
          <a:prstGeom prst="rect">
            <a:avLst/>
          </a:prstGeom>
          <a:noFill/>
        </p:spPr>
        <p:txBody>
          <a:bodyPr wrap="square" lIns="0" rIns="0" tIns="0" bIns="0" anchor="t">
            <a:spAutoFit/>
          </a:bodyPr>
          <a:lstStyle/>
          <a:p>
            <a:pPr algn="l"/>
            <a:r>
              <a:rPr sz="1350" b="1" i="0">
                <a:solidFill>
                  <a:srgbClr val="06545B"/>
                </a:solidFill>
                <a:latin typeface="Calibri"/>
              </a:rPr>
              <a:t>Data-driven</a:t>
            </a:r>
          </a:p>
        </p:txBody>
      </p:sp>
      <p:sp>
        <p:nvSpPr>
          <p:cNvPr id="18" name="TextBox 17"/>
          <p:cNvSpPr txBox="1"/>
          <p:nvPr/>
        </p:nvSpPr>
        <p:spPr>
          <a:xfrm>
            <a:off x="804672"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Aspirational. Ask which decision changed as a result of which number, and you will learn how literally it is meant.</a:t>
            </a:r>
          </a:p>
        </p:txBody>
      </p:sp>
      <p:sp>
        <p:nvSpPr>
          <p:cNvPr id="19" name="Rounded Rectangle 18"/>
          <p:cNvSpPr/>
          <p:nvPr/>
        </p:nvSpPr>
        <p:spPr>
          <a:xfrm>
            <a:off x="6251295" y="4846320"/>
            <a:ext cx="5373471" cy="1508760"/>
          </a:xfrm>
          <a:prstGeom prst="roundRect">
            <a:avLst>
              <a:gd name="adj" fmla="val 8484"/>
            </a:avLst>
          </a:prstGeom>
          <a:solidFill>
            <a:srgbClr val="EEF4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89039" y="4965192"/>
            <a:ext cx="4916271" cy="237744"/>
          </a:xfrm>
          <a:prstGeom prst="rect">
            <a:avLst/>
          </a:prstGeom>
          <a:noFill/>
        </p:spPr>
        <p:txBody>
          <a:bodyPr wrap="square" lIns="0" rIns="0" tIns="0" bIns="0" anchor="t">
            <a:spAutoFit/>
          </a:bodyPr>
          <a:lstStyle/>
          <a:p>
            <a:pPr algn="l"/>
            <a:r>
              <a:rPr sz="1350" b="1" i="0">
                <a:solidFill>
                  <a:srgbClr val="06545B"/>
                </a:solidFill>
                <a:latin typeface="Calibri"/>
              </a:rPr>
              <a:t>AI-powered</a:t>
            </a:r>
          </a:p>
        </p:txBody>
      </p:sp>
      <p:sp>
        <p:nvSpPr>
          <p:cNvPr id="21" name="TextBox 20"/>
          <p:cNvSpPr txBox="1"/>
          <p:nvPr/>
        </p:nvSpPr>
        <p:spPr>
          <a:xfrm>
            <a:off x="6489039" y="5248656"/>
            <a:ext cx="4916271" cy="1005840"/>
          </a:xfrm>
          <a:prstGeom prst="rect">
            <a:avLst/>
          </a:prstGeom>
          <a:noFill/>
        </p:spPr>
        <p:txBody>
          <a:bodyPr wrap="square" lIns="0" rIns="0" tIns="0" bIns="0" anchor="t">
            <a:spAutoFit/>
          </a:bodyPr>
          <a:lstStyle/>
          <a:p>
            <a:pPr algn="l">
              <a:lnSpc>
                <a:spcPct val="120000"/>
              </a:lnSpc>
            </a:pPr>
            <a:r>
              <a:rPr sz="1300" b="0" i="0">
                <a:solidFill>
                  <a:srgbClr val="2B3440"/>
                </a:solidFill>
                <a:latin typeface="Calibri"/>
              </a:rPr>
              <a:t>A marketing claim, not a technical one. It tells you nothing about what the system does or how well it works.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2233A"/>
        </a:solidFill>
        <a:effectLst/>
      </p:bgPr>
    </p:bg>
    <p:spTree>
      <p:nvGrpSpPr>
        <p:cNvPr id="1" name=""/>
        <p:cNvGrpSpPr/>
        <p:nvPr/>
      </p:nvGrpSpPr>
      <p:grpSpPr/>
      <p:sp>
        <p:nvSpPr>
          <p:cNvPr id="2" name="TextBox 1"/>
          <p:cNvSpPr txBox="1"/>
          <p:nvPr/>
        </p:nvSpPr>
        <p:spPr>
          <a:xfrm>
            <a:off x="566928" y="420624"/>
            <a:ext cx="11057839" cy="219456"/>
          </a:xfrm>
          <a:prstGeom prst="rect">
            <a:avLst/>
          </a:prstGeom>
          <a:noFill/>
        </p:spPr>
        <p:txBody>
          <a:bodyPr wrap="square" lIns="0" rIns="0" tIns="0" bIns="0" anchor="t">
            <a:spAutoFit/>
          </a:bodyPr>
          <a:lstStyle/>
          <a:p>
            <a:pPr algn="l"/>
            <a:r>
              <a:rPr sz="1150" b="1" i="0">
                <a:solidFill>
                  <a:srgbClr val="90BCC0"/>
                </a:solidFill>
                <a:latin typeface="Calibri"/>
              </a:rPr>
              <a:t>FUNDAMENTALS &amp; VOCABULARY</a:t>
            </a:r>
          </a:p>
        </p:txBody>
      </p:sp>
      <p:sp>
        <p:nvSpPr>
          <p:cNvPr id="3" name="TextBox 2"/>
          <p:cNvSpPr txBox="1"/>
          <p:nvPr/>
        </p:nvSpPr>
        <p:spPr>
          <a:xfrm>
            <a:off x="566928" y="694944"/>
            <a:ext cx="11057839" cy="658368"/>
          </a:xfrm>
          <a:prstGeom prst="rect">
            <a:avLst/>
          </a:prstGeom>
          <a:noFill/>
        </p:spPr>
        <p:txBody>
          <a:bodyPr wrap="square" lIns="0" rIns="0" tIns="0" bIns="0" anchor="t">
            <a:spAutoFit/>
          </a:bodyPr>
          <a:lstStyle/>
          <a:p>
            <a:pPr algn="l"/>
            <a:r>
              <a:rPr sz="3300" b="1" i="0">
                <a:solidFill>
                  <a:srgbClr val="FFFFFF"/>
                </a:solidFill>
                <a:latin typeface="Cambria"/>
              </a:rPr>
              <a:t>Three habits, from the first notebook</a:t>
            </a:r>
          </a:p>
        </p:txBody>
      </p:sp>
      <p:sp>
        <p:nvSpPr>
          <p:cNvPr id="4" name="Rounded Rectangle 3"/>
          <p:cNvSpPr/>
          <p:nvPr/>
        </p:nvSpPr>
        <p:spPr>
          <a:xfrm>
            <a:off x="566928" y="1691640"/>
            <a:ext cx="7863840" cy="1298448"/>
          </a:xfrm>
          <a:prstGeom prst="roundRect">
            <a:avLst>
              <a:gd name="adj" fmla="val 9859"/>
            </a:avLst>
          </a:prstGeom>
          <a:solidFill>
            <a:srgbClr val="075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877824" y="2112264"/>
            <a:ext cx="457200" cy="457200"/>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12233A"/>
                </a:solidFill>
                <a:latin typeface="Calibri"/>
              </a:rPr>
              <a:t>1</a:t>
            </a:r>
          </a:p>
        </p:txBody>
      </p:sp>
      <p:sp>
        <p:nvSpPr>
          <p:cNvPr id="6" name="TextBox 5"/>
          <p:cNvSpPr txBox="1"/>
          <p:nvPr/>
        </p:nvSpPr>
        <p:spPr>
          <a:xfrm>
            <a:off x="1591056" y="1892808"/>
            <a:ext cx="6583680" cy="274320"/>
          </a:xfrm>
          <a:prstGeom prst="rect">
            <a:avLst/>
          </a:prstGeom>
          <a:noFill/>
        </p:spPr>
        <p:txBody>
          <a:bodyPr wrap="square" lIns="0" rIns="0" tIns="0" bIns="0" anchor="t">
            <a:spAutoFit/>
          </a:bodyPr>
          <a:lstStyle/>
          <a:p>
            <a:pPr algn="l"/>
            <a:r>
              <a:rPr sz="1700" b="1" i="0">
                <a:solidFill>
                  <a:srgbClr val="FFFFFF"/>
                </a:solidFill>
                <a:latin typeface="Cambria"/>
              </a:rPr>
              <a:t>Write down the question first</a:t>
            </a:r>
          </a:p>
        </p:txBody>
      </p:sp>
      <p:sp>
        <p:nvSpPr>
          <p:cNvPr id="7" name="TextBox 6"/>
          <p:cNvSpPr txBox="1"/>
          <p:nvPr/>
        </p:nvSpPr>
        <p:spPr>
          <a:xfrm>
            <a:off x="1591056" y="2258568"/>
            <a:ext cx="6583680" cy="603504"/>
          </a:xfrm>
          <a:prstGeom prst="rect">
            <a:avLst/>
          </a:prstGeom>
          <a:noFill/>
        </p:spPr>
        <p:txBody>
          <a:bodyPr wrap="square" lIns="0" rIns="0" tIns="0" bIns="0" anchor="t">
            <a:spAutoFit/>
          </a:bodyPr>
          <a:lstStyle/>
          <a:p>
            <a:pPr algn="l">
              <a:lnSpc>
                <a:spcPct val="125000"/>
              </a:lnSpc>
            </a:pPr>
            <a:r>
              <a:rPr sz="1250" b="0" i="0">
                <a:solidFill>
                  <a:srgbClr val="9FB0C4"/>
                </a:solidFill>
                <a:latin typeface="Calibri"/>
              </a:rPr>
              <a:t>Before a chart, before a model. If you cannot say what question a number answers, you have data and not information.</a:t>
            </a:r>
          </a:p>
        </p:txBody>
      </p:sp>
      <p:sp>
        <p:nvSpPr>
          <p:cNvPr id="8" name="Rounded Rectangle 7"/>
          <p:cNvSpPr/>
          <p:nvPr/>
        </p:nvSpPr>
        <p:spPr>
          <a:xfrm>
            <a:off x="566928" y="3209544"/>
            <a:ext cx="7863840" cy="1298448"/>
          </a:xfrm>
          <a:prstGeom prst="roundRect">
            <a:avLst>
              <a:gd name="adj" fmla="val 9859"/>
            </a:avLst>
          </a:prstGeom>
          <a:solidFill>
            <a:srgbClr val="075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877824" y="3630168"/>
            <a:ext cx="457200" cy="457200"/>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12233A"/>
                </a:solidFill>
                <a:latin typeface="Calibri"/>
              </a:rPr>
              <a:t>2</a:t>
            </a:r>
          </a:p>
        </p:txBody>
      </p:sp>
      <p:sp>
        <p:nvSpPr>
          <p:cNvPr id="10" name="TextBox 9"/>
          <p:cNvSpPr txBox="1"/>
          <p:nvPr/>
        </p:nvSpPr>
        <p:spPr>
          <a:xfrm>
            <a:off x="1591056" y="3410712"/>
            <a:ext cx="6583680" cy="274320"/>
          </a:xfrm>
          <a:prstGeom prst="rect">
            <a:avLst/>
          </a:prstGeom>
          <a:noFill/>
        </p:spPr>
        <p:txBody>
          <a:bodyPr wrap="square" lIns="0" rIns="0" tIns="0" bIns="0" anchor="t">
            <a:spAutoFit/>
          </a:bodyPr>
          <a:lstStyle/>
          <a:p>
            <a:pPr algn="l"/>
            <a:r>
              <a:rPr sz="1700" b="1" i="0">
                <a:solidFill>
                  <a:srgbClr val="FFFFFF"/>
                </a:solidFill>
                <a:latin typeface="Cambria"/>
              </a:rPr>
              <a:t>Always compare against the simplest thing</a:t>
            </a:r>
          </a:p>
        </p:txBody>
      </p:sp>
      <p:sp>
        <p:nvSpPr>
          <p:cNvPr id="11" name="TextBox 10"/>
          <p:cNvSpPr txBox="1"/>
          <p:nvPr/>
        </p:nvSpPr>
        <p:spPr>
          <a:xfrm>
            <a:off x="1591056" y="3776472"/>
            <a:ext cx="6583680" cy="603504"/>
          </a:xfrm>
          <a:prstGeom prst="rect">
            <a:avLst/>
          </a:prstGeom>
          <a:noFill/>
        </p:spPr>
        <p:txBody>
          <a:bodyPr wrap="square" lIns="0" rIns="0" tIns="0" bIns="0" anchor="t">
            <a:spAutoFit/>
          </a:bodyPr>
          <a:lstStyle/>
          <a:p>
            <a:pPr algn="l">
              <a:lnSpc>
                <a:spcPct val="125000"/>
              </a:lnSpc>
            </a:pPr>
            <a:r>
              <a:rPr sz="1250" b="0" i="0">
                <a:solidFill>
                  <a:srgbClr val="9FB0C4"/>
                </a:solidFill>
                <a:latin typeface="Calibri"/>
              </a:rPr>
              <a:t>A score on its own means nothing. A score next to the score of predicting the average means something.</a:t>
            </a:r>
          </a:p>
        </p:txBody>
      </p:sp>
      <p:sp>
        <p:nvSpPr>
          <p:cNvPr id="12" name="Rounded Rectangle 11"/>
          <p:cNvSpPr/>
          <p:nvPr/>
        </p:nvSpPr>
        <p:spPr>
          <a:xfrm>
            <a:off x="566928" y="4727448"/>
            <a:ext cx="7863840" cy="1298448"/>
          </a:xfrm>
          <a:prstGeom prst="roundRect">
            <a:avLst>
              <a:gd name="adj" fmla="val 9859"/>
            </a:avLst>
          </a:prstGeom>
          <a:solidFill>
            <a:srgbClr val="07565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877824" y="5148072"/>
            <a:ext cx="457200" cy="457200"/>
          </a:xfrm>
          <a:prstGeom prst="ellipse">
            <a:avLst/>
          </a:prstGeom>
          <a:solidFill>
            <a:srgbClr val="E9A9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r>
              <a:rPr sz="1400" b="1" i="0">
                <a:solidFill>
                  <a:srgbClr val="12233A"/>
                </a:solidFill>
                <a:latin typeface="Calibri"/>
              </a:rPr>
              <a:t>3</a:t>
            </a:r>
          </a:p>
        </p:txBody>
      </p:sp>
      <p:sp>
        <p:nvSpPr>
          <p:cNvPr id="14" name="TextBox 13"/>
          <p:cNvSpPr txBox="1"/>
          <p:nvPr/>
        </p:nvSpPr>
        <p:spPr>
          <a:xfrm>
            <a:off x="1591056" y="4928616"/>
            <a:ext cx="6583680" cy="274320"/>
          </a:xfrm>
          <a:prstGeom prst="rect">
            <a:avLst/>
          </a:prstGeom>
          <a:noFill/>
        </p:spPr>
        <p:txBody>
          <a:bodyPr wrap="square" lIns="0" rIns="0" tIns="0" bIns="0" anchor="t">
            <a:spAutoFit/>
          </a:bodyPr>
          <a:lstStyle/>
          <a:p>
            <a:pPr algn="l"/>
            <a:r>
              <a:rPr sz="1700" b="1" i="0">
                <a:solidFill>
                  <a:srgbClr val="FFFFFF"/>
                </a:solidFill>
                <a:latin typeface="Cambria"/>
              </a:rPr>
              <a:t>Be suspicious of good news</a:t>
            </a:r>
          </a:p>
        </p:txBody>
      </p:sp>
      <p:sp>
        <p:nvSpPr>
          <p:cNvPr id="15" name="TextBox 14"/>
          <p:cNvSpPr txBox="1"/>
          <p:nvPr/>
        </p:nvSpPr>
        <p:spPr>
          <a:xfrm>
            <a:off x="1591056" y="5294376"/>
            <a:ext cx="6583680" cy="603504"/>
          </a:xfrm>
          <a:prstGeom prst="rect">
            <a:avLst/>
          </a:prstGeom>
          <a:noFill/>
        </p:spPr>
        <p:txBody>
          <a:bodyPr wrap="square" lIns="0" rIns="0" tIns="0" bIns="0" anchor="t">
            <a:spAutoFit/>
          </a:bodyPr>
          <a:lstStyle/>
          <a:p>
            <a:pPr algn="l">
              <a:lnSpc>
                <a:spcPct val="125000"/>
              </a:lnSpc>
            </a:pPr>
            <a:r>
              <a:rPr sz="1250" b="0" i="0">
                <a:solidFill>
                  <a:srgbClr val="9FB0C4"/>
                </a:solidFill>
                <a:latin typeface="Calibri"/>
              </a:rPr>
              <a:t>A result that pleases you is a result to check. This will matter more than once, and it is the habit the course is really about.</a:t>
            </a:r>
          </a:p>
        </p:txBody>
      </p:sp>
      <p:sp>
        <p:nvSpPr>
          <p:cNvPr id="16" name="Rounded Rectangle 15"/>
          <p:cNvSpPr/>
          <p:nvPr/>
        </p:nvSpPr>
        <p:spPr>
          <a:xfrm>
            <a:off x="8750807" y="1691640"/>
            <a:ext cx="2873959" cy="2148840"/>
          </a:xfrm>
          <a:prstGeom prst="roundRect">
            <a:avLst>
              <a:gd name="adj" fmla="val 5957"/>
            </a:avLst>
          </a:prstGeom>
          <a:solidFill>
            <a:srgbClr val="08646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70847" y="1984248"/>
            <a:ext cx="2233879" cy="219456"/>
          </a:xfrm>
          <a:prstGeom prst="rect">
            <a:avLst/>
          </a:prstGeom>
          <a:noFill/>
        </p:spPr>
        <p:txBody>
          <a:bodyPr wrap="square" lIns="0" rIns="0" tIns="0" bIns="0" anchor="t">
            <a:spAutoFit/>
          </a:bodyPr>
          <a:lstStyle/>
          <a:p>
            <a:pPr algn="l"/>
            <a:r>
              <a:rPr sz="1000" b="1" i="0">
                <a:solidFill>
                  <a:srgbClr val="9CC3C7"/>
                </a:solidFill>
                <a:latin typeface="Calibri"/>
              </a:rPr>
              <a:t>NEXT</a:t>
            </a:r>
          </a:p>
        </p:txBody>
      </p:sp>
      <p:sp>
        <p:nvSpPr>
          <p:cNvPr id="18" name="TextBox 17"/>
          <p:cNvSpPr txBox="1"/>
          <p:nvPr/>
        </p:nvSpPr>
        <p:spPr>
          <a:xfrm>
            <a:off x="9070847" y="2313432"/>
            <a:ext cx="2233879" cy="1371600"/>
          </a:xfrm>
          <a:prstGeom prst="rect">
            <a:avLst/>
          </a:prstGeom>
          <a:noFill/>
        </p:spPr>
        <p:txBody>
          <a:bodyPr wrap="square" lIns="0" rIns="0" tIns="0" bIns="0" anchor="t">
            <a:spAutoFit/>
          </a:bodyPr>
          <a:lstStyle/>
          <a:p>
            <a:pPr algn="l">
              <a:lnSpc>
                <a:spcPct val="120000"/>
              </a:lnSpc>
            </a:pPr>
            <a:r>
              <a:rPr sz="1600" b="1" i="0">
                <a:solidFill>
                  <a:srgbClr val="FFFFFF"/>
                </a:solidFill>
                <a:latin typeface="Cambria"/>
              </a:rPr>
              <a:t>Set up your environment, then start Session 1.</a:t>
            </a:r>
          </a:p>
        </p:txBody>
      </p:sp>
      <p:sp>
        <p:nvSpPr>
          <p:cNvPr id="19" name="Rounded Rectangle 18"/>
          <p:cNvSpPr/>
          <p:nvPr/>
        </p:nvSpPr>
        <p:spPr>
          <a:xfrm>
            <a:off x="8750807" y="4050791"/>
            <a:ext cx="2873959" cy="1371600"/>
          </a:xfrm>
          <a:prstGeom prst="roundRect">
            <a:avLst>
              <a:gd name="adj" fmla="val 9333"/>
            </a:avLst>
          </a:prstGeom>
          <a:solidFill>
            <a:srgbClr val="064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070847" y="4233672"/>
            <a:ext cx="2233879" cy="219456"/>
          </a:xfrm>
          <a:prstGeom prst="rect">
            <a:avLst/>
          </a:prstGeom>
          <a:noFill/>
        </p:spPr>
        <p:txBody>
          <a:bodyPr wrap="square" lIns="0" rIns="0" tIns="0" bIns="0" anchor="t">
            <a:spAutoFit/>
          </a:bodyPr>
          <a:lstStyle/>
          <a:p>
            <a:pPr algn="l"/>
            <a:r>
              <a:rPr sz="1000" b="1" i="0">
                <a:solidFill>
                  <a:srgbClr val="90BCC0"/>
                </a:solidFill>
                <a:latin typeface="Calibri"/>
              </a:rPr>
              <a:t>RUN FIRST</a:t>
            </a:r>
          </a:p>
        </p:txBody>
      </p:sp>
      <p:sp>
        <p:nvSpPr>
          <p:cNvPr id="21" name="TextBox 20"/>
          <p:cNvSpPr txBox="1"/>
          <p:nvPr/>
        </p:nvSpPr>
        <p:spPr>
          <a:xfrm>
            <a:off x="9070847" y="4507992"/>
            <a:ext cx="2233879" cy="822960"/>
          </a:xfrm>
          <a:prstGeom prst="rect">
            <a:avLst/>
          </a:prstGeom>
          <a:noFill/>
        </p:spPr>
        <p:txBody>
          <a:bodyPr wrap="square" lIns="0" rIns="0" tIns="0" bIns="0" anchor="t">
            <a:spAutoFit/>
          </a:bodyPr>
          <a:lstStyle/>
          <a:p>
            <a:pPr algn="l">
              <a:lnSpc>
                <a:spcPct val="125000"/>
              </a:lnSpc>
            </a:pPr>
            <a:r>
              <a:rPr sz="1300" b="0" i="0">
                <a:solidFill>
                  <a:srgbClr val="E9A93D"/>
                </a:solidFill>
                <a:latin typeface="Courier New"/>
              </a:rPr>
              <a:t>python tools/
check_setup.py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Fundamentals and Vocabulary</dc:title>
  <dc:subject>Data Science, Machine Learning &amp; Deep Learning</dc:subject>
  <dc:creator>Data Science, ML &amp; Deep Learning - Master's course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