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07" autoAdjust="0"/>
  </p:normalViewPr>
  <p:slideViewPr>
    <p:cSldViewPr snapToGrid="0" snapToObjects="1">
      <p:cViewPr varScale="1">
        <p:scale>
          <a:sx n="99" d="100"/>
          <a:sy n="99" d="100"/>
        </p:scale>
        <p:origin x="47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804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Annoncez l'organisation : ce cours donne les idées, les mécanismes et les résultats ; les six TD les font pratiquer et reproduire. Rien de ce qui est projeté aujourd'hui ne demande de coder. Les chiffres affichés proviennent des notebooks exécutés du cours et des TD, et sont vérifiés automatiquement à la construction du diaporama.</a:t>
            </a:r>
          </a:p>
          <a:p>
            <a:endParaRPr/>
          </a:p>
          <a:p>
            <a:r>
              <a:t>INTERACTION : Tour de salle rapide : qui a déjà entraîné un réseau de neurones, et avec quel outil ?</a:t>
            </a:r>
          </a:p>
          <a:p>
            <a:endParaRPr/>
          </a:p>
          <a:p>
            <a:r>
              <a:t>ILLUSTRATION : Aucune (couverture).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six objectifs reprennent ceux du programme (CURRICULUM.md, séances 8 à 10) et leurs acquis visés (CLO7, CLO8, CLO9). Le 2 est le socle : tout le reste s'appuie sur la capacité à suivre un gradient à la main. Le 6 surprend : le bloc apprend aussi à ne pas utiliser l'outil qu'il enseigne.</a:t>
            </a:r>
          </a:p>
          <a:p>
            <a:endParaRPr/>
          </a:p>
          <a:p>
            <a:r>
              <a:t>INTERACTION : Lequel vous paraît le plus difficile ? Main levée ; on y reviendra à la fin.</a:t>
            </a:r>
          </a:p>
          <a:p>
            <a:endParaRPr/>
          </a:p>
          <a:p>
            <a:r>
              <a:t>ILLUSTRATION : Liste numérotée ; aucune image.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minutes incluent les pauses : 240 au total. La partie 1 est la plus longue parce qu'elle contient la seule dérivation du cours. En cas de retard, les notes signalent ce qui peut être résumé oralement.</a:t>
            </a:r>
          </a:p>
          <a:p>
            <a:endParaRPr/>
          </a:p>
          <a:p>
            <a:r>
              <a:t>INTERACTION : Aucune : annoncer le plan et le contrat (pas de code aujourd'hui).</a:t>
            </a:r>
          </a:p>
          <a:p>
            <a:endParaRPr/>
          </a:p>
          <a:p>
            <a:r>
              <a:t>ILLUSTRATION : Tableau du minutage.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fil à nommer explicitement (script de la séance 8) : le bloc 3 n'est pas un nouveau sujet, c'est la suite du même. Le dire au début est ce qui aide le plus les étudiants fragiles à ne pas décrocher.</a:t>
            </a:r>
          </a:p>
          <a:p>
            <a:endParaRPr/>
          </a:p>
          <a:p>
            <a:r>
              <a:t>INTERACTION : Où avez-vous déjà vu une mise à jour de la forme θ ← θ - η·gradient ?</a:t>
            </a:r>
          </a:p>
          <a:p>
            <a:endParaRPr/>
          </a:p>
          <a:p>
            <a:r>
              <a:t>ILLUSTRATION : Phrase seule sur fond sombre ; au tableau, écrire θ ← θ - η·∇L.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 actif : pour chaque ligne, demandez une phrase à un étudiant avant de montrer la colonne de droite. Les réponses attendues sont celles des rappels des séances 8, 9 et 10.</a:t>
            </a:r>
          </a:p>
          <a:p>
            <a:endParaRPr/>
          </a:p>
          <a:p>
            <a:r>
              <a:t>INTERACTION : Une phrase par ligne, de mémoire, avant de lire la colonne de droite.</a:t>
            </a:r>
          </a:p>
          <a:p>
            <a:endParaRPr/>
          </a:p>
          <a:p>
            <a:r>
              <a:t>ILLUSTRATION : Tableau ; masquer la dernière colonne au besoin.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Montrez deux ou trois flèches, pas toutes : gradient descent vers backpropagation, Ridge vers weight decay, paired t-test vers ablation. La carte sert de table des matières visuelle.</a:t>
            </a:r>
          </a:p>
          <a:p>
            <a:endParaRPr/>
          </a:p>
          <a:p>
            <a:r>
              <a:t>INTERACTION : Quelle flèche vous paraît la moins évidente ?</a:t>
            </a:r>
          </a:p>
          <a:p>
            <a:endParaRPr/>
          </a:p>
          <a:p>
            <a:r>
              <a:t>ILLUSTRATION : Carte des notions (figure générée). Fichier : assets/generated/cours_08_10_fr/f16_carte_des_notions.png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Annoncez les deux moitiés : représenter (jusqu'à l'universal approximation), puis apprendre (de la loss au learning rate).</a:t>
            </a:r>
          </a:p>
          <a:p>
            <a:endParaRPr/>
          </a:p>
          <a:p>
            <a:r>
              <a:t>INTERACTION : Aucune : transition.</a:t>
            </a:r>
          </a:p>
          <a:p>
            <a:endParaRPr/>
          </a:p>
          <a:p>
            <a:r>
              <a:t>ILLUSTRATION : Séparateur de partie.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 en trois minutes. Faites dire pourquoi la logistic regression n'a pas de solution analytique : la sigmoïde rend la cross-entropy non quadratique, la condition d'optimalité n'est pas un système linéaire. Insistez sur la frontière : c'est elle qui va échouer.</a:t>
            </a:r>
          </a:p>
          <a:p>
            <a:endParaRPr/>
          </a:p>
          <a:p>
            <a:r>
              <a:t>INTERACTION : Pourquoi la régression linéaire a-t-elle une équation normale, et pas la logistic regression ?</a:t>
            </a:r>
          </a:p>
          <a:p>
            <a:endParaRPr/>
          </a:p>
          <a:p>
            <a:r>
              <a:t>ILLUSTRATION : Au tableau : une droite qui sépare deux nuages de points.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Laissez une minute de silence. Faites dessiner les quatre points au tableau. Personne ne trouve de droite, et c'est le but : l'échec est une propriété de la famille de modèles, pas de l'algorithme.</a:t>
            </a:r>
          </a:p>
          <a:p>
            <a:endParaRPr/>
          </a:p>
          <a:p>
            <a:r>
              <a:t>INTERACTION : Essayez sur papier : une droite qui sépare les 1 des 0 ?</a:t>
            </a:r>
          </a:p>
          <a:p>
            <a:endParaRPr/>
          </a:p>
          <a:p>
            <a:r>
              <a:t>ILLUSTRATION : Tableau de vérité ; au tableau, les quatre points dans le plan.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chiffres à distinguer : 0,75 est le mieux qu'une droite puisse faire en accuracy ; 0,50 est ce que choisit la logistic regression, parce qu'elle minimise la cross-entropy et que l'optimum est, par symétrie, 0,5 partout. Le panneau de droite est un aperçu de ce que les étudiants obtiendront au TD 2.</a:t>
            </a:r>
          </a:p>
          <a:p>
            <a:endParaRPr/>
          </a:p>
          <a:p>
            <a:r>
              <a:t>INTERACTION : Pourquoi la logistic regression ne choisit-elle pas l'une des droites à 0,75 ?</a:t>
            </a:r>
          </a:p>
          <a:p>
            <a:endParaRPr/>
          </a:p>
          <a:p>
            <a:r>
              <a:t>ILLUSTRATION : Fichier : assets/generated/cours_08_10_fr/f01_xor.png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l'argument central du bloc : un réseau est une machine à apprendre les features qu'on aurait dû fabriquer. Le TD 1 (exercice 1.2) mesure les deux côtés ; il montre aussi qu'avec C = 1 la logistic regression reste à 0,75 même avec x₁·x₂ sur quatre points : la régularisation compte aussi sur les petits jeux.</a:t>
            </a:r>
          </a:p>
          <a:p>
            <a:endParaRPr/>
          </a:p>
          <a:p>
            <a:r>
              <a:t>INTERACTION : Combien de produits de trois features avec 50 features ?</a:t>
            </a:r>
          </a:p>
          <a:p>
            <a:endParaRPr/>
          </a:p>
          <a:p>
            <a:r>
              <a:t>ILLUSTRATION : Deux panneaux comparés.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minute pour l'analogie, puis on la pose : rien dans ce cours ne modélise un cerveau, et la métaphore fait des dégâts dès qu'elle laisse croire qu'un réseau comprend. Le point important : un neurone seul n'est pas plus puissant qu'une logistic regression ; la puissance vient de l'empilement avec une non-linéarité.</a:t>
            </a:r>
          </a:p>
          <a:p>
            <a:endParaRPr/>
          </a:p>
          <a:p>
            <a:r>
              <a:t>INTERACTION : Que manque-t-il à un neurone seul pour résoudre XOR ?</a:t>
            </a:r>
          </a:p>
          <a:p>
            <a:endParaRPr/>
          </a:p>
          <a:p>
            <a:r>
              <a:t>ILLUSTRATION : Fichier : assets/diagrams/s08_networks/nn_feedforward.png (bibliothèque du cours, provenance non établie (CATALOGUE.md : publish: no) : projection en classe uniquement) ; assets/diagrams/s08_networks/nn_bio_math.png (bibliothèque du cours ; provenance probable : notes du cours Stanford CS231n ; droits non établis : projection en classe uniquement)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le calcul avec la salle : 77 × 64 + 64 = 4 992 ; 64 × 32 + 32 = 2 080 ; 32 + 1 = 33 ; total 7 105, le réseau de la séance 9, pour 77 features d'entrée.</a:t>
            </a:r>
          </a:p>
          <a:p>
            <a:endParaRPr/>
          </a:p>
          <a:p>
            <a:r>
              <a:t>INTERACTION : Mini-calcul : combien de paramètres pour 77 → 64 → 32 → 1 ?</a:t>
            </a:r>
          </a:p>
          <a:p>
            <a:endParaRPr/>
          </a:p>
          <a:p>
            <a:r>
              <a:t>ILLUSTRATION : Fichier : assets/diagrams/s08_networks/nn_bias_hidden.png (bibliothèque du cours, provenance non établie (CATALOGUE.md : publish: no) : projection en classe uniquement)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la preuve à voix haute, en une ligne. Elle transforme « il faut une activation function » d'une règle en un fait. Question piège : un réseau de dix couches à activation identité, c'est quoi ? Un modèle linéaire, calculé de façon coûteuse.</a:t>
            </a:r>
          </a:p>
          <a:p>
            <a:endParaRPr/>
          </a:p>
          <a:p>
            <a:r>
              <a:t>INTERACTION : Que calcule un réseau de dix couches dont toutes les activations sont l'identité ?</a:t>
            </a:r>
          </a:p>
          <a:p>
            <a:endParaRPr/>
          </a:p>
          <a:p>
            <a:r>
              <a:t>ILLUSTRATION : Au tableau : la preuve en une ligne.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figure de droite : ce que le gradient traverse à chaque couche, c'est g'(z). D'où la règle pratique : ReLU ou une variante dans les hidden layers, sigmoïde en sortie pour une probabilité, softmax pour plusieurs classes. Le TD 1 (exercice 1.4) fait coder ces fonctions et vérifier leurs dérivées.</a:t>
            </a:r>
          </a:p>
          <a:p>
            <a:endParaRPr/>
          </a:p>
          <a:p>
            <a:r>
              <a:t>INTERACTION : Laquelle pour une hidden layer ? Et pour la sortie d'un classifieur binaire ?</a:t>
            </a:r>
          </a:p>
          <a:p>
            <a:endParaRPr/>
          </a:p>
          <a:p>
            <a:r>
              <a:t>ILLUSTRATION : Fichier : assets/generated/cours_08_10_fr/f02_activations.png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sigmoïde écrase le gradient un peu à chaque couche ; ReLU le coupe d'un coup, mais seulement pour les unités éteintes. La partie 2 mesurera le vanishing gradient sur de vraies données (8 couches sigmoïdes : 1e-07 en première couche).</a:t>
            </a:r>
          </a:p>
          <a:p>
            <a:endParaRPr/>
          </a:p>
          <a:p>
            <a:r>
              <a:t>INTERACTION : Laquelle des deux pannes un learning rate trop grand peut-il provoquer ?</a:t>
            </a:r>
          </a:p>
          <a:p>
            <a:endParaRPr/>
          </a:p>
          <a:p>
            <a:r>
              <a:t>ILLUSTRATION : Tableau ; au tableau, 0,25 × 0,25 × ... dix fois.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Énoncé : un réseau à une seule hidden layer, avec une activation non polynomiale, peut approcher aussi près qu'on veut toute fonction continue sur un domaine borné (Cybenko, 1989 ; Hornik, 1991 ; Leshno et al., 1993 pour ReLU). La figure en est une preuve constructive : les poids sont calculés à la main, pas appris. Au TD 1, 24 unités donnent une erreur de 0,0085. Référence visuelle : Nielsen (2015), chapitre 4, licence CC BY-NC 3.0.</a:t>
            </a:r>
          </a:p>
          <a:p>
            <a:endParaRPr/>
          </a:p>
          <a:p>
            <a:r>
              <a:t>INTERACTION : Combien d'unités faudrait-il pour une erreur inférieure à 0,01 ?</a:t>
            </a:r>
          </a:p>
          <a:p>
            <a:endParaRPr/>
          </a:p>
          <a:p>
            <a:r>
              <a:t>ILLUSTRATION : Fichier : assets/generated/cours_08_10_fr/f03a_approximation.png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Cette diapositive </a:t>
            </a:r>
            <a:r>
              <a:rPr dirty="0" err="1"/>
              <a:t>prépare</a:t>
            </a:r>
            <a:r>
              <a:rPr dirty="0"/>
              <a:t> la séance 9 : un réseau qui </a:t>
            </a:r>
            <a:r>
              <a:rPr dirty="0" err="1"/>
              <a:t>peut</a:t>
            </a:r>
            <a:r>
              <a:rPr dirty="0"/>
              <a:t> tout </a:t>
            </a:r>
            <a:r>
              <a:rPr dirty="0" err="1"/>
              <a:t>approcher</a:t>
            </a:r>
            <a:r>
              <a:rPr dirty="0"/>
              <a:t> </a:t>
            </a:r>
            <a:r>
              <a:rPr dirty="0" err="1"/>
              <a:t>perdra</a:t>
            </a:r>
            <a:r>
              <a:rPr dirty="0"/>
              <a:t> </a:t>
            </a:r>
            <a:r>
              <a:rPr dirty="0" err="1"/>
              <a:t>pourtant</a:t>
            </a:r>
            <a:r>
              <a:rPr dirty="0"/>
              <a:t> </a:t>
            </a:r>
            <a:r>
              <a:rPr dirty="0" err="1"/>
              <a:t>contre</a:t>
            </a:r>
            <a:r>
              <a:rPr dirty="0"/>
              <a:t> des </a:t>
            </a:r>
            <a:r>
              <a:rPr dirty="0" err="1"/>
              <a:t>arbres</a:t>
            </a:r>
            <a:r>
              <a:rPr dirty="0"/>
              <a:t> sur </a:t>
            </a:r>
            <a:r>
              <a:rPr dirty="0" err="1"/>
              <a:t>nos</a:t>
            </a:r>
            <a:r>
              <a:rPr dirty="0"/>
              <a:t> données. </a:t>
            </a:r>
            <a:r>
              <a:rPr dirty="0" err="1"/>
              <a:t>Pouvoir</a:t>
            </a:r>
            <a:r>
              <a:rPr dirty="0"/>
              <a:t> </a:t>
            </a:r>
            <a:r>
              <a:rPr dirty="0" err="1"/>
              <a:t>représenter</a:t>
            </a:r>
            <a:r>
              <a:rPr dirty="0"/>
              <a:t> </a:t>
            </a:r>
            <a:r>
              <a:rPr dirty="0" err="1"/>
              <a:t>n'est</a:t>
            </a:r>
            <a:r>
              <a:rPr dirty="0"/>
              <a:t> pas </a:t>
            </a:r>
            <a:r>
              <a:rPr dirty="0" err="1"/>
              <a:t>apprendre</a:t>
            </a:r>
            <a:r>
              <a:rPr dirty="0"/>
              <a:t> à </a:t>
            </a:r>
            <a:r>
              <a:rPr dirty="0" err="1"/>
              <a:t>partir</a:t>
            </a:r>
            <a:r>
              <a:rPr dirty="0"/>
              <a:t> de 10 000 </a:t>
            </a:r>
            <a:r>
              <a:rPr dirty="0" err="1"/>
              <a:t>lignes</a:t>
            </a:r>
            <a:r>
              <a:rPr dirty="0"/>
              <a:t>, et encore </a:t>
            </a:r>
            <a:r>
              <a:rPr dirty="0" err="1"/>
              <a:t>moins</a:t>
            </a:r>
            <a:r>
              <a:rPr dirty="0"/>
              <a:t> </a:t>
            </a:r>
            <a:r>
              <a:rPr dirty="0" err="1"/>
              <a:t>extrapoler</a:t>
            </a:r>
            <a:r>
              <a:rPr dirty="0"/>
              <a:t>. Faites </a:t>
            </a:r>
            <a:r>
              <a:rPr dirty="0" err="1"/>
              <a:t>énumérer</a:t>
            </a:r>
            <a:r>
              <a:rPr dirty="0"/>
              <a:t> les quatre </a:t>
            </a:r>
            <a:r>
              <a:rPr dirty="0" err="1"/>
              <a:t>limites</a:t>
            </a:r>
            <a:r>
              <a:rPr dirty="0"/>
              <a:t> avant de les </a:t>
            </a:r>
            <a:r>
              <a:rPr dirty="0" err="1"/>
              <a:t>afficher</a:t>
            </a:r>
            <a:r>
              <a:rPr dirty="0"/>
              <a:t>.</a:t>
            </a:r>
          </a:p>
          <a:p>
            <a:endParaRPr dirty="0"/>
          </a:p>
          <a:p>
            <a:r>
              <a:rPr dirty="0"/>
              <a:t>INTERACTION : Le réseau </a:t>
            </a:r>
            <a:r>
              <a:rPr dirty="0" err="1"/>
              <a:t>peut</a:t>
            </a:r>
            <a:r>
              <a:rPr dirty="0"/>
              <a:t> tout </a:t>
            </a:r>
            <a:r>
              <a:rPr dirty="0" err="1"/>
              <a:t>approcher</a:t>
            </a:r>
            <a:r>
              <a:rPr dirty="0"/>
              <a:t> : </a:t>
            </a:r>
            <a:r>
              <a:rPr dirty="0" err="1"/>
              <a:t>alors</a:t>
            </a:r>
            <a:r>
              <a:rPr dirty="0"/>
              <a:t> </a:t>
            </a:r>
            <a:r>
              <a:rPr dirty="0" err="1"/>
              <a:t>pourquoi</a:t>
            </a:r>
            <a:r>
              <a:rPr dirty="0"/>
              <a:t> </a:t>
            </a:r>
            <a:r>
              <a:rPr dirty="0" err="1"/>
              <a:t>pourrait</a:t>
            </a:r>
            <a:r>
              <a:rPr dirty="0"/>
              <a:t>-il </a:t>
            </a:r>
            <a:r>
              <a:rPr dirty="0" err="1"/>
              <a:t>perdre</a:t>
            </a:r>
            <a:r>
              <a:rPr dirty="0"/>
              <a:t> </a:t>
            </a:r>
            <a:r>
              <a:rPr dirty="0" err="1"/>
              <a:t>contre</a:t>
            </a:r>
            <a:r>
              <a:rPr dirty="0"/>
              <a:t> des </a:t>
            </a:r>
            <a:r>
              <a:rPr dirty="0" err="1"/>
              <a:t>arbres</a:t>
            </a:r>
            <a:r>
              <a:rPr dirty="0"/>
              <a:t> ?</a:t>
            </a:r>
          </a:p>
          <a:p>
            <a:endParaRPr dirty="0"/>
          </a:p>
          <a:p>
            <a:r>
              <a:rPr dirty="0"/>
              <a:t>ILLUSTRATION : </a:t>
            </a:r>
            <a:r>
              <a:rPr dirty="0" err="1"/>
              <a:t>Fichier</a:t>
            </a:r>
            <a:r>
              <a:rPr dirty="0"/>
              <a:t> : assets/generated/cours_08_10_fr/f03b_extrapolation.png (</a:t>
            </a:r>
            <a:r>
              <a:rPr dirty="0" err="1"/>
              <a:t>création</a:t>
            </a:r>
            <a:r>
              <a:rPr dirty="0"/>
              <a:t> </a:t>
            </a:r>
            <a:r>
              <a:rPr dirty="0" err="1"/>
              <a:t>originale</a:t>
            </a:r>
            <a:r>
              <a:rPr dirty="0"/>
              <a:t> du </a:t>
            </a:r>
            <a:r>
              <a:rPr dirty="0" err="1"/>
              <a:t>cours</a:t>
            </a:r>
            <a:r>
              <a:rPr dirty="0"/>
              <a:t> (tools/make_block3_fr_figures.py) : libre </a:t>
            </a:r>
            <a:r>
              <a:rPr dirty="0" err="1"/>
              <a:t>d'usage</a:t>
            </a:r>
            <a:r>
              <a:rPr dirty="0"/>
              <a:t> dans le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Réponses : Q1, aucune droite ne sépare XOR, et l'optimum de la cross-entropy parmi les modèles linéaires est 0,5 partout. Q2, une fonction affine. Q3, sa dérivée vaut 1 pour une unité active : le gradient traverse les couches sans être multiplié par au plus 0,25. Q4, l'existence d'une approximation sur un domaine borné ; rien sur le nombre d'unités, l'apprentissage, la généralisation, l'extrapolation.</a:t>
            </a:r>
          </a:p>
          <a:p>
            <a:endParaRPr/>
          </a:p>
          <a:p>
            <a:r>
              <a:t>INTERACTION : Binômes, deux minutes ; interroger trois binômes au hasard.</a:t>
            </a:r>
          </a:p>
          <a:p>
            <a:endParaRPr/>
          </a:p>
          <a:p>
            <a:r>
              <a:t>ILLUSTRATION : Questions seules.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Faites le </a:t>
            </a:r>
            <a:r>
              <a:rPr dirty="0" err="1"/>
              <a:t>calcul</a:t>
            </a:r>
            <a:r>
              <a:rPr dirty="0"/>
              <a:t> au tableau avec la </a:t>
            </a:r>
            <a:r>
              <a:rPr dirty="0" err="1"/>
              <a:t>classe</a:t>
            </a:r>
            <a:r>
              <a:rPr dirty="0"/>
              <a:t>, </a:t>
            </a:r>
            <a:r>
              <a:rPr dirty="0" err="1"/>
              <a:t>en</a:t>
            </a:r>
            <a:r>
              <a:rPr dirty="0"/>
              <a:t> </a:t>
            </a:r>
            <a:r>
              <a:rPr dirty="0" err="1"/>
              <a:t>annotant</a:t>
            </a:r>
            <a:r>
              <a:rPr dirty="0"/>
              <a:t> la </a:t>
            </a:r>
            <a:r>
              <a:rPr dirty="0" err="1"/>
              <a:t>forme</a:t>
            </a:r>
            <a:r>
              <a:rPr dirty="0"/>
              <a:t> de </a:t>
            </a:r>
            <a:r>
              <a:rPr dirty="0" err="1"/>
              <a:t>chaque</a:t>
            </a:r>
            <a:r>
              <a:rPr dirty="0"/>
              <a:t> </a:t>
            </a:r>
            <a:r>
              <a:rPr dirty="0" err="1"/>
              <a:t>quantité</a:t>
            </a:r>
            <a:r>
              <a:rPr dirty="0"/>
              <a:t> dans la marge : </a:t>
            </a:r>
            <a:r>
              <a:rPr dirty="0" err="1"/>
              <a:t>c'est</a:t>
            </a:r>
            <a:r>
              <a:rPr dirty="0"/>
              <a:t> </a:t>
            </a:r>
            <a:r>
              <a:rPr dirty="0" err="1"/>
              <a:t>l'habitude</a:t>
            </a:r>
            <a:r>
              <a:rPr dirty="0"/>
              <a:t> qui </a:t>
            </a:r>
            <a:r>
              <a:rPr dirty="0" err="1"/>
              <a:t>évite</a:t>
            </a:r>
            <a:r>
              <a:rPr dirty="0"/>
              <a:t> la </a:t>
            </a:r>
            <a:r>
              <a:rPr dirty="0" err="1"/>
              <a:t>plupart</a:t>
            </a:r>
            <a:r>
              <a:rPr dirty="0"/>
              <a:t> des bugs du bloc 3. Ne </a:t>
            </a:r>
            <a:r>
              <a:rPr dirty="0" err="1"/>
              <a:t>projetez</a:t>
            </a:r>
            <a:r>
              <a:rPr dirty="0"/>
              <a:t> pas la suite avant </a:t>
            </a:r>
            <a:r>
              <a:rPr dirty="0" err="1"/>
              <a:t>que</a:t>
            </a:r>
            <a:r>
              <a:rPr dirty="0"/>
              <a:t> la salle </a:t>
            </a:r>
            <a:r>
              <a:rPr dirty="0" err="1"/>
              <a:t>ait</a:t>
            </a:r>
            <a:r>
              <a:rPr dirty="0"/>
              <a:t> trouvé z₁.</a:t>
            </a:r>
          </a:p>
          <a:p>
            <a:endParaRPr dirty="0"/>
          </a:p>
          <a:p>
            <a:r>
              <a:rPr dirty="0"/>
              <a:t>INTERACTION : </a:t>
            </a:r>
            <a:r>
              <a:rPr dirty="0" err="1"/>
              <a:t>Calculez</a:t>
            </a:r>
            <a:r>
              <a:rPr dirty="0"/>
              <a:t> z₁ sur papier avant la diapositive </a:t>
            </a:r>
            <a:r>
              <a:rPr dirty="0" err="1"/>
              <a:t>suivante</a:t>
            </a:r>
            <a:r>
              <a:rPr dirty="0"/>
              <a:t>.</a:t>
            </a:r>
          </a:p>
          <a:p>
            <a:endParaRPr dirty="0"/>
          </a:p>
          <a:p>
            <a:r>
              <a:rPr dirty="0"/>
              <a:t>ILLUSTRATION : </a:t>
            </a:r>
            <a:r>
              <a:rPr dirty="0" err="1"/>
              <a:t>Fichier</a:t>
            </a:r>
            <a:r>
              <a:rPr dirty="0"/>
              <a:t> : assets/generated/cours_08_10_fr/f04_reseau_fiche.png (</a:t>
            </a:r>
            <a:r>
              <a:rPr dirty="0" err="1"/>
              <a:t>création</a:t>
            </a:r>
            <a:r>
              <a:rPr dirty="0"/>
              <a:t> </a:t>
            </a:r>
            <a:r>
              <a:rPr dirty="0" err="1"/>
              <a:t>originale</a:t>
            </a:r>
            <a:r>
              <a:rPr dirty="0"/>
              <a:t> du </a:t>
            </a:r>
            <a:r>
              <a:rPr dirty="0" err="1"/>
              <a:t>cours</a:t>
            </a:r>
            <a:r>
              <a:rPr dirty="0"/>
              <a:t> (tools/make_block3_fr_figures.py) : libre </a:t>
            </a:r>
            <a:r>
              <a:rPr dirty="0" err="1"/>
              <a:t>d'usage</a:t>
            </a:r>
            <a:r>
              <a:rPr dirty="0"/>
              <a:t> dans le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activations cachées sont positives : ReLU les laisse passer sans changement. L'erreur la plus fréquente est d'appliquer une sigmoïde ici. Transition : nous savons évaluer ; comment améliorer ?</a:t>
            </a:r>
          </a:p>
          <a:p>
            <a:endParaRPr/>
          </a:p>
          <a:p>
            <a:r>
              <a:t>INTERACTION : Pourquoi ReLU n'a-t-elle rien changé ici ?</a:t>
            </a:r>
          </a:p>
          <a:p>
            <a:endParaRPr/>
          </a:p>
          <a:p>
            <a:r>
              <a:t>ILLUSTRATION : Tableau des calculs, dernière ligne mise en valeur.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Montrer</a:t>
            </a:r>
            <a:r>
              <a:rPr dirty="0"/>
              <a:t> </a:t>
            </a:r>
            <a:r>
              <a:rPr dirty="0" err="1"/>
              <a:t>si</a:t>
            </a:r>
            <a:r>
              <a:rPr dirty="0"/>
              <a:t> </a:t>
            </a:r>
            <a:r>
              <a:rPr dirty="0" err="1"/>
              <a:t>besoin</a:t>
            </a:r>
            <a:r>
              <a:rPr dirty="0"/>
              <a:t> le </a:t>
            </a:r>
            <a:r>
              <a:rPr dirty="0" err="1"/>
              <a:t>schéma</a:t>
            </a:r>
            <a:r>
              <a:rPr dirty="0"/>
              <a:t> </a:t>
            </a:r>
            <a:r>
              <a:rPr dirty="0" err="1"/>
              <a:t>softmax</a:t>
            </a:r>
            <a:r>
              <a:rPr dirty="0"/>
              <a:t> de la bibliothèque (s08_networks/softmax.png). </a:t>
            </a:r>
            <a:r>
              <a:rPr dirty="0" err="1"/>
              <a:t>Annoncer</a:t>
            </a:r>
            <a:r>
              <a:rPr dirty="0"/>
              <a:t> la question qui </a:t>
            </a:r>
            <a:r>
              <a:rPr dirty="0" err="1"/>
              <a:t>viendra</a:t>
            </a:r>
            <a:r>
              <a:rPr dirty="0"/>
              <a:t> plus loin : </a:t>
            </a:r>
            <a:r>
              <a:rPr dirty="0" err="1"/>
              <a:t>pourquoi</a:t>
            </a:r>
            <a:r>
              <a:rPr dirty="0"/>
              <a:t> pas la squared error avec </a:t>
            </a:r>
            <a:r>
              <a:rPr dirty="0" err="1"/>
              <a:t>une</a:t>
            </a:r>
            <a:r>
              <a:rPr dirty="0"/>
              <a:t> </a:t>
            </a:r>
            <a:r>
              <a:rPr dirty="0" err="1"/>
              <a:t>sigmoïde</a:t>
            </a:r>
            <a:r>
              <a:rPr dirty="0"/>
              <a:t> ?</a:t>
            </a:r>
          </a:p>
          <a:p>
            <a:endParaRPr dirty="0"/>
          </a:p>
          <a:p>
            <a:r>
              <a:rPr dirty="0"/>
              <a:t>INTERACTION : Pour le prix </a:t>
            </a:r>
            <a:r>
              <a:rPr dirty="0" err="1"/>
              <a:t>d'une</a:t>
            </a:r>
            <a:r>
              <a:rPr dirty="0"/>
              <a:t> </a:t>
            </a:r>
            <a:r>
              <a:rPr dirty="0" err="1"/>
              <a:t>annonce</a:t>
            </a:r>
            <a:r>
              <a:rPr dirty="0"/>
              <a:t>, quelle sortie et quelle loss ? Pour la </a:t>
            </a:r>
            <a:r>
              <a:rPr dirty="0" err="1"/>
              <a:t>licence</a:t>
            </a:r>
            <a:r>
              <a:rPr dirty="0"/>
              <a:t> ?</a:t>
            </a:r>
          </a:p>
          <a:p>
            <a:endParaRPr dirty="0"/>
          </a:p>
          <a:p>
            <a:r>
              <a:rPr dirty="0"/>
              <a:t>ILLUSTRATION : Tableau ; </a:t>
            </a:r>
            <a:r>
              <a:rPr dirty="0" err="1"/>
              <a:t>en</a:t>
            </a:r>
            <a:r>
              <a:rPr dirty="0"/>
              <a:t> option, s08_networks/softmax.png (bibliothèque du </a:t>
            </a:r>
            <a:r>
              <a:rPr dirty="0" err="1"/>
              <a:t>cours</a:t>
            </a:r>
            <a:r>
              <a:rPr dirty="0"/>
              <a:t>, projection </a:t>
            </a:r>
            <a:r>
              <a:rPr dirty="0" err="1"/>
              <a:t>en</a:t>
            </a:r>
            <a:r>
              <a:rPr dirty="0"/>
              <a:t> </a:t>
            </a:r>
            <a:r>
              <a:rPr dirty="0" err="1"/>
              <a:t>classe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schéma montre des steps successifs, t = 0 à 3, de même longueur horizontale : c'est la mise à jour, pas une comparaison de learning rates. Pour un réseau, il n'existe pas de formule directe du gradient : il faut la chain rule.</a:t>
            </a:r>
          </a:p>
          <a:p>
            <a:endParaRPr/>
          </a:p>
          <a:p>
            <a:r>
              <a:t>INTERACTION : Si la pente est positive, dans quel sens bouge le paramètre ?</a:t>
            </a:r>
          </a:p>
          <a:p>
            <a:endParaRPr/>
          </a:p>
          <a:p>
            <a:r>
              <a:t>ILLUSTRATION : Fichier : assets/diagrams/s09_s10_training/nn_learning_rate.png (bibliothèque du cours, provenance non établie (CATALOGUE.md : publish: no) : projection en classe uniquement)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backpropagation n'a rien de mystérieux : c'est la chain rule, appliquée une seule fois en partant de la fin, avec réutilisation des résultats intermédiaires (de la programmation dynamique). Sans cette réutilisation, il faudrait refaire tout le chemin pour chaque paramètre.</a:t>
            </a:r>
          </a:p>
          <a:p>
            <a:endParaRPr/>
          </a:p>
          <a:p>
            <a:r>
              <a:t>INTERACTION : Pourquoi faut-il garder les valeurs du forward pass ?</a:t>
            </a:r>
          </a:p>
          <a:p>
            <a:endParaRPr/>
          </a:p>
          <a:p>
            <a:r>
              <a:t>ILLUSTRATION : Quatre étapes enchaînées.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Laissez la figure affichée pendant tout le calcul au tableau et montrez l'arête sur laquelle on se trouve. Le schéma comp_graph2.png de la séance 8 termine par une squared error, ce que la séance signale ; cette figure-ci suit la fiche jusqu'à la cross-entropy.</a:t>
            </a:r>
          </a:p>
          <a:p>
            <a:endParaRPr/>
          </a:p>
          <a:p>
            <a:r>
              <a:t>INTERACTION : Au tableau : sur quelle flèche applique-t-on la dérivée de ReLU ?</a:t>
            </a:r>
          </a:p>
          <a:p>
            <a:endParaRPr/>
          </a:p>
          <a:p>
            <a:r>
              <a:t>ILLUSTRATION : Fichier : assets/generated/cours_08_10_fr/f05_graphe_calcul.png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sommet intellectuel de la séance : dérivez lentement et laissez la simplification atterrir. Puis rattachez à la séance 5 : c'est la vraie raison pour laquelle on n'utilise pas la squared error en classification.</a:t>
            </a:r>
          </a:p>
          <a:p>
            <a:endParaRPr/>
          </a:p>
          <a:p>
            <a:r>
              <a:t>INTERACTION : Pourquoi cette paire, sigmoïde et cross-entropy, n'est-elle pas un hasard ?</a:t>
            </a:r>
          </a:p>
          <a:p>
            <a:endParaRPr/>
          </a:p>
          <a:p>
            <a:r>
              <a:t>ILLUSTRATION : Au tableau : la dérivation en deux lignes.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calculer : a = 0,01 et y = 1. Squared error : (0,01 - 1) × 0,01 × 0,99 ≈ -0,0098. Cross-entropy : 0,01 - 1 = -0,99. Cent fois plus de correction là où le modèle se trompe le plus. La séance 5 l'avait affirmé ; la séance 8 le démontre.</a:t>
            </a:r>
          </a:p>
          <a:p>
            <a:endParaRPr/>
          </a:p>
          <a:p>
            <a:r>
              <a:t>INTERACTION : Calculez les deux gradients pour a = 0,01 et y = 1.</a:t>
            </a:r>
          </a:p>
          <a:p>
            <a:endParaRPr/>
          </a:p>
          <a:p>
            <a:r>
              <a:t>ILLUSTRATION : Deux panneaux comparés.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Demandez pourquoi une colonne de ∂L/∂W₁ est nulle avant d'expliquer : quelqu'un trouve en général. Un poids dont l'entrée valait zéro n'a eu aucune influence. La dernière ligne vient du TD 2 : un step de learning rate 0,1 fait passer la loss de 0,644397 à 0,526785.</a:t>
            </a:r>
          </a:p>
          <a:p>
            <a:endParaRPr/>
          </a:p>
          <a:p>
            <a:r>
              <a:t>INTERACTION : Pourquoi une colonne de ∂L/∂W₁ est-elle exactement nulle ?</a:t>
            </a:r>
          </a:p>
          <a:p>
            <a:endParaRPr/>
          </a:p>
          <a:p>
            <a:r>
              <a:t>ILLUSTRATION : Tableau ; ligne de la colonne nulle mise en valeur.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C'est</a:t>
            </a:r>
            <a:r>
              <a:rPr dirty="0"/>
              <a:t> </a:t>
            </a:r>
            <a:r>
              <a:rPr dirty="0" err="1"/>
              <a:t>l'arbitre</a:t>
            </a:r>
            <a:r>
              <a:rPr dirty="0"/>
              <a:t> de tout gradient </a:t>
            </a:r>
            <a:r>
              <a:rPr dirty="0" err="1"/>
              <a:t>dérivé</a:t>
            </a:r>
            <a:r>
              <a:rPr dirty="0"/>
              <a:t> à la main. Au TD 2, </a:t>
            </a:r>
            <a:r>
              <a:rPr dirty="0" err="1"/>
              <a:t>l'erreur</a:t>
            </a:r>
            <a:r>
              <a:rPr dirty="0"/>
              <a:t> </a:t>
            </a:r>
            <a:r>
              <a:rPr dirty="0" err="1"/>
              <a:t>tracée</a:t>
            </a:r>
            <a:r>
              <a:rPr dirty="0"/>
              <a:t> </a:t>
            </a:r>
            <a:r>
              <a:rPr dirty="0" err="1"/>
              <a:t>en</a:t>
            </a:r>
            <a:r>
              <a:rPr dirty="0"/>
              <a:t> </a:t>
            </a:r>
            <a:r>
              <a:rPr dirty="0" err="1"/>
              <a:t>fonction</a:t>
            </a:r>
            <a:r>
              <a:rPr dirty="0"/>
              <a:t> de ε </a:t>
            </a:r>
            <a:r>
              <a:rPr dirty="0" err="1"/>
              <a:t>dessine</a:t>
            </a:r>
            <a:r>
              <a:rPr dirty="0"/>
              <a:t> un U : </a:t>
            </a:r>
            <a:r>
              <a:rPr dirty="0" err="1"/>
              <a:t>troncature</a:t>
            </a:r>
            <a:r>
              <a:rPr dirty="0"/>
              <a:t> à droite, annulation </a:t>
            </a:r>
            <a:r>
              <a:rPr dirty="0" err="1"/>
              <a:t>catastrophique</a:t>
            </a:r>
            <a:r>
              <a:rPr dirty="0"/>
              <a:t> à gauche. </a:t>
            </a:r>
            <a:r>
              <a:rPr dirty="0" err="1"/>
              <a:t>Autre</a:t>
            </a:r>
            <a:r>
              <a:rPr dirty="0"/>
              <a:t> </a:t>
            </a:r>
            <a:r>
              <a:rPr dirty="0" err="1"/>
              <a:t>subtilité</a:t>
            </a:r>
            <a:r>
              <a:rPr dirty="0"/>
              <a:t> </a:t>
            </a:r>
            <a:r>
              <a:rPr dirty="0" err="1"/>
              <a:t>mesurée</a:t>
            </a:r>
            <a:r>
              <a:rPr dirty="0"/>
              <a:t> au TD 2 : le gradient check </a:t>
            </a:r>
            <a:r>
              <a:rPr dirty="0" err="1"/>
              <a:t>échoue</a:t>
            </a:r>
            <a:r>
              <a:rPr dirty="0"/>
              <a:t> au </a:t>
            </a:r>
            <a:r>
              <a:rPr dirty="0" err="1"/>
              <a:t>coude</a:t>
            </a:r>
            <a:r>
              <a:rPr dirty="0"/>
              <a:t> de </a:t>
            </a:r>
            <a:r>
              <a:rPr dirty="0" err="1"/>
              <a:t>ReLU</a:t>
            </a:r>
            <a:r>
              <a:rPr dirty="0"/>
              <a:t> (z = 0), </a:t>
            </a:r>
            <a:r>
              <a:rPr dirty="0" err="1"/>
              <a:t>où</a:t>
            </a:r>
            <a:r>
              <a:rPr dirty="0"/>
              <a:t> la </a:t>
            </a:r>
            <a:r>
              <a:rPr dirty="0" err="1"/>
              <a:t>dérivée</a:t>
            </a:r>
            <a:r>
              <a:rPr dirty="0"/>
              <a:t> </a:t>
            </a:r>
            <a:r>
              <a:rPr dirty="0" err="1"/>
              <a:t>n'existe</a:t>
            </a:r>
            <a:r>
              <a:rPr dirty="0"/>
              <a:t> pas.</a:t>
            </a:r>
          </a:p>
          <a:p>
            <a:endParaRPr dirty="0"/>
          </a:p>
          <a:p>
            <a:r>
              <a:rPr dirty="0"/>
              <a:t>INTERACTION : </a:t>
            </a:r>
            <a:r>
              <a:rPr dirty="0" err="1"/>
              <a:t>Pourquoi</a:t>
            </a:r>
            <a:r>
              <a:rPr dirty="0"/>
              <a:t> ε = 10⁻¹² </a:t>
            </a:r>
            <a:r>
              <a:rPr dirty="0" err="1"/>
              <a:t>donne</a:t>
            </a:r>
            <a:r>
              <a:rPr dirty="0"/>
              <a:t>-t-il un </a:t>
            </a:r>
            <a:r>
              <a:rPr dirty="0" err="1"/>
              <a:t>résultat</a:t>
            </a:r>
            <a:r>
              <a:rPr dirty="0"/>
              <a:t> </a:t>
            </a:r>
            <a:r>
              <a:rPr dirty="0" err="1"/>
              <a:t>pire</a:t>
            </a:r>
            <a:r>
              <a:rPr dirty="0"/>
              <a:t> </a:t>
            </a:r>
            <a:r>
              <a:rPr dirty="0" err="1"/>
              <a:t>que</a:t>
            </a:r>
            <a:r>
              <a:rPr dirty="0"/>
              <a:t> ε = 10⁻⁶ ?</a:t>
            </a:r>
          </a:p>
          <a:p>
            <a:endParaRPr dirty="0"/>
          </a:p>
          <a:p>
            <a:r>
              <a:rPr dirty="0"/>
              <a:t>ILLUSTRATION : </a:t>
            </a:r>
            <a:r>
              <a:rPr dirty="0" err="1"/>
              <a:t>Fichier</a:t>
            </a:r>
            <a:r>
              <a:rPr dirty="0"/>
              <a:t> : assets/diagrams/s08_networks/num_grad.png (bibliothèque du </a:t>
            </a:r>
            <a:r>
              <a:rPr dirty="0" err="1"/>
              <a:t>cours</a:t>
            </a:r>
            <a:r>
              <a:rPr dirty="0"/>
              <a:t>, provenance non </a:t>
            </a:r>
            <a:r>
              <a:rPr dirty="0" err="1"/>
              <a:t>établie</a:t>
            </a:r>
            <a:r>
              <a:rPr dirty="0"/>
              <a:t> (CATALOGUE.md : publish: no) : projection </a:t>
            </a:r>
            <a:r>
              <a:rPr dirty="0" err="1"/>
              <a:t>en</a:t>
            </a:r>
            <a:r>
              <a:rPr dirty="0"/>
              <a:t> </a:t>
            </a:r>
            <a:r>
              <a:rPr dirty="0" err="1"/>
              <a:t>classe</a:t>
            </a:r>
            <a:r>
              <a:rPr dirty="0"/>
              <a:t> </a:t>
            </a:r>
            <a:r>
              <a:rPr dirty="0" err="1"/>
              <a:t>uniquement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Démonstration possible (30 secondes) : mettre les poids à zéro et relancer ; la loss reste bloquée à log 2 ≈ 0,6931 (TD 2, exercice 2.4). Le réseau NumPy fait une vingtaine de lignes, sans bibliothèque de deep learning.</a:t>
            </a:r>
          </a:p>
          <a:p>
            <a:endParaRPr/>
          </a:p>
          <a:p>
            <a:r>
              <a:t>INTERACTION : Que se passe-t-il si tous les poids démarrent à zéro ?</a:t>
            </a:r>
          </a:p>
          <a:p>
            <a:endParaRPr/>
          </a:p>
          <a:p>
            <a:r>
              <a:t>ILLUSTRATION : Trois points ; en option, la courbe de loss de XOR (notebook S8, §5).</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choix de </a:t>
            </a:r>
            <a:r>
              <a:rPr dirty="0" err="1"/>
              <a:t>PyTorch</a:t>
            </a:r>
            <a:r>
              <a:rPr dirty="0"/>
              <a:t> est </a:t>
            </a:r>
            <a:r>
              <a:rPr dirty="0" err="1"/>
              <a:t>pédagogique</a:t>
            </a:r>
            <a:r>
              <a:rPr dirty="0"/>
              <a:t> : </a:t>
            </a:r>
            <a:r>
              <a:rPr dirty="0" err="1"/>
              <a:t>chaque</a:t>
            </a:r>
            <a:r>
              <a:rPr dirty="0"/>
              <a:t> étape </a:t>
            </a:r>
            <a:r>
              <a:rPr dirty="0" err="1"/>
              <a:t>reste</a:t>
            </a:r>
            <a:r>
              <a:rPr dirty="0"/>
              <a:t> visible, on </a:t>
            </a:r>
            <a:r>
              <a:rPr dirty="0" err="1"/>
              <a:t>peut</a:t>
            </a:r>
            <a:r>
              <a:rPr dirty="0"/>
              <a:t> pointer du </a:t>
            </a:r>
            <a:r>
              <a:rPr dirty="0" err="1"/>
              <a:t>doigt</a:t>
            </a:r>
            <a:r>
              <a:rPr dirty="0"/>
              <a:t> les quatre </a:t>
            </a:r>
            <a:r>
              <a:rPr dirty="0" err="1"/>
              <a:t>gestes</a:t>
            </a:r>
            <a:r>
              <a:rPr dirty="0"/>
              <a:t> de </a:t>
            </a:r>
            <a:r>
              <a:rPr dirty="0" err="1"/>
              <a:t>l'entraînement</a:t>
            </a:r>
            <a:r>
              <a:rPr dirty="0"/>
              <a:t>. </a:t>
            </a:r>
            <a:r>
              <a:rPr dirty="0" err="1"/>
              <a:t>Keras</a:t>
            </a:r>
            <a:r>
              <a:rPr dirty="0"/>
              <a:t> 3 et JAX </a:t>
            </a:r>
            <a:r>
              <a:rPr dirty="0" err="1"/>
              <a:t>sont</a:t>
            </a:r>
            <a:r>
              <a:rPr dirty="0"/>
              <a:t> </a:t>
            </a:r>
            <a:r>
              <a:rPr dirty="0" err="1"/>
              <a:t>d'excellents</a:t>
            </a:r>
            <a:r>
              <a:rPr dirty="0"/>
              <a:t> </a:t>
            </a:r>
            <a:r>
              <a:rPr dirty="0" err="1"/>
              <a:t>outils</a:t>
            </a:r>
            <a:r>
              <a:rPr dirty="0"/>
              <a:t> ; on </a:t>
            </a:r>
            <a:r>
              <a:rPr dirty="0" err="1"/>
              <a:t>choisit</a:t>
            </a:r>
            <a:r>
              <a:rPr dirty="0"/>
              <a:t> </a:t>
            </a:r>
            <a:r>
              <a:rPr dirty="0" err="1"/>
              <a:t>ici</a:t>
            </a:r>
            <a:r>
              <a:rPr dirty="0"/>
              <a:t> la transparence, pas la </a:t>
            </a:r>
            <a:r>
              <a:rPr dirty="0" err="1"/>
              <a:t>supériorité</a:t>
            </a:r>
            <a:r>
              <a:rPr dirty="0"/>
              <a:t>.</a:t>
            </a:r>
          </a:p>
          <a:p>
            <a:endParaRPr dirty="0"/>
          </a:p>
          <a:p>
            <a:r>
              <a:rPr dirty="0"/>
              <a:t>INTERACTION : Quelle </a:t>
            </a:r>
            <a:r>
              <a:rPr dirty="0" err="1"/>
              <a:t>ligne</a:t>
            </a:r>
            <a:r>
              <a:rPr dirty="0"/>
              <a:t> </a:t>
            </a:r>
            <a:r>
              <a:rPr dirty="0" err="1"/>
              <a:t>n'a</a:t>
            </a:r>
            <a:r>
              <a:rPr dirty="0"/>
              <a:t> pas </a:t>
            </a:r>
            <a:r>
              <a:rPr dirty="0" err="1"/>
              <a:t>d'équivalent</a:t>
            </a:r>
            <a:r>
              <a:rPr dirty="0"/>
              <a:t> dans </a:t>
            </a:r>
            <a:r>
              <a:rPr dirty="0" err="1"/>
              <a:t>votre</a:t>
            </a:r>
            <a:r>
              <a:rPr dirty="0"/>
              <a:t> code NumPy, et </a:t>
            </a:r>
            <a:r>
              <a:rPr dirty="0" err="1"/>
              <a:t>pourquoi</a:t>
            </a:r>
            <a:r>
              <a:rPr dirty="0"/>
              <a:t> ?</a:t>
            </a:r>
          </a:p>
          <a:p>
            <a:endParaRPr dirty="0"/>
          </a:p>
          <a:p>
            <a:r>
              <a:rPr dirty="0"/>
              <a:t>ILLUSTRATION : Tableau de </a:t>
            </a:r>
            <a:r>
              <a:rPr dirty="0" err="1"/>
              <a:t>correspondance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moment émotionnel du bloc : ne le bâclez pas. Demandez « donc, que fait loss.backward() ? » et attendez qu'un étudiant réponde « ce qu'on a fait à la main ». La séance 8 et le TD 2 le vérifient en float64 : losses et gradients identiques au dernier chiffre.</a:t>
            </a:r>
          </a:p>
          <a:p>
            <a:endParaRPr/>
          </a:p>
          <a:p>
            <a:r>
              <a:t>INTERACTION : Donc, que fait loss.backward() ?</a:t>
            </a:r>
          </a:p>
          <a:p>
            <a:endParaRPr/>
          </a:p>
          <a:p>
            <a:r>
              <a:t>ILLUSTRATION : Un chiffre en grand : l'écart nul.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bugs sans message d'erreur. Sans zero_grad, la loss n'explose pas : la séance 8 (§6) et le TD 2 mesurent la même stagnation à 0,4799. Le message est plus fort qu'une explosion : un bug silencieux ressemble à un modèle médiocre. L'accumulation sert à sommer les gradients de plusieurs batches avant une mise à jour.</a:t>
            </a:r>
          </a:p>
          <a:p>
            <a:endParaRPr/>
          </a:p>
          <a:p>
            <a:r>
              <a:t>INTERACTION : Pourquoi PyTorch accumule-t-il les gradients au lieu de les remplacer ?</a:t>
            </a:r>
          </a:p>
          <a:p>
            <a:endParaRPr/>
          </a:p>
          <a:p>
            <a:r>
              <a:t>ILLUSTRATION : Tableau (mesures du TD 2).</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Faites </a:t>
            </a:r>
            <a:r>
              <a:rPr dirty="0" err="1"/>
              <a:t>écrire</a:t>
            </a:r>
            <a:r>
              <a:rPr dirty="0"/>
              <a:t> les cinq </a:t>
            </a:r>
            <a:r>
              <a:rPr dirty="0" err="1"/>
              <a:t>prédictions</a:t>
            </a:r>
            <a:r>
              <a:rPr dirty="0"/>
              <a:t> sur papier avant la suite. Ce </a:t>
            </a:r>
            <a:r>
              <a:rPr dirty="0" err="1"/>
              <a:t>sont</a:t>
            </a:r>
            <a:r>
              <a:rPr dirty="0"/>
              <a:t> les </a:t>
            </a:r>
            <a:r>
              <a:rPr dirty="0" err="1"/>
              <a:t>prédictions</a:t>
            </a:r>
            <a:r>
              <a:rPr dirty="0"/>
              <a:t> </a:t>
            </a:r>
            <a:r>
              <a:rPr dirty="0" err="1"/>
              <a:t>écrites</a:t>
            </a:r>
            <a:r>
              <a:rPr dirty="0"/>
              <a:t> qui </a:t>
            </a:r>
            <a:r>
              <a:rPr dirty="0" err="1"/>
              <a:t>rendent</a:t>
            </a:r>
            <a:r>
              <a:rPr dirty="0"/>
              <a:t> le </a:t>
            </a:r>
            <a:r>
              <a:rPr dirty="0" err="1"/>
              <a:t>résultat</a:t>
            </a:r>
            <a:r>
              <a:rPr dirty="0"/>
              <a:t> </a:t>
            </a:r>
            <a:r>
              <a:rPr dirty="0" err="1"/>
              <a:t>mémorable</a:t>
            </a:r>
            <a:r>
              <a:rPr dirty="0"/>
              <a:t>.</a:t>
            </a:r>
          </a:p>
          <a:p>
            <a:endParaRPr dirty="0"/>
          </a:p>
          <a:p>
            <a:r>
              <a:rPr dirty="0"/>
              <a:t>INTERACTION : Pour </a:t>
            </a:r>
            <a:r>
              <a:rPr dirty="0" err="1"/>
              <a:t>chaque</a:t>
            </a:r>
            <a:r>
              <a:rPr dirty="0"/>
              <a:t> learning rate, </a:t>
            </a:r>
            <a:r>
              <a:rPr dirty="0" err="1"/>
              <a:t>une</a:t>
            </a:r>
            <a:r>
              <a:rPr dirty="0"/>
              <a:t> </a:t>
            </a:r>
            <a:r>
              <a:rPr dirty="0" err="1"/>
              <a:t>prédiction</a:t>
            </a:r>
            <a:r>
              <a:rPr dirty="0"/>
              <a:t> </a:t>
            </a:r>
            <a:r>
              <a:rPr dirty="0" err="1"/>
              <a:t>écrite</a:t>
            </a:r>
            <a:r>
              <a:rPr dirty="0"/>
              <a:t>.</a:t>
            </a:r>
          </a:p>
          <a:p>
            <a:endParaRPr dirty="0"/>
          </a:p>
          <a:p>
            <a:r>
              <a:rPr dirty="0"/>
              <a:t>ILLUSTRATION : </a:t>
            </a:r>
            <a:r>
              <a:rPr dirty="0" err="1"/>
              <a:t>Liste</a:t>
            </a:r>
            <a:r>
              <a:rPr dirty="0"/>
              <a:t> de </a:t>
            </a:r>
            <a:r>
              <a:rPr dirty="0" err="1"/>
              <a:t>prédictions</a:t>
            </a:r>
            <a:r>
              <a:rPr dirty="0"/>
              <a:t> à </a:t>
            </a:r>
            <a:r>
              <a:rPr dirty="0" err="1"/>
              <a:t>compléter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Confrontez les prédictions à la figure. Le cas intéressant est 5 : la courbe descend proprement vers un mauvais plateau. Sans compter les unités vivantes, on conclurait à l'underfitting et on ajouterait de la capacité, ce qui ne servirait à rien.</a:t>
            </a:r>
          </a:p>
          <a:p>
            <a:endParaRPr/>
          </a:p>
          <a:p>
            <a:r>
              <a:t>INTERACTION : Qui avait prédit « converge » pour η = 5 ? Qu'est-ce qui vous a trompés ?</a:t>
            </a:r>
          </a:p>
          <a:p>
            <a:endParaRPr/>
          </a:p>
          <a:p>
            <a:r>
              <a:t>ILLUSTRATION : Fichier : assets/generated/cours_08_10_fr/f06_taux_apprentissage.png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quatrième cas reviendra en partie 2 : la courbe qui ment. Retenir la mesure qui tranche : compter les unités vivantes.</a:t>
            </a:r>
          </a:p>
          <a:p>
            <a:endParaRPr/>
          </a:p>
          <a:p>
            <a:r>
              <a:t>INTERACTION : Face à une loss finale de 0,48, quelles corrections seraient tentantes et inutiles ?</a:t>
            </a:r>
          </a:p>
          <a:p>
            <a:endParaRPr/>
          </a:p>
          <a:p>
            <a:r>
              <a:t>ILLUSTRATION : Phrase seule sur fond sombre.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lire une ligne par un étudiant différent, et demandez à chacun un exemple chiffré de la partie.</a:t>
            </a:r>
          </a:p>
          <a:p>
            <a:endParaRPr/>
          </a:p>
          <a:p>
            <a:r>
              <a:t>INTERACTION : Une ligne, un étudiant, un exemple chiffré.</a:t>
            </a:r>
          </a:p>
          <a:p>
            <a:endParaRPr/>
          </a:p>
          <a:p>
            <a:r>
              <a:t>ILLUSTRATION : Liste de synthèse.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Réponses : 1, W₂(W₁x + b₁) + b₂ = (W₂W₁)x + (W₂b₁ + b₂). 2, ∂L/∂a₂ = (a₂ - y)/[a₂(1 - a₂)] multiplié par a₂(1 - a₂). 3, celle qui multiplie x₂, car x₂ = 0 pour cet exemple. 4, compter les unités vivantes ; le remède est de baisser le learning rate. Items discriminants : 1 et 2, de courtes dérivations plutôt que du rappel.</a:t>
            </a:r>
          </a:p>
          <a:p>
            <a:endParaRPr/>
          </a:p>
          <a:p>
            <a:r>
              <a:t>INTERACTION : Quiz individuel, correction collective.</a:t>
            </a:r>
          </a:p>
          <a:p>
            <a:endParaRPr/>
          </a:p>
          <a:p>
            <a:r>
              <a:t>ILLUSTRATION : Questions seules.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prépare la partie 2. Ne pas y répondre maintenant.</a:t>
            </a:r>
          </a:p>
          <a:p>
            <a:endParaRPr/>
          </a:p>
          <a:p>
            <a:r>
              <a:t>INTERACTION : Question à méditer pendant la pause.</a:t>
            </a:r>
          </a:p>
          <a:p>
            <a:endParaRPr/>
          </a:p>
          <a:p>
            <a:r>
              <a:t>ILLUSTRATION : Phrase seule sur fond sombre.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 de quatre points à 12 626 annonces.</a:t>
            </a:r>
          </a:p>
          <a:p>
            <a:endParaRPr/>
          </a:p>
          <a:p>
            <a:r>
              <a:t>INTERACTION : Aucune : transition.</a:t>
            </a:r>
          </a:p>
          <a:p>
            <a:endParaRPr/>
          </a:p>
          <a:p>
            <a:r>
              <a:t>ILLUSTRATION : Séparateur de partie.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 actif : faites dire pourquoi on groupe par hôte. Un même hôte a des annonces très semblables ; les séparer entre training set et validation set gonfle les scores.</a:t>
            </a:r>
          </a:p>
          <a:p>
            <a:endParaRPr/>
          </a:p>
          <a:p>
            <a:r>
              <a:t>INTERACTION : Pourquoi grouper les folds par hôte ?</a:t>
            </a:r>
          </a:p>
          <a:p>
            <a:endParaRPr/>
          </a:p>
          <a:p>
            <a:r>
              <a:t>ILLUSTRATION : Tableau de rappel.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illustrations sur un seul fold sont des tendances, pas des preuves : c'est la loterie de la séance 6. Une différence d'AUC inférieure à 0,01 sur un fold est du bruit ; les résultats qui comptent portent sur cinq folds ou plusieurs seeds.</a:t>
            </a:r>
          </a:p>
          <a:p>
            <a:endParaRPr/>
          </a:p>
          <a:p>
            <a:r>
              <a:t>INTERACTION : Pourquoi 77 features et pas 14 ?</a:t>
            </a:r>
          </a:p>
          <a:p>
            <a:endParaRPr/>
          </a:p>
          <a:p>
            <a:r>
              <a:t>ILLUSTRATION : Au tableau : le schéma colonnes d'origine vers features du modèle.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Une </a:t>
            </a:r>
            <a:r>
              <a:rPr dirty="0" err="1"/>
              <a:t>conséquence</a:t>
            </a:r>
            <a:r>
              <a:rPr dirty="0"/>
              <a:t> du </a:t>
            </a:r>
            <a:r>
              <a:rPr dirty="0" err="1"/>
              <a:t>calcul</a:t>
            </a:r>
            <a:r>
              <a:rPr dirty="0"/>
              <a:t>, pas </a:t>
            </a:r>
            <a:r>
              <a:rPr dirty="0" err="1"/>
              <a:t>une</a:t>
            </a:r>
            <a:r>
              <a:rPr dirty="0"/>
              <a:t> </a:t>
            </a:r>
            <a:r>
              <a:rPr dirty="0" err="1"/>
              <a:t>règle</a:t>
            </a:r>
            <a:r>
              <a:rPr dirty="0"/>
              <a:t> </a:t>
            </a:r>
            <a:r>
              <a:rPr dirty="0" err="1"/>
              <a:t>d'hygiène</a:t>
            </a:r>
            <a:r>
              <a:rPr dirty="0"/>
              <a:t> : pour un </a:t>
            </a:r>
            <a:r>
              <a:rPr dirty="0" err="1"/>
              <a:t>neurone</a:t>
            </a:r>
            <a:r>
              <a:rPr dirty="0"/>
              <a:t> </a:t>
            </a:r>
            <a:r>
              <a:rPr dirty="0" err="1"/>
              <a:t>sigmoïde</a:t>
            </a:r>
            <a:r>
              <a:rPr dirty="0"/>
              <a:t> à </a:t>
            </a:r>
            <a:r>
              <a:rPr dirty="0" err="1"/>
              <a:t>poids</a:t>
            </a:r>
            <a:r>
              <a:rPr dirty="0"/>
              <a:t> </a:t>
            </a:r>
            <a:r>
              <a:rPr dirty="0" err="1"/>
              <a:t>nuls</a:t>
            </a:r>
            <a:r>
              <a:rPr dirty="0"/>
              <a:t>, la </a:t>
            </a:r>
            <a:r>
              <a:rPr dirty="0" err="1"/>
              <a:t>courbure</a:t>
            </a:r>
            <a:r>
              <a:rPr dirty="0"/>
              <a:t> le long de wⱼ </a:t>
            </a:r>
            <a:r>
              <a:rPr dirty="0" err="1"/>
              <a:t>vaut</a:t>
            </a:r>
            <a:r>
              <a:rPr dirty="0"/>
              <a:t> 0,25·moyenne(xⱼ²), et le learning rate stable 2 </a:t>
            </a:r>
            <a:r>
              <a:rPr dirty="0" err="1"/>
              <a:t>divisé</a:t>
            </a:r>
            <a:r>
              <a:rPr dirty="0"/>
              <a:t> par </a:t>
            </a:r>
            <a:r>
              <a:rPr dirty="0" err="1"/>
              <a:t>cette</a:t>
            </a:r>
            <a:r>
              <a:rPr dirty="0"/>
              <a:t> </a:t>
            </a:r>
            <a:r>
              <a:rPr dirty="0" err="1"/>
              <a:t>courbure</a:t>
            </a:r>
            <a:r>
              <a:rPr dirty="0"/>
              <a:t>. </a:t>
            </a:r>
            <a:r>
              <a:rPr dirty="0" err="1"/>
              <a:t>Même</a:t>
            </a:r>
            <a:r>
              <a:rPr dirty="0"/>
              <a:t> </a:t>
            </a:r>
            <a:r>
              <a:rPr dirty="0" err="1"/>
              <a:t>mécanisme</a:t>
            </a:r>
            <a:r>
              <a:rPr dirty="0"/>
              <a:t> </a:t>
            </a:r>
            <a:r>
              <a:rPr dirty="0" err="1"/>
              <a:t>que</a:t>
            </a:r>
            <a:r>
              <a:rPr dirty="0"/>
              <a:t> le +0,24 </a:t>
            </a:r>
            <a:r>
              <a:rPr dirty="0" err="1"/>
              <a:t>mesuré</a:t>
            </a:r>
            <a:r>
              <a:rPr dirty="0"/>
              <a:t> pour KNN </a:t>
            </a:r>
            <a:r>
              <a:rPr dirty="0" err="1"/>
              <a:t>en</a:t>
            </a:r>
            <a:r>
              <a:rPr dirty="0"/>
              <a:t> séance 3. La séance 9 montre la version anglaise de </a:t>
            </a:r>
            <a:r>
              <a:rPr dirty="0" err="1"/>
              <a:t>cette</a:t>
            </a:r>
            <a:r>
              <a:rPr dirty="0"/>
              <a:t> figure (scaling_descent.png).</a:t>
            </a:r>
          </a:p>
          <a:p>
            <a:endParaRPr dirty="0"/>
          </a:p>
          <a:p>
            <a:r>
              <a:rPr dirty="0"/>
              <a:t>INTERACTION : Un decision tree </a:t>
            </a:r>
            <a:r>
              <a:rPr dirty="0" err="1"/>
              <a:t>aurait</a:t>
            </a:r>
            <a:r>
              <a:rPr dirty="0"/>
              <a:t>-il </a:t>
            </a:r>
            <a:r>
              <a:rPr dirty="0" err="1"/>
              <a:t>besoin</a:t>
            </a:r>
            <a:r>
              <a:rPr dirty="0"/>
              <a:t> de </a:t>
            </a:r>
            <a:r>
              <a:rPr dirty="0" err="1"/>
              <a:t>ce</a:t>
            </a:r>
            <a:r>
              <a:rPr dirty="0"/>
              <a:t> scaling ?</a:t>
            </a:r>
          </a:p>
          <a:p>
            <a:endParaRPr dirty="0"/>
          </a:p>
          <a:p>
            <a:r>
              <a:rPr dirty="0"/>
              <a:t>ILLUSTRATION : </a:t>
            </a:r>
            <a:r>
              <a:rPr dirty="0" err="1"/>
              <a:t>Fichier</a:t>
            </a:r>
            <a:r>
              <a:rPr dirty="0"/>
              <a:t> : assets/generated/cours_08_10_fr/f07_descente_echelle.png (</a:t>
            </a:r>
            <a:r>
              <a:rPr dirty="0" err="1"/>
              <a:t>création</a:t>
            </a:r>
            <a:r>
              <a:rPr dirty="0"/>
              <a:t> </a:t>
            </a:r>
            <a:r>
              <a:rPr dirty="0" err="1"/>
              <a:t>originale</a:t>
            </a:r>
            <a:r>
              <a:rPr dirty="0"/>
              <a:t> du </a:t>
            </a:r>
            <a:r>
              <a:rPr dirty="0" err="1"/>
              <a:t>cours</a:t>
            </a:r>
            <a:r>
              <a:rPr dirty="0"/>
              <a:t> (tools/make_block3_fr_figures.py) : libre </a:t>
            </a:r>
            <a:r>
              <a:rPr dirty="0" err="1"/>
              <a:t>d'usage</a:t>
            </a:r>
            <a:r>
              <a:rPr dirty="0"/>
              <a:t> dans le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détails piègent tout le monde : le type (float32 par défaut dans PyTorch, float64 dans NumPy) et la forme de la cible (une colonne). Le TD 3 (exercice 3.1) fait voir la diffusion (n, 1) - (n,) = (n, n).</a:t>
            </a:r>
          </a:p>
          <a:p>
            <a:endParaRPr/>
          </a:p>
          <a:p>
            <a:r>
              <a:t>INTERACTION : Pourquoi TabularDataset range-t-il la cible en colonne ?</a:t>
            </a:r>
          </a:p>
          <a:p>
            <a:endParaRPr/>
          </a:p>
          <a:p>
            <a:r>
              <a:t>ILLUSTRATION : Tableau des briques.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À nombre d'epochs égal, des batches de 1 024 font seize fois moins de mises à jour que des batches de 64. Comparer deux batch sizes à 20 epochs compare aussi deux nombres de steps : c'est la clé du résultat sur le batch et le learning rate.</a:t>
            </a:r>
          </a:p>
          <a:p>
            <a:endParaRPr/>
          </a:p>
          <a:p>
            <a:r>
              <a:t>INTERACTION : Combien de mises à jour en 20 epochs avec des batches de 1 024 ?</a:t>
            </a:r>
          </a:p>
          <a:p>
            <a:endParaRPr/>
          </a:p>
          <a:p>
            <a:r>
              <a:t>ILLUSTRATION : Tableau.</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même boucle qu'en séance 8. Le TD 3 la fait écrire à la main, puis vérifier qu'elle retrouve exactement la courbe de la séance 9 et coïncide avec fit() de src/training.py. Trois erreurs fréquentes : cumuler perte au lieu de perte.item(), oublier de pondérer par la batch size, oublier eval().</a:t>
            </a:r>
          </a:p>
          <a:p>
            <a:endParaRPr/>
          </a:p>
          <a:p>
            <a:r>
              <a:t>INTERACTION : Qu'est-ce qui change si l'on oublie modele.eval() dans un réseau sans dropout ni batch norm ?</a:t>
            </a:r>
          </a:p>
          <a:p>
            <a:endParaRPr/>
          </a:p>
          <a:p>
            <a:r>
              <a:t>ILLUSTRATION : Code projeté ; c'est la seule diapositive de code du cours.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figure est recalculée à l'identique de la séance 9 (même seed, même fold, même code) ; le TD 3 fait retrouver ces valeurs. La zone dorée annonce l'early stopping de la partie 3 : patience de 5 epochs, puis restauration des meilleurs poids.</a:t>
            </a:r>
          </a:p>
          <a:p>
            <a:endParaRPr/>
          </a:p>
          <a:p>
            <a:r>
              <a:t>INTERACTION : Qu'auriez-vous rapporté en n'affichant que la loss de l'epoch 25 ?</a:t>
            </a:r>
          </a:p>
          <a:p>
            <a:endParaRPr/>
          </a:p>
          <a:p>
            <a:r>
              <a:t>ILLUSTRATION : Fichier : assets/generated/cours_08_10_fr/f10_premiere_courbe.png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Figure </a:t>
            </a:r>
            <a:r>
              <a:rPr dirty="0" err="1"/>
              <a:t>analytique</a:t>
            </a:r>
            <a:r>
              <a:rPr dirty="0"/>
              <a:t> : </a:t>
            </a:r>
            <a:r>
              <a:rPr dirty="0" err="1"/>
              <a:t>une</a:t>
            </a:r>
            <a:r>
              <a:rPr dirty="0"/>
              <a:t> cuvette cent </a:t>
            </a:r>
            <a:r>
              <a:rPr dirty="0" err="1"/>
              <a:t>fois</a:t>
            </a:r>
            <a:r>
              <a:rPr dirty="0"/>
              <a:t> plus </a:t>
            </a:r>
            <a:r>
              <a:rPr dirty="0" err="1"/>
              <a:t>raide</a:t>
            </a:r>
            <a:r>
              <a:rPr dirty="0"/>
              <a:t> dans </a:t>
            </a:r>
            <a:r>
              <a:rPr dirty="0" err="1"/>
              <a:t>une</a:t>
            </a:r>
            <a:r>
              <a:rPr dirty="0"/>
              <a:t> direction. Le momentum </a:t>
            </a:r>
            <a:r>
              <a:rPr dirty="0" err="1"/>
              <a:t>reçoit</a:t>
            </a:r>
            <a:r>
              <a:rPr dirty="0"/>
              <a:t> </a:t>
            </a:r>
            <a:r>
              <a:rPr dirty="0" err="1"/>
              <a:t>exactement</a:t>
            </a:r>
            <a:r>
              <a:rPr dirty="0"/>
              <a:t> le </a:t>
            </a:r>
            <a:r>
              <a:rPr dirty="0" err="1"/>
              <a:t>même</a:t>
            </a:r>
            <a:r>
              <a:rPr dirty="0"/>
              <a:t> learning rate </a:t>
            </a:r>
            <a:r>
              <a:rPr dirty="0" err="1"/>
              <a:t>que</a:t>
            </a:r>
            <a:r>
              <a:rPr dirty="0"/>
              <a:t> SGD et </a:t>
            </a:r>
            <a:r>
              <a:rPr dirty="0" err="1"/>
              <a:t>termine</a:t>
            </a:r>
            <a:r>
              <a:rPr dirty="0"/>
              <a:t> sept </a:t>
            </a:r>
            <a:r>
              <a:rPr dirty="0" err="1"/>
              <a:t>fois</a:t>
            </a:r>
            <a:r>
              <a:rPr dirty="0"/>
              <a:t> plus près du minimum </a:t>
            </a:r>
            <a:r>
              <a:rPr dirty="0" err="1"/>
              <a:t>en</a:t>
            </a:r>
            <a:r>
              <a:rPr dirty="0"/>
              <a:t> 40 steps. Adam est le choix par </a:t>
            </a:r>
            <a:r>
              <a:rPr dirty="0" err="1"/>
              <a:t>défaut</a:t>
            </a:r>
            <a:r>
              <a:rPr dirty="0"/>
              <a:t> </a:t>
            </a:r>
            <a:r>
              <a:rPr dirty="0" err="1"/>
              <a:t>parce</a:t>
            </a:r>
            <a:r>
              <a:rPr dirty="0"/>
              <a:t> </a:t>
            </a:r>
            <a:r>
              <a:rPr dirty="0" err="1"/>
              <a:t>qu'il</a:t>
            </a:r>
            <a:r>
              <a:rPr dirty="0"/>
              <a:t> </a:t>
            </a:r>
            <a:r>
              <a:rPr dirty="0" err="1"/>
              <a:t>tolère</a:t>
            </a:r>
            <a:r>
              <a:rPr dirty="0"/>
              <a:t> mal </a:t>
            </a:r>
            <a:r>
              <a:rPr dirty="0" err="1"/>
              <a:t>choisir</a:t>
            </a:r>
            <a:r>
              <a:rPr dirty="0"/>
              <a:t> le learning rate. </a:t>
            </a:r>
            <a:r>
              <a:rPr dirty="0" err="1"/>
              <a:t>Référence</a:t>
            </a:r>
            <a:r>
              <a:rPr dirty="0"/>
              <a:t> </a:t>
            </a:r>
            <a:r>
              <a:rPr dirty="0" err="1"/>
              <a:t>visuelle</a:t>
            </a:r>
            <a:r>
              <a:rPr dirty="0"/>
              <a:t> : Goh (2017), Why Momentum Really Works, Distill, </a:t>
            </a:r>
            <a:r>
              <a:rPr dirty="0" err="1"/>
              <a:t>licence</a:t>
            </a:r>
            <a:r>
              <a:rPr dirty="0"/>
              <a:t> CC BY 4.0.</a:t>
            </a:r>
          </a:p>
          <a:p>
            <a:endParaRPr dirty="0"/>
          </a:p>
          <a:p>
            <a:r>
              <a:rPr dirty="0"/>
              <a:t>INTERACTION : </a:t>
            </a:r>
            <a:r>
              <a:rPr dirty="0" err="1"/>
              <a:t>Pourquoi</a:t>
            </a:r>
            <a:r>
              <a:rPr dirty="0"/>
              <a:t> le momentum </a:t>
            </a:r>
            <a:r>
              <a:rPr dirty="0" err="1"/>
              <a:t>amortit</a:t>
            </a:r>
            <a:r>
              <a:rPr dirty="0"/>
              <a:t>-il les oscillations d'un bord à </a:t>
            </a:r>
            <a:r>
              <a:rPr dirty="0" err="1"/>
              <a:t>l'autre</a:t>
            </a:r>
            <a:r>
              <a:rPr dirty="0"/>
              <a:t> du </a:t>
            </a:r>
            <a:r>
              <a:rPr dirty="0" err="1"/>
              <a:t>ravin</a:t>
            </a:r>
            <a:r>
              <a:rPr dirty="0"/>
              <a:t> ?</a:t>
            </a:r>
          </a:p>
          <a:p>
            <a:endParaRPr dirty="0"/>
          </a:p>
          <a:p>
            <a:r>
              <a:rPr dirty="0"/>
              <a:t>ILLUSTRATION : </a:t>
            </a:r>
            <a:r>
              <a:rPr dirty="0" err="1"/>
              <a:t>Fichier</a:t>
            </a:r>
            <a:r>
              <a:rPr dirty="0"/>
              <a:t> : assets/generated/cours_08_10_fr/f08_optimiseurs.png (</a:t>
            </a:r>
            <a:r>
              <a:rPr dirty="0" err="1"/>
              <a:t>création</a:t>
            </a:r>
            <a:r>
              <a:rPr dirty="0"/>
              <a:t> </a:t>
            </a:r>
            <a:r>
              <a:rPr dirty="0" err="1"/>
              <a:t>originale</a:t>
            </a:r>
            <a:r>
              <a:rPr dirty="0"/>
              <a:t> du </a:t>
            </a:r>
            <a:r>
              <a:rPr dirty="0" err="1"/>
              <a:t>cours</a:t>
            </a:r>
            <a:r>
              <a:rPr dirty="0"/>
              <a:t> (tools/make_block3_fr_figures.py) : libre </a:t>
            </a:r>
            <a:r>
              <a:rPr dirty="0" err="1"/>
              <a:t>d'usage</a:t>
            </a:r>
            <a:r>
              <a:rPr dirty="0"/>
              <a:t> dans le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Mesures du TD 3, sur un fold et une seed : les trois dernières lignes sont indistinguables (écarts inférieurs à 0,01). Le résultat solide est la première ligne : SGD au learning rate 0,01 n'a pas fini de descendre.</a:t>
            </a:r>
          </a:p>
          <a:p>
            <a:endParaRPr/>
          </a:p>
          <a:p>
            <a:r>
              <a:t>INTERACTION : Pourquoi le momentum 0,9 au learning rate 0,01 ressemble-t-il à SGD au learning rate 0,1 ?</a:t>
            </a:r>
          </a:p>
          <a:p>
            <a:endParaRPr/>
          </a:p>
          <a:p>
            <a:r>
              <a:t>ILLUSTRATION : Tableau.</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un fold et une seed, la différence d'AUC (0,8475 contre 0,8588) est une tendance à confirmer. Le lien avec la partie 1 : le warm-up évite les premiers grands steps qui tuent des ReLU ; c'est une pratique standard pour les grands batches (Goyal et al., 2017). Le cosinus vient de Loshchilov et Hutter (2017).</a:t>
            </a:r>
          </a:p>
          <a:p>
            <a:endParaRPr/>
          </a:p>
          <a:p>
            <a:r>
              <a:t>INTERACTION : À quoi sert un learning rate faible pendant les toutes premières epochs ?</a:t>
            </a:r>
          </a:p>
          <a:p>
            <a:endParaRPr/>
          </a:p>
          <a:p>
            <a:r>
              <a:t>ILLUSTRATION : Fichier : assets/generated/cours_08_10_fr/f09_planification.png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Mesures du TD 3 (exercice 3.7). Le facteur 2 de He compense la moitié des valeurs que ReLU met à zéro : la variance des activations reste stable de couche en couche. L'initialisation par défaut de nn.Linear (uniforme de largeur 1/√n) marche correctement ici.</a:t>
            </a:r>
          </a:p>
          <a:p>
            <a:endParaRPr/>
          </a:p>
          <a:p>
            <a:r>
              <a:t>INTERACTION : Pourquoi des poids constants empêchent-ils d'apprendre, même non nuls ?</a:t>
            </a:r>
          </a:p>
          <a:p>
            <a:endParaRPr/>
          </a:p>
          <a:p>
            <a:r>
              <a:t>ILLUSTRATION : Deux panneaux comparés.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Chiffres du tableau à cinq folds que calcule la séance 9 (§5). La version à un fold, montrée d'abord, donne la même lecture : écart de 0,0049. Le temps est mesuré sur quatre threads.</a:t>
            </a:r>
          </a:p>
          <a:p>
            <a:endParaRPr/>
          </a:p>
          <a:p>
            <a:r>
              <a:t>INTERACTION : Prédiction avant d'afficher le chiffre : de combien l'AUC varie-t-elle entre ces six réglages ?</a:t>
            </a:r>
          </a:p>
          <a:p>
            <a:endParaRPr/>
          </a:p>
          <a:p>
            <a:r>
              <a:t>ILLUSTRATION : Un chiffre en grand.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 du tableau à cinq folds que calcule la séance 9 (§6), au même budget d'epochs pour les trois réseaux. Le TD 4 refait la mesure sur un fold et trois seeds, avec la même conclusion.</a:t>
            </a:r>
          </a:p>
          <a:p>
            <a:endParaRPr/>
          </a:p>
          <a:p>
            <a:r>
              <a:t>INTERACTION : Je multiplie les paramètres par 8,6 : que prédisez-vous ?</a:t>
            </a:r>
          </a:p>
          <a:p>
            <a:endParaRPr/>
          </a:p>
          <a:p>
            <a:r>
              <a:t>ILLUSTRATION : Tableau ; ligne du plus grand réseau mise en valeur.</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du programme : un réseau à 5 couches qui perd contre un réseau à 1 couche, avec sa condition, la machinerie. Le TD 4 montre un second échec, pour la raison inverse : avec ReLU et Adam sans early stopping, 5 couches font de l'overfitting (AUC 0,8217 contre 0,8453). La training loss distingue les deux échecs.</a:t>
            </a:r>
          </a:p>
          <a:p>
            <a:endParaRPr/>
          </a:p>
          <a:p>
            <a:r>
              <a:t>INTERACTION : Pourquoi les couches les plus proches des entrées sont-elles les plus touchées ?</a:t>
            </a:r>
          </a:p>
          <a:p>
            <a:endParaRPr/>
          </a:p>
          <a:p>
            <a:r>
              <a:t>ILLUSTRATION : Fichier : assets/generated/cours_08_10_fr/f12_gradient_evanescent.png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diagnostiquer A, B et C avant de lire la légende. Actions : A, plus de capacité ou de learning rate, après avoir vérifié la machinerie ; B, early stopping ; C, déboguer (ici un learning rate mille fois trop grand) et ne rien régler. Le TD 4 propose quatre courbes mystère aux réglages cachés.</a:t>
            </a:r>
          </a:p>
          <a:p>
            <a:endParaRPr/>
          </a:p>
          <a:p>
            <a:r>
              <a:t>INTERACTION : Diagnostiquez A, B et C en silence, puis votez.</a:t>
            </a:r>
          </a:p>
          <a:p>
            <a:endParaRPr/>
          </a:p>
          <a:p>
            <a:r>
              <a:t>ILLUSTRATION : Fichier : assets/generated/cours_08_10_fr/f11_trois_courbes.png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 de la partie 1 (learning rate 5 sur XOR). Dans la pratique, beaucoup de courbes « d'underfitting » sont des machineries cassées.</a:t>
            </a:r>
          </a:p>
          <a:p>
            <a:endParaRPr/>
          </a:p>
          <a:p>
            <a:r>
              <a:t>INTERACTION : Quelle mesure distingue les deux lectures ?</a:t>
            </a:r>
          </a:p>
          <a:p>
            <a:endParaRPr/>
          </a:p>
          <a:p>
            <a:r>
              <a:t>ILLUSTRATION : Phrase seule sur fond sombre.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test des 20 lignes (Karpathy, 2019 : overfit a single batch) coûte une seconde : un réseau correct doit mémoriser 20 exemples. Au TD 4, il détecte trois bugs sur quatre ; il laisse passer l'oubli de zero_grad avec Adam, qui normalise les steps. Un test réussi élimine une classe de bugs, il ne prouve pas l'absence de bug.</a:t>
            </a:r>
          </a:p>
          <a:p>
            <a:endParaRPr/>
          </a:p>
          <a:p>
            <a:r>
              <a:t>INTERACTION : Quel bug ce test ne détecte-t-il pas, et pourquoi ?</a:t>
            </a:r>
          </a:p>
          <a:p>
            <a:endParaRPr/>
          </a:p>
          <a:p>
            <a:r>
              <a:t>ILLUSTRATION : Six étapes enchaînées.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Réponses : Q1, le gradient d'un poids est proportionnel à son entrée ; un arbre coupe sur des seuils qu'une transformation croissante ne change pas. Q2, une epoch de batches de 1 024 fait seize fois moins de mises à jour. Q3, non : machinerie cassée, un réseau plus gros resterait cassé. Q4, qu'aucun bug n'empêche de mémoriser ; ni l'absence de bug, ni la généralisation.</a:t>
            </a:r>
          </a:p>
          <a:p>
            <a:endParaRPr/>
          </a:p>
          <a:p>
            <a:r>
              <a:t>INTERACTION : Binômes, deux minutes ; correction à main levée.</a:t>
            </a:r>
          </a:p>
          <a:p>
            <a:endParaRPr/>
          </a:p>
          <a:p>
            <a:r>
              <a:t>ILLUSTRATION : Questions seules.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même protocole qu'en séances 6 et 7. Nommer les asymétries fait partie de l'honnêteté : ici, elle joue en faveur du réseau.</a:t>
            </a:r>
          </a:p>
          <a:p>
            <a:endParaRPr/>
          </a:p>
          <a:p>
            <a:r>
              <a:t>INTERACTION : Pourquoi un paired t-test plutôt que la comparaison de deux moyennes ?</a:t>
            </a:r>
          </a:p>
          <a:p>
            <a:endParaRPr/>
          </a:p>
          <a:p>
            <a:r>
              <a:t>ILLUSTRATION : Quatre étapes enchaînées.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 laissez pas ce résultat atterrir comme une déception : c'est un résultat négatif établi rigoureusement, avec le protocole qui avait placé le booster au-dessus de la logistic regression en séance 7 (+0,0317, p = 0,0011). Le temps, à configuration égale (quatre threads chacun) : 11 s pour le MLP contre 5 s pour HistGB sur les cinq folds en séance 9 ; le TD 4 retrouve le même ordre de grandeur.</a:t>
            </a:r>
          </a:p>
          <a:p>
            <a:endParaRPr/>
          </a:p>
          <a:p>
            <a:r>
              <a:t>INTERACTION : Le réseau a-t-il échoué ? Qu'avons-nous établi, exactement ?</a:t>
            </a:r>
          </a:p>
          <a:p>
            <a:endParaRPr/>
          </a:p>
          <a:p>
            <a:r>
              <a:t>ILLUSTRATION : Fichier : assets/generated/cours_08_10_fr/f13_plis_apparies.png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Lecture obligatoire : Grinsztajn et al. (2022), https://arxiv.org/abs/2207.08815. Les trois raisons s'appliquent à nos données : seuils de nuitées minimales, 66 indicatrices dont beaucoup de rares, colonnes individuellement significatives. Le notebook de la séance 9 parle de 78 colonnes indicatrices ; le code en produit 66, pour 77 features au total.</a:t>
            </a:r>
          </a:p>
          <a:p>
            <a:endParaRPr/>
          </a:p>
          <a:p>
            <a:r>
              <a:t>INTERACTION : Laquelle des trois raisons vous paraît la plus forte pour nos données ?</a:t>
            </a:r>
          </a:p>
          <a:p>
            <a:endParaRPr/>
          </a:p>
          <a:p>
            <a:r>
              <a:t>ILLUSTRATION : Trois raisons.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tierce, présente dans la bibliothèque du cours : à montrer en classe avec sa citation, sans la redistribuer. La séance 9 la cite au même endroit, dans une note enseignant.</a:t>
            </a:r>
          </a:p>
          <a:p>
            <a:endParaRPr/>
          </a:p>
          <a:p>
            <a:r>
              <a:t>INTERACTION : Qu'est-ce qui pourrait nous faire passer dans la partie droite du schéma ?</a:t>
            </a:r>
          </a:p>
          <a:p>
            <a:endParaRPr/>
          </a:p>
          <a:p>
            <a:r>
              <a:t>ILLUSTRATION : Fichier : assets/diagrams/s09_s10_training/nn_scale_driver.png (figure d'Andrew Ng (Machine Learning Yearning, 2018), citée ; projection en classe uniquement, ne pas redistribuer)</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Terminez sur la question de la séance 9 : chaque annonce a une description d'une cinquantaine de mots jamais utilisée. Comment une random forest couperait-elle sur un paragraphe ? Elle ne peut pas : c'est la séance 11.</a:t>
            </a:r>
          </a:p>
          <a:p>
            <a:endParaRPr/>
          </a:p>
          <a:p>
            <a:r>
              <a:t>INTERACTION : Comment une random forest couperait-elle sur un paragraphe de texte ?</a:t>
            </a:r>
          </a:p>
          <a:p>
            <a:endParaRPr/>
          </a:p>
          <a:p>
            <a:r>
              <a:t>ILLUSTRATION : Tableau à deux colonnes.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relier chaque ligne à une diapositive ou à une mesure.</a:t>
            </a:r>
          </a:p>
          <a:p>
            <a:endParaRPr/>
          </a:p>
          <a:p>
            <a:r>
              <a:t>INTERACTION : Quelle ligne contredit le plus ce que vous pensiez en arrivant ?</a:t>
            </a:r>
          </a:p>
          <a:p>
            <a:endParaRPr/>
          </a:p>
          <a:p>
            <a:r>
              <a:t>ILLUSTRATION : Liste de synthèse.</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Réponses : 1, le gradient d'un poids est proportionnel à son entrée. 2, trop peu de capacité ou trop peu d'entraînement ; augmenter le budget d'abord. 3, MLP 64-32, 0,9124 ± 0,0387 contre HistGB 0,9216 ± 0,0381, mêmes cinq folds GroupKFold par hôte, cinq différences négatives, paired t-test p = 0,0062. 4, vanishing gradient : au plus 0,25 par couche.</a:t>
            </a:r>
          </a:p>
          <a:p>
            <a:endParaRPr/>
          </a:p>
          <a:p>
            <a:r>
              <a:t>INTERACTION : Quiz individuel, correction collective.</a:t>
            </a:r>
          </a:p>
          <a:p>
            <a:endParaRPr/>
          </a:p>
          <a:p>
            <a:r>
              <a:t>ILLUSTRATION : Questions seules.</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réponse écrite pendant la pause servira de prédiction pour l'ablation.</a:t>
            </a:r>
          </a:p>
          <a:p>
            <a:endParaRPr/>
          </a:p>
          <a:p>
            <a:r>
              <a:t>INTERACTION : Prédiction écrite pendant la pause.</a:t>
            </a:r>
          </a:p>
          <a:p>
            <a:endParaRPr/>
          </a:p>
          <a:p>
            <a:r>
              <a:t>ILLUSTRATION : Phrase seule sur fond sombre.</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 la séance 9 a montré l'overfitting dès sa première courbe ; voici les remèdes, et la façon de les juger.</a:t>
            </a:r>
          </a:p>
          <a:p>
            <a:endParaRPr/>
          </a:p>
          <a:p>
            <a:r>
              <a:t>INTERACTION : Aucune : transition.</a:t>
            </a:r>
          </a:p>
          <a:p>
            <a:endParaRPr/>
          </a:p>
          <a:p>
            <a:r>
              <a:t>ILLUSTRATION : Séparateur de partie.</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 actif. À faire dire : en séance 4, Ridge ne changeait le R² que de 0,0002, parce qu'il n'y avait pas d'overfitting à traiter.</a:t>
            </a:r>
          </a:p>
          <a:p>
            <a:endParaRPr/>
          </a:p>
          <a:p>
            <a:r>
              <a:t>INTERACTION : Pourquoi Ridge ne servait-il presque à rien en séance 4 ?</a:t>
            </a:r>
          </a:p>
          <a:p>
            <a:endParaRPr/>
          </a:p>
          <a:p>
            <a:r>
              <a:t>ILLUSTRATION : Tableau de rappel.</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 faut un modèle nettement en overfitting pour étudier la régularisation : un traitement ne mesure rien s'il n'y a rien à traiter. Le gap est la quantité à surveiller, mais la décision se prend sur la métrique de validation (on le verra avec la data augmentation).</a:t>
            </a:r>
          </a:p>
          <a:p>
            <a:endParaRPr/>
          </a:p>
          <a:p>
            <a:r>
              <a:t>INTERACTION : Pourquoi choisir exprès un réseau trop gros ?</a:t>
            </a:r>
          </a:p>
          <a:p>
            <a:endParaRPr/>
          </a:p>
          <a:p>
            <a:r>
              <a:t>ILLUSTRATION : Un chiffre en grand.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le lien : chaque régularisateur qui suit réduit la variance, avec un coût en biais. Le réseau à 2 unités du TD 4 est, lui, du côté gauche.</a:t>
            </a:r>
          </a:p>
          <a:p>
            <a:endParaRPr/>
          </a:p>
          <a:p>
            <a:r>
              <a:t>INTERACTION : Où placeriez-vous notre réseau sur ce schéma, et le réseau à 2 unités du TD 4 ?</a:t>
            </a:r>
          </a:p>
          <a:p>
            <a:endParaRPr/>
          </a:p>
          <a:p>
            <a:r>
              <a:t>ILLUSTRATION : Fichier : assets/diagrams/s04_regression/bias-variance.png (Python Data Science Handbook (J. VanderPlas) : code sous licence MIT, texte sous CC BY-NC-ND ; citer la source)</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minute d'humilité scientifique, qui justifie la démarche de la séance : on ne suppose pas qu'un remède marche, on le mesure. Référence : https://arxiv.org/abs/1611.03530.</a:t>
            </a:r>
          </a:p>
          <a:p>
            <a:endParaRPr/>
          </a:p>
          <a:p>
            <a:r>
              <a:t>INTERACTION : Si un réseau peut tout mémoriser, qu'est-ce qui l'en empêche sur nos données ?</a:t>
            </a:r>
          </a:p>
          <a:p>
            <a:endParaRPr/>
          </a:p>
          <a:p>
            <a:r>
              <a:t>ILLUSTRATION : Phrase seule sur fond sombre.</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Présentez chaque remède comme la réponse à une question, jamais comme une recette. Sur la batch norm, la position honnête : l'explication d'origine (réduire l'internal covariate shift, Ioffe et Szegedy, 2015) est contestée depuis Santurkar et al. (2018), qui attribuent son effet au lissage de la surface de la loss.</a:t>
            </a:r>
          </a:p>
          <a:p>
            <a:endParaRPr/>
          </a:p>
          <a:p>
            <a:r>
              <a:t>INTERACTION : Pour chaque remède, quel symptôme sur une courbe vous le ferait choisir ?</a:t>
            </a:r>
          </a:p>
          <a:p>
            <a:endParaRPr/>
          </a:p>
          <a:p>
            <a:r>
              <a:t>ILLUSTRATION : Tableau problème, mécanisme, coût.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EarlyStopping de src/training.py restaure les meilleurs poids : lisez-le avec les étudiants. Coût : un découpage de validation et un hyperparamètre. C'est le meilleur rapport gain / coût de l'ablation.</a:t>
            </a:r>
          </a:p>
          <a:p>
            <a:endParaRPr/>
          </a:p>
          <a:p>
            <a:r>
              <a:t>INTERACTION : Que se passe-t-il si l'on s'arrête au bon moment sans restaurer les poids ?</a:t>
            </a:r>
          </a:p>
          <a:p>
            <a:endParaRPr/>
          </a:p>
          <a:p>
            <a:r>
              <a:t>ILLUSTRATION : Rappel de la courbe de la partie 2 (zone de patience).</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Même pénalité, même bias-variance tradeoff qu'en séance 4, mais un effet cent fois plus grand parce qu'il y a enfin de l'overfitting. La force se règle : au TD 5, weight_decay = 0,1 écrase tous les poids (norme 0,5) et l'AUC tombe à 0,5. Référence : Loshchilov et Hutter (2019) pour AdamW.</a:t>
            </a:r>
          </a:p>
          <a:p>
            <a:endParaRPr/>
          </a:p>
          <a:p>
            <a:r>
              <a:t>INTERACTION : Pourquoi le même remède fait-il 0,0002 en séance 4 et +0,05 ici ?</a:t>
            </a:r>
          </a:p>
          <a:p>
            <a:endParaRPr/>
          </a:p>
          <a:p>
            <a:r>
              <a:t>ILLUSTRATION : Tableau séance 4 contre séance 10.</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step ajuste un sous-réseau différent ; aucune unité ne peut compter sur la présence d'une autre (Srivastava et al., 2014). Le comportement dépend du mode : c'est pour lui que model.eval() existe. Le TD 5 fait coder le dropout à la main et vérifier que l'espérance est conservée.</a:t>
            </a:r>
          </a:p>
          <a:p>
            <a:endParaRPr/>
          </a:p>
          <a:p>
            <a:r>
              <a:t>INTERACTION : Pourquoi multiplier par 1 / (1 - p) pendant l'entraînement plutôt qu'à l'évaluation ?</a:t>
            </a:r>
          </a:p>
          <a:p>
            <a:endParaRPr/>
          </a:p>
          <a:p>
            <a:r>
              <a:t>ILLUSTRATION : Fichier : assets/diagrams/s09_s10_training/nn_dropout.png (bibliothèque du cours, provenance non établie (CATALOGUE.md : publish: no) : projection en classe uniquement)</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dépendance au batch est la clé : elle rend la batch norm sensible à la batch size et crée la seconde asymétrie corrigée par model.eval(). La layer norm (Ba, Kiros et Hinton, 2016) est la norme des transformeurs : même calcul en entraînement et en évaluation, valable pour un seul exemple. Au TD 5 : aucun effet mesurable de la layer norm sur notre réseau (AUC 0,7976).</a:t>
            </a:r>
          </a:p>
          <a:p>
            <a:endParaRPr/>
          </a:p>
          <a:p>
            <a:r>
              <a:t>INTERACTION : Pourquoi la batch norm a-t-elle besoin de model.eval(), et pas la layer norm ?</a:t>
            </a:r>
          </a:p>
          <a:p>
            <a:endParaRPr/>
          </a:p>
          <a:p>
            <a:r>
              <a:t>ILLUSTRATION : Fichier : assets/generated/cours_08_10_fr/f15_normalisation.png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Bishop (1995) : entraîner avec un petit bruit équivaut à une régularisation de Tikhonov (Ridge). Le résultat du TD 5 est instructif : le gap baisse de 40 % sans gain d'AUC, parce que la cross-entropy punit la confiance excessive et que le bruit rend le réseau moins sûr de lui, sans changer l'ordre des annonces. Décider sur la métrique du problème. Pour les images : Shorten et Khoshgoftaar (2019).</a:t>
            </a:r>
          </a:p>
          <a:p>
            <a:endParaRPr/>
          </a:p>
          <a:p>
            <a:r>
              <a:t>INTERACTION : Réduire le gap, est-ce améliorer le modèle ? Que regardez-vous pour décider ?</a:t>
            </a:r>
          </a:p>
          <a:p>
            <a:endParaRPr/>
          </a:p>
          <a:p>
            <a:r>
              <a:t>ILLUSTRATION : Au tableau : une image retournée reste un chat ; une annonce bruitée reste-t-elle la même annonce ?</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Faites </a:t>
            </a:r>
            <a:r>
              <a:rPr dirty="0" err="1"/>
              <a:t>écrire</a:t>
            </a:r>
            <a:r>
              <a:rPr dirty="0"/>
              <a:t> le </a:t>
            </a:r>
            <a:r>
              <a:rPr dirty="0" err="1"/>
              <a:t>classement</a:t>
            </a:r>
            <a:r>
              <a:rPr dirty="0"/>
              <a:t> sur </a:t>
            </a:r>
            <a:r>
              <a:rPr dirty="0" err="1"/>
              <a:t>une</a:t>
            </a:r>
            <a:r>
              <a:rPr dirty="0"/>
              <a:t> carte, et </a:t>
            </a:r>
            <a:r>
              <a:rPr dirty="0" err="1"/>
              <a:t>ramassez</a:t>
            </a:r>
            <a:r>
              <a:rPr dirty="0"/>
              <a:t> les cartes avant la suite. Presque toute la salle </a:t>
            </a:r>
            <a:r>
              <a:rPr dirty="0" err="1"/>
              <a:t>classe</a:t>
            </a:r>
            <a:r>
              <a:rPr dirty="0"/>
              <a:t> la batch norm dans les deux premiers : </a:t>
            </a:r>
            <a:r>
              <a:rPr dirty="0" err="1"/>
              <a:t>c'est</a:t>
            </a:r>
            <a:r>
              <a:rPr dirty="0"/>
              <a:t> la technique à la plus forte </a:t>
            </a:r>
            <a:r>
              <a:rPr dirty="0" err="1"/>
              <a:t>présence</a:t>
            </a:r>
            <a:r>
              <a:rPr dirty="0"/>
              <a:t> </a:t>
            </a:r>
            <a:r>
              <a:rPr dirty="0" err="1"/>
              <a:t>culturelle</a:t>
            </a:r>
            <a:r>
              <a:rPr dirty="0"/>
              <a:t>.</a:t>
            </a:r>
          </a:p>
          <a:p>
            <a:endParaRPr dirty="0"/>
          </a:p>
          <a:p>
            <a:r>
              <a:rPr dirty="0"/>
              <a:t>INTERACTION : </a:t>
            </a:r>
            <a:r>
              <a:rPr dirty="0" err="1"/>
              <a:t>Classement</a:t>
            </a:r>
            <a:r>
              <a:rPr dirty="0"/>
              <a:t> </a:t>
            </a:r>
            <a:r>
              <a:rPr dirty="0" err="1"/>
              <a:t>écrit</a:t>
            </a:r>
            <a:r>
              <a:rPr dirty="0"/>
              <a:t> sur </a:t>
            </a:r>
            <a:r>
              <a:rPr dirty="0" err="1"/>
              <a:t>une</a:t>
            </a:r>
            <a:r>
              <a:rPr dirty="0"/>
              <a:t> carte, </a:t>
            </a:r>
            <a:r>
              <a:rPr dirty="0" err="1"/>
              <a:t>ramassé</a:t>
            </a:r>
            <a:r>
              <a:rPr dirty="0"/>
              <a:t> avant la diapositive </a:t>
            </a:r>
            <a:r>
              <a:rPr dirty="0" err="1"/>
              <a:t>suivante</a:t>
            </a:r>
            <a:r>
              <a:rPr dirty="0"/>
              <a:t>.</a:t>
            </a:r>
          </a:p>
          <a:p>
            <a:endParaRPr dirty="0"/>
          </a:p>
          <a:p>
            <a:r>
              <a:rPr dirty="0"/>
              <a:t>ILLUSTRATION : </a:t>
            </a:r>
            <a:r>
              <a:rPr dirty="0" err="1"/>
              <a:t>Liste</a:t>
            </a:r>
            <a:r>
              <a:rPr dirty="0"/>
              <a:t> à classer.</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discipline de la séance 6 appliquée aux traitements : là, des modèles comparés sur des folds ; ici, des traitements comparés sur des seeds, le fold fixé pour isoler le bruit qui ne vient pas des données. Le dictionnaire CONFIGS du notebook empêche de varier deux facteurs par accident.</a:t>
            </a:r>
          </a:p>
          <a:p>
            <a:endParaRPr/>
          </a:p>
          <a:p>
            <a:r>
              <a:t>INTERACTION : Pourquoi fixer le fold et faire varier les seeds, plutôt que l'inverse ?</a:t>
            </a:r>
          </a:p>
          <a:p>
            <a:endParaRPr/>
          </a:p>
          <a:p>
            <a:r>
              <a:t>ILLUSTRATION : Quatre étapes enchaînées.</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Écrivez 0,0224 au tableau avant d'afficher les résultats, devant les étudiants. Jamais après.</a:t>
            </a:r>
          </a:p>
          <a:p>
            <a:endParaRPr/>
          </a:p>
          <a:p>
            <a:r>
              <a:t>INTERACTION : Écrivez le seuil sur votre carte, à côté de votre classement.</a:t>
            </a:r>
          </a:p>
          <a:p>
            <a:endParaRPr/>
          </a:p>
          <a:p>
            <a:r>
              <a:t>ILLUSTRATION : Un chiffre en grand.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Ramassez les cartes et faites lever la main à ceux qui avaient classé la batch norm dans les deux premiers. Puis lisez les écarts-types : la combinaison a la variance la plus faible (0,0013), la batch norm la plus forte (0,0181).</a:t>
            </a:r>
          </a:p>
          <a:p>
            <a:endParaRPr/>
          </a:p>
          <a:p>
            <a:r>
              <a:t>INTERACTION : Qui avait classé la batch norm en tête ? Qu'est-ce qui vous y a poussé ?</a:t>
            </a:r>
          </a:p>
          <a:p>
            <a:endParaRPr/>
          </a:p>
          <a:p>
            <a:r>
              <a:t>ILLUSTRATION : Fichier : assets/generated/cours_08_10_fr/f14_ablation.png (création originale du cours (tools/make_block3_fr_figures.py) : libre d'usage dans le cours)</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diapositive la plus importante de la partie : lisez la phrase de précision à voix haute. L'échec serait que les étudiants repartent avec « la batch norm est mauvaise ». Dans les réseaux convolutifs profonds, elle est souvent presque indispensable. La partie transférable est la méthode, pas le verdict.</a:t>
            </a:r>
          </a:p>
          <a:p>
            <a:endParaRPr/>
          </a:p>
          <a:p>
            <a:r>
              <a:t>INTERACTION : Formulez la conclusion la plus forte que cette expérience autorise, en une phrase.</a:t>
            </a:r>
          </a:p>
          <a:p>
            <a:endParaRPr/>
          </a:p>
          <a:p>
            <a:r>
              <a:t>ILLUSTRATION : Phrase seule sur fond sombre.</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étudiants accusent d'abord la batch norm. La séance 10 le teste : la retirer ne change rien (0,8522 contre 0,8532, signes mélangés par seed), et le défi 2 du TD 6 refait l'expérience avec une règle fixée à l'avance. Restent la non-additivité et des réglages plus doux dans la combinaison. Mesurer un par un, ne combiner que ce qui a mérité sa place.</a:t>
            </a:r>
          </a:p>
          <a:p>
            <a:endParaRPr/>
          </a:p>
          <a:p>
            <a:r>
              <a:t>INTERACTION : Avant de dévoiler « tout combiné » : les quatre ensemble battront-ils le meilleur seul ?</a:t>
            </a:r>
          </a:p>
          <a:p>
            <a:endParaRPr/>
          </a:p>
          <a:p>
            <a:r>
              <a:t>ILLUSTRATION : Deux panneaux comparés.</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second constat relie à la séance 6 : une estimation qu'on ne peut pas reproduire n'est pas une estimation.</a:t>
            </a:r>
          </a:p>
          <a:p>
            <a:endParaRPr/>
          </a:p>
          <a:p>
            <a:r>
              <a:t>INTERACTION : Pourquoi un modèle dont le score dépend de la seed pose-t-il un problème de déploiement ?</a:t>
            </a:r>
          </a:p>
          <a:p>
            <a:endParaRPr/>
          </a:p>
          <a:p>
            <a:r>
              <a:t>ILLUSTRATION : Deux constats.</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0,028, c'est trois fois l'écart entre le MLP et le booster établi en partie 2. Appeler model.eval() systématiquement, même sans dropout ni batch norm : le modèle en contiendra un jour.</a:t>
            </a:r>
          </a:p>
          <a:p>
            <a:endParaRPr/>
          </a:p>
          <a:p>
            <a:r>
              <a:t>INTERACTION : Comment détecter ce bug sans lire le code ?</a:t>
            </a:r>
          </a:p>
          <a:p>
            <a:endParaRPr/>
          </a:p>
          <a:p>
            <a:r>
              <a:t>ILLUSTRATION : Un chiffre en grand.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diapositive à photographier : elle résume les parties 2 et 3 en une échelle de décision. Le défi 1 du TD 6 la met en pratique sur un script qui contient trois bugs silencieux.</a:t>
            </a:r>
          </a:p>
          <a:p>
            <a:endParaRPr/>
          </a:p>
          <a:p>
            <a:r>
              <a:t>INTERACTION : Pour chaque ligne, citez un exemple vu aujourd'hui.</a:t>
            </a:r>
          </a:p>
          <a:p>
            <a:endParaRPr/>
          </a:p>
          <a:p>
            <a:r>
              <a:t>ILLUSTRATION : Tableau de décision.</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Terminez par les trois phrases du script de la séance 10 : un effet plus petit que la variance entre seeds n'est pas un effet ; mesurer un par un ; énoncer les conditions de validité et respecter le seuil fixé à l'avance.</a:t>
            </a:r>
          </a:p>
          <a:p>
            <a:endParaRPr/>
          </a:p>
          <a:p>
            <a:r>
              <a:t>INTERACTION : Quelle phrase retiendriez-vous si vous ne deviez en garder qu'une ?</a:t>
            </a:r>
          </a:p>
          <a:p>
            <a:endParaRPr/>
          </a:p>
          <a:p>
            <a:r>
              <a:t>ILLUSTRATION : Liste de synthèse.</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Réponses : 1, la question porte sur les traitements ; fixer le fold isole le bruit d'initialisation et d'ordre des batches. 2, sur ce problème, cette architecture, cette batch size et trois seeds, la batch norm est le seul des quatre traitements à ne pas avoir franchi le seuil fixé à l'avance ; point estimé -0,0142, pas de nuisance démontrée. 3, pas de force à régler, quatre fois moins de calcul. 4, le gap se mesure en cross-entropy, qui punit la confiance ; l'AUC ne dépend que de l'ordre.</a:t>
            </a:r>
          </a:p>
          <a:p>
            <a:endParaRPr/>
          </a:p>
          <a:p>
            <a:r>
              <a:t>INTERACTION : Quiz individuel, correction collective.</a:t>
            </a:r>
          </a:p>
          <a:p>
            <a:endParaRPr/>
          </a:p>
          <a:p>
            <a:r>
              <a:t>ILLUSTRATION : Questions seules.</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compléter oralement une case avant de l'afficher (masquez une colonne). C'est la version résumée de la carte des notions.</a:t>
            </a:r>
          </a:p>
          <a:p>
            <a:endParaRPr/>
          </a:p>
          <a:p>
            <a:r>
              <a:t>INTERACTION : Complétez la colonne de la séance 10 avant de la voir.</a:t>
            </a:r>
          </a:p>
          <a:p>
            <a:endParaRPr/>
          </a:p>
          <a:p>
            <a:r>
              <a:t>ILLUSTRATION : Tableau de synthèse ; en option, la carte des notions de l'ouverture.</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Faites choisir aux étudiants celle qui les a le plus surpris.</a:t>
            </a:r>
          </a:p>
          <a:p>
            <a:endParaRPr/>
          </a:p>
          <a:p>
            <a:r>
              <a:t>INTERACTION : Laquelle vous a le plus surpris ? Main levée.</a:t>
            </a:r>
          </a:p>
          <a:p>
            <a:endParaRPr/>
          </a:p>
          <a:p>
            <a:r>
              <a:t>ILLUSTRATION : Liste.</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Réponses attendues : A, machinerie cassée (learning rate, échelle, formes), test des 20 lignes, ne rien régler. B, demander l'écart-type entre seeds et le seuil fixé à l'avance ; une seed ne suffit pas. C, faire la comparaison honnête contre un gradient boosting sur les mêmes folds avant de choisir. D, model.eval() oublié.</a:t>
            </a:r>
          </a:p>
          <a:p>
            <a:endParaRPr/>
          </a:p>
          <a:p>
            <a:r>
              <a:t>INTERACTION : Par groupes de trois, puis restitution.</a:t>
            </a:r>
          </a:p>
          <a:p>
            <a:endParaRPr/>
          </a:p>
          <a:p>
            <a:r>
              <a:t>ILLUSTRATION : Quatre situations.</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TD reproduit des chiffres de ce cours : les étudiants vérifient qu'ils retrouvent les valeurs des séances 8 à 10 (même code, mêmes seeds, 4 threads).</a:t>
            </a:r>
          </a:p>
          <a:p>
            <a:endParaRPr/>
          </a:p>
          <a:p>
            <a:r>
              <a:t>INTERACTION : Aucune : consignes pratiques (environnement, notebooks, rendu).</a:t>
            </a:r>
          </a:p>
          <a:p>
            <a:endParaRPr/>
          </a:p>
          <a:p>
            <a:r>
              <a:t>ILLUSTRATION : Tableau des TD.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liste complète des références, avec liens et droits d'utilisation, est dans le dossier 00_Course_Design/seances_08_10_cours_td.</a:t>
            </a:r>
          </a:p>
          <a:p>
            <a:endParaRPr/>
          </a:p>
          <a:p>
            <a:r>
              <a:t>INTERACTION : Aucune.</a:t>
            </a:r>
          </a:p>
          <a:p>
            <a:endParaRPr/>
          </a:p>
          <a:p>
            <a:r>
              <a:t>ILLUSTRATION : Liste de références.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BLOC 3 · DEEP LEARNING</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1828800"/>
            <a:ext cx="11057839" cy="615553"/>
          </a:xfrm>
          <a:prstGeom prst="rect">
            <a:avLst/>
          </a:prstGeom>
          <a:noFill/>
        </p:spPr>
        <p:txBody>
          <a:bodyPr wrap="square" lIns="0" tIns="0" rIns="0" bIns="0" anchor="t">
            <a:spAutoFit/>
          </a:bodyPr>
          <a:lstStyle/>
          <a:p>
            <a:pPr algn="ctr"/>
            <a:r>
              <a:rPr sz="4000" b="1" i="0" dirty="0" err="1">
                <a:solidFill>
                  <a:srgbClr val="FFFFFF"/>
                </a:solidFill>
                <a:latin typeface="Cambria"/>
              </a:rPr>
              <a:t>Apprendre</a:t>
            </a:r>
            <a:r>
              <a:rPr sz="4000" b="1" i="0" dirty="0">
                <a:solidFill>
                  <a:srgbClr val="FFFFFF"/>
                </a:solidFill>
                <a:latin typeface="Cambria"/>
              </a:rPr>
              <a:t> avec des réseaux de </a:t>
            </a:r>
            <a:r>
              <a:rPr sz="4000" b="1" i="0" dirty="0" err="1">
                <a:solidFill>
                  <a:srgbClr val="FFFFFF"/>
                </a:solidFill>
                <a:latin typeface="Cambria"/>
              </a:rPr>
              <a:t>neurones</a:t>
            </a:r>
            <a:endParaRPr sz="4000" b="1" i="0" dirty="0">
              <a:solidFill>
                <a:srgbClr val="FFFFFF"/>
              </a:solidFill>
              <a:latin typeface="Cambria"/>
            </a:endParaRPr>
          </a:p>
        </p:txBody>
      </p:sp>
      <p:sp>
        <p:nvSpPr>
          <p:cNvPr id="5" name="TextBox 4"/>
          <p:cNvSpPr txBox="1"/>
          <p:nvPr/>
        </p:nvSpPr>
        <p:spPr>
          <a:xfrm>
            <a:off x="566928" y="3200400"/>
            <a:ext cx="8863279" cy="322461"/>
          </a:xfrm>
          <a:prstGeom prst="rect">
            <a:avLst/>
          </a:prstGeom>
          <a:noFill/>
        </p:spPr>
        <p:txBody>
          <a:bodyPr wrap="square" lIns="0" tIns="0" rIns="0" bIns="0" anchor="t">
            <a:spAutoFit/>
          </a:bodyPr>
          <a:lstStyle/>
          <a:p>
            <a:pPr algn="l">
              <a:lnSpc>
                <a:spcPct val="135000"/>
              </a:lnSpc>
            </a:pPr>
            <a:r>
              <a:rPr sz="1700" b="0" i="0" dirty="0">
                <a:solidFill>
                  <a:srgbClr val="9FB0C4"/>
                </a:solidFill>
                <a:latin typeface="Calibri"/>
              </a:rPr>
              <a:t>Des </a:t>
            </a:r>
            <a:r>
              <a:rPr sz="1700" b="0" i="0" dirty="0" err="1">
                <a:solidFill>
                  <a:srgbClr val="9FB0C4"/>
                </a:solidFill>
                <a:latin typeface="Calibri"/>
              </a:rPr>
              <a:t>modèles</a:t>
            </a:r>
            <a:r>
              <a:rPr sz="1700" b="0" i="0" dirty="0">
                <a:solidFill>
                  <a:srgbClr val="9FB0C4"/>
                </a:solidFill>
                <a:latin typeface="Calibri"/>
              </a:rPr>
              <a:t> </a:t>
            </a:r>
            <a:r>
              <a:rPr sz="1700" b="0" i="0" dirty="0" err="1">
                <a:solidFill>
                  <a:srgbClr val="9FB0C4"/>
                </a:solidFill>
                <a:latin typeface="Calibri"/>
              </a:rPr>
              <a:t>linéaires</a:t>
            </a:r>
            <a:r>
              <a:rPr sz="1700" b="0" i="0" dirty="0">
                <a:solidFill>
                  <a:srgbClr val="9FB0C4"/>
                </a:solidFill>
                <a:latin typeface="Calibri"/>
              </a:rPr>
              <a:t> aux réseaux, </a:t>
            </a:r>
            <a:r>
              <a:rPr sz="1700" b="0" i="0" dirty="0" err="1">
                <a:solidFill>
                  <a:srgbClr val="9FB0C4"/>
                </a:solidFill>
                <a:latin typeface="Calibri"/>
              </a:rPr>
              <a:t>l'entraînement</a:t>
            </a:r>
            <a:r>
              <a:rPr sz="1700" b="0" i="0" dirty="0">
                <a:solidFill>
                  <a:srgbClr val="9FB0C4"/>
                </a:solidFill>
                <a:latin typeface="Calibri"/>
              </a:rPr>
              <a:t> </a:t>
            </a:r>
            <a:r>
              <a:rPr sz="1700" b="0" i="0" dirty="0" err="1">
                <a:solidFill>
                  <a:srgbClr val="9FB0C4"/>
                </a:solidFill>
                <a:latin typeface="Calibri"/>
              </a:rPr>
              <a:t>en</a:t>
            </a:r>
            <a:r>
              <a:rPr sz="1700" b="0" i="0" dirty="0">
                <a:solidFill>
                  <a:srgbClr val="9FB0C4"/>
                </a:solidFill>
                <a:latin typeface="Calibri"/>
              </a:rPr>
              <a:t> pratique, la </a:t>
            </a:r>
            <a:r>
              <a:rPr sz="1700" b="0" i="0" dirty="0" err="1">
                <a:solidFill>
                  <a:srgbClr val="9FB0C4"/>
                </a:solidFill>
                <a:latin typeface="Calibri"/>
              </a:rPr>
              <a:t>généralisation</a:t>
            </a:r>
            <a:r>
              <a:rPr sz="1700" b="0" i="0" dirty="0">
                <a:solidFill>
                  <a:srgbClr val="9FB0C4"/>
                </a:solidFill>
                <a:latin typeface="Calibri"/>
              </a:rPr>
              <a:t>.</a:t>
            </a:r>
          </a:p>
        </p:txBody>
      </p:sp>
      <p:cxnSp>
        <p:nvCxnSpPr>
          <p:cNvPr id="6" name="Connector 5"/>
          <p:cNvCxnSpPr/>
          <p:nvPr/>
        </p:nvCxnSpPr>
        <p:spPr>
          <a:xfrm>
            <a:off x="566928" y="495604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5175504"/>
            <a:ext cx="11057839" cy="215444"/>
          </a:xfrm>
          <a:prstGeom prst="rect">
            <a:avLst/>
          </a:prstGeom>
          <a:noFill/>
        </p:spPr>
        <p:txBody>
          <a:bodyPr wrap="square" lIns="0" tIns="0" rIns="0" bIns="0" anchor="t">
            <a:spAutoFit/>
          </a:bodyPr>
          <a:lstStyle/>
          <a:p>
            <a:pPr algn="l"/>
            <a:r>
              <a:rPr sz="1400" b="1" i="0" dirty="0" err="1">
                <a:solidFill>
                  <a:srgbClr val="E9A93D"/>
                </a:solidFill>
                <a:latin typeface="Calibri"/>
              </a:rPr>
              <a:t>cours</a:t>
            </a:r>
            <a:r>
              <a:rPr sz="1400" b="1" i="0" dirty="0">
                <a:solidFill>
                  <a:srgbClr val="E9A93D"/>
                </a:solidFill>
                <a:latin typeface="Calibri"/>
              </a:rPr>
              <a:t> de 4 h   ·  </a:t>
            </a:r>
            <a:r>
              <a:rPr lang="en-US" sz="1400" b="1" i="0" dirty="0">
                <a:solidFill>
                  <a:srgbClr val="E9A93D"/>
                </a:solidFill>
                <a:latin typeface="Calibri"/>
              </a:rPr>
              <a:t> TD de 8 h</a:t>
            </a:r>
            <a:endParaRPr sz="1400" b="1" i="0" dirty="0">
              <a:solidFill>
                <a:srgbClr val="E9A93D"/>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BLOC 3 · DEEP LEARNING · SÉANCES 8 À 10</a:t>
            </a:r>
          </a:p>
        </p:txBody>
      </p:sp>
      <p:sp>
        <p:nvSpPr>
          <p:cNvPr id="3" name="TextBox 2"/>
          <p:cNvSpPr txBox="1"/>
          <p:nvPr/>
        </p:nvSpPr>
        <p:spPr>
          <a:xfrm>
            <a:off x="566928" y="694944"/>
            <a:ext cx="11057839" cy="500137"/>
          </a:xfrm>
          <a:prstGeom prst="rect">
            <a:avLst/>
          </a:prstGeom>
          <a:noFill/>
        </p:spPr>
        <p:txBody>
          <a:bodyPr wrap="square" lIns="0" tIns="0" rIns="0" bIns="0" anchor="t">
            <a:spAutoFit/>
          </a:bodyPr>
          <a:lstStyle/>
          <a:p>
            <a:pPr algn="l"/>
            <a:r>
              <a:rPr sz="3250" b="1" i="0" dirty="0">
                <a:solidFill>
                  <a:srgbClr val="12233A"/>
                </a:solidFill>
                <a:latin typeface="Cambria"/>
              </a:rPr>
              <a:t>Ce </a:t>
            </a:r>
            <a:r>
              <a:rPr sz="3250" b="1" i="0" dirty="0" err="1">
                <a:solidFill>
                  <a:srgbClr val="12233A"/>
                </a:solidFill>
                <a:latin typeface="Cambria"/>
              </a:rPr>
              <a:t>que</a:t>
            </a:r>
            <a:r>
              <a:rPr sz="3250" b="1" i="0" dirty="0">
                <a:solidFill>
                  <a:srgbClr val="12233A"/>
                </a:solidFill>
                <a:latin typeface="Cambria"/>
              </a:rPr>
              <a:t> vous </a:t>
            </a:r>
            <a:r>
              <a:rPr sz="3250" b="1" i="0" dirty="0" err="1">
                <a:solidFill>
                  <a:srgbClr val="12233A"/>
                </a:solidFill>
                <a:latin typeface="Cambria"/>
              </a:rPr>
              <a:t>saurez</a:t>
            </a:r>
            <a:r>
              <a:rPr sz="3250" b="1" i="0" dirty="0">
                <a:solidFill>
                  <a:srgbClr val="12233A"/>
                </a:solidFill>
                <a:latin typeface="Cambria"/>
              </a:rPr>
              <a:t> faire</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Les objectifs des séances 8, 9 et 10 du programme.</a:t>
            </a:r>
          </a:p>
        </p:txBody>
      </p:sp>
      <p:sp>
        <p:nvSpPr>
          <p:cNvPr id="5" name="Rounded Rectangle 4"/>
          <p:cNvSpPr/>
          <p:nvPr/>
        </p:nvSpPr>
        <p:spPr>
          <a:xfrm>
            <a:off x="566928" y="2103120"/>
            <a:ext cx="11057839" cy="586740"/>
          </a:xfrm>
          <a:prstGeom prst="roundRect">
            <a:avLst>
              <a:gd name="adj" fmla="val 21818"/>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258631"/>
            <a:ext cx="10472623" cy="275717"/>
          </a:xfrm>
          <a:prstGeom prst="rect">
            <a:avLst/>
          </a:prstGeom>
          <a:noFill/>
        </p:spPr>
        <p:txBody>
          <a:bodyPr wrap="square" lIns="0" tIns="0" rIns="0" bIns="0" anchor="ctr">
            <a:spAutoFit/>
          </a:bodyPr>
          <a:lstStyle/>
          <a:p>
            <a:pPr algn="l">
              <a:lnSpc>
                <a:spcPct val="120000"/>
              </a:lnSpc>
            </a:pPr>
            <a:r>
              <a:rPr sz="1600" b="1" i="0" dirty="0">
                <a:solidFill>
                  <a:srgbClr val="6D2E46"/>
                </a:solidFill>
                <a:latin typeface="Calibri"/>
              </a:rPr>
              <a:t>1  </a:t>
            </a:r>
            <a:r>
              <a:rPr sz="1600" b="0" i="0" dirty="0" err="1">
                <a:solidFill>
                  <a:srgbClr val="2B3440"/>
                </a:solidFill>
                <a:latin typeface="Calibri"/>
              </a:rPr>
              <a:t>Expliquer</a:t>
            </a:r>
            <a:r>
              <a:rPr sz="1600" b="0" i="0" dirty="0">
                <a:solidFill>
                  <a:srgbClr val="2B3440"/>
                </a:solidFill>
                <a:latin typeface="Calibri"/>
              </a:rPr>
              <a:t> </a:t>
            </a:r>
            <a:r>
              <a:rPr sz="1600" b="0" i="0" dirty="0" err="1">
                <a:solidFill>
                  <a:srgbClr val="2B3440"/>
                </a:solidFill>
                <a:latin typeface="Calibri"/>
              </a:rPr>
              <a:t>pourquoi</a:t>
            </a:r>
            <a:r>
              <a:rPr sz="1600" b="0" i="0" dirty="0">
                <a:solidFill>
                  <a:srgbClr val="2B3440"/>
                </a:solidFill>
                <a:latin typeface="Calibri"/>
              </a:rPr>
              <a:t> un </a:t>
            </a:r>
            <a:r>
              <a:rPr sz="1600" b="0" i="0" dirty="0" err="1">
                <a:solidFill>
                  <a:srgbClr val="2B3440"/>
                </a:solidFill>
                <a:latin typeface="Calibri"/>
              </a:rPr>
              <a:t>modèle</a:t>
            </a:r>
            <a:r>
              <a:rPr sz="1600" b="0" i="0" dirty="0">
                <a:solidFill>
                  <a:srgbClr val="2B3440"/>
                </a:solidFill>
                <a:latin typeface="Calibri"/>
              </a:rPr>
              <a:t> </a:t>
            </a:r>
            <a:r>
              <a:rPr sz="1600" b="0" i="0" dirty="0" err="1">
                <a:solidFill>
                  <a:srgbClr val="2B3440"/>
                </a:solidFill>
                <a:latin typeface="Calibri"/>
              </a:rPr>
              <a:t>linéaire</a:t>
            </a:r>
            <a:r>
              <a:rPr sz="1600" b="0" i="0" dirty="0">
                <a:solidFill>
                  <a:srgbClr val="2B3440"/>
                </a:solidFill>
                <a:latin typeface="Calibri"/>
              </a:rPr>
              <a:t> </a:t>
            </a:r>
            <a:r>
              <a:rPr sz="1600" b="0" i="0" dirty="0" err="1">
                <a:solidFill>
                  <a:srgbClr val="2B3440"/>
                </a:solidFill>
                <a:latin typeface="Calibri"/>
              </a:rPr>
              <a:t>échoue</a:t>
            </a:r>
            <a:r>
              <a:rPr sz="1600" b="0" i="0" dirty="0">
                <a:solidFill>
                  <a:srgbClr val="2B3440"/>
                </a:solidFill>
                <a:latin typeface="Calibri"/>
              </a:rPr>
              <a:t> sur XOR, et </a:t>
            </a:r>
            <a:r>
              <a:rPr sz="1600" b="0" i="0" dirty="0" err="1">
                <a:solidFill>
                  <a:srgbClr val="2B3440"/>
                </a:solidFill>
                <a:latin typeface="Calibri"/>
              </a:rPr>
              <a:t>ce</a:t>
            </a:r>
            <a:r>
              <a:rPr sz="1600" b="0" i="0" dirty="0">
                <a:solidFill>
                  <a:srgbClr val="2B3440"/>
                </a:solidFill>
                <a:latin typeface="Calibri"/>
              </a:rPr>
              <a:t> </a:t>
            </a:r>
            <a:r>
              <a:rPr sz="1600" b="0" i="0" dirty="0" err="1">
                <a:solidFill>
                  <a:srgbClr val="2B3440"/>
                </a:solidFill>
                <a:latin typeface="Calibri"/>
              </a:rPr>
              <a:t>que</a:t>
            </a:r>
            <a:r>
              <a:rPr sz="1600" b="0" i="0" dirty="0">
                <a:solidFill>
                  <a:srgbClr val="2B3440"/>
                </a:solidFill>
                <a:latin typeface="Calibri"/>
              </a:rPr>
              <a:t> la non-</a:t>
            </a:r>
            <a:r>
              <a:rPr sz="1600" b="0" i="0" dirty="0" err="1">
                <a:solidFill>
                  <a:srgbClr val="2B3440"/>
                </a:solidFill>
                <a:latin typeface="Calibri"/>
              </a:rPr>
              <a:t>linéarité</a:t>
            </a:r>
            <a:r>
              <a:rPr sz="1600" b="0" i="0" dirty="0">
                <a:solidFill>
                  <a:srgbClr val="2B3440"/>
                </a:solidFill>
                <a:latin typeface="Calibri"/>
              </a:rPr>
              <a:t> </a:t>
            </a:r>
            <a:r>
              <a:rPr sz="1600" b="0" i="0" dirty="0" err="1">
                <a:solidFill>
                  <a:srgbClr val="2B3440"/>
                </a:solidFill>
                <a:latin typeface="Calibri"/>
              </a:rPr>
              <a:t>ajoute</a:t>
            </a:r>
            <a:r>
              <a:rPr sz="1600" b="0" i="0" dirty="0">
                <a:solidFill>
                  <a:srgbClr val="2B3440"/>
                </a:solidFill>
                <a:latin typeface="Calibri"/>
              </a:rPr>
              <a:t>. </a:t>
            </a:r>
          </a:p>
        </p:txBody>
      </p:sp>
      <p:sp>
        <p:nvSpPr>
          <p:cNvPr id="7" name="Rounded Rectangle 6"/>
          <p:cNvSpPr/>
          <p:nvPr/>
        </p:nvSpPr>
        <p:spPr>
          <a:xfrm>
            <a:off x="566928" y="2836164"/>
            <a:ext cx="11057839" cy="586740"/>
          </a:xfrm>
          <a:prstGeom prst="roundRect">
            <a:avLst>
              <a:gd name="adj" fmla="val 21818"/>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991675"/>
            <a:ext cx="10472623" cy="275717"/>
          </a:xfrm>
          <a:prstGeom prst="rect">
            <a:avLst/>
          </a:prstGeom>
          <a:noFill/>
        </p:spPr>
        <p:txBody>
          <a:bodyPr wrap="square" lIns="0" tIns="0" rIns="0" bIns="0" anchor="ctr">
            <a:spAutoFit/>
          </a:bodyPr>
          <a:lstStyle/>
          <a:p>
            <a:pPr algn="l">
              <a:lnSpc>
                <a:spcPct val="120000"/>
              </a:lnSpc>
            </a:pPr>
            <a:r>
              <a:rPr sz="1600" b="1" i="0" dirty="0">
                <a:solidFill>
                  <a:srgbClr val="6D2E46"/>
                </a:solidFill>
                <a:latin typeface="Calibri"/>
              </a:rPr>
              <a:t>2  </a:t>
            </a:r>
            <a:r>
              <a:rPr sz="1600" b="0" i="0" dirty="0" err="1">
                <a:solidFill>
                  <a:srgbClr val="2B3440"/>
                </a:solidFill>
                <a:latin typeface="Calibri"/>
              </a:rPr>
              <a:t>Calculer</a:t>
            </a:r>
            <a:r>
              <a:rPr sz="1600" b="0" i="0" dirty="0">
                <a:solidFill>
                  <a:srgbClr val="2B3440"/>
                </a:solidFill>
                <a:latin typeface="Calibri"/>
              </a:rPr>
              <a:t> un forward pass et </a:t>
            </a:r>
            <a:r>
              <a:rPr sz="1600" b="0" i="0" dirty="0" err="1">
                <a:solidFill>
                  <a:srgbClr val="2B3440"/>
                </a:solidFill>
                <a:latin typeface="Calibri"/>
              </a:rPr>
              <a:t>une</a:t>
            </a:r>
            <a:r>
              <a:rPr sz="1600" b="0" i="0" dirty="0">
                <a:solidFill>
                  <a:srgbClr val="2B3440"/>
                </a:solidFill>
                <a:latin typeface="Calibri"/>
              </a:rPr>
              <a:t> backpropagation à la main, et les </a:t>
            </a:r>
            <a:r>
              <a:rPr sz="1600" b="0" i="0" dirty="0" err="1">
                <a:solidFill>
                  <a:srgbClr val="2B3440"/>
                </a:solidFill>
                <a:latin typeface="Calibri"/>
              </a:rPr>
              <a:t>vérifier</a:t>
            </a:r>
            <a:r>
              <a:rPr sz="1600" b="0" i="0" dirty="0">
                <a:solidFill>
                  <a:srgbClr val="2B3440"/>
                </a:solidFill>
                <a:latin typeface="Calibri"/>
              </a:rPr>
              <a:t>.</a:t>
            </a:r>
          </a:p>
        </p:txBody>
      </p:sp>
      <p:sp>
        <p:nvSpPr>
          <p:cNvPr id="9" name="Rounded Rectangle 8"/>
          <p:cNvSpPr/>
          <p:nvPr/>
        </p:nvSpPr>
        <p:spPr>
          <a:xfrm>
            <a:off x="566928" y="3569208"/>
            <a:ext cx="11057839" cy="586740"/>
          </a:xfrm>
          <a:prstGeom prst="roundRect">
            <a:avLst>
              <a:gd name="adj" fmla="val 21818"/>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3724718"/>
            <a:ext cx="10472623" cy="275717"/>
          </a:xfrm>
          <a:prstGeom prst="rect">
            <a:avLst/>
          </a:prstGeom>
          <a:noFill/>
        </p:spPr>
        <p:txBody>
          <a:bodyPr wrap="square" lIns="0" tIns="0" rIns="0" bIns="0" anchor="ctr">
            <a:spAutoFit/>
          </a:bodyPr>
          <a:lstStyle/>
          <a:p>
            <a:pPr algn="l">
              <a:lnSpc>
                <a:spcPct val="120000"/>
              </a:lnSpc>
            </a:pPr>
            <a:r>
              <a:rPr sz="1600" b="1" i="0" dirty="0">
                <a:solidFill>
                  <a:srgbClr val="6D2E46"/>
                </a:solidFill>
                <a:latin typeface="Calibri"/>
              </a:rPr>
              <a:t>3  </a:t>
            </a:r>
            <a:r>
              <a:rPr sz="1600" b="0" i="0" dirty="0" err="1">
                <a:solidFill>
                  <a:srgbClr val="2B3440"/>
                </a:solidFill>
                <a:latin typeface="Calibri"/>
              </a:rPr>
              <a:t>Écrire</a:t>
            </a:r>
            <a:r>
              <a:rPr sz="1600" b="0" i="0" dirty="0">
                <a:solidFill>
                  <a:srgbClr val="2B3440"/>
                </a:solidFill>
                <a:latin typeface="Calibri"/>
              </a:rPr>
              <a:t> et lire </a:t>
            </a:r>
            <a:r>
              <a:rPr sz="1600" b="0" i="0" dirty="0" err="1">
                <a:solidFill>
                  <a:srgbClr val="2B3440"/>
                </a:solidFill>
                <a:latin typeface="Calibri"/>
              </a:rPr>
              <a:t>une</a:t>
            </a:r>
            <a:r>
              <a:rPr sz="1600" b="0" i="0" dirty="0">
                <a:solidFill>
                  <a:srgbClr val="2B3440"/>
                </a:solidFill>
                <a:latin typeface="Calibri"/>
              </a:rPr>
              <a:t> training loop </a:t>
            </a:r>
            <a:r>
              <a:rPr sz="1600" b="0" i="0" dirty="0" err="1">
                <a:solidFill>
                  <a:srgbClr val="2B3440"/>
                </a:solidFill>
                <a:latin typeface="Calibri"/>
              </a:rPr>
              <a:t>PyTorch</a:t>
            </a:r>
            <a:r>
              <a:rPr sz="1600" b="0" i="0" dirty="0">
                <a:solidFill>
                  <a:srgbClr val="2B3440"/>
                </a:solidFill>
                <a:latin typeface="Calibri"/>
              </a:rPr>
              <a:t> </a:t>
            </a:r>
            <a:r>
              <a:rPr sz="1600" b="0" i="0" dirty="0" err="1">
                <a:solidFill>
                  <a:srgbClr val="2B3440"/>
                </a:solidFill>
                <a:latin typeface="Calibri"/>
              </a:rPr>
              <a:t>complète</a:t>
            </a:r>
            <a:r>
              <a:rPr sz="1600" b="0" i="0" dirty="0">
                <a:solidFill>
                  <a:srgbClr val="2B3440"/>
                </a:solidFill>
                <a:latin typeface="Calibri"/>
              </a:rPr>
              <a:t>, sans data leakage.</a:t>
            </a:r>
          </a:p>
        </p:txBody>
      </p:sp>
      <p:sp>
        <p:nvSpPr>
          <p:cNvPr id="11" name="Rounded Rectangle 10"/>
          <p:cNvSpPr/>
          <p:nvPr/>
        </p:nvSpPr>
        <p:spPr>
          <a:xfrm>
            <a:off x="566928" y="4302252"/>
            <a:ext cx="11057839" cy="586740"/>
          </a:xfrm>
          <a:prstGeom prst="roundRect">
            <a:avLst>
              <a:gd name="adj" fmla="val 21818"/>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457763"/>
            <a:ext cx="10472623" cy="275717"/>
          </a:xfrm>
          <a:prstGeom prst="rect">
            <a:avLst/>
          </a:prstGeom>
          <a:noFill/>
        </p:spPr>
        <p:txBody>
          <a:bodyPr wrap="square" lIns="0" tIns="0" rIns="0" bIns="0" anchor="ctr">
            <a:spAutoFit/>
          </a:bodyPr>
          <a:lstStyle/>
          <a:p>
            <a:pPr algn="l">
              <a:lnSpc>
                <a:spcPct val="120000"/>
              </a:lnSpc>
            </a:pPr>
            <a:r>
              <a:rPr sz="1600" b="1" i="0" dirty="0">
                <a:solidFill>
                  <a:srgbClr val="6D2E46"/>
                </a:solidFill>
                <a:latin typeface="Calibri"/>
              </a:rPr>
              <a:t>4  </a:t>
            </a:r>
            <a:r>
              <a:rPr sz="1600" b="0" i="0" dirty="0" err="1">
                <a:solidFill>
                  <a:srgbClr val="2B3440"/>
                </a:solidFill>
                <a:latin typeface="Calibri"/>
              </a:rPr>
              <a:t>Diagnostiquer</a:t>
            </a:r>
            <a:r>
              <a:rPr sz="1600" b="0" i="0" dirty="0">
                <a:solidFill>
                  <a:srgbClr val="2B3440"/>
                </a:solidFill>
                <a:latin typeface="Calibri"/>
              </a:rPr>
              <a:t> un </a:t>
            </a:r>
            <a:r>
              <a:rPr sz="1600" b="0" i="0" dirty="0" err="1">
                <a:solidFill>
                  <a:srgbClr val="2B3440"/>
                </a:solidFill>
                <a:latin typeface="Calibri"/>
              </a:rPr>
              <a:t>entraînement</a:t>
            </a:r>
            <a:r>
              <a:rPr sz="1600" b="0" i="0" dirty="0">
                <a:solidFill>
                  <a:srgbClr val="2B3440"/>
                </a:solidFill>
                <a:latin typeface="Calibri"/>
              </a:rPr>
              <a:t> à </a:t>
            </a:r>
            <a:r>
              <a:rPr sz="1600" b="0" i="0" dirty="0" err="1">
                <a:solidFill>
                  <a:srgbClr val="2B3440"/>
                </a:solidFill>
                <a:latin typeface="Calibri"/>
              </a:rPr>
              <a:t>partir</a:t>
            </a:r>
            <a:r>
              <a:rPr sz="1600" b="0" i="0" dirty="0">
                <a:solidFill>
                  <a:srgbClr val="2B3440"/>
                </a:solidFill>
                <a:latin typeface="Calibri"/>
              </a:rPr>
              <a:t> de </a:t>
            </a:r>
            <a:r>
              <a:rPr sz="1600" b="0" i="0" dirty="0" err="1">
                <a:solidFill>
                  <a:srgbClr val="2B3440"/>
                </a:solidFill>
                <a:latin typeface="Calibri"/>
              </a:rPr>
              <a:t>ses</a:t>
            </a:r>
            <a:r>
              <a:rPr sz="1600" b="0" i="0" dirty="0">
                <a:solidFill>
                  <a:srgbClr val="2B3440"/>
                </a:solidFill>
                <a:latin typeface="Calibri"/>
              </a:rPr>
              <a:t> </a:t>
            </a:r>
            <a:r>
              <a:rPr sz="1600" b="0" i="0" dirty="0" err="1">
                <a:solidFill>
                  <a:srgbClr val="2B3440"/>
                </a:solidFill>
                <a:latin typeface="Calibri"/>
              </a:rPr>
              <a:t>courbes</a:t>
            </a:r>
            <a:r>
              <a:rPr sz="1600" b="0" i="0" dirty="0">
                <a:solidFill>
                  <a:srgbClr val="2B3440"/>
                </a:solidFill>
                <a:latin typeface="Calibri"/>
              </a:rPr>
              <a:t>, et </a:t>
            </a:r>
            <a:r>
              <a:rPr sz="1600" b="0" i="0" dirty="0" err="1">
                <a:solidFill>
                  <a:srgbClr val="2B3440"/>
                </a:solidFill>
                <a:latin typeface="Calibri"/>
              </a:rPr>
              <a:t>choisir</a:t>
            </a:r>
            <a:r>
              <a:rPr sz="1600" b="0" i="0" dirty="0">
                <a:solidFill>
                  <a:srgbClr val="2B3440"/>
                </a:solidFill>
                <a:latin typeface="Calibri"/>
              </a:rPr>
              <a:t> </a:t>
            </a:r>
            <a:r>
              <a:rPr sz="1600" b="0" i="0" dirty="0" err="1">
                <a:solidFill>
                  <a:srgbClr val="2B3440"/>
                </a:solidFill>
                <a:latin typeface="Calibri"/>
              </a:rPr>
              <a:t>l'action</a:t>
            </a:r>
            <a:r>
              <a:rPr sz="1600" b="0" i="0" dirty="0">
                <a:solidFill>
                  <a:srgbClr val="2B3440"/>
                </a:solidFill>
                <a:latin typeface="Calibri"/>
              </a:rPr>
              <a:t>.</a:t>
            </a:r>
          </a:p>
        </p:txBody>
      </p:sp>
      <p:sp>
        <p:nvSpPr>
          <p:cNvPr id="13" name="Rounded Rectangle 12"/>
          <p:cNvSpPr/>
          <p:nvPr/>
        </p:nvSpPr>
        <p:spPr>
          <a:xfrm>
            <a:off x="566928" y="5035296"/>
            <a:ext cx="11057839" cy="586740"/>
          </a:xfrm>
          <a:prstGeom prst="roundRect">
            <a:avLst>
              <a:gd name="adj" fmla="val 21818"/>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5190807"/>
            <a:ext cx="10472623" cy="275717"/>
          </a:xfrm>
          <a:prstGeom prst="rect">
            <a:avLst/>
          </a:prstGeom>
          <a:noFill/>
        </p:spPr>
        <p:txBody>
          <a:bodyPr wrap="square" lIns="0" tIns="0" rIns="0" bIns="0" anchor="ctr">
            <a:spAutoFit/>
          </a:bodyPr>
          <a:lstStyle/>
          <a:p>
            <a:pPr algn="l">
              <a:lnSpc>
                <a:spcPct val="120000"/>
              </a:lnSpc>
            </a:pPr>
            <a:r>
              <a:rPr sz="1600" b="1" i="0" dirty="0">
                <a:solidFill>
                  <a:srgbClr val="6D2E46"/>
                </a:solidFill>
                <a:latin typeface="Calibri"/>
              </a:rPr>
              <a:t>5  </a:t>
            </a:r>
            <a:r>
              <a:rPr sz="1600" b="0" i="0" dirty="0">
                <a:solidFill>
                  <a:srgbClr val="2B3440"/>
                </a:solidFill>
                <a:latin typeface="Calibri"/>
              </a:rPr>
              <a:t>Justifier </a:t>
            </a:r>
            <a:r>
              <a:rPr sz="1600" b="0" i="0" dirty="0" err="1">
                <a:solidFill>
                  <a:srgbClr val="2B3440"/>
                </a:solidFill>
                <a:latin typeface="Calibri"/>
              </a:rPr>
              <a:t>chaque</a:t>
            </a:r>
            <a:r>
              <a:rPr sz="1600" b="0" i="0" dirty="0">
                <a:solidFill>
                  <a:srgbClr val="2B3440"/>
                </a:solidFill>
                <a:latin typeface="Calibri"/>
              </a:rPr>
              <a:t> </a:t>
            </a:r>
            <a:r>
              <a:rPr sz="1600" b="0" i="0" dirty="0" err="1">
                <a:solidFill>
                  <a:srgbClr val="2B3440"/>
                </a:solidFill>
                <a:latin typeface="Calibri"/>
              </a:rPr>
              <a:t>régularisateur</a:t>
            </a:r>
            <a:r>
              <a:rPr sz="1600" b="0" i="0" dirty="0">
                <a:solidFill>
                  <a:srgbClr val="2B3440"/>
                </a:solidFill>
                <a:latin typeface="Calibri"/>
              </a:rPr>
              <a:t> par le </a:t>
            </a:r>
            <a:r>
              <a:rPr sz="1600" b="0" i="0" dirty="0" err="1">
                <a:solidFill>
                  <a:srgbClr val="2B3440"/>
                </a:solidFill>
                <a:latin typeface="Calibri"/>
              </a:rPr>
              <a:t>problème</a:t>
            </a:r>
            <a:r>
              <a:rPr sz="1600" b="0" i="0" dirty="0">
                <a:solidFill>
                  <a:srgbClr val="2B3440"/>
                </a:solidFill>
                <a:latin typeface="Calibri"/>
              </a:rPr>
              <a:t> </a:t>
            </a:r>
            <a:r>
              <a:rPr sz="1600" b="0" i="0" dirty="0" err="1">
                <a:solidFill>
                  <a:srgbClr val="2B3440"/>
                </a:solidFill>
                <a:latin typeface="Calibri"/>
              </a:rPr>
              <a:t>qu'il</a:t>
            </a:r>
            <a:r>
              <a:rPr sz="1600" b="0" i="0" dirty="0">
                <a:solidFill>
                  <a:srgbClr val="2B3440"/>
                </a:solidFill>
                <a:latin typeface="Calibri"/>
              </a:rPr>
              <a:t> </a:t>
            </a:r>
            <a:r>
              <a:rPr sz="1600" b="0" i="0" dirty="0" err="1">
                <a:solidFill>
                  <a:srgbClr val="2B3440"/>
                </a:solidFill>
                <a:latin typeface="Calibri"/>
              </a:rPr>
              <a:t>traite</a:t>
            </a:r>
            <a:r>
              <a:rPr sz="1600" b="0" i="0" dirty="0">
                <a:solidFill>
                  <a:srgbClr val="2B3440"/>
                </a:solidFill>
                <a:latin typeface="Calibri"/>
              </a:rPr>
              <a:t>, et le </a:t>
            </a:r>
            <a:r>
              <a:rPr sz="1600" b="0" i="0" dirty="0" err="1">
                <a:solidFill>
                  <a:srgbClr val="2B3440"/>
                </a:solidFill>
                <a:latin typeface="Calibri"/>
              </a:rPr>
              <a:t>prouver</a:t>
            </a:r>
            <a:r>
              <a:rPr sz="1600" b="0" i="0" dirty="0">
                <a:solidFill>
                  <a:srgbClr val="2B3440"/>
                </a:solidFill>
                <a:latin typeface="Calibri"/>
              </a:rPr>
              <a:t> par </a:t>
            </a:r>
            <a:r>
              <a:rPr sz="1600" b="0" i="0" dirty="0" err="1">
                <a:solidFill>
                  <a:srgbClr val="2B3440"/>
                </a:solidFill>
                <a:latin typeface="Calibri"/>
              </a:rPr>
              <a:t>une</a:t>
            </a:r>
            <a:r>
              <a:rPr sz="1600" b="0" i="0" dirty="0">
                <a:solidFill>
                  <a:srgbClr val="2B3440"/>
                </a:solidFill>
                <a:latin typeface="Calibri"/>
              </a:rPr>
              <a:t> ablation.</a:t>
            </a:r>
          </a:p>
        </p:txBody>
      </p:sp>
      <p:sp>
        <p:nvSpPr>
          <p:cNvPr id="15" name="Rounded Rectangle 14"/>
          <p:cNvSpPr/>
          <p:nvPr/>
        </p:nvSpPr>
        <p:spPr>
          <a:xfrm>
            <a:off x="566928" y="5768340"/>
            <a:ext cx="11057839" cy="586740"/>
          </a:xfrm>
          <a:prstGeom prst="roundRect">
            <a:avLst>
              <a:gd name="adj" fmla="val 21818"/>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5923851"/>
            <a:ext cx="10472623" cy="275717"/>
          </a:xfrm>
          <a:prstGeom prst="rect">
            <a:avLst/>
          </a:prstGeom>
          <a:noFill/>
        </p:spPr>
        <p:txBody>
          <a:bodyPr wrap="square" lIns="0" tIns="0" rIns="0" bIns="0" anchor="ctr">
            <a:spAutoFit/>
          </a:bodyPr>
          <a:lstStyle/>
          <a:p>
            <a:pPr algn="l">
              <a:lnSpc>
                <a:spcPct val="120000"/>
              </a:lnSpc>
            </a:pPr>
            <a:r>
              <a:rPr sz="1600" b="1" i="0" dirty="0">
                <a:solidFill>
                  <a:srgbClr val="6D2E46"/>
                </a:solidFill>
                <a:latin typeface="Calibri"/>
              </a:rPr>
              <a:t>6  </a:t>
            </a:r>
            <a:r>
              <a:rPr sz="1600" b="0" i="0" dirty="0">
                <a:solidFill>
                  <a:srgbClr val="2B3440"/>
                </a:solidFill>
                <a:latin typeface="Calibri"/>
              </a:rPr>
              <a:t>Dire, </a:t>
            </a:r>
            <a:r>
              <a:rPr sz="1600" b="0" i="0" dirty="0" err="1">
                <a:solidFill>
                  <a:srgbClr val="2B3440"/>
                </a:solidFill>
                <a:latin typeface="Calibri"/>
              </a:rPr>
              <a:t>preuves</a:t>
            </a:r>
            <a:r>
              <a:rPr sz="1600" b="0" i="0" dirty="0">
                <a:solidFill>
                  <a:srgbClr val="2B3440"/>
                </a:solidFill>
                <a:latin typeface="Calibri"/>
              </a:rPr>
              <a:t> à </a:t>
            </a:r>
            <a:r>
              <a:rPr sz="1600" b="0" i="0" dirty="0" err="1">
                <a:solidFill>
                  <a:srgbClr val="2B3440"/>
                </a:solidFill>
                <a:latin typeface="Calibri"/>
              </a:rPr>
              <a:t>l'appui</a:t>
            </a:r>
            <a:r>
              <a:rPr sz="1600" b="0" i="0" dirty="0">
                <a:solidFill>
                  <a:srgbClr val="2B3440"/>
                </a:solidFill>
                <a:latin typeface="Calibri"/>
              </a:rPr>
              <a:t>, </a:t>
            </a:r>
            <a:r>
              <a:rPr sz="1600" b="0" i="0" dirty="0" err="1">
                <a:solidFill>
                  <a:srgbClr val="2B3440"/>
                </a:solidFill>
                <a:latin typeface="Calibri"/>
              </a:rPr>
              <a:t>quand</a:t>
            </a:r>
            <a:r>
              <a:rPr sz="1600" b="0" i="0" dirty="0">
                <a:solidFill>
                  <a:srgbClr val="2B3440"/>
                </a:solidFill>
                <a:latin typeface="Calibri"/>
              </a:rPr>
              <a:t> un réseau </a:t>
            </a:r>
            <a:r>
              <a:rPr sz="1600" b="0" i="0" dirty="0" err="1">
                <a:solidFill>
                  <a:srgbClr val="2B3440"/>
                </a:solidFill>
                <a:latin typeface="Calibri"/>
              </a:rPr>
              <a:t>n'est</a:t>
            </a:r>
            <a:r>
              <a:rPr sz="1600" b="0" i="0" dirty="0">
                <a:solidFill>
                  <a:srgbClr val="2B3440"/>
                </a:solidFill>
                <a:latin typeface="Calibri"/>
              </a:rPr>
              <a:t> pas le bon </a:t>
            </a:r>
            <a:r>
              <a:rPr sz="1600" b="0" i="0" dirty="0" err="1">
                <a:solidFill>
                  <a:srgbClr val="2B3440"/>
                </a:solidFill>
                <a:latin typeface="Calibri"/>
              </a:rPr>
              <a:t>outil</a:t>
            </a:r>
            <a:r>
              <a:rPr sz="1600" b="0" i="0" dirty="0">
                <a:solidFill>
                  <a:srgbClr val="2B3440"/>
                </a:solidFill>
                <a:latin typeface="Calibri"/>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BLOC 3 · DEEP LEARNING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déroulé des quatre heures</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182752" cy="310896"/>
          </a:xfrm>
          <a:prstGeom prst="rect">
            <a:avLst/>
          </a:prstGeom>
          <a:noFill/>
        </p:spPr>
        <p:txBody>
          <a:bodyPr wrap="square" lIns="0" tIns="0" rIns="0" bIns="0" anchor="ctr">
            <a:spAutoFit/>
          </a:bodyPr>
          <a:lstStyle/>
          <a:p>
            <a:pPr algn="r"/>
            <a:endParaRPr/>
          </a:p>
        </p:txBody>
      </p:sp>
      <p:sp>
        <p:nvSpPr>
          <p:cNvPr id="6" name="TextBox 5"/>
          <p:cNvSpPr txBox="1"/>
          <p:nvPr/>
        </p:nvSpPr>
        <p:spPr>
          <a:xfrm>
            <a:off x="1243456" y="1901952"/>
            <a:ext cx="3459149" cy="310896"/>
          </a:xfrm>
          <a:prstGeom prst="rect">
            <a:avLst/>
          </a:prstGeom>
          <a:noFill/>
        </p:spPr>
        <p:txBody>
          <a:bodyPr wrap="square" lIns="0" tIns="0" rIns="0" bIns="0" anchor="ctr">
            <a:spAutoFit/>
          </a:bodyPr>
          <a:lstStyle/>
          <a:p>
            <a:pPr algn="l"/>
            <a:r>
              <a:rPr sz="1300" b="1" i="0">
                <a:solidFill>
                  <a:srgbClr val="6D2E46"/>
                </a:solidFill>
                <a:latin typeface="Calibri"/>
              </a:rPr>
              <a:t>Partie</a:t>
            </a:r>
          </a:p>
        </p:txBody>
      </p:sp>
      <p:sp>
        <p:nvSpPr>
          <p:cNvPr id="7" name="TextBox 6"/>
          <p:cNvSpPr txBox="1"/>
          <p:nvPr/>
        </p:nvSpPr>
        <p:spPr>
          <a:xfrm>
            <a:off x="5031790" y="1901952"/>
            <a:ext cx="5404510" cy="310896"/>
          </a:xfrm>
          <a:prstGeom prst="rect">
            <a:avLst/>
          </a:prstGeom>
          <a:noFill/>
        </p:spPr>
        <p:txBody>
          <a:bodyPr wrap="square" lIns="0" tIns="0" rIns="0" bIns="0" anchor="ctr">
            <a:spAutoFit/>
          </a:bodyPr>
          <a:lstStyle/>
          <a:p>
            <a:pPr algn="l"/>
            <a:r>
              <a:rPr sz="1300" b="1" i="0">
                <a:solidFill>
                  <a:srgbClr val="6D2E46"/>
                </a:solidFill>
                <a:latin typeface="Calibri"/>
              </a:rPr>
              <a:t>La question</a:t>
            </a:r>
          </a:p>
        </p:txBody>
      </p:sp>
      <p:sp>
        <p:nvSpPr>
          <p:cNvPr id="8" name="TextBox 7"/>
          <p:cNvSpPr txBox="1"/>
          <p:nvPr/>
        </p:nvSpPr>
        <p:spPr>
          <a:xfrm>
            <a:off x="10765485" y="1901952"/>
            <a:ext cx="694689" cy="310896"/>
          </a:xfrm>
          <a:prstGeom prst="rect">
            <a:avLst/>
          </a:prstGeom>
          <a:noFill/>
        </p:spPr>
        <p:txBody>
          <a:bodyPr wrap="square" lIns="0" tIns="0" rIns="0" bIns="0" anchor="ctr">
            <a:spAutoFit/>
          </a:bodyPr>
          <a:lstStyle/>
          <a:p>
            <a:pPr algn="r"/>
            <a:r>
              <a:rPr sz="1300" b="1" i="0">
                <a:solidFill>
                  <a:srgbClr val="6D2E46"/>
                </a:solidFill>
                <a:latin typeface="Calibri"/>
              </a:rPr>
              <a:t>Minutes</a:t>
            </a:r>
          </a:p>
        </p:txBody>
      </p:sp>
      <p:sp>
        <p:nvSpPr>
          <p:cNvPr id="9" name="Rectangle 8"/>
          <p:cNvSpPr/>
          <p:nvPr/>
        </p:nvSpPr>
        <p:spPr>
          <a:xfrm>
            <a:off x="566928" y="2267712"/>
            <a:ext cx="11057839" cy="492469"/>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182752" cy="382741"/>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11" name="TextBox 10"/>
          <p:cNvSpPr txBox="1"/>
          <p:nvPr/>
        </p:nvSpPr>
        <p:spPr>
          <a:xfrm>
            <a:off x="1243456" y="2322576"/>
            <a:ext cx="3459149" cy="382741"/>
          </a:xfrm>
          <a:prstGeom prst="rect">
            <a:avLst/>
          </a:prstGeom>
          <a:noFill/>
        </p:spPr>
        <p:txBody>
          <a:bodyPr wrap="square" lIns="0" tIns="0" rIns="0" bIns="0" anchor="ctr">
            <a:spAutoFit/>
          </a:bodyPr>
          <a:lstStyle/>
          <a:p>
            <a:pPr algn="l"/>
            <a:r>
              <a:rPr sz="1400" b="0" i="0">
                <a:solidFill>
                  <a:srgbClr val="2B3440"/>
                </a:solidFill>
                <a:latin typeface="Calibri"/>
              </a:rPr>
              <a:t>Ouverture</a:t>
            </a:r>
          </a:p>
        </p:txBody>
      </p:sp>
      <p:sp>
        <p:nvSpPr>
          <p:cNvPr id="12" name="TextBox 11"/>
          <p:cNvSpPr txBox="1"/>
          <p:nvPr/>
        </p:nvSpPr>
        <p:spPr>
          <a:xfrm>
            <a:off x="5031790" y="2322576"/>
            <a:ext cx="5404510" cy="382741"/>
          </a:xfrm>
          <a:prstGeom prst="rect">
            <a:avLst/>
          </a:prstGeom>
          <a:noFill/>
        </p:spPr>
        <p:txBody>
          <a:bodyPr wrap="square" lIns="0" tIns="0" rIns="0" bIns="0" anchor="ctr">
            <a:spAutoFit/>
          </a:bodyPr>
          <a:lstStyle/>
          <a:p>
            <a:pPr algn="l"/>
            <a:r>
              <a:rPr sz="1400" b="0" i="0">
                <a:solidFill>
                  <a:srgbClr val="2B3440"/>
                </a:solidFill>
                <a:latin typeface="Calibri"/>
              </a:rPr>
              <a:t>D'où partons-nous ?</a:t>
            </a:r>
          </a:p>
        </p:txBody>
      </p:sp>
      <p:sp>
        <p:nvSpPr>
          <p:cNvPr id="13" name="TextBox 12"/>
          <p:cNvSpPr txBox="1"/>
          <p:nvPr/>
        </p:nvSpPr>
        <p:spPr>
          <a:xfrm>
            <a:off x="10765485" y="2322576"/>
            <a:ext cx="694689" cy="382741"/>
          </a:xfrm>
          <a:prstGeom prst="rect">
            <a:avLst/>
          </a:prstGeom>
          <a:noFill/>
        </p:spPr>
        <p:txBody>
          <a:bodyPr wrap="square" lIns="0" tIns="0" rIns="0" bIns="0" anchor="ctr">
            <a:spAutoFit/>
          </a:bodyPr>
          <a:lstStyle/>
          <a:p>
            <a:pPr algn="r"/>
            <a:r>
              <a:rPr sz="1400" b="0" i="0">
                <a:solidFill>
                  <a:srgbClr val="2B3440"/>
                </a:solidFill>
                <a:latin typeface="Calibri"/>
              </a:rPr>
              <a:t>9</a:t>
            </a:r>
          </a:p>
        </p:txBody>
      </p:sp>
      <p:sp>
        <p:nvSpPr>
          <p:cNvPr id="14" name="Rectangle 13"/>
          <p:cNvSpPr/>
          <p:nvPr/>
        </p:nvSpPr>
        <p:spPr>
          <a:xfrm>
            <a:off x="566928" y="2760181"/>
            <a:ext cx="11057839" cy="49246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815045"/>
            <a:ext cx="182752" cy="382741"/>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16" name="TextBox 15"/>
          <p:cNvSpPr txBox="1"/>
          <p:nvPr/>
        </p:nvSpPr>
        <p:spPr>
          <a:xfrm>
            <a:off x="1243456" y="2815045"/>
            <a:ext cx="3459149" cy="382741"/>
          </a:xfrm>
          <a:prstGeom prst="rect">
            <a:avLst/>
          </a:prstGeom>
          <a:noFill/>
        </p:spPr>
        <p:txBody>
          <a:bodyPr wrap="square" lIns="0" tIns="0" rIns="0" bIns="0" anchor="ctr">
            <a:spAutoFit/>
          </a:bodyPr>
          <a:lstStyle/>
          <a:p>
            <a:pPr algn="l"/>
            <a:r>
              <a:rPr sz="1400" b="0" i="0">
                <a:solidFill>
                  <a:srgbClr val="2B3440"/>
                </a:solidFill>
                <a:latin typeface="Calibri"/>
              </a:rPr>
              <a:t>Séance 8 · Représenter et apprendre</a:t>
            </a:r>
          </a:p>
        </p:txBody>
      </p:sp>
      <p:sp>
        <p:nvSpPr>
          <p:cNvPr id="17" name="TextBox 16"/>
          <p:cNvSpPr txBox="1"/>
          <p:nvPr/>
        </p:nvSpPr>
        <p:spPr>
          <a:xfrm>
            <a:off x="5031790" y="2815045"/>
            <a:ext cx="5404510" cy="382741"/>
          </a:xfrm>
          <a:prstGeom prst="rect">
            <a:avLst/>
          </a:prstGeom>
          <a:noFill/>
        </p:spPr>
        <p:txBody>
          <a:bodyPr wrap="square" lIns="0" tIns="0" rIns="0" bIns="0" anchor="ctr">
            <a:spAutoFit/>
          </a:bodyPr>
          <a:lstStyle/>
          <a:p>
            <a:pPr algn="l"/>
            <a:r>
              <a:rPr sz="1400" b="0" i="0">
                <a:solidFill>
                  <a:srgbClr val="2B3440"/>
                </a:solidFill>
                <a:latin typeface="Calibri"/>
              </a:rPr>
              <a:t>Que peut calculer un réseau, et comment apprend-il ?</a:t>
            </a:r>
          </a:p>
        </p:txBody>
      </p:sp>
      <p:sp>
        <p:nvSpPr>
          <p:cNvPr id="18" name="TextBox 17"/>
          <p:cNvSpPr txBox="1"/>
          <p:nvPr/>
        </p:nvSpPr>
        <p:spPr>
          <a:xfrm>
            <a:off x="10765485" y="2815045"/>
            <a:ext cx="694689" cy="382741"/>
          </a:xfrm>
          <a:prstGeom prst="rect">
            <a:avLst/>
          </a:prstGeom>
          <a:noFill/>
        </p:spPr>
        <p:txBody>
          <a:bodyPr wrap="square" lIns="0" tIns="0" rIns="0" bIns="0" anchor="ctr">
            <a:spAutoFit/>
          </a:bodyPr>
          <a:lstStyle/>
          <a:p>
            <a:pPr algn="r"/>
            <a:r>
              <a:rPr sz="1400" b="0" i="0">
                <a:solidFill>
                  <a:srgbClr val="2B3440"/>
                </a:solidFill>
                <a:latin typeface="Calibri"/>
              </a:rPr>
              <a:t>84</a:t>
            </a:r>
          </a:p>
        </p:txBody>
      </p:sp>
      <p:sp>
        <p:nvSpPr>
          <p:cNvPr id="19" name="Rectangle 18"/>
          <p:cNvSpPr/>
          <p:nvPr/>
        </p:nvSpPr>
        <p:spPr>
          <a:xfrm>
            <a:off x="566928" y="3252651"/>
            <a:ext cx="11057839" cy="492469"/>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307515"/>
            <a:ext cx="182752" cy="382741"/>
          </a:xfrm>
          <a:prstGeom prst="rect">
            <a:avLst/>
          </a:prstGeom>
          <a:noFill/>
        </p:spPr>
        <p:txBody>
          <a:bodyPr wrap="square" lIns="0" tIns="0" rIns="0" bIns="0" anchor="ctr">
            <a:spAutoFit/>
          </a:bodyPr>
          <a:lstStyle/>
          <a:p>
            <a:pPr algn="r"/>
            <a:endParaRPr/>
          </a:p>
        </p:txBody>
      </p:sp>
      <p:sp>
        <p:nvSpPr>
          <p:cNvPr id="21" name="TextBox 20"/>
          <p:cNvSpPr txBox="1"/>
          <p:nvPr/>
        </p:nvSpPr>
        <p:spPr>
          <a:xfrm>
            <a:off x="1243456" y="3307515"/>
            <a:ext cx="3459149" cy="382741"/>
          </a:xfrm>
          <a:prstGeom prst="rect">
            <a:avLst/>
          </a:prstGeom>
          <a:noFill/>
        </p:spPr>
        <p:txBody>
          <a:bodyPr wrap="square" lIns="0" tIns="0" rIns="0" bIns="0" anchor="ctr">
            <a:spAutoFit/>
          </a:bodyPr>
          <a:lstStyle/>
          <a:p>
            <a:pPr algn="l"/>
            <a:r>
              <a:rPr sz="1400" b="0" i="0">
                <a:solidFill>
                  <a:srgbClr val="2B3440"/>
                </a:solidFill>
                <a:latin typeface="Calibri"/>
              </a:rPr>
              <a:t>Pause</a:t>
            </a:r>
          </a:p>
        </p:txBody>
      </p:sp>
      <p:sp>
        <p:nvSpPr>
          <p:cNvPr id="22" name="TextBox 21"/>
          <p:cNvSpPr txBox="1"/>
          <p:nvPr/>
        </p:nvSpPr>
        <p:spPr>
          <a:xfrm>
            <a:off x="5031790" y="3307515"/>
            <a:ext cx="5404510" cy="382741"/>
          </a:xfrm>
          <a:prstGeom prst="rect">
            <a:avLst/>
          </a:prstGeom>
          <a:noFill/>
        </p:spPr>
        <p:txBody>
          <a:bodyPr wrap="square" lIns="0" tIns="0" rIns="0" bIns="0" anchor="ctr">
            <a:spAutoFit/>
          </a:bodyPr>
          <a:lstStyle/>
          <a:p>
            <a:pPr algn="l"/>
            <a:endParaRPr/>
          </a:p>
        </p:txBody>
      </p:sp>
      <p:sp>
        <p:nvSpPr>
          <p:cNvPr id="23" name="TextBox 22"/>
          <p:cNvSpPr txBox="1"/>
          <p:nvPr/>
        </p:nvSpPr>
        <p:spPr>
          <a:xfrm>
            <a:off x="10765485" y="3307515"/>
            <a:ext cx="694689" cy="382741"/>
          </a:xfrm>
          <a:prstGeom prst="rect">
            <a:avLst/>
          </a:prstGeom>
          <a:noFill/>
        </p:spPr>
        <p:txBody>
          <a:bodyPr wrap="square" lIns="0" tIns="0" rIns="0" bIns="0" anchor="ctr">
            <a:spAutoFit/>
          </a:bodyPr>
          <a:lstStyle/>
          <a:p>
            <a:pPr algn="r"/>
            <a:r>
              <a:rPr sz="1400" b="0" i="0">
                <a:solidFill>
                  <a:srgbClr val="2B3440"/>
                </a:solidFill>
                <a:latin typeface="Calibri"/>
              </a:rPr>
              <a:t>10</a:t>
            </a:r>
          </a:p>
        </p:txBody>
      </p:sp>
      <p:sp>
        <p:nvSpPr>
          <p:cNvPr id="24" name="Rectangle 23"/>
          <p:cNvSpPr/>
          <p:nvPr/>
        </p:nvSpPr>
        <p:spPr>
          <a:xfrm>
            <a:off x="566928" y="3745121"/>
            <a:ext cx="11057839" cy="49246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799985"/>
            <a:ext cx="182752" cy="382741"/>
          </a:xfrm>
          <a:prstGeom prst="rect">
            <a:avLst/>
          </a:prstGeom>
          <a:noFill/>
        </p:spPr>
        <p:txBody>
          <a:bodyPr wrap="square" lIns="0" tIns="0" rIns="0" bIns="0" anchor="ctr">
            <a:spAutoFit/>
          </a:bodyPr>
          <a:lstStyle/>
          <a:p>
            <a:pPr algn="r"/>
            <a:r>
              <a:rPr sz="1400" b="0" i="0">
                <a:solidFill>
                  <a:srgbClr val="2B3440"/>
                </a:solidFill>
                <a:latin typeface="Calibri"/>
              </a:rPr>
              <a:t>2</a:t>
            </a:r>
          </a:p>
        </p:txBody>
      </p:sp>
      <p:sp>
        <p:nvSpPr>
          <p:cNvPr id="26" name="TextBox 25"/>
          <p:cNvSpPr txBox="1"/>
          <p:nvPr/>
        </p:nvSpPr>
        <p:spPr>
          <a:xfrm>
            <a:off x="1243456" y="3799985"/>
            <a:ext cx="3459149" cy="382741"/>
          </a:xfrm>
          <a:prstGeom prst="rect">
            <a:avLst/>
          </a:prstGeom>
          <a:noFill/>
        </p:spPr>
        <p:txBody>
          <a:bodyPr wrap="square" lIns="0" tIns="0" rIns="0" bIns="0" anchor="ctr">
            <a:spAutoFit/>
          </a:bodyPr>
          <a:lstStyle/>
          <a:p>
            <a:pPr algn="l"/>
            <a:r>
              <a:rPr sz="1400" b="0" i="0">
                <a:solidFill>
                  <a:srgbClr val="2B3440"/>
                </a:solidFill>
                <a:latin typeface="Calibri"/>
              </a:rPr>
              <a:t>Séance 9 · Entraîner en pratique</a:t>
            </a:r>
          </a:p>
        </p:txBody>
      </p:sp>
      <p:sp>
        <p:nvSpPr>
          <p:cNvPr id="27" name="TextBox 26"/>
          <p:cNvSpPr txBox="1"/>
          <p:nvPr/>
        </p:nvSpPr>
        <p:spPr>
          <a:xfrm>
            <a:off x="5031790" y="3799985"/>
            <a:ext cx="5404510" cy="382741"/>
          </a:xfrm>
          <a:prstGeom prst="rect">
            <a:avLst/>
          </a:prstGeom>
          <a:noFill/>
        </p:spPr>
        <p:txBody>
          <a:bodyPr wrap="square" lIns="0" tIns="0" rIns="0" bIns="0" anchor="ctr">
            <a:spAutoFit/>
          </a:bodyPr>
          <a:lstStyle/>
          <a:p>
            <a:pPr algn="l"/>
            <a:r>
              <a:rPr sz="1400" b="0" i="0">
                <a:solidFill>
                  <a:srgbClr val="2B3440"/>
                </a:solidFill>
                <a:latin typeface="Calibri"/>
              </a:rPr>
              <a:t>Comment l'entraîner sur de vraies données, et faut-il le faire ?</a:t>
            </a:r>
          </a:p>
        </p:txBody>
      </p:sp>
      <p:sp>
        <p:nvSpPr>
          <p:cNvPr id="28" name="TextBox 27"/>
          <p:cNvSpPr txBox="1"/>
          <p:nvPr/>
        </p:nvSpPr>
        <p:spPr>
          <a:xfrm>
            <a:off x="10765485" y="3799985"/>
            <a:ext cx="694689" cy="382741"/>
          </a:xfrm>
          <a:prstGeom prst="rect">
            <a:avLst/>
          </a:prstGeom>
          <a:noFill/>
        </p:spPr>
        <p:txBody>
          <a:bodyPr wrap="square" lIns="0" tIns="0" rIns="0" bIns="0" anchor="ctr">
            <a:spAutoFit/>
          </a:bodyPr>
          <a:lstStyle/>
          <a:p>
            <a:pPr algn="r"/>
            <a:r>
              <a:rPr sz="1400" b="0" i="0">
                <a:solidFill>
                  <a:srgbClr val="2B3440"/>
                </a:solidFill>
                <a:latin typeface="Calibri"/>
              </a:rPr>
              <a:t>62</a:t>
            </a:r>
          </a:p>
        </p:txBody>
      </p:sp>
      <p:sp>
        <p:nvSpPr>
          <p:cNvPr id="29" name="Rectangle 28"/>
          <p:cNvSpPr/>
          <p:nvPr/>
        </p:nvSpPr>
        <p:spPr>
          <a:xfrm>
            <a:off x="566928" y="4237590"/>
            <a:ext cx="11057839" cy="492469"/>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292454"/>
            <a:ext cx="182752" cy="382741"/>
          </a:xfrm>
          <a:prstGeom prst="rect">
            <a:avLst/>
          </a:prstGeom>
          <a:noFill/>
        </p:spPr>
        <p:txBody>
          <a:bodyPr wrap="square" lIns="0" tIns="0" rIns="0" bIns="0" anchor="ctr">
            <a:spAutoFit/>
          </a:bodyPr>
          <a:lstStyle/>
          <a:p>
            <a:pPr algn="r"/>
            <a:endParaRPr/>
          </a:p>
        </p:txBody>
      </p:sp>
      <p:sp>
        <p:nvSpPr>
          <p:cNvPr id="31" name="TextBox 30"/>
          <p:cNvSpPr txBox="1"/>
          <p:nvPr/>
        </p:nvSpPr>
        <p:spPr>
          <a:xfrm>
            <a:off x="1243456" y="4292454"/>
            <a:ext cx="3459149" cy="382741"/>
          </a:xfrm>
          <a:prstGeom prst="rect">
            <a:avLst/>
          </a:prstGeom>
          <a:noFill/>
        </p:spPr>
        <p:txBody>
          <a:bodyPr wrap="square" lIns="0" tIns="0" rIns="0" bIns="0" anchor="ctr">
            <a:spAutoFit/>
          </a:bodyPr>
          <a:lstStyle/>
          <a:p>
            <a:pPr algn="l"/>
            <a:r>
              <a:rPr sz="1400" b="0" i="0">
                <a:solidFill>
                  <a:srgbClr val="2B3440"/>
                </a:solidFill>
                <a:latin typeface="Calibri"/>
              </a:rPr>
              <a:t>Pause</a:t>
            </a:r>
          </a:p>
        </p:txBody>
      </p:sp>
      <p:sp>
        <p:nvSpPr>
          <p:cNvPr id="32" name="TextBox 31"/>
          <p:cNvSpPr txBox="1"/>
          <p:nvPr/>
        </p:nvSpPr>
        <p:spPr>
          <a:xfrm>
            <a:off x="5031790" y="4292454"/>
            <a:ext cx="5404510" cy="382741"/>
          </a:xfrm>
          <a:prstGeom prst="rect">
            <a:avLst/>
          </a:prstGeom>
          <a:noFill/>
        </p:spPr>
        <p:txBody>
          <a:bodyPr wrap="square" lIns="0" tIns="0" rIns="0" bIns="0" anchor="ctr">
            <a:spAutoFit/>
          </a:bodyPr>
          <a:lstStyle/>
          <a:p>
            <a:pPr algn="l"/>
            <a:endParaRPr/>
          </a:p>
        </p:txBody>
      </p:sp>
      <p:sp>
        <p:nvSpPr>
          <p:cNvPr id="33" name="TextBox 32"/>
          <p:cNvSpPr txBox="1"/>
          <p:nvPr/>
        </p:nvSpPr>
        <p:spPr>
          <a:xfrm>
            <a:off x="10765485" y="4292454"/>
            <a:ext cx="694689" cy="382741"/>
          </a:xfrm>
          <a:prstGeom prst="rect">
            <a:avLst/>
          </a:prstGeom>
          <a:noFill/>
        </p:spPr>
        <p:txBody>
          <a:bodyPr wrap="square" lIns="0" tIns="0" rIns="0" bIns="0" anchor="ctr">
            <a:spAutoFit/>
          </a:bodyPr>
          <a:lstStyle/>
          <a:p>
            <a:pPr algn="r"/>
            <a:r>
              <a:rPr sz="1400" b="0" i="0">
                <a:solidFill>
                  <a:srgbClr val="2B3440"/>
                </a:solidFill>
                <a:latin typeface="Calibri"/>
              </a:rPr>
              <a:t>10</a:t>
            </a:r>
          </a:p>
        </p:txBody>
      </p:sp>
      <p:sp>
        <p:nvSpPr>
          <p:cNvPr id="34" name="Rectangle 33"/>
          <p:cNvSpPr/>
          <p:nvPr/>
        </p:nvSpPr>
        <p:spPr>
          <a:xfrm>
            <a:off x="566928" y="4730060"/>
            <a:ext cx="11057839" cy="49246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4784924"/>
            <a:ext cx="182752" cy="382741"/>
          </a:xfrm>
          <a:prstGeom prst="rect">
            <a:avLst/>
          </a:prstGeom>
          <a:noFill/>
        </p:spPr>
        <p:txBody>
          <a:bodyPr wrap="square" lIns="0" tIns="0" rIns="0" bIns="0" anchor="ctr">
            <a:spAutoFit/>
          </a:bodyPr>
          <a:lstStyle/>
          <a:p>
            <a:pPr algn="r"/>
            <a:r>
              <a:rPr sz="1400" b="0" i="0">
                <a:solidFill>
                  <a:srgbClr val="2B3440"/>
                </a:solidFill>
                <a:latin typeface="Calibri"/>
              </a:rPr>
              <a:t>3</a:t>
            </a:r>
          </a:p>
        </p:txBody>
      </p:sp>
      <p:sp>
        <p:nvSpPr>
          <p:cNvPr id="36" name="TextBox 35"/>
          <p:cNvSpPr txBox="1"/>
          <p:nvPr/>
        </p:nvSpPr>
        <p:spPr>
          <a:xfrm>
            <a:off x="1243456" y="4784924"/>
            <a:ext cx="3459149" cy="382741"/>
          </a:xfrm>
          <a:prstGeom prst="rect">
            <a:avLst/>
          </a:prstGeom>
          <a:noFill/>
        </p:spPr>
        <p:txBody>
          <a:bodyPr wrap="square" lIns="0" tIns="0" rIns="0" bIns="0" anchor="ctr">
            <a:spAutoFit/>
          </a:bodyPr>
          <a:lstStyle/>
          <a:p>
            <a:pPr algn="l"/>
            <a:r>
              <a:rPr sz="1400" b="0" i="0">
                <a:solidFill>
                  <a:srgbClr val="2B3440"/>
                </a:solidFill>
                <a:latin typeface="Calibri"/>
              </a:rPr>
              <a:t>Séance 10 · Généraliser</a:t>
            </a:r>
          </a:p>
        </p:txBody>
      </p:sp>
      <p:sp>
        <p:nvSpPr>
          <p:cNvPr id="37" name="TextBox 36"/>
          <p:cNvSpPr txBox="1"/>
          <p:nvPr/>
        </p:nvSpPr>
        <p:spPr>
          <a:xfrm>
            <a:off x="5031790" y="4784924"/>
            <a:ext cx="5404510" cy="382741"/>
          </a:xfrm>
          <a:prstGeom prst="rect">
            <a:avLst/>
          </a:prstGeom>
          <a:noFill/>
        </p:spPr>
        <p:txBody>
          <a:bodyPr wrap="square" lIns="0" tIns="0" rIns="0" bIns="0" anchor="ctr">
            <a:spAutoFit/>
          </a:bodyPr>
          <a:lstStyle/>
          <a:p>
            <a:pPr algn="l"/>
            <a:r>
              <a:rPr sz="1400" b="0" i="0">
                <a:solidFill>
                  <a:srgbClr val="2B3440"/>
                </a:solidFill>
                <a:latin typeface="Calibri"/>
              </a:rPr>
              <a:t>Comment l'empêcher d'apprendre par coeur, et comment le prouver ?</a:t>
            </a:r>
          </a:p>
        </p:txBody>
      </p:sp>
      <p:sp>
        <p:nvSpPr>
          <p:cNvPr id="38" name="TextBox 37"/>
          <p:cNvSpPr txBox="1"/>
          <p:nvPr/>
        </p:nvSpPr>
        <p:spPr>
          <a:xfrm>
            <a:off x="10765485" y="4784924"/>
            <a:ext cx="694689" cy="382741"/>
          </a:xfrm>
          <a:prstGeom prst="rect">
            <a:avLst/>
          </a:prstGeom>
          <a:noFill/>
        </p:spPr>
        <p:txBody>
          <a:bodyPr wrap="square" lIns="0" tIns="0" rIns="0" bIns="0" anchor="ctr">
            <a:spAutoFit/>
          </a:bodyPr>
          <a:lstStyle/>
          <a:p>
            <a:pPr algn="r"/>
            <a:r>
              <a:rPr sz="1400" b="0" i="0">
                <a:solidFill>
                  <a:srgbClr val="2B3440"/>
                </a:solidFill>
                <a:latin typeface="Calibri"/>
              </a:rPr>
              <a:t>55</a:t>
            </a:r>
          </a:p>
        </p:txBody>
      </p:sp>
      <p:sp>
        <p:nvSpPr>
          <p:cNvPr id="39" name="Rectangle 38"/>
          <p:cNvSpPr/>
          <p:nvPr/>
        </p:nvSpPr>
        <p:spPr>
          <a:xfrm>
            <a:off x="566928" y="5222530"/>
            <a:ext cx="11057839" cy="492469"/>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1520" y="5277394"/>
            <a:ext cx="182752" cy="382741"/>
          </a:xfrm>
          <a:prstGeom prst="rect">
            <a:avLst/>
          </a:prstGeom>
          <a:noFill/>
        </p:spPr>
        <p:txBody>
          <a:bodyPr wrap="square" lIns="0" tIns="0" rIns="0" bIns="0" anchor="ctr">
            <a:spAutoFit/>
          </a:bodyPr>
          <a:lstStyle/>
          <a:p>
            <a:pPr algn="r"/>
            <a:r>
              <a:rPr sz="1400" b="0" i="0">
                <a:solidFill>
                  <a:srgbClr val="2B3440"/>
                </a:solidFill>
                <a:latin typeface="Calibri"/>
              </a:rPr>
              <a:t>4</a:t>
            </a:r>
          </a:p>
        </p:txBody>
      </p:sp>
      <p:sp>
        <p:nvSpPr>
          <p:cNvPr id="41" name="TextBox 40"/>
          <p:cNvSpPr txBox="1"/>
          <p:nvPr/>
        </p:nvSpPr>
        <p:spPr>
          <a:xfrm>
            <a:off x="1243456" y="5277394"/>
            <a:ext cx="3459149" cy="382741"/>
          </a:xfrm>
          <a:prstGeom prst="rect">
            <a:avLst/>
          </a:prstGeom>
          <a:noFill/>
        </p:spPr>
        <p:txBody>
          <a:bodyPr wrap="square" lIns="0" tIns="0" rIns="0" bIns="0" anchor="ctr">
            <a:spAutoFit/>
          </a:bodyPr>
          <a:lstStyle/>
          <a:p>
            <a:pPr algn="l"/>
            <a:r>
              <a:rPr sz="1400" b="0" i="0">
                <a:solidFill>
                  <a:srgbClr val="2B3440"/>
                </a:solidFill>
                <a:latin typeface="Calibri"/>
              </a:rPr>
              <a:t>Clôture</a:t>
            </a:r>
          </a:p>
        </p:txBody>
      </p:sp>
      <p:sp>
        <p:nvSpPr>
          <p:cNvPr id="42" name="TextBox 41"/>
          <p:cNvSpPr txBox="1"/>
          <p:nvPr/>
        </p:nvSpPr>
        <p:spPr>
          <a:xfrm>
            <a:off x="5031790" y="5277394"/>
            <a:ext cx="5404510" cy="382741"/>
          </a:xfrm>
          <a:prstGeom prst="rect">
            <a:avLst/>
          </a:prstGeom>
          <a:noFill/>
        </p:spPr>
        <p:txBody>
          <a:bodyPr wrap="square" lIns="0" tIns="0" rIns="0" bIns="0" anchor="ctr">
            <a:spAutoFit/>
          </a:bodyPr>
          <a:lstStyle/>
          <a:p>
            <a:pPr algn="l"/>
            <a:r>
              <a:rPr sz="1400" b="0" i="0">
                <a:solidFill>
                  <a:srgbClr val="2B3440"/>
                </a:solidFill>
                <a:latin typeface="Calibri"/>
              </a:rPr>
              <a:t>Ce qui relie les trois séances</a:t>
            </a:r>
          </a:p>
        </p:txBody>
      </p:sp>
      <p:sp>
        <p:nvSpPr>
          <p:cNvPr id="43" name="TextBox 42"/>
          <p:cNvSpPr txBox="1"/>
          <p:nvPr/>
        </p:nvSpPr>
        <p:spPr>
          <a:xfrm>
            <a:off x="10765485" y="5277394"/>
            <a:ext cx="694689" cy="382741"/>
          </a:xfrm>
          <a:prstGeom prst="rect">
            <a:avLst/>
          </a:prstGeom>
          <a:noFill/>
        </p:spPr>
        <p:txBody>
          <a:bodyPr wrap="square" lIns="0" tIns="0" rIns="0" bIns="0" anchor="ctr">
            <a:spAutoFit/>
          </a:bodyPr>
          <a:lstStyle/>
          <a:p>
            <a:pPr algn="r"/>
            <a:r>
              <a:rPr sz="1400" b="0" i="0">
                <a:solidFill>
                  <a:srgbClr val="2B3440"/>
                </a:solidFill>
                <a:latin typeface="Calibri"/>
              </a:rPr>
              <a:t>10</a:t>
            </a:r>
          </a:p>
        </p:txBody>
      </p:sp>
      <p:sp>
        <p:nvSpPr>
          <p:cNvPr id="44" name="Rounded Rectangle 43"/>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Chaque partie s'ouvre sur un rappel des prérequis et se ferme sur une synthèse et un mini-quiz.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BLOC 3 · DEEP LEARNING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229632"/>
          </a:xfrm>
          <a:prstGeom prst="rect">
            <a:avLst/>
          </a:prstGeom>
          <a:noFill/>
        </p:spPr>
        <p:txBody>
          <a:bodyPr wrap="square" lIns="0" tIns="0" rIns="0" bIns="0" anchor="t">
            <a:spAutoFit/>
          </a:bodyPr>
          <a:lstStyle/>
          <a:p>
            <a:pPr algn="ctr">
              <a:lnSpc>
                <a:spcPct val="116000"/>
              </a:lnSpc>
            </a:pPr>
            <a:r>
              <a:rPr sz="3600" b="1" i="0" dirty="0" err="1">
                <a:solidFill>
                  <a:srgbClr val="FFFFFF"/>
                </a:solidFill>
                <a:latin typeface="Cambria"/>
              </a:rPr>
              <a:t>C'est</a:t>
            </a:r>
            <a:r>
              <a:rPr sz="3600" b="1" i="0" dirty="0">
                <a:solidFill>
                  <a:srgbClr val="FFFFFF"/>
                </a:solidFill>
                <a:latin typeface="Cambria"/>
              </a:rPr>
              <a:t> la </a:t>
            </a:r>
            <a:r>
              <a:rPr sz="3600" b="1" i="0" dirty="0" err="1">
                <a:solidFill>
                  <a:srgbClr val="FFFFFF"/>
                </a:solidFill>
                <a:latin typeface="Cambria"/>
              </a:rPr>
              <a:t>troisième</a:t>
            </a:r>
            <a:r>
              <a:rPr sz="3600" b="1" i="0" dirty="0">
                <a:solidFill>
                  <a:srgbClr val="FFFFFF"/>
                </a:solidFill>
                <a:latin typeface="Cambria"/>
              </a:rPr>
              <a:t> </a:t>
            </a:r>
            <a:r>
              <a:rPr sz="3600" b="1" i="0" dirty="0" err="1">
                <a:solidFill>
                  <a:srgbClr val="FFFFFF"/>
                </a:solidFill>
                <a:latin typeface="Cambria"/>
              </a:rPr>
              <a:t>fois</a:t>
            </a:r>
            <a:r>
              <a:rPr sz="3600" b="1" i="0" dirty="0">
                <a:solidFill>
                  <a:srgbClr val="FFFFFF"/>
                </a:solidFill>
                <a:latin typeface="Cambria"/>
              </a:rPr>
              <a:t> </a:t>
            </a:r>
            <a:r>
              <a:rPr sz="3600" b="1" i="0" dirty="0" err="1">
                <a:solidFill>
                  <a:srgbClr val="FFFFFF"/>
                </a:solidFill>
                <a:latin typeface="Cambria"/>
              </a:rPr>
              <a:t>qu</a:t>
            </a:r>
            <a:r>
              <a:rPr lang="fr-FR" sz="3600" b="1" i="0" dirty="0">
                <a:solidFill>
                  <a:srgbClr val="FFFFFF"/>
                </a:solidFill>
                <a:latin typeface="Cambria"/>
              </a:rPr>
              <a:t>’on</a:t>
            </a:r>
            <a:r>
              <a:rPr sz="3600" b="1" i="0" dirty="0">
                <a:solidFill>
                  <a:srgbClr val="FFFFFF"/>
                </a:solidFill>
                <a:latin typeface="Cambria"/>
              </a:rPr>
              <a:t> rencontre le gradient descent.</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En séance 4, comme alternative à l'équation normale. En séance 7, le boosting était un gradient descent dans l'espace des fonctions. Aujourd'hui, il devient littéral : c'est la seule façon d'entraîner un réseau.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BLOC 3 · DEEP LEARNING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Rappel des prérequis, et où ils resservent</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4217964" cy="310896"/>
          </a:xfrm>
          <a:prstGeom prst="rect">
            <a:avLst/>
          </a:prstGeom>
          <a:noFill/>
        </p:spPr>
        <p:txBody>
          <a:bodyPr wrap="square" lIns="0" tIns="0" rIns="0" bIns="0" anchor="ctr">
            <a:spAutoFit/>
          </a:bodyPr>
          <a:lstStyle/>
          <a:p>
            <a:pPr algn="l"/>
            <a:r>
              <a:rPr sz="1300" b="1" i="0">
                <a:solidFill>
                  <a:srgbClr val="6D2E46"/>
                </a:solidFill>
                <a:latin typeface="Calibri"/>
              </a:rPr>
              <a:t>Notion</a:t>
            </a:r>
          </a:p>
        </p:txBody>
      </p:sp>
      <p:sp>
        <p:nvSpPr>
          <p:cNvPr id="6" name="TextBox 5"/>
          <p:cNvSpPr txBox="1"/>
          <p:nvPr/>
        </p:nvSpPr>
        <p:spPr>
          <a:xfrm>
            <a:off x="5278668" y="1901952"/>
            <a:ext cx="600914" cy="310896"/>
          </a:xfrm>
          <a:prstGeom prst="rect">
            <a:avLst/>
          </a:prstGeom>
          <a:noFill/>
        </p:spPr>
        <p:txBody>
          <a:bodyPr wrap="square" lIns="0" tIns="0" rIns="0" bIns="0" anchor="ctr">
            <a:spAutoFit/>
          </a:bodyPr>
          <a:lstStyle/>
          <a:p>
            <a:pPr algn="l"/>
            <a:r>
              <a:rPr sz="1300" b="1" i="0">
                <a:solidFill>
                  <a:srgbClr val="6D2E46"/>
                </a:solidFill>
                <a:latin typeface="Calibri"/>
              </a:rPr>
              <a:t>Séance</a:t>
            </a:r>
          </a:p>
        </p:txBody>
      </p:sp>
      <p:sp>
        <p:nvSpPr>
          <p:cNvPr id="7" name="TextBox 6"/>
          <p:cNvSpPr txBox="1"/>
          <p:nvPr/>
        </p:nvSpPr>
        <p:spPr>
          <a:xfrm>
            <a:off x="6208767" y="1901952"/>
            <a:ext cx="5251407" cy="310896"/>
          </a:xfrm>
          <a:prstGeom prst="rect">
            <a:avLst/>
          </a:prstGeom>
          <a:noFill/>
        </p:spPr>
        <p:txBody>
          <a:bodyPr wrap="square" lIns="0" tIns="0" rIns="0" bIns="0" anchor="ctr">
            <a:spAutoFit/>
          </a:bodyPr>
          <a:lstStyle/>
          <a:p>
            <a:pPr algn="l"/>
            <a:r>
              <a:rPr sz="1300" b="1" i="0">
                <a:solidFill>
                  <a:srgbClr val="6D2E46"/>
                </a:solidFill>
                <a:latin typeface="Calibri"/>
              </a:rPr>
              <a:t>Où elle revient</a:t>
            </a:r>
          </a:p>
        </p:txBody>
      </p:sp>
      <p:sp>
        <p:nvSpPr>
          <p:cNvPr id="8" name="Rectangle 7"/>
          <p:cNvSpPr/>
          <p:nvPr/>
        </p:nvSpPr>
        <p:spPr>
          <a:xfrm>
            <a:off x="566928" y="2267712"/>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4217964" cy="464820"/>
          </a:xfrm>
          <a:prstGeom prst="rect">
            <a:avLst/>
          </a:prstGeom>
          <a:noFill/>
        </p:spPr>
        <p:txBody>
          <a:bodyPr wrap="square" lIns="0" tIns="0" rIns="0" bIns="0" anchor="ctr">
            <a:spAutoFit/>
          </a:bodyPr>
          <a:lstStyle/>
          <a:p>
            <a:pPr algn="l"/>
            <a:r>
              <a:rPr sz="1400" b="0" i="0">
                <a:solidFill>
                  <a:srgbClr val="2B3440"/>
                </a:solidFill>
                <a:latin typeface="Calibri"/>
              </a:rPr>
              <a:t>Scaling, préprocesseur ajusté dans le fold</a:t>
            </a:r>
          </a:p>
        </p:txBody>
      </p:sp>
      <p:sp>
        <p:nvSpPr>
          <p:cNvPr id="10" name="TextBox 9"/>
          <p:cNvSpPr txBox="1"/>
          <p:nvPr/>
        </p:nvSpPr>
        <p:spPr>
          <a:xfrm>
            <a:off x="5278668" y="2322576"/>
            <a:ext cx="600914" cy="464820"/>
          </a:xfrm>
          <a:prstGeom prst="rect">
            <a:avLst/>
          </a:prstGeom>
          <a:noFill/>
        </p:spPr>
        <p:txBody>
          <a:bodyPr wrap="square" lIns="0" tIns="0" rIns="0" bIns="0" anchor="ctr">
            <a:spAutoFit/>
          </a:bodyPr>
          <a:lstStyle/>
          <a:p>
            <a:pPr algn="l"/>
            <a:r>
              <a:rPr sz="1400" b="0" i="0">
                <a:solidFill>
                  <a:srgbClr val="2B3440"/>
                </a:solidFill>
                <a:latin typeface="Calibri"/>
              </a:rPr>
              <a:t>S3</a:t>
            </a:r>
          </a:p>
        </p:txBody>
      </p:sp>
      <p:sp>
        <p:nvSpPr>
          <p:cNvPr id="11" name="TextBox 10"/>
          <p:cNvSpPr txBox="1"/>
          <p:nvPr/>
        </p:nvSpPr>
        <p:spPr>
          <a:xfrm>
            <a:off x="6208767" y="2322576"/>
            <a:ext cx="5251407" cy="464820"/>
          </a:xfrm>
          <a:prstGeom prst="rect">
            <a:avLst/>
          </a:prstGeom>
          <a:noFill/>
        </p:spPr>
        <p:txBody>
          <a:bodyPr wrap="square" lIns="0" tIns="0" rIns="0" bIns="0" anchor="ctr">
            <a:spAutoFit/>
          </a:bodyPr>
          <a:lstStyle/>
          <a:p>
            <a:pPr algn="l"/>
            <a:r>
              <a:rPr sz="1400" b="0" i="0">
                <a:solidFill>
                  <a:srgbClr val="2B3440"/>
                </a:solidFill>
                <a:latin typeface="Calibri"/>
              </a:rPr>
              <a:t>partie 2 : une nécessité mécanique pour un réseau</a:t>
            </a:r>
          </a:p>
        </p:txBody>
      </p:sp>
      <p:sp>
        <p:nvSpPr>
          <p:cNvPr id="12" name="Rectangle 11"/>
          <p:cNvSpPr/>
          <p:nvPr/>
        </p:nvSpPr>
        <p:spPr>
          <a:xfrm>
            <a:off x="566928" y="2842260"/>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897124"/>
            <a:ext cx="4217964" cy="464820"/>
          </a:xfrm>
          <a:prstGeom prst="rect">
            <a:avLst/>
          </a:prstGeom>
          <a:noFill/>
        </p:spPr>
        <p:txBody>
          <a:bodyPr wrap="square" lIns="0" tIns="0" rIns="0" bIns="0" anchor="ctr">
            <a:spAutoFit/>
          </a:bodyPr>
          <a:lstStyle/>
          <a:p>
            <a:pPr algn="l"/>
            <a:r>
              <a:rPr sz="1400" b="0" i="0">
                <a:solidFill>
                  <a:srgbClr val="2B3440"/>
                </a:solidFill>
                <a:latin typeface="Calibri"/>
              </a:rPr>
              <a:t>Gradient descent, learning rate</a:t>
            </a:r>
          </a:p>
        </p:txBody>
      </p:sp>
      <p:sp>
        <p:nvSpPr>
          <p:cNvPr id="14" name="TextBox 13"/>
          <p:cNvSpPr txBox="1"/>
          <p:nvPr/>
        </p:nvSpPr>
        <p:spPr>
          <a:xfrm>
            <a:off x="5278668" y="2897124"/>
            <a:ext cx="600914" cy="464820"/>
          </a:xfrm>
          <a:prstGeom prst="rect">
            <a:avLst/>
          </a:prstGeom>
          <a:noFill/>
        </p:spPr>
        <p:txBody>
          <a:bodyPr wrap="square" lIns="0" tIns="0" rIns="0" bIns="0" anchor="ctr">
            <a:spAutoFit/>
          </a:bodyPr>
          <a:lstStyle/>
          <a:p>
            <a:pPr algn="l"/>
            <a:r>
              <a:rPr sz="1400" b="0" i="0">
                <a:solidFill>
                  <a:srgbClr val="2B3440"/>
                </a:solidFill>
                <a:latin typeface="Calibri"/>
              </a:rPr>
              <a:t>S4</a:t>
            </a:r>
          </a:p>
        </p:txBody>
      </p:sp>
      <p:sp>
        <p:nvSpPr>
          <p:cNvPr id="15" name="TextBox 14"/>
          <p:cNvSpPr txBox="1"/>
          <p:nvPr/>
        </p:nvSpPr>
        <p:spPr>
          <a:xfrm>
            <a:off x="6208767" y="2897124"/>
            <a:ext cx="5251407" cy="464820"/>
          </a:xfrm>
          <a:prstGeom prst="rect">
            <a:avLst/>
          </a:prstGeom>
          <a:noFill/>
        </p:spPr>
        <p:txBody>
          <a:bodyPr wrap="square" lIns="0" tIns="0" rIns="0" bIns="0" anchor="ctr">
            <a:spAutoFit/>
          </a:bodyPr>
          <a:lstStyle/>
          <a:p>
            <a:pPr algn="l"/>
            <a:r>
              <a:rPr sz="1400" b="0" i="0">
                <a:solidFill>
                  <a:srgbClr val="2B3440"/>
                </a:solidFill>
                <a:latin typeface="Calibri"/>
              </a:rPr>
              <a:t>partie 1 : la seule façon d'entraîner</a:t>
            </a:r>
          </a:p>
        </p:txBody>
      </p:sp>
      <p:sp>
        <p:nvSpPr>
          <p:cNvPr id="16" name="Rectangle 15"/>
          <p:cNvSpPr/>
          <p:nvPr/>
        </p:nvSpPr>
        <p:spPr>
          <a:xfrm>
            <a:off x="566928" y="3416808"/>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71672"/>
            <a:ext cx="4217964" cy="464820"/>
          </a:xfrm>
          <a:prstGeom prst="rect">
            <a:avLst/>
          </a:prstGeom>
          <a:noFill/>
        </p:spPr>
        <p:txBody>
          <a:bodyPr wrap="square" lIns="0" tIns="0" rIns="0" bIns="0" anchor="ctr">
            <a:spAutoFit/>
          </a:bodyPr>
          <a:lstStyle/>
          <a:p>
            <a:pPr algn="l"/>
            <a:r>
              <a:rPr sz="1400" b="0" i="0">
                <a:solidFill>
                  <a:srgbClr val="2B3440"/>
                </a:solidFill>
                <a:latin typeface="Calibri"/>
              </a:rPr>
              <a:t>Ridge, bias-variance tradeoff</a:t>
            </a:r>
          </a:p>
        </p:txBody>
      </p:sp>
      <p:sp>
        <p:nvSpPr>
          <p:cNvPr id="18" name="TextBox 17"/>
          <p:cNvSpPr txBox="1"/>
          <p:nvPr/>
        </p:nvSpPr>
        <p:spPr>
          <a:xfrm>
            <a:off x="5278668" y="3471672"/>
            <a:ext cx="600914" cy="464820"/>
          </a:xfrm>
          <a:prstGeom prst="rect">
            <a:avLst/>
          </a:prstGeom>
          <a:noFill/>
        </p:spPr>
        <p:txBody>
          <a:bodyPr wrap="square" lIns="0" tIns="0" rIns="0" bIns="0" anchor="ctr">
            <a:spAutoFit/>
          </a:bodyPr>
          <a:lstStyle/>
          <a:p>
            <a:pPr algn="l"/>
            <a:r>
              <a:rPr sz="1400" b="0" i="0">
                <a:solidFill>
                  <a:srgbClr val="2B3440"/>
                </a:solidFill>
                <a:latin typeface="Calibri"/>
              </a:rPr>
              <a:t>S4</a:t>
            </a:r>
          </a:p>
        </p:txBody>
      </p:sp>
      <p:sp>
        <p:nvSpPr>
          <p:cNvPr id="19" name="TextBox 18"/>
          <p:cNvSpPr txBox="1"/>
          <p:nvPr/>
        </p:nvSpPr>
        <p:spPr>
          <a:xfrm>
            <a:off x="6208767" y="3471672"/>
            <a:ext cx="5251407" cy="464820"/>
          </a:xfrm>
          <a:prstGeom prst="rect">
            <a:avLst/>
          </a:prstGeom>
          <a:noFill/>
        </p:spPr>
        <p:txBody>
          <a:bodyPr wrap="square" lIns="0" tIns="0" rIns="0" bIns="0" anchor="ctr">
            <a:spAutoFit/>
          </a:bodyPr>
          <a:lstStyle/>
          <a:p>
            <a:pPr algn="l"/>
            <a:r>
              <a:rPr sz="1400" b="0" i="0">
                <a:solidFill>
                  <a:srgbClr val="2B3440"/>
                </a:solidFill>
                <a:latin typeface="Calibri"/>
              </a:rPr>
              <a:t>partie 3 : le weight decay est Ridge</a:t>
            </a:r>
          </a:p>
        </p:txBody>
      </p:sp>
      <p:sp>
        <p:nvSpPr>
          <p:cNvPr id="20" name="Rectangle 19"/>
          <p:cNvSpPr/>
          <p:nvPr/>
        </p:nvSpPr>
        <p:spPr>
          <a:xfrm>
            <a:off x="566928" y="3991356"/>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46220"/>
            <a:ext cx="4217964" cy="464820"/>
          </a:xfrm>
          <a:prstGeom prst="rect">
            <a:avLst/>
          </a:prstGeom>
          <a:noFill/>
        </p:spPr>
        <p:txBody>
          <a:bodyPr wrap="square" lIns="0" tIns="0" rIns="0" bIns="0" anchor="ctr">
            <a:spAutoFit/>
          </a:bodyPr>
          <a:lstStyle/>
          <a:p>
            <a:pPr algn="l"/>
            <a:r>
              <a:rPr sz="1400" b="0" i="0">
                <a:solidFill>
                  <a:srgbClr val="2B3440"/>
                </a:solidFill>
                <a:latin typeface="Calibri"/>
              </a:rPr>
              <a:t>Sigmoïde, cross-entropy</a:t>
            </a:r>
          </a:p>
        </p:txBody>
      </p:sp>
      <p:sp>
        <p:nvSpPr>
          <p:cNvPr id="22" name="TextBox 21"/>
          <p:cNvSpPr txBox="1"/>
          <p:nvPr/>
        </p:nvSpPr>
        <p:spPr>
          <a:xfrm>
            <a:off x="5278668" y="4046220"/>
            <a:ext cx="600914" cy="464820"/>
          </a:xfrm>
          <a:prstGeom prst="rect">
            <a:avLst/>
          </a:prstGeom>
          <a:noFill/>
        </p:spPr>
        <p:txBody>
          <a:bodyPr wrap="square" lIns="0" tIns="0" rIns="0" bIns="0" anchor="ctr">
            <a:spAutoFit/>
          </a:bodyPr>
          <a:lstStyle/>
          <a:p>
            <a:pPr algn="l"/>
            <a:r>
              <a:rPr sz="1400" b="0" i="0">
                <a:solidFill>
                  <a:srgbClr val="2B3440"/>
                </a:solidFill>
                <a:latin typeface="Calibri"/>
              </a:rPr>
              <a:t>S5</a:t>
            </a:r>
          </a:p>
        </p:txBody>
      </p:sp>
      <p:sp>
        <p:nvSpPr>
          <p:cNvPr id="23" name="TextBox 22"/>
          <p:cNvSpPr txBox="1"/>
          <p:nvPr/>
        </p:nvSpPr>
        <p:spPr>
          <a:xfrm>
            <a:off x="6208767" y="4046220"/>
            <a:ext cx="5251407" cy="464820"/>
          </a:xfrm>
          <a:prstGeom prst="rect">
            <a:avLst/>
          </a:prstGeom>
          <a:noFill/>
        </p:spPr>
        <p:txBody>
          <a:bodyPr wrap="square" lIns="0" tIns="0" rIns="0" bIns="0" anchor="ctr">
            <a:spAutoFit/>
          </a:bodyPr>
          <a:lstStyle/>
          <a:p>
            <a:pPr algn="l"/>
            <a:r>
              <a:rPr sz="1400" b="0" i="0">
                <a:solidFill>
                  <a:srgbClr val="2B3440"/>
                </a:solidFill>
                <a:latin typeface="Calibri"/>
              </a:rPr>
              <a:t>partie 1 : le gradient a - y</a:t>
            </a:r>
          </a:p>
        </p:txBody>
      </p:sp>
      <p:sp>
        <p:nvSpPr>
          <p:cNvPr id="24" name="Rectangle 23"/>
          <p:cNvSpPr/>
          <p:nvPr/>
        </p:nvSpPr>
        <p:spPr>
          <a:xfrm>
            <a:off x="566928" y="4565904"/>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620767"/>
            <a:ext cx="4217964" cy="464820"/>
          </a:xfrm>
          <a:prstGeom prst="rect">
            <a:avLst/>
          </a:prstGeom>
          <a:noFill/>
        </p:spPr>
        <p:txBody>
          <a:bodyPr wrap="square" lIns="0" tIns="0" rIns="0" bIns="0" anchor="ctr">
            <a:spAutoFit/>
          </a:bodyPr>
          <a:lstStyle/>
          <a:p>
            <a:pPr algn="l"/>
            <a:r>
              <a:rPr sz="1400" b="0" i="0">
                <a:solidFill>
                  <a:srgbClr val="2B3440"/>
                </a:solidFill>
                <a:latin typeface="Calibri"/>
              </a:rPr>
              <a:t>Folds groupés, paired t-test, seeds</a:t>
            </a:r>
          </a:p>
        </p:txBody>
      </p:sp>
      <p:sp>
        <p:nvSpPr>
          <p:cNvPr id="26" name="TextBox 25"/>
          <p:cNvSpPr txBox="1"/>
          <p:nvPr/>
        </p:nvSpPr>
        <p:spPr>
          <a:xfrm>
            <a:off x="5278668" y="4620767"/>
            <a:ext cx="600914" cy="464820"/>
          </a:xfrm>
          <a:prstGeom prst="rect">
            <a:avLst/>
          </a:prstGeom>
          <a:noFill/>
        </p:spPr>
        <p:txBody>
          <a:bodyPr wrap="square" lIns="0" tIns="0" rIns="0" bIns="0" anchor="ctr">
            <a:spAutoFit/>
          </a:bodyPr>
          <a:lstStyle/>
          <a:p>
            <a:pPr algn="l"/>
            <a:r>
              <a:rPr sz="1400" b="0" i="0">
                <a:solidFill>
                  <a:srgbClr val="2B3440"/>
                </a:solidFill>
                <a:latin typeface="Calibri"/>
              </a:rPr>
              <a:t>S6</a:t>
            </a:r>
          </a:p>
        </p:txBody>
      </p:sp>
      <p:sp>
        <p:nvSpPr>
          <p:cNvPr id="27" name="TextBox 26"/>
          <p:cNvSpPr txBox="1"/>
          <p:nvPr/>
        </p:nvSpPr>
        <p:spPr>
          <a:xfrm>
            <a:off x="6208767" y="4620767"/>
            <a:ext cx="5251407" cy="464820"/>
          </a:xfrm>
          <a:prstGeom prst="rect">
            <a:avLst/>
          </a:prstGeom>
          <a:noFill/>
        </p:spPr>
        <p:txBody>
          <a:bodyPr wrap="square" lIns="0" tIns="0" rIns="0" bIns="0" anchor="ctr">
            <a:spAutoFit/>
          </a:bodyPr>
          <a:lstStyle/>
          <a:p>
            <a:pPr algn="l"/>
            <a:r>
              <a:rPr sz="1400" b="0" i="0">
                <a:solidFill>
                  <a:srgbClr val="2B3440"/>
                </a:solidFill>
                <a:latin typeface="Calibri"/>
              </a:rPr>
              <a:t>parties 2 et 3 : comparer, ablation</a:t>
            </a:r>
          </a:p>
        </p:txBody>
      </p:sp>
      <p:sp>
        <p:nvSpPr>
          <p:cNvPr id="28" name="Rectangle 27"/>
          <p:cNvSpPr/>
          <p:nvPr/>
        </p:nvSpPr>
        <p:spPr>
          <a:xfrm>
            <a:off x="566928" y="5140451"/>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5195315"/>
            <a:ext cx="4217964" cy="464820"/>
          </a:xfrm>
          <a:prstGeom prst="rect">
            <a:avLst/>
          </a:prstGeom>
          <a:noFill/>
        </p:spPr>
        <p:txBody>
          <a:bodyPr wrap="square" lIns="0" tIns="0" rIns="0" bIns="0" anchor="ctr">
            <a:spAutoFit/>
          </a:bodyPr>
          <a:lstStyle/>
          <a:p>
            <a:pPr algn="l"/>
            <a:r>
              <a:rPr sz="1400" b="0" i="0">
                <a:solidFill>
                  <a:srgbClr val="2B3440"/>
                </a:solidFill>
                <a:latin typeface="Calibri"/>
              </a:rPr>
              <a:t>HistGradientBoosting, AUC 0,9216</a:t>
            </a:r>
          </a:p>
        </p:txBody>
      </p:sp>
      <p:sp>
        <p:nvSpPr>
          <p:cNvPr id="30" name="TextBox 29"/>
          <p:cNvSpPr txBox="1"/>
          <p:nvPr/>
        </p:nvSpPr>
        <p:spPr>
          <a:xfrm>
            <a:off x="5278668" y="5195315"/>
            <a:ext cx="600914" cy="464820"/>
          </a:xfrm>
          <a:prstGeom prst="rect">
            <a:avLst/>
          </a:prstGeom>
          <a:noFill/>
        </p:spPr>
        <p:txBody>
          <a:bodyPr wrap="square" lIns="0" tIns="0" rIns="0" bIns="0" anchor="ctr">
            <a:spAutoFit/>
          </a:bodyPr>
          <a:lstStyle/>
          <a:p>
            <a:pPr algn="l"/>
            <a:r>
              <a:rPr sz="1400" b="0" i="0">
                <a:solidFill>
                  <a:srgbClr val="2B3440"/>
                </a:solidFill>
                <a:latin typeface="Calibri"/>
              </a:rPr>
              <a:t>S7</a:t>
            </a:r>
          </a:p>
        </p:txBody>
      </p:sp>
      <p:sp>
        <p:nvSpPr>
          <p:cNvPr id="31" name="TextBox 30"/>
          <p:cNvSpPr txBox="1"/>
          <p:nvPr/>
        </p:nvSpPr>
        <p:spPr>
          <a:xfrm>
            <a:off x="6208767" y="5195315"/>
            <a:ext cx="5251407" cy="464820"/>
          </a:xfrm>
          <a:prstGeom prst="rect">
            <a:avLst/>
          </a:prstGeom>
          <a:noFill/>
        </p:spPr>
        <p:txBody>
          <a:bodyPr wrap="square" lIns="0" tIns="0" rIns="0" bIns="0" anchor="ctr">
            <a:spAutoFit/>
          </a:bodyPr>
          <a:lstStyle/>
          <a:p>
            <a:pPr algn="l"/>
            <a:r>
              <a:rPr sz="1400" b="0" i="0">
                <a:solidFill>
                  <a:srgbClr val="2B3440"/>
                </a:solidFill>
                <a:latin typeface="Calibri"/>
              </a:rPr>
              <a:t>partie 2 : le champion à battre</a:t>
            </a:r>
          </a:p>
        </p:txBody>
      </p:sp>
      <p:sp>
        <p:nvSpPr>
          <p:cNvPr id="32" name="Rounded Rectangle 31"/>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Une ligne qui ne vous dit rien : c'est la notion à relire avant les 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BLOC 3 · DEEP LEARNING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La carte du parcours</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6_carte_des_notions.png"/>
          <p:cNvPicPr>
            <a:picLocks noChangeAspect="1"/>
          </p:cNvPicPr>
          <p:nvPr/>
        </p:nvPicPr>
        <p:blipFill>
          <a:blip r:embed="rId3"/>
          <a:stretch>
            <a:fillRect/>
          </a:stretch>
        </p:blipFill>
        <p:spPr>
          <a:xfrm>
            <a:off x="1408832" y="1828800"/>
            <a:ext cx="9374030"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Chaque notion des séances 8 à 10 s'appuie sur une notion déjà vue ; les parenthèses indiquent laquelle. Cette carte revient en clôture.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2214324"/>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600" b="1" i="0">
                <a:solidFill>
                  <a:srgbClr val="12233A"/>
                </a:solidFill>
                <a:latin typeface="Calibri"/>
              </a:rPr>
              <a:t>1</a:t>
            </a: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Représenter et apprendre</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Séance 8. Ce qu'un réseau peut calculer, puis comment il apprend : forward pass, backpropagation, learning rate.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Rappel : ce que fait un modèle linéaire</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Somme pondérée  </a:t>
            </a:r>
            <a:r>
              <a:rPr sz="1600" b="0" i="0">
                <a:solidFill>
                  <a:srgbClr val="2B3440"/>
                </a:solidFill>
                <a:latin typeface="Calibri"/>
              </a:rPr>
              <a:t>z = w·x + b : chaque feature pèse selon son coefficient.</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Logistic regression  </a:t>
            </a:r>
            <a:r>
              <a:rPr sz="1600" b="0" i="0">
                <a:solidFill>
                  <a:srgbClr val="2B3440"/>
                </a:solidFill>
                <a:latin typeface="Calibri"/>
              </a:rPr>
              <a:t>p = σ(z) : la sigmoïde transforme le score en probabilité (séance 5).</a:t>
            </a:r>
          </a:p>
        </p:txBody>
      </p:sp>
      <p:sp>
        <p:nvSpPr>
          <p:cNvPr id="8" name="Rounded Rectangle 7"/>
          <p:cNvSpPr/>
          <p:nvPr/>
        </p:nvSpPr>
        <p:spPr>
          <a:xfrm>
            <a:off x="566928" y="3675887"/>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67327"/>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Frontière  </a:t>
            </a:r>
            <a:r>
              <a:rPr sz="1600" b="0" i="0">
                <a:solidFill>
                  <a:srgbClr val="2B3440"/>
                </a:solidFill>
                <a:latin typeface="Calibri"/>
              </a:rPr>
              <a:t>p = 0,5 là où z = 0 : une </a:t>
            </a:r>
            <a:r>
              <a:rPr sz="1600" b="1" i="0">
                <a:solidFill>
                  <a:srgbClr val="6D2E46"/>
                </a:solidFill>
                <a:latin typeface="Calibri"/>
              </a:rPr>
              <a:t>droite</a:t>
            </a:r>
            <a:r>
              <a:rPr sz="1600" b="0" i="0">
                <a:solidFill>
                  <a:srgbClr val="2B3440"/>
                </a:solidFill>
                <a:latin typeface="Calibri"/>
              </a:rPr>
              <a:t> en deux dimensions, un hyperplan en général.</a:t>
            </a:r>
          </a:p>
        </p:txBody>
      </p:sp>
      <p:sp>
        <p:nvSpPr>
          <p:cNvPr id="10" name="Rounded Rectangle 9"/>
          <p:cNvSpPr/>
          <p:nvPr/>
        </p:nvSpPr>
        <p:spPr>
          <a:xfrm>
            <a:off x="566928" y="460857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700016"/>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Entraînement  </a:t>
            </a:r>
            <a:r>
              <a:rPr sz="1600" b="0" i="0">
                <a:solidFill>
                  <a:srgbClr val="2B3440"/>
                </a:solidFill>
                <a:latin typeface="Calibri"/>
              </a:rPr>
              <a:t>pas d'équation normale : on descend la cross-entropy par gradient.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XOR : quatre points, une question</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y vaut 1 quand exactement une des deux entrées vaut 1.</a:t>
            </a:r>
          </a:p>
        </p:txBody>
      </p:sp>
      <p:sp>
        <p:nvSpPr>
          <p:cNvPr id="5" name="Rectangle 4"/>
          <p:cNvSpPr/>
          <p:nvPr/>
        </p:nvSpPr>
        <p:spPr>
          <a:xfrm>
            <a:off x="566928" y="2139696"/>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3356762" cy="310896"/>
          </a:xfrm>
          <a:prstGeom prst="rect">
            <a:avLst/>
          </a:prstGeom>
          <a:noFill/>
        </p:spPr>
        <p:txBody>
          <a:bodyPr wrap="square" lIns="0" tIns="0" rIns="0" bIns="0" anchor="ctr">
            <a:spAutoFit/>
          </a:bodyPr>
          <a:lstStyle/>
          <a:p>
            <a:pPr algn="r"/>
            <a:r>
              <a:rPr sz="1300" b="1" i="0">
                <a:solidFill>
                  <a:srgbClr val="6D2E46"/>
                </a:solidFill>
                <a:latin typeface="Calibri"/>
              </a:rPr>
              <a:t>x₁</a:t>
            </a:r>
          </a:p>
        </p:txBody>
      </p:sp>
      <p:sp>
        <p:nvSpPr>
          <p:cNvPr id="7" name="TextBox 6"/>
          <p:cNvSpPr txBox="1"/>
          <p:nvPr/>
        </p:nvSpPr>
        <p:spPr>
          <a:xfrm>
            <a:off x="4417466" y="2194560"/>
            <a:ext cx="3356762" cy="310896"/>
          </a:xfrm>
          <a:prstGeom prst="rect">
            <a:avLst/>
          </a:prstGeom>
          <a:noFill/>
        </p:spPr>
        <p:txBody>
          <a:bodyPr wrap="square" lIns="0" tIns="0" rIns="0" bIns="0" anchor="ctr">
            <a:spAutoFit/>
          </a:bodyPr>
          <a:lstStyle/>
          <a:p>
            <a:pPr algn="r"/>
            <a:r>
              <a:rPr sz="1300" b="1" i="0">
                <a:solidFill>
                  <a:srgbClr val="6D2E46"/>
                </a:solidFill>
                <a:latin typeface="Calibri"/>
              </a:rPr>
              <a:t>x₂</a:t>
            </a:r>
          </a:p>
        </p:txBody>
      </p:sp>
      <p:sp>
        <p:nvSpPr>
          <p:cNvPr id="8" name="TextBox 7"/>
          <p:cNvSpPr txBox="1"/>
          <p:nvPr/>
        </p:nvSpPr>
        <p:spPr>
          <a:xfrm>
            <a:off x="8103412" y="2194560"/>
            <a:ext cx="3356762" cy="310896"/>
          </a:xfrm>
          <a:prstGeom prst="rect">
            <a:avLst/>
          </a:prstGeom>
          <a:noFill/>
        </p:spPr>
        <p:txBody>
          <a:bodyPr wrap="square" lIns="0" tIns="0" rIns="0" bIns="0" anchor="ctr">
            <a:spAutoFit/>
          </a:bodyPr>
          <a:lstStyle/>
          <a:p>
            <a:pPr algn="r"/>
            <a:r>
              <a:rPr sz="1300" b="1" i="0">
                <a:solidFill>
                  <a:srgbClr val="6D2E46"/>
                </a:solidFill>
                <a:latin typeface="Calibri"/>
              </a:rPr>
              <a:t>y</a:t>
            </a:r>
          </a:p>
        </p:txBody>
      </p:sp>
      <p:sp>
        <p:nvSpPr>
          <p:cNvPr id="9" name="Rectangle 8"/>
          <p:cNvSpPr/>
          <p:nvPr/>
        </p:nvSpPr>
        <p:spPr>
          <a:xfrm>
            <a:off x="566928" y="2560320"/>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615184"/>
            <a:ext cx="3356762" cy="475488"/>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11" name="TextBox 10"/>
          <p:cNvSpPr txBox="1"/>
          <p:nvPr/>
        </p:nvSpPr>
        <p:spPr>
          <a:xfrm>
            <a:off x="4417466" y="2615184"/>
            <a:ext cx="3356762" cy="475488"/>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12" name="TextBox 11"/>
          <p:cNvSpPr txBox="1"/>
          <p:nvPr/>
        </p:nvSpPr>
        <p:spPr>
          <a:xfrm>
            <a:off x="8103412" y="2615184"/>
            <a:ext cx="3356762" cy="475488"/>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13" name="Rectangle 12"/>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00400"/>
            <a:ext cx="3356762" cy="475488"/>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15" name="TextBox 14"/>
          <p:cNvSpPr txBox="1"/>
          <p:nvPr/>
        </p:nvSpPr>
        <p:spPr>
          <a:xfrm>
            <a:off x="4417466" y="3200400"/>
            <a:ext cx="3356762"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16" name="TextBox 15"/>
          <p:cNvSpPr txBox="1"/>
          <p:nvPr/>
        </p:nvSpPr>
        <p:spPr>
          <a:xfrm>
            <a:off x="8103412" y="3200400"/>
            <a:ext cx="3356762"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17" name="Rectangle 16"/>
          <p:cNvSpPr/>
          <p:nvPr/>
        </p:nvSpPr>
        <p:spPr>
          <a:xfrm>
            <a:off x="566928" y="373075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785615"/>
            <a:ext cx="3356762"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19" name="TextBox 18"/>
          <p:cNvSpPr txBox="1"/>
          <p:nvPr/>
        </p:nvSpPr>
        <p:spPr>
          <a:xfrm>
            <a:off x="4417466" y="3785615"/>
            <a:ext cx="3356762" cy="475488"/>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20" name="TextBox 19"/>
          <p:cNvSpPr txBox="1"/>
          <p:nvPr/>
        </p:nvSpPr>
        <p:spPr>
          <a:xfrm>
            <a:off x="8103412" y="3785615"/>
            <a:ext cx="3356762"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21" name="Rectangle 20"/>
          <p:cNvSpPr/>
          <p:nvPr/>
        </p:nvSpPr>
        <p:spPr>
          <a:xfrm>
            <a:off x="566928" y="431596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370831"/>
            <a:ext cx="3356762"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23" name="TextBox 22"/>
          <p:cNvSpPr txBox="1"/>
          <p:nvPr/>
        </p:nvSpPr>
        <p:spPr>
          <a:xfrm>
            <a:off x="4417466" y="4370831"/>
            <a:ext cx="3356762" cy="475488"/>
          </a:xfrm>
          <a:prstGeom prst="rect">
            <a:avLst/>
          </a:prstGeom>
          <a:noFill/>
        </p:spPr>
        <p:txBody>
          <a:bodyPr wrap="square" lIns="0" tIns="0" rIns="0" bIns="0" anchor="ctr">
            <a:spAutoFit/>
          </a:bodyPr>
          <a:lstStyle/>
          <a:p>
            <a:pPr algn="r"/>
            <a:r>
              <a:rPr sz="1400" b="0" i="0">
                <a:solidFill>
                  <a:srgbClr val="2B3440"/>
                </a:solidFill>
                <a:latin typeface="Calibri"/>
              </a:rPr>
              <a:t>1</a:t>
            </a:r>
          </a:p>
        </p:txBody>
      </p:sp>
      <p:sp>
        <p:nvSpPr>
          <p:cNvPr id="24" name="TextBox 23"/>
          <p:cNvSpPr txBox="1"/>
          <p:nvPr/>
        </p:nvSpPr>
        <p:spPr>
          <a:xfrm>
            <a:off x="8103412" y="4370831"/>
            <a:ext cx="3356762" cy="475488"/>
          </a:xfrm>
          <a:prstGeom prst="rect">
            <a:avLst/>
          </a:prstGeom>
          <a:noFill/>
        </p:spPr>
        <p:txBody>
          <a:bodyPr wrap="square" lIns="0" tIns="0" rIns="0" bIns="0" anchor="ctr">
            <a:spAutoFit/>
          </a:bodyPr>
          <a:lstStyle/>
          <a:p>
            <a:pPr algn="r"/>
            <a:r>
              <a:rPr sz="1400" b="0" i="0">
                <a:solidFill>
                  <a:srgbClr val="2B3440"/>
                </a:solidFill>
                <a:latin typeface="Calibri"/>
              </a:rPr>
              <a:t>0</a:t>
            </a:r>
          </a:p>
        </p:txBody>
      </p:sp>
      <p:sp>
        <p:nvSpPr>
          <p:cNvPr id="25" name="Rounded Rectangle 24"/>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Pouvez-vous tracer une droite qui met les deux 1 d'un côté et les deux 0 de l'autre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Aucune droite ne sépare XOR</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1_xor.png"/>
          <p:cNvPicPr>
            <a:picLocks noChangeAspect="1"/>
          </p:cNvPicPr>
          <p:nvPr/>
        </p:nvPicPr>
        <p:blipFill>
          <a:blip r:embed="rId3"/>
          <a:stretch>
            <a:fillRect/>
          </a:stretch>
        </p:blipFill>
        <p:spPr>
          <a:xfrm>
            <a:off x="2071020" y="1828800"/>
            <a:ext cx="8049654"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À gauche : la logistic regression prédit 0,5 partout, accuracy </a:t>
            </a:r>
            <a:r>
              <a:rPr sz="1350" b="1" i="0">
                <a:solidFill>
                  <a:srgbClr val="6D2E46"/>
                </a:solidFill>
                <a:latin typeface="Calibri"/>
              </a:rPr>
              <a:t>0,50</a:t>
            </a:r>
            <a:r>
              <a:rPr sz="1350" b="0" i="0">
                <a:solidFill>
                  <a:srgbClr val="2B3440"/>
                </a:solidFill>
                <a:latin typeface="Calibri"/>
              </a:rPr>
              <a:t>. La meilleure droite possible classe au mieux </a:t>
            </a:r>
            <a:r>
              <a:rPr sz="1350" b="1" i="0">
                <a:solidFill>
                  <a:srgbClr val="6D2E46"/>
                </a:solidFill>
                <a:latin typeface="Calibri"/>
              </a:rPr>
              <a:t>0,75</a:t>
            </a:r>
            <a:r>
              <a:rPr sz="1350" b="0" i="0">
                <a:solidFill>
                  <a:srgbClr val="2B3440"/>
                </a:solidFill>
                <a:latin typeface="Calibri"/>
              </a:rPr>
              <a:t> des points (recherche exhaustive, TD 1). À droite : un réseau 2-4-1 apprend deux bandes, accuracy </a:t>
            </a:r>
            <a:r>
              <a:rPr sz="1350" b="1" i="0">
                <a:solidFill>
                  <a:srgbClr val="6D2E46"/>
                </a:solidFill>
                <a:latin typeface="Calibri"/>
              </a:rPr>
              <a:t>1,00</a:t>
            </a:r>
            <a:r>
              <a:rPr sz="1350" b="0" i="0">
                <a:solidFill>
                  <a:srgbClr val="2B3440"/>
                </a:solidFill>
                <a:latin typeface="Calibri"/>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Deux façons de réparer XOR</a:t>
            </a:r>
          </a:p>
        </p:txBody>
      </p:sp>
      <p:sp>
        <p:nvSpPr>
          <p:cNvPr id="4" name="Rounded Rectangle 3"/>
          <p:cNvSpPr/>
          <p:nvPr/>
        </p:nvSpPr>
        <p:spPr>
          <a:xfrm>
            <a:off x="566928" y="1883664"/>
            <a:ext cx="5373471" cy="4471416"/>
          </a:xfrm>
          <a:prstGeom prst="roundRect">
            <a:avLst>
              <a:gd name="adj" fmla="val 2862"/>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066544"/>
            <a:ext cx="4824831" cy="493776"/>
          </a:xfrm>
          <a:prstGeom prst="rect">
            <a:avLst/>
          </a:prstGeom>
          <a:noFill/>
        </p:spPr>
        <p:txBody>
          <a:bodyPr wrap="square" lIns="0" tIns="0" rIns="0" bIns="0" anchor="ctr">
            <a:spAutoFit/>
          </a:bodyPr>
          <a:lstStyle/>
          <a:p>
            <a:pPr algn="l"/>
            <a:r>
              <a:rPr sz="1700" b="1" i="0">
                <a:solidFill>
                  <a:srgbClr val="9E2B25"/>
                </a:solidFill>
                <a:latin typeface="Cambria"/>
              </a:rPr>
              <a:t>Fabriquer la feature</a:t>
            </a:r>
          </a:p>
        </p:txBody>
      </p:sp>
      <p:sp>
        <p:nvSpPr>
          <p:cNvPr id="6" name="TextBox 5"/>
          <p:cNvSpPr txBox="1"/>
          <p:nvPr/>
        </p:nvSpPr>
        <p:spPr>
          <a:xfrm>
            <a:off x="841247" y="2596896"/>
            <a:ext cx="4824831" cy="822960"/>
          </a:xfrm>
          <a:prstGeom prst="rect">
            <a:avLst/>
          </a:prstGeom>
          <a:noFill/>
        </p:spPr>
        <p:txBody>
          <a:bodyPr wrap="square" lIns="0" tIns="0" rIns="0" bIns="0" anchor="ctr">
            <a:spAutoFit/>
          </a:bodyPr>
          <a:lstStyle/>
          <a:p>
            <a:pPr algn="l"/>
            <a:r>
              <a:rPr sz="3400" b="1" i="0">
                <a:solidFill>
                  <a:srgbClr val="9E2B25"/>
                </a:solidFill>
                <a:latin typeface="Cambria"/>
              </a:rPr>
              <a:t>x₁·x₂</a:t>
            </a:r>
          </a:p>
        </p:txBody>
      </p:sp>
      <p:sp>
        <p:nvSpPr>
          <p:cNvPr id="7" name="TextBox 6"/>
          <p:cNvSpPr txBox="1"/>
          <p:nvPr/>
        </p:nvSpPr>
        <p:spPr>
          <a:xfrm>
            <a:off x="841247"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Séance 3 : on ajoute le produit, et un modèle linéaire atteint 1,00.</a:t>
            </a:r>
          </a:p>
        </p:txBody>
      </p:sp>
      <p:sp>
        <p:nvSpPr>
          <p:cNvPr id="8" name="TextBox 7"/>
          <p:cNvSpPr txBox="1"/>
          <p:nvPr/>
        </p:nvSpPr>
        <p:spPr>
          <a:xfrm>
            <a:off x="841247"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Il faut </a:t>
            </a:r>
            <a:r>
              <a:rPr sz="1450" b="1" i="0">
                <a:solidFill>
                  <a:srgbClr val="6D2E46"/>
                </a:solidFill>
                <a:latin typeface="Calibri"/>
              </a:rPr>
              <a:t>savoir</a:t>
            </a:r>
            <a:r>
              <a:rPr sz="1450" b="0" i="0">
                <a:solidFill>
                  <a:srgbClr val="2B3440"/>
                </a:solidFill>
                <a:latin typeface="Calibri"/>
              </a:rPr>
              <a:t> quelle combinaison ajouter.</a:t>
            </a:r>
          </a:p>
        </p:txBody>
      </p:sp>
      <p:sp>
        <p:nvSpPr>
          <p:cNvPr id="9" name="TextBox 8"/>
          <p:cNvSpPr txBox="1"/>
          <p:nvPr/>
        </p:nvSpPr>
        <p:spPr>
          <a:xfrm>
            <a:off x="841247"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Avec 50 features : 1 225 produits de deux, 19 600 de trois.</a:t>
            </a:r>
          </a:p>
        </p:txBody>
      </p:sp>
      <p:sp>
        <p:nvSpPr>
          <p:cNvPr id="10" name="Rounded Rectangle 9"/>
          <p:cNvSpPr/>
          <p:nvPr/>
        </p:nvSpPr>
        <p:spPr>
          <a:xfrm>
            <a:off x="6251295" y="1883664"/>
            <a:ext cx="5373471" cy="4471416"/>
          </a:xfrm>
          <a:prstGeom prst="roundRect">
            <a:avLst>
              <a:gd name="adj" fmla="val 2862"/>
            </a:avLst>
          </a:prstGeom>
          <a:solidFill>
            <a:srgbClr val="EF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25615" y="2066544"/>
            <a:ext cx="4824831" cy="493776"/>
          </a:xfrm>
          <a:prstGeom prst="rect">
            <a:avLst/>
          </a:prstGeom>
          <a:noFill/>
        </p:spPr>
        <p:txBody>
          <a:bodyPr wrap="square" lIns="0" tIns="0" rIns="0" bIns="0" anchor="ctr">
            <a:spAutoFit/>
          </a:bodyPr>
          <a:lstStyle/>
          <a:p>
            <a:pPr algn="l"/>
            <a:r>
              <a:rPr sz="1700" b="1" i="0">
                <a:solidFill>
                  <a:srgbClr val="1F6F5C"/>
                </a:solidFill>
                <a:latin typeface="Cambria"/>
              </a:rPr>
              <a:t>Apprendre la combinaison</a:t>
            </a:r>
          </a:p>
        </p:txBody>
      </p:sp>
      <p:sp>
        <p:nvSpPr>
          <p:cNvPr id="12" name="TextBox 11"/>
          <p:cNvSpPr txBox="1"/>
          <p:nvPr/>
        </p:nvSpPr>
        <p:spPr>
          <a:xfrm>
            <a:off x="6525615" y="2596896"/>
            <a:ext cx="4824831" cy="822960"/>
          </a:xfrm>
          <a:prstGeom prst="rect">
            <a:avLst/>
          </a:prstGeom>
          <a:noFill/>
        </p:spPr>
        <p:txBody>
          <a:bodyPr wrap="square" lIns="0" tIns="0" rIns="0" bIns="0" anchor="ctr">
            <a:spAutoFit/>
          </a:bodyPr>
          <a:lstStyle/>
          <a:p>
            <a:pPr algn="l"/>
            <a:r>
              <a:rPr sz="3400" b="1" i="0">
                <a:solidFill>
                  <a:srgbClr val="1F6F5C"/>
                </a:solidFill>
                <a:latin typeface="Cambria"/>
              </a:rPr>
              <a:t>un réseau</a:t>
            </a:r>
          </a:p>
        </p:txBody>
      </p:sp>
      <p:sp>
        <p:nvSpPr>
          <p:cNvPr id="13" name="TextBox 12"/>
          <p:cNvSpPr txBox="1"/>
          <p:nvPr/>
        </p:nvSpPr>
        <p:spPr>
          <a:xfrm>
            <a:off x="6525615"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Des unités intermédiaires calculent des combinaisons </a:t>
            </a:r>
            <a:r>
              <a:rPr sz="1450" b="1" i="0">
                <a:solidFill>
                  <a:srgbClr val="6D2E46"/>
                </a:solidFill>
                <a:latin typeface="Calibri"/>
              </a:rPr>
              <a:t>apprises</a:t>
            </a:r>
            <a:r>
              <a:rPr sz="1450" b="0" i="0">
                <a:solidFill>
                  <a:srgbClr val="2B3440"/>
                </a:solidFill>
                <a:latin typeface="Calibri"/>
              </a:rPr>
              <a:t>.</a:t>
            </a:r>
          </a:p>
        </p:txBody>
      </p:sp>
      <p:sp>
        <p:nvSpPr>
          <p:cNvPr id="14" name="TextBox 13"/>
          <p:cNvSpPr txBox="1"/>
          <p:nvPr/>
        </p:nvSpPr>
        <p:spPr>
          <a:xfrm>
            <a:off x="6525615"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Aucune feature fabriquée à la main.</a:t>
            </a:r>
          </a:p>
        </p:txBody>
      </p:sp>
      <p:sp>
        <p:nvSpPr>
          <p:cNvPr id="15" name="TextBox 14"/>
          <p:cNvSpPr txBox="1"/>
          <p:nvPr/>
        </p:nvSpPr>
        <p:spPr>
          <a:xfrm>
            <a:off x="6525615"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 prix : plus de paramètres et un entraînement par gradient.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neurone, et l'analogie à poser</a:t>
            </a:r>
          </a:p>
        </p:txBody>
      </p:sp>
      <p:sp>
        <p:nvSpPr>
          <p:cNvPr id="4" name="Rounded Rectangle 3"/>
          <p:cNvSpPr/>
          <p:nvPr/>
        </p:nvSpPr>
        <p:spPr>
          <a:xfrm>
            <a:off x="566928" y="1883664"/>
            <a:ext cx="5391759" cy="3380994"/>
          </a:xfrm>
          <a:prstGeom prst="roundRect">
            <a:avLst>
              <a:gd name="adj" fmla="val 378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n_feedforward.png"/>
          <p:cNvPicPr>
            <a:picLocks noChangeAspect="1"/>
          </p:cNvPicPr>
          <p:nvPr/>
        </p:nvPicPr>
        <p:blipFill>
          <a:blip r:embed="rId3"/>
          <a:stretch>
            <a:fillRect/>
          </a:stretch>
        </p:blipFill>
        <p:spPr>
          <a:xfrm>
            <a:off x="2190516" y="2011680"/>
            <a:ext cx="2144581" cy="3124961"/>
          </a:xfrm>
          <a:prstGeom prst="rect">
            <a:avLst/>
          </a:prstGeom>
        </p:spPr>
      </p:pic>
      <p:sp>
        <p:nvSpPr>
          <p:cNvPr id="6" name="Rounded Rectangle 5"/>
          <p:cNvSpPr/>
          <p:nvPr/>
        </p:nvSpPr>
        <p:spPr>
          <a:xfrm>
            <a:off x="6233007" y="1883664"/>
            <a:ext cx="5391759" cy="3380994"/>
          </a:xfrm>
          <a:prstGeom prst="roundRect">
            <a:avLst>
              <a:gd name="adj" fmla="val 378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n_bio_math.png"/>
          <p:cNvPicPr>
            <a:picLocks noChangeAspect="1"/>
          </p:cNvPicPr>
          <p:nvPr/>
        </p:nvPicPr>
        <p:blipFill>
          <a:blip r:embed="rId4"/>
          <a:stretch>
            <a:fillRect/>
          </a:stretch>
        </p:blipFill>
        <p:spPr>
          <a:xfrm>
            <a:off x="6361023" y="2684562"/>
            <a:ext cx="5135727" cy="1779196"/>
          </a:xfrm>
          <a:prstGeom prst="rect">
            <a:avLst/>
          </a:prstGeom>
        </p:spPr>
      </p:pic>
      <p:sp>
        <p:nvSpPr>
          <p:cNvPr id="8" name="Rounded Rectangle 7"/>
          <p:cNvSpPr/>
          <p:nvPr/>
        </p:nvSpPr>
        <p:spPr>
          <a:xfrm>
            <a:off x="566928" y="5447538"/>
            <a:ext cx="11057839" cy="934974"/>
          </a:xfrm>
          <a:prstGeom prst="roundRect">
            <a:avLst>
              <a:gd name="adj" fmla="val 13691"/>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5529833"/>
            <a:ext cx="10472623" cy="77038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Un neurone calcule a = g(w·x + b) : somme pondérée, biais, activation. Avec g = sigmoïde, c'est exactement une logistic regression (écart nul avec scikit-learn, TD 1). L'analogie biologique explique la forme du calcul, et rien de plus.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Couches, largeur, profondeur</a:t>
            </a:r>
          </a:p>
        </p:txBody>
      </p:sp>
      <p:sp>
        <p:nvSpPr>
          <p:cNvPr id="4" name="Rounded Rectangle 3"/>
          <p:cNvSpPr/>
          <p:nvPr/>
        </p:nvSpPr>
        <p:spPr>
          <a:xfrm>
            <a:off x="566928" y="1883664"/>
            <a:ext cx="11057839" cy="3529583"/>
          </a:xfrm>
          <a:prstGeom prst="roundRect">
            <a:avLst>
              <a:gd name="adj" fmla="val 362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n_bias_hidden.png"/>
          <p:cNvPicPr>
            <a:picLocks noChangeAspect="1"/>
          </p:cNvPicPr>
          <p:nvPr/>
        </p:nvPicPr>
        <p:blipFill>
          <a:blip r:embed="rId3"/>
          <a:stretch>
            <a:fillRect/>
          </a:stretch>
        </p:blipFill>
        <p:spPr>
          <a:xfrm>
            <a:off x="4170228" y="2011680"/>
            <a:ext cx="3851237" cy="3273551"/>
          </a:xfrm>
          <a:prstGeom prst="rect">
            <a:avLst/>
          </a:prstGeom>
        </p:spPr>
      </p:pic>
      <p:sp>
        <p:nvSpPr>
          <p:cNvPr id="6" name="Rounded Rectangle 5"/>
          <p:cNvSpPr/>
          <p:nvPr/>
        </p:nvSpPr>
        <p:spPr>
          <a:xfrm>
            <a:off x="566928" y="5596127"/>
            <a:ext cx="11057839" cy="786384"/>
          </a:xfrm>
          <a:prstGeom prst="roundRect">
            <a:avLst>
              <a:gd name="adj" fmla="val 16279"/>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678423"/>
            <a:ext cx="10472623" cy="62179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Entrées, hidden layers, sortie. La </a:t>
            </a:r>
            <a:r>
              <a:rPr sz="1500" b="1" i="0">
                <a:solidFill>
                  <a:srgbClr val="6D2E46"/>
                </a:solidFill>
                <a:latin typeface="Calibri"/>
              </a:rPr>
              <a:t>largeur</a:t>
            </a:r>
            <a:r>
              <a:rPr sz="1500" b="0" i="0">
                <a:solidFill>
                  <a:srgbClr val="2B3440"/>
                </a:solidFill>
                <a:latin typeface="Calibri"/>
              </a:rPr>
              <a:t> est le nombre d'unités d'une couche, la </a:t>
            </a:r>
            <a:r>
              <a:rPr sz="1500" b="1" i="0">
                <a:solidFill>
                  <a:srgbClr val="6D2E46"/>
                </a:solidFill>
                <a:latin typeface="Calibri"/>
              </a:rPr>
              <a:t>profondeur</a:t>
            </a:r>
            <a:r>
              <a:rPr sz="1500" b="0" i="0">
                <a:solidFill>
                  <a:srgbClr val="2B3440"/>
                </a:solidFill>
                <a:latin typeface="Calibri"/>
              </a:rPr>
              <a:t> le nombre de couches. Une couche dense de n entrées vers m unités a n·m poids et m biais : 77 → 64 → 32 → 1 fait </a:t>
            </a:r>
            <a:r>
              <a:rPr sz="1500" b="1" i="0">
                <a:solidFill>
                  <a:srgbClr val="6D2E46"/>
                </a:solidFill>
                <a:latin typeface="Calibri"/>
              </a:rPr>
              <a:t>7 105</a:t>
            </a:r>
            <a:r>
              <a:rPr sz="1500" b="0" i="0">
                <a:solidFill>
                  <a:srgbClr val="2B3440"/>
                </a:solidFill>
                <a:latin typeface="Calibri"/>
              </a:rPr>
              <a:t> paramètres.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Sans non-linéarité, dix couches valent une.</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W₂(W₁x + b₁) + b₂ = (W₂W₁)x + (W₂b₁ + b₂) : empiler des couches linéaires donne une couche linéaire. Au TD 1, un réseau de dix couches sans activation ne dépasse jamais la meilleure droite (0,75 sur XOR).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Les activation functions</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2_activations.png"/>
          <p:cNvPicPr>
            <a:picLocks noChangeAspect="1"/>
          </p:cNvPicPr>
          <p:nvPr/>
        </p:nvPicPr>
        <p:blipFill>
          <a:blip r:embed="rId3"/>
          <a:stretch>
            <a:fillRect/>
          </a:stretch>
        </p:blipFill>
        <p:spPr>
          <a:xfrm>
            <a:off x="1288131" y="1828800"/>
            <a:ext cx="9615432"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Sigmoïde et tanh saturent : leurs dérivées s'écrasent loin de zéro, et celle de la sigmoïde ne dépasse jamais </a:t>
            </a:r>
            <a:r>
              <a:rPr sz="1350" b="1" i="0">
                <a:solidFill>
                  <a:srgbClr val="6D2E46"/>
                </a:solidFill>
                <a:latin typeface="Calibri"/>
              </a:rPr>
              <a:t>0,25</a:t>
            </a:r>
            <a:r>
              <a:rPr sz="1350" b="0" i="0">
                <a:solidFill>
                  <a:srgbClr val="2B3440"/>
                </a:solidFill>
                <a:latin typeface="Calibri"/>
              </a:rPr>
              <a:t>. ReLU laisse passer le gradient intact (dérivée 1) quand l'unité est active, et le coupe sinon. Leaky ReLU garde une petite pente α.</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Deux pannes liées à l'activation</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1777071" cy="310896"/>
          </a:xfrm>
          <a:prstGeom prst="rect">
            <a:avLst/>
          </a:prstGeom>
          <a:noFill/>
        </p:spPr>
        <p:txBody>
          <a:bodyPr wrap="square" lIns="0" tIns="0" rIns="0" bIns="0" anchor="ctr">
            <a:spAutoFit/>
          </a:bodyPr>
          <a:lstStyle/>
          <a:p>
            <a:pPr algn="l"/>
            <a:r>
              <a:rPr sz="1300" b="1" i="0">
                <a:solidFill>
                  <a:srgbClr val="6D2E46"/>
                </a:solidFill>
                <a:latin typeface="Calibri"/>
              </a:rPr>
              <a:t>Panne</a:t>
            </a:r>
          </a:p>
        </p:txBody>
      </p:sp>
      <p:sp>
        <p:nvSpPr>
          <p:cNvPr id="6" name="TextBox 5"/>
          <p:cNvSpPr txBox="1"/>
          <p:nvPr/>
        </p:nvSpPr>
        <p:spPr>
          <a:xfrm>
            <a:off x="2837775" y="1901952"/>
            <a:ext cx="2391395" cy="310896"/>
          </a:xfrm>
          <a:prstGeom prst="rect">
            <a:avLst/>
          </a:prstGeom>
          <a:noFill/>
        </p:spPr>
        <p:txBody>
          <a:bodyPr wrap="square" lIns="0" tIns="0" rIns="0" bIns="0" anchor="ctr">
            <a:spAutoFit/>
          </a:bodyPr>
          <a:lstStyle/>
          <a:p>
            <a:pPr algn="l"/>
            <a:r>
              <a:rPr sz="1300" b="1" i="0">
                <a:solidFill>
                  <a:srgbClr val="6D2E46"/>
                </a:solidFill>
                <a:latin typeface="Calibri"/>
              </a:rPr>
              <a:t>Cause</a:t>
            </a:r>
          </a:p>
        </p:txBody>
      </p:sp>
      <p:sp>
        <p:nvSpPr>
          <p:cNvPr id="7" name="TextBox 6"/>
          <p:cNvSpPr txBox="1"/>
          <p:nvPr/>
        </p:nvSpPr>
        <p:spPr>
          <a:xfrm>
            <a:off x="5558354" y="1901952"/>
            <a:ext cx="2917959" cy="310896"/>
          </a:xfrm>
          <a:prstGeom prst="rect">
            <a:avLst/>
          </a:prstGeom>
          <a:noFill/>
        </p:spPr>
        <p:txBody>
          <a:bodyPr wrap="square" lIns="0" tIns="0" rIns="0" bIns="0" anchor="ctr">
            <a:spAutoFit/>
          </a:bodyPr>
          <a:lstStyle/>
          <a:p>
            <a:pPr algn="l"/>
            <a:r>
              <a:rPr sz="1300" b="1" i="0">
                <a:solidFill>
                  <a:srgbClr val="6D2E46"/>
                </a:solidFill>
                <a:latin typeface="Calibri"/>
              </a:rPr>
              <a:t>Conséquence</a:t>
            </a:r>
          </a:p>
        </p:txBody>
      </p:sp>
      <p:sp>
        <p:nvSpPr>
          <p:cNvPr id="8" name="TextBox 7"/>
          <p:cNvSpPr txBox="1"/>
          <p:nvPr/>
        </p:nvSpPr>
        <p:spPr>
          <a:xfrm>
            <a:off x="8805497" y="1901952"/>
            <a:ext cx="2654677" cy="310896"/>
          </a:xfrm>
          <a:prstGeom prst="rect">
            <a:avLst/>
          </a:prstGeom>
          <a:noFill/>
        </p:spPr>
        <p:txBody>
          <a:bodyPr wrap="square" lIns="0" tIns="0" rIns="0" bIns="0" anchor="ctr">
            <a:spAutoFit/>
          </a:bodyPr>
          <a:lstStyle/>
          <a:p>
            <a:pPr algn="l"/>
            <a:r>
              <a:rPr sz="1300" b="1" i="0">
                <a:solidFill>
                  <a:srgbClr val="6D2E46"/>
                </a:solidFill>
                <a:latin typeface="Calibri"/>
              </a:rPr>
              <a:t>Remède</a:t>
            </a:r>
          </a:p>
        </p:txBody>
      </p:sp>
      <p:sp>
        <p:nvSpPr>
          <p:cNvPr id="9" name="Rectangle 8"/>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1777071" cy="475488"/>
          </a:xfrm>
          <a:prstGeom prst="rect">
            <a:avLst/>
          </a:prstGeom>
          <a:noFill/>
        </p:spPr>
        <p:txBody>
          <a:bodyPr wrap="square" lIns="0" tIns="0" rIns="0" bIns="0" anchor="ctr">
            <a:spAutoFit/>
          </a:bodyPr>
          <a:lstStyle/>
          <a:p>
            <a:pPr algn="l"/>
            <a:r>
              <a:rPr sz="1400" b="0" i="0">
                <a:solidFill>
                  <a:srgbClr val="2B3440"/>
                </a:solidFill>
                <a:latin typeface="Calibri"/>
              </a:rPr>
              <a:t>Saturation (sigmoïde, tanh)</a:t>
            </a:r>
          </a:p>
        </p:txBody>
      </p:sp>
      <p:sp>
        <p:nvSpPr>
          <p:cNvPr id="11" name="TextBox 10"/>
          <p:cNvSpPr txBox="1"/>
          <p:nvPr/>
        </p:nvSpPr>
        <p:spPr>
          <a:xfrm>
            <a:off x="2837775" y="2322576"/>
            <a:ext cx="2391395" cy="475488"/>
          </a:xfrm>
          <a:prstGeom prst="rect">
            <a:avLst/>
          </a:prstGeom>
          <a:noFill/>
        </p:spPr>
        <p:txBody>
          <a:bodyPr wrap="square" lIns="0" tIns="0" rIns="0" bIns="0" anchor="ctr">
            <a:spAutoFit/>
          </a:bodyPr>
          <a:lstStyle/>
          <a:p>
            <a:pPr algn="l"/>
            <a:r>
              <a:rPr sz="1400" b="0" i="0">
                <a:solidFill>
                  <a:srgbClr val="2B3440"/>
                </a:solidFill>
                <a:latin typeface="Calibri"/>
              </a:rPr>
              <a:t>dérivée au plus 0,25, écrasée loin de zéro</a:t>
            </a:r>
          </a:p>
        </p:txBody>
      </p:sp>
      <p:sp>
        <p:nvSpPr>
          <p:cNvPr id="12" name="TextBox 11"/>
          <p:cNvSpPr txBox="1"/>
          <p:nvPr/>
        </p:nvSpPr>
        <p:spPr>
          <a:xfrm>
            <a:off x="5558354" y="2322576"/>
            <a:ext cx="2917959" cy="475488"/>
          </a:xfrm>
          <a:prstGeom prst="rect">
            <a:avLst/>
          </a:prstGeom>
          <a:noFill/>
        </p:spPr>
        <p:txBody>
          <a:bodyPr wrap="square" lIns="0" tIns="0" rIns="0" bIns="0" anchor="ctr">
            <a:spAutoFit/>
          </a:bodyPr>
          <a:lstStyle/>
          <a:p>
            <a:pPr algn="l"/>
            <a:r>
              <a:rPr sz="1400" b="1" i="0">
                <a:solidFill>
                  <a:srgbClr val="6D2E46"/>
                </a:solidFill>
                <a:latin typeface="Calibri"/>
              </a:rPr>
              <a:t>vanishing gradient</a:t>
            </a:r>
            <a:r>
              <a:rPr sz="1400" b="0" i="0">
                <a:solidFill>
                  <a:srgbClr val="2B3440"/>
                </a:solidFill>
                <a:latin typeface="Calibri"/>
              </a:rPr>
              <a:t> : 0,25¹⁰ ≈ 10⁻⁶ sur dix couches</a:t>
            </a:r>
          </a:p>
        </p:txBody>
      </p:sp>
      <p:sp>
        <p:nvSpPr>
          <p:cNvPr id="13" name="TextBox 12"/>
          <p:cNvSpPr txBox="1"/>
          <p:nvPr/>
        </p:nvSpPr>
        <p:spPr>
          <a:xfrm>
            <a:off x="8805497" y="2322576"/>
            <a:ext cx="2654677" cy="475488"/>
          </a:xfrm>
          <a:prstGeom prst="rect">
            <a:avLst/>
          </a:prstGeom>
          <a:noFill/>
        </p:spPr>
        <p:txBody>
          <a:bodyPr wrap="square" lIns="0" tIns="0" rIns="0" bIns="0" anchor="ctr">
            <a:spAutoFit/>
          </a:bodyPr>
          <a:lstStyle/>
          <a:p>
            <a:pPr algn="l"/>
            <a:r>
              <a:rPr sz="1400" b="0" i="0">
                <a:solidFill>
                  <a:srgbClr val="2B3440"/>
                </a:solidFill>
                <a:latin typeface="Calibri"/>
              </a:rPr>
              <a:t>ReLU dans les hidden layers</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1777071" cy="475488"/>
          </a:xfrm>
          <a:prstGeom prst="rect">
            <a:avLst/>
          </a:prstGeom>
          <a:noFill/>
        </p:spPr>
        <p:txBody>
          <a:bodyPr wrap="square" lIns="0" tIns="0" rIns="0" bIns="0" anchor="ctr">
            <a:spAutoFit/>
          </a:bodyPr>
          <a:lstStyle/>
          <a:p>
            <a:pPr algn="l"/>
            <a:r>
              <a:rPr sz="1400" b="0" i="0">
                <a:solidFill>
                  <a:srgbClr val="2B3440"/>
                </a:solidFill>
                <a:latin typeface="Calibri"/>
              </a:rPr>
              <a:t>Dying ReLU</a:t>
            </a:r>
          </a:p>
        </p:txBody>
      </p:sp>
      <p:sp>
        <p:nvSpPr>
          <p:cNvPr id="16" name="TextBox 15"/>
          <p:cNvSpPr txBox="1"/>
          <p:nvPr/>
        </p:nvSpPr>
        <p:spPr>
          <a:xfrm>
            <a:off x="2837775" y="2907792"/>
            <a:ext cx="2391395" cy="475488"/>
          </a:xfrm>
          <a:prstGeom prst="rect">
            <a:avLst/>
          </a:prstGeom>
          <a:noFill/>
        </p:spPr>
        <p:txBody>
          <a:bodyPr wrap="square" lIns="0" tIns="0" rIns="0" bIns="0" anchor="ctr">
            <a:spAutoFit/>
          </a:bodyPr>
          <a:lstStyle/>
          <a:p>
            <a:pPr algn="l"/>
            <a:r>
              <a:rPr sz="1400" b="0" i="0">
                <a:solidFill>
                  <a:srgbClr val="2B3440"/>
                </a:solidFill>
                <a:latin typeface="Calibri"/>
              </a:rPr>
              <a:t>entrée négative pour </a:t>
            </a:r>
            <a:r>
              <a:rPr sz="1400" b="1" i="0">
                <a:solidFill>
                  <a:srgbClr val="6D2E46"/>
                </a:solidFill>
                <a:latin typeface="Calibri"/>
              </a:rPr>
              <a:t>tous</a:t>
            </a:r>
            <a:r>
              <a:rPr sz="1400" b="0" i="0">
                <a:solidFill>
                  <a:srgbClr val="2B3440"/>
                </a:solidFill>
                <a:latin typeface="Calibri"/>
              </a:rPr>
              <a:t> les exemples</a:t>
            </a:r>
          </a:p>
        </p:txBody>
      </p:sp>
      <p:sp>
        <p:nvSpPr>
          <p:cNvPr id="17" name="TextBox 16"/>
          <p:cNvSpPr txBox="1"/>
          <p:nvPr/>
        </p:nvSpPr>
        <p:spPr>
          <a:xfrm>
            <a:off x="5558354" y="2907792"/>
            <a:ext cx="2917959" cy="475488"/>
          </a:xfrm>
          <a:prstGeom prst="rect">
            <a:avLst/>
          </a:prstGeom>
          <a:noFill/>
        </p:spPr>
        <p:txBody>
          <a:bodyPr wrap="square" lIns="0" tIns="0" rIns="0" bIns="0" anchor="ctr">
            <a:spAutoFit/>
          </a:bodyPr>
          <a:lstStyle/>
          <a:p>
            <a:pPr algn="l"/>
            <a:r>
              <a:rPr sz="1400" b="0" i="0">
                <a:solidFill>
                  <a:srgbClr val="2B3440"/>
                </a:solidFill>
                <a:latin typeface="Calibri"/>
              </a:rPr>
              <a:t>l'unité sort 0 et ne reçoit plus jamais de gradient</a:t>
            </a:r>
          </a:p>
        </p:txBody>
      </p:sp>
      <p:sp>
        <p:nvSpPr>
          <p:cNvPr id="18" name="TextBox 17"/>
          <p:cNvSpPr txBox="1"/>
          <p:nvPr/>
        </p:nvSpPr>
        <p:spPr>
          <a:xfrm>
            <a:off x="8805497" y="2907792"/>
            <a:ext cx="2654677" cy="475488"/>
          </a:xfrm>
          <a:prstGeom prst="rect">
            <a:avLst/>
          </a:prstGeom>
          <a:noFill/>
        </p:spPr>
        <p:txBody>
          <a:bodyPr wrap="square" lIns="0" tIns="0" rIns="0" bIns="0" anchor="ctr">
            <a:spAutoFit/>
          </a:bodyPr>
          <a:lstStyle/>
          <a:p>
            <a:pPr algn="l"/>
            <a:r>
              <a:rPr sz="1400" b="0" i="0">
                <a:solidFill>
                  <a:srgbClr val="2B3440"/>
                </a:solidFill>
                <a:latin typeface="Calibri"/>
              </a:rPr>
              <a:t>Leaky ReLU, learning rate plus petit, bonne initialisation</a:t>
            </a:r>
          </a:p>
        </p:txBody>
      </p:sp>
      <p:sp>
        <p:nvSpPr>
          <p:cNvPr id="19" name="Rounded Rectangle 18"/>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Même conséquence, un gradient nul ; deux causes opposées.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Universal approximation : l'intuition</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3a_approximation.png"/>
          <p:cNvPicPr>
            <a:picLocks noChangeAspect="1"/>
          </p:cNvPicPr>
          <p:nvPr/>
        </p:nvPicPr>
        <p:blipFill>
          <a:blip r:embed="rId3"/>
          <a:stretch>
            <a:fillRect/>
          </a:stretch>
        </p:blipFill>
        <p:spPr>
          <a:xfrm>
            <a:off x="1306059" y="1828800"/>
            <a:ext cx="9579576"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Une unité ReLU décalée, relu(x - t), est une charnière. Une somme pondérée de charnières est linéaire par morceaux : avec 3, 6 puis 12 unités, l'erreur maximale sur sin passe de </a:t>
            </a:r>
            <a:r>
              <a:rPr sz="1350" b="1" i="0">
                <a:solidFill>
                  <a:srgbClr val="6D2E46"/>
                </a:solidFill>
                <a:latin typeface="Calibri"/>
              </a:rPr>
              <a:t>0,4373</a:t>
            </a:r>
            <a:r>
              <a:rPr sz="1350" b="0" i="0">
                <a:solidFill>
                  <a:srgbClr val="2B3440"/>
                </a:solidFill>
                <a:latin typeface="Calibri"/>
              </a:rPr>
              <a:t> à </a:t>
            </a:r>
            <a:r>
              <a:rPr sz="1350" b="1" i="0">
                <a:solidFill>
                  <a:srgbClr val="6D2E46"/>
                </a:solidFill>
                <a:latin typeface="Calibri"/>
              </a:rPr>
              <a:t>0,1340</a:t>
            </a:r>
            <a:r>
              <a:rPr sz="1350" b="0" i="0">
                <a:solidFill>
                  <a:srgbClr val="2B3440"/>
                </a:solidFill>
                <a:latin typeface="Calibri"/>
              </a:rPr>
              <a:t> puis </a:t>
            </a:r>
            <a:r>
              <a:rPr sz="1350" b="1" i="0">
                <a:solidFill>
                  <a:srgbClr val="6D2E46"/>
                </a:solidFill>
                <a:latin typeface="Calibri"/>
              </a:rPr>
              <a:t>0,0329</a:t>
            </a:r>
            <a:r>
              <a:rPr sz="1350" b="0" i="0">
                <a:solidFill>
                  <a:srgbClr val="2B3440"/>
                </a:solidFill>
                <a:latin typeface="Calibri"/>
              </a:rPr>
              <a:t>. Doubler les unités divise l'erreur par quatre environ.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Ce que le théorème ne garantit pas</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3b_extrapolation.png"/>
          <p:cNvPicPr>
            <a:picLocks noChangeAspect="1"/>
          </p:cNvPicPr>
          <p:nvPr/>
        </p:nvPicPr>
        <p:blipFill>
          <a:blip r:embed="rId3"/>
          <a:stretch>
            <a:fillRect/>
          </a:stretch>
        </p:blipFill>
        <p:spPr>
          <a:xfrm>
            <a:off x="694944" y="1882060"/>
            <a:ext cx="10801807" cy="356365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Il dit qu'une approximation </a:t>
            </a:r>
            <a:r>
              <a:rPr sz="1350" b="1" i="0">
                <a:solidFill>
                  <a:srgbClr val="6D2E46"/>
                </a:solidFill>
                <a:latin typeface="Calibri"/>
              </a:rPr>
              <a:t>existe</a:t>
            </a:r>
            <a:r>
              <a:rPr sz="1350" b="0" i="0">
                <a:solidFill>
                  <a:srgbClr val="2B3440"/>
                </a:solidFill>
                <a:latin typeface="Calibri"/>
              </a:rPr>
              <a:t>. Il ne dit pas combien d'unités il faut, ni que le gradient descent trouvera ces poids, ni que le réseau généralisera à partir d'un échantillon fini, ni rien hors du domaine vu : ici, l'erreur maximale passe de 0,033 à </a:t>
            </a:r>
            <a:r>
              <a:rPr sz="1350" b="1" i="0">
                <a:solidFill>
                  <a:srgbClr val="6D2E46"/>
                </a:solidFill>
                <a:latin typeface="Calibri"/>
              </a:rPr>
              <a:t>3,00</a:t>
            </a:r>
            <a:r>
              <a:rPr sz="1350" b="0" i="0">
                <a:solidFill>
                  <a:srgbClr val="2B3440"/>
                </a:solidFill>
                <a:latin typeface="Calibri"/>
              </a:rPr>
              <a:t> dès qu'on sort de [0, 2π].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Pause vérification 1</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Deux minutes, en binôme, sans notes.</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Q1  </a:t>
            </a:r>
            <a:r>
              <a:rPr sz="1600" b="0" i="0">
                <a:solidFill>
                  <a:srgbClr val="2B3440"/>
                </a:solidFill>
                <a:latin typeface="Calibri"/>
              </a:rPr>
              <a:t>Pourquoi la logistic regression reste-t-elle à 0,50 sur XOR ?</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Q2  </a:t>
            </a:r>
            <a:r>
              <a:rPr sz="1600" b="0" i="0">
                <a:solidFill>
                  <a:srgbClr val="2B3440"/>
                </a:solidFill>
                <a:latin typeface="Calibri"/>
              </a:rPr>
              <a:t>Que calcule un réseau profond sans aucune activation ?</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Q3  </a:t>
            </a:r>
            <a:r>
              <a:rPr sz="1600" b="0" i="0">
                <a:solidFill>
                  <a:srgbClr val="2B3440"/>
                </a:solidFill>
                <a:latin typeface="Calibri"/>
              </a:rPr>
              <a:t>Pourquoi ReLU a-t-elle remplacé la sigmoïde dans les hidden layers ?</a:t>
            </a:r>
          </a:p>
        </p:txBody>
      </p:sp>
      <p:sp>
        <p:nvSpPr>
          <p:cNvPr id="11" name="Rounded Rectangle 10"/>
          <p:cNvSpPr/>
          <p:nvPr/>
        </p:nvSpPr>
        <p:spPr>
          <a:xfrm>
            <a:off x="566928" y="4901183"/>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Q4  </a:t>
            </a:r>
            <a:r>
              <a:rPr sz="1600" b="0" i="0">
                <a:solidFill>
                  <a:srgbClr val="2B3440"/>
                </a:solidFill>
                <a:latin typeface="Calibri"/>
              </a:rPr>
              <a:t>Que garantit l'universal approximation theorem, et que ne garantit-il pas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forward pass, sur la fiche</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4_reseau_fiche.png"/>
          <p:cNvPicPr>
            <a:picLocks noChangeAspect="1"/>
          </p:cNvPicPr>
          <p:nvPr/>
        </p:nvPicPr>
        <p:blipFill>
          <a:blip r:embed="rId3"/>
          <a:stretch>
            <a:fillRect/>
          </a:stretch>
        </p:blipFill>
        <p:spPr>
          <a:xfrm>
            <a:off x="1533383" y="1828800"/>
            <a:ext cx="9124928"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Un exemple, x = [1, 0], de classe y = 1 ; neuf paramètres fixés. De gauche à droite : z₁ = W₁x + b₁, a₁ = ReLU(z₁), z₂ = W₂a₁ + b₂, a₂ = σ(z₂). Le réseau répond </a:t>
            </a:r>
            <a:r>
              <a:rPr sz="1350" b="1" i="0">
                <a:solidFill>
                  <a:srgbClr val="6D2E46"/>
                </a:solidFill>
                <a:latin typeface="Calibri"/>
              </a:rPr>
              <a:t>0,524979</a:t>
            </a:r>
            <a:r>
              <a:rPr sz="1350" b="0" i="0">
                <a:solidFill>
                  <a:srgbClr val="2B3440"/>
                </a:solidFill>
                <a:latin typeface="Calibri"/>
              </a:rPr>
              <a:t> : il est presque sans opinion.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forward pass, calcul par calcul</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1178703" cy="310896"/>
          </a:xfrm>
          <a:prstGeom prst="rect">
            <a:avLst/>
          </a:prstGeom>
          <a:noFill/>
        </p:spPr>
        <p:txBody>
          <a:bodyPr wrap="square" lIns="0" tIns="0" rIns="0" bIns="0" anchor="ctr">
            <a:spAutoFit/>
          </a:bodyPr>
          <a:lstStyle/>
          <a:p>
            <a:pPr algn="l"/>
            <a:r>
              <a:rPr sz="1300" b="1" i="0">
                <a:solidFill>
                  <a:srgbClr val="6D2E46"/>
                </a:solidFill>
                <a:latin typeface="Calibri"/>
              </a:rPr>
              <a:t>Quantité</a:t>
            </a:r>
          </a:p>
        </p:txBody>
      </p:sp>
      <p:sp>
        <p:nvSpPr>
          <p:cNvPr id="6" name="TextBox 5"/>
          <p:cNvSpPr txBox="1"/>
          <p:nvPr/>
        </p:nvSpPr>
        <p:spPr>
          <a:xfrm>
            <a:off x="2239407" y="1901952"/>
            <a:ext cx="4194477" cy="310896"/>
          </a:xfrm>
          <a:prstGeom prst="rect">
            <a:avLst/>
          </a:prstGeom>
          <a:noFill/>
        </p:spPr>
        <p:txBody>
          <a:bodyPr wrap="square" lIns="0" tIns="0" rIns="0" bIns="0" anchor="ctr">
            <a:spAutoFit/>
          </a:bodyPr>
          <a:lstStyle/>
          <a:p>
            <a:pPr algn="l"/>
            <a:r>
              <a:rPr sz="1300" b="1" i="0">
                <a:solidFill>
                  <a:srgbClr val="6D2E46"/>
                </a:solidFill>
                <a:latin typeface="Calibri"/>
              </a:rPr>
              <a:t>Formule</a:t>
            </a:r>
          </a:p>
        </p:txBody>
      </p:sp>
      <p:sp>
        <p:nvSpPr>
          <p:cNvPr id="7" name="TextBox 6"/>
          <p:cNvSpPr txBox="1"/>
          <p:nvPr/>
        </p:nvSpPr>
        <p:spPr>
          <a:xfrm>
            <a:off x="6763068" y="1901952"/>
            <a:ext cx="1681332" cy="310896"/>
          </a:xfrm>
          <a:prstGeom prst="rect">
            <a:avLst/>
          </a:prstGeom>
          <a:noFill/>
        </p:spPr>
        <p:txBody>
          <a:bodyPr wrap="square" lIns="0" tIns="0" rIns="0" bIns="0" anchor="ctr">
            <a:spAutoFit/>
          </a:bodyPr>
          <a:lstStyle/>
          <a:p>
            <a:pPr algn="l"/>
            <a:r>
              <a:rPr sz="1300" b="1" i="0">
                <a:solidFill>
                  <a:srgbClr val="6D2E46"/>
                </a:solidFill>
                <a:latin typeface="Calibri"/>
              </a:rPr>
              <a:t>Forme</a:t>
            </a:r>
          </a:p>
        </p:txBody>
      </p:sp>
      <p:sp>
        <p:nvSpPr>
          <p:cNvPr id="8" name="TextBox 7"/>
          <p:cNvSpPr txBox="1"/>
          <p:nvPr/>
        </p:nvSpPr>
        <p:spPr>
          <a:xfrm>
            <a:off x="8773584" y="1901952"/>
            <a:ext cx="2686590" cy="310896"/>
          </a:xfrm>
          <a:prstGeom prst="rect">
            <a:avLst/>
          </a:prstGeom>
          <a:noFill/>
        </p:spPr>
        <p:txBody>
          <a:bodyPr wrap="square" lIns="0" tIns="0" rIns="0" bIns="0" anchor="ctr">
            <a:spAutoFit/>
          </a:bodyPr>
          <a:lstStyle/>
          <a:p>
            <a:pPr algn="r"/>
            <a:r>
              <a:rPr sz="1300" b="1" i="0">
                <a:solidFill>
                  <a:srgbClr val="6D2E46"/>
                </a:solidFill>
                <a:latin typeface="Calibri"/>
              </a:rPr>
              <a:t>Valeur</a:t>
            </a:r>
          </a:p>
        </p:txBody>
      </p:sp>
      <p:sp>
        <p:nvSpPr>
          <p:cNvPr id="9" name="Rectangle 8"/>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1178703" cy="475488"/>
          </a:xfrm>
          <a:prstGeom prst="rect">
            <a:avLst/>
          </a:prstGeom>
          <a:noFill/>
        </p:spPr>
        <p:txBody>
          <a:bodyPr wrap="square" lIns="0" tIns="0" rIns="0" bIns="0" anchor="ctr">
            <a:spAutoFit/>
          </a:bodyPr>
          <a:lstStyle/>
          <a:p>
            <a:pPr algn="l"/>
            <a:r>
              <a:rPr sz="1400" b="0" i="0">
                <a:solidFill>
                  <a:srgbClr val="2B3440"/>
                </a:solidFill>
                <a:latin typeface="Calibri"/>
              </a:rPr>
              <a:t>z₁</a:t>
            </a:r>
          </a:p>
        </p:txBody>
      </p:sp>
      <p:sp>
        <p:nvSpPr>
          <p:cNvPr id="11" name="TextBox 10"/>
          <p:cNvSpPr txBox="1"/>
          <p:nvPr/>
        </p:nvSpPr>
        <p:spPr>
          <a:xfrm>
            <a:off x="2239407" y="2322576"/>
            <a:ext cx="4194477" cy="475488"/>
          </a:xfrm>
          <a:prstGeom prst="rect">
            <a:avLst/>
          </a:prstGeom>
          <a:noFill/>
        </p:spPr>
        <p:txBody>
          <a:bodyPr wrap="square" lIns="0" tIns="0" rIns="0" bIns="0" anchor="ctr">
            <a:spAutoFit/>
          </a:bodyPr>
          <a:lstStyle/>
          <a:p>
            <a:pPr algn="l"/>
            <a:r>
              <a:rPr sz="1400" b="0" i="0">
                <a:solidFill>
                  <a:srgbClr val="2B3440"/>
                </a:solidFill>
                <a:latin typeface="Calibri"/>
              </a:rPr>
              <a:t>W₁x + b₁</a:t>
            </a:r>
          </a:p>
        </p:txBody>
      </p:sp>
      <p:sp>
        <p:nvSpPr>
          <p:cNvPr id="12" name="TextBox 11"/>
          <p:cNvSpPr txBox="1"/>
          <p:nvPr/>
        </p:nvSpPr>
        <p:spPr>
          <a:xfrm>
            <a:off x="6763068" y="2322576"/>
            <a:ext cx="1681332" cy="475488"/>
          </a:xfrm>
          <a:prstGeom prst="rect">
            <a:avLst/>
          </a:prstGeom>
          <a:noFill/>
        </p:spPr>
        <p:txBody>
          <a:bodyPr wrap="square" lIns="0" tIns="0" rIns="0" bIns="0" anchor="ctr">
            <a:spAutoFit/>
          </a:bodyPr>
          <a:lstStyle/>
          <a:p>
            <a:pPr algn="l"/>
            <a:r>
              <a:rPr sz="1400" b="0" i="0">
                <a:solidFill>
                  <a:srgbClr val="2B3440"/>
                </a:solidFill>
                <a:latin typeface="Calibri"/>
              </a:rPr>
              <a:t>(2,)</a:t>
            </a:r>
          </a:p>
        </p:txBody>
      </p:sp>
      <p:sp>
        <p:nvSpPr>
          <p:cNvPr id="13" name="TextBox 12"/>
          <p:cNvSpPr txBox="1"/>
          <p:nvPr/>
        </p:nvSpPr>
        <p:spPr>
          <a:xfrm>
            <a:off x="8773584" y="2322576"/>
            <a:ext cx="2686590" cy="475488"/>
          </a:xfrm>
          <a:prstGeom prst="rect">
            <a:avLst/>
          </a:prstGeom>
          <a:noFill/>
        </p:spPr>
        <p:txBody>
          <a:bodyPr wrap="square" lIns="0" tIns="0" rIns="0" bIns="0" anchor="ctr">
            <a:spAutoFit/>
          </a:bodyPr>
          <a:lstStyle/>
          <a:p>
            <a:pPr algn="r"/>
            <a:r>
              <a:rPr sz="1400" b="0" i="0">
                <a:solidFill>
                  <a:srgbClr val="2B3440"/>
                </a:solidFill>
                <a:latin typeface="Calibri"/>
              </a:rPr>
              <a:t>[0,5 ; 0,6]</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1178703" cy="475488"/>
          </a:xfrm>
          <a:prstGeom prst="rect">
            <a:avLst/>
          </a:prstGeom>
          <a:noFill/>
        </p:spPr>
        <p:txBody>
          <a:bodyPr wrap="square" lIns="0" tIns="0" rIns="0" bIns="0" anchor="ctr">
            <a:spAutoFit/>
          </a:bodyPr>
          <a:lstStyle/>
          <a:p>
            <a:pPr algn="l"/>
            <a:r>
              <a:rPr sz="1400" b="0" i="0">
                <a:solidFill>
                  <a:srgbClr val="2B3440"/>
                </a:solidFill>
                <a:latin typeface="Calibri"/>
              </a:rPr>
              <a:t>a₁</a:t>
            </a:r>
          </a:p>
        </p:txBody>
      </p:sp>
      <p:sp>
        <p:nvSpPr>
          <p:cNvPr id="16" name="TextBox 15"/>
          <p:cNvSpPr txBox="1"/>
          <p:nvPr/>
        </p:nvSpPr>
        <p:spPr>
          <a:xfrm>
            <a:off x="2239407" y="2907792"/>
            <a:ext cx="4194477" cy="475488"/>
          </a:xfrm>
          <a:prstGeom prst="rect">
            <a:avLst/>
          </a:prstGeom>
          <a:noFill/>
        </p:spPr>
        <p:txBody>
          <a:bodyPr wrap="square" lIns="0" tIns="0" rIns="0" bIns="0" anchor="ctr">
            <a:spAutoFit/>
          </a:bodyPr>
          <a:lstStyle/>
          <a:p>
            <a:pPr algn="l"/>
            <a:r>
              <a:rPr sz="1400" b="0" i="0">
                <a:solidFill>
                  <a:srgbClr val="2B3440"/>
                </a:solidFill>
                <a:latin typeface="Calibri"/>
              </a:rPr>
              <a:t>ReLU(z₁)</a:t>
            </a:r>
          </a:p>
        </p:txBody>
      </p:sp>
      <p:sp>
        <p:nvSpPr>
          <p:cNvPr id="17" name="TextBox 16"/>
          <p:cNvSpPr txBox="1"/>
          <p:nvPr/>
        </p:nvSpPr>
        <p:spPr>
          <a:xfrm>
            <a:off x="6763068" y="2907792"/>
            <a:ext cx="1681332" cy="475488"/>
          </a:xfrm>
          <a:prstGeom prst="rect">
            <a:avLst/>
          </a:prstGeom>
          <a:noFill/>
        </p:spPr>
        <p:txBody>
          <a:bodyPr wrap="square" lIns="0" tIns="0" rIns="0" bIns="0" anchor="ctr">
            <a:spAutoFit/>
          </a:bodyPr>
          <a:lstStyle/>
          <a:p>
            <a:pPr algn="l"/>
            <a:r>
              <a:rPr sz="1400" b="0" i="0">
                <a:solidFill>
                  <a:srgbClr val="2B3440"/>
                </a:solidFill>
                <a:latin typeface="Calibri"/>
              </a:rPr>
              <a:t>(2,)</a:t>
            </a:r>
          </a:p>
        </p:txBody>
      </p:sp>
      <p:sp>
        <p:nvSpPr>
          <p:cNvPr id="18" name="TextBox 17"/>
          <p:cNvSpPr txBox="1"/>
          <p:nvPr/>
        </p:nvSpPr>
        <p:spPr>
          <a:xfrm>
            <a:off x="8773584" y="2907792"/>
            <a:ext cx="2686590" cy="475488"/>
          </a:xfrm>
          <a:prstGeom prst="rect">
            <a:avLst/>
          </a:prstGeom>
          <a:noFill/>
        </p:spPr>
        <p:txBody>
          <a:bodyPr wrap="square" lIns="0" tIns="0" rIns="0" bIns="0" anchor="ctr">
            <a:spAutoFit/>
          </a:bodyPr>
          <a:lstStyle/>
          <a:p>
            <a:pPr algn="r"/>
            <a:r>
              <a:rPr sz="1400" b="0" i="0">
                <a:solidFill>
                  <a:srgbClr val="2B3440"/>
                </a:solidFill>
                <a:latin typeface="Calibri"/>
              </a:rPr>
              <a:t>[0,5 ; 0,6]</a:t>
            </a:r>
          </a:p>
        </p:txBody>
      </p:sp>
      <p:sp>
        <p:nvSpPr>
          <p:cNvPr id="19" name="Rectangle 18"/>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93008"/>
            <a:ext cx="1178703" cy="475488"/>
          </a:xfrm>
          <a:prstGeom prst="rect">
            <a:avLst/>
          </a:prstGeom>
          <a:noFill/>
        </p:spPr>
        <p:txBody>
          <a:bodyPr wrap="square" lIns="0" tIns="0" rIns="0" bIns="0" anchor="ctr">
            <a:spAutoFit/>
          </a:bodyPr>
          <a:lstStyle/>
          <a:p>
            <a:pPr algn="l"/>
            <a:r>
              <a:rPr sz="1400" b="0" i="0">
                <a:solidFill>
                  <a:srgbClr val="2B3440"/>
                </a:solidFill>
                <a:latin typeface="Calibri"/>
              </a:rPr>
              <a:t>z₂</a:t>
            </a:r>
          </a:p>
        </p:txBody>
      </p:sp>
      <p:sp>
        <p:nvSpPr>
          <p:cNvPr id="21" name="TextBox 20"/>
          <p:cNvSpPr txBox="1"/>
          <p:nvPr/>
        </p:nvSpPr>
        <p:spPr>
          <a:xfrm>
            <a:off x="2239407" y="3493008"/>
            <a:ext cx="4194477" cy="475488"/>
          </a:xfrm>
          <a:prstGeom prst="rect">
            <a:avLst/>
          </a:prstGeom>
          <a:noFill/>
        </p:spPr>
        <p:txBody>
          <a:bodyPr wrap="square" lIns="0" tIns="0" rIns="0" bIns="0" anchor="ctr">
            <a:spAutoFit/>
          </a:bodyPr>
          <a:lstStyle/>
          <a:p>
            <a:pPr algn="l"/>
            <a:r>
              <a:rPr sz="1400" b="0" i="0">
                <a:solidFill>
                  <a:srgbClr val="2B3440"/>
                </a:solidFill>
                <a:latin typeface="Calibri"/>
              </a:rPr>
              <a:t>W₂a₁ + b₂</a:t>
            </a:r>
          </a:p>
        </p:txBody>
      </p:sp>
      <p:sp>
        <p:nvSpPr>
          <p:cNvPr id="22" name="TextBox 21"/>
          <p:cNvSpPr txBox="1"/>
          <p:nvPr/>
        </p:nvSpPr>
        <p:spPr>
          <a:xfrm>
            <a:off x="6763068" y="3493008"/>
            <a:ext cx="1681332" cy="475488"/>
          </a:xfrm>
          <a:prstGeom prst="rect">
            <a:avLst/>
          </a:prstGeom>
          <a:noFill/>
        </p:spPr>
        <p:txBody>
          <a:bodyPr wrap="square" lIns="0" tIns="0" rIns="0" bIns="0" anchor="ctr">
            <a:spAutoFit/>
          </a:bodyPr>
          <a:lstStyle/>
          <a:p>
            <a:pPr algn="l"/>
            <a:r>
              <a:rPr sz="1400" b="0" i="0">
                <a:solidFill>
                  <a:srgbClr val="2B3440"/>
                </a:solidFill>
                <a:latin typeface="Calibri"/>
              </a:rPr>
              <a:t>(1,)</a:t>
            </a:r>
          </a:p>
        </p:txBody>
      </p:sp>
      <p:sp>
        <p:nvSpPr>
          <p:cNvPr id="23" name="TextBox 22"/>
          <p:cNvSpPr txBox="1"/>
          <p:nvPr/>
        </p:nvSpPr>
        <p:spPr>
          <a:xfrm>
            <a:off x="8773584" y="3493008"/>
            <a:ext cx="2686590" cy="475488"/>
          </a:xfrm>
          <a:prstGeom prst="rect">
            <a:avLst/>
          </a:prstGeom>
          <a:noFill/>
        </p:spPr>
        <p:txBody>
          <a:bodyPr wrap="square" lIns="0" tIns="0" rIns="0" bIns="0" anchor="ctr">
            <a:spAutoFit/>
          </a:bodyPr>
          <a:lstStyle/>
          <a:p>
            <a:pPr algn="r"/>
            <a:r>
              <a:rPr sz="1400" b="0" i="0">
                <a:solidFill>
                  <a:srgbClr val="2B3440"/>
                </a:solidFill>
                <a:latin typeface="Calibri"/>
              </a:rPr>
              <a:t>0,1</a:t>
            </a:r>
          </a:p>
        </p:txBody>
      </p:sp>
      <p:sp>
        <p:nvSpPr>
          <p:cNvPr id="24" name="Rectangle 23"/>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078224"/>
            <a:ext cx="1178703" cy="475488"/>
          </a:xfrm>
          <a:prstGeom prst="rect">
            <a:avLst/>
          </a:prstGeom>
          <a:noFill/>
        </p:spPr>
        <p:txBody>
          <a:bodyPr wrap="square" lIns="0" tIns="0" rIns="0" bIns="0" anchor="ctr">
            <a:spAutoFit/>
          </a:bodyPr>
          <a:lstStyle/>
          <a:p>
            <a:pPr algn="l"/>
            <a:r>
              <a:rPr sz="1400" b="0" i="0">
                <a:solidFill>
                  <a:srgbClr val="2B3440"/>
                </a:solidFill>
                <a:latin typeface="Calibri"/>
              </a:rPr>
              <a:t>a₂</a:t>
            </a:r>
          </a:p>
        </p:txBody>
      </p:sp>
      <p:sp>
        <p:nvSpPr>
          <p:cNvPr id="26" name="TextBox 25"/>
          <p:cNvSpPr txBox="1"/>
          <p:nvPr/>
        </p:nvSpPr>
        <p:spPr>
          <a:xfrm>
            <a:off x="2239407" y="4078224"/>
            <a:ext cx="4194477" cy="475488"/>
          </a:xfrm>
          <a:prstGeom prst="rect">
            <a:avLst/>
          </a:prstGeom>
          <a:noFill/>
        </p:spPr>
        <p:txBody>
          <a:bodyPr wrap="square" lIns="0" tIns="0" rIns="0" bIns="0" anchor="ctr">
            <a:spAutoFit/>
          </a:bodyPr>
          <a:lstStyle/>
          <a:p>
            <a:pPr algn="l"/>
            <a:r>
              <a:rPr sz="1400" b="0" i="0">
                <a:solidFill>
                  <a:srgbClr val="2B3440"/>
                </a:solidFill>
                <a:latin typeface="Calibri"/>
              </a:rPr>
              <a:t>σ(z₂)</a:t>
            </a:r>
          </a:p>
        </p:txBody>
      </p:sp>
      <p:sp>
        <p:nvSpPr>
          <p:cNvPr id="27" name="TextBox 26"/>
          <p:cNvSpPr txBox="1"/>
          <p:nvPr/>
        </p:nvSpPr>
        <p:spPr>
          <a:xfrm>
            <a:off x="6763068" y="4078224"/>
            <a:ext cx="1681332" cy="475488"/>
          </a:xfrm>
          <a:prstGeom prst="rect">
            <a:avLst/>
          </a:prstGeom>
          <a:noFill/>
        </p:spPr>
        <p:txBody>
          <a:bodyPr wrap="square" lIns="0" tIns="0" rIns="0" bIns="0" anchor="ctr">
            <a:spAutoFit/>
          </a:bodyPr>
          <a:lstStyle/>
          <a:p>
            <a:pPr algn="l"/>
            <a:r>
              <a:rPr sz="1400" b="0" i="0">
                <a:solidFill>
                  <a:srgbClr val="2B3440"/>
                </a:solidFill>
                <a:latin typeface="Calibri"/>
              </a:rPr>
              <a:t>(1,)</a:t>
            </a:r>
          </a:p>
        </p:txBody>
      </p:sp>
      <p:sp>
        <p:nvSpPr>
          <p:cNvPr id="28" name="TextBox 27"/>
          <p:cNvSpPr txBox="1"/>
          <p:nvPr/>
        </p:nvSpPr>
        <p:spPr>
          <a:xfrm>
            <a:off x="8773584" y="4078224"/>
            <a:ext cx="2686590" cy="475488"/>
          </a:xfrm>
          <a:prstGeom prst="rect">
            <a:avLst/>
          </a:prstGeom>
          <a:noFill/>
        </p:spPr>
        <p:txBody>
          <a:bodyPr wrap="square" lIns="0" tIns="0" rIns="0" bIns="0" anchor="ctr">
            <a:spAutoFit/>
          </a:bodyPr>
          <a:lstStyle/>
          <a:p>
            <a:pPr algn="r"/>
            <a:r>
              <a:rPr sz="1400" b="0" i="0">
                <a:solidFill>
                  <a:srgbClr val="2B3440"/>
                </a:solidFill>
                <a:latin typeface="Calibri"/>
              </a:rPr>
              <a:t>0,524979</a:t>
            </a:r>
          </a:p>
        </p:txBody>
      </p:sp>
      <p:sp>
        <p:nvSpPr>
          <p:cNvPr id="29" name="Rectangle 28"/>
          <p:cNvSpPr/>
          <p:nvPr/>
        </p:nvSpPr>
        <p:spPr>
          <a:xfrm>
            <a:off x="566928" y="4608576"/>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663440"/>
            <a:ext cx="1178703" cy="475488"/>
          </a:xfrm>
          <a:prstGeom prst="rect">
            <a:avLst/>
          </a:prstGeom>
          <a:noFill/>
        </p:spPr>
        <p:txBody>
          <a:bodyPr wrap="square" lIns="0" tIns="0" rIns="0" bIns="0" anchor="ctr">
            <a:spAutoFit/>
          </a:bodyPr>
          <a:lstStyle/>
          <a:p>
            <a:pPr algn="l"/>
            <a:r>
              <a:rPr sz="1400" b="1" i="0">
                <a:solidFill>
                  <a:srgbClr val="A9660B"/>
                </a:solidFill>
                <a:latin typeface="Calibri"/>
              </a:rPr>
              <a:t>L</a:t>
            </a:r>
          </a:p>
        </p:txBody>
      </p:sp>
      <p:sp>
        <p:nvSpPr>
          <p:cNvPr id="31" name="TextBox 30"/>
          <p:cNvSpPr txBox="1"/>
          <p:nvPr/>
        </p:nvSpPr>
        <p:spPr>
          <a:xfrm>
            <a:off x="2239407" y="4663440"/>
            <a:ext cx="4194477" cy="475488"/>
          </a:xfrm>
          <a:prstGeom prst="rect">
            <a:avLst/>
          </a:prstGeom>
          <a:noFill/>
        </p:spPr>
        <p:txBody>
          <a:bodyPr wrap="square" lIns="0" tIns="0" rIns="0" bIns="0" anchor="ctr">
            <a:spAutoFit/>
          </a:bodyPr>
          <a:lstStyle/>
          <a:p>
            <a:pPr algn="l"/>
            <a:r>
              <a:rPr sz="1400" b="1" i="0">
                <a:solidFill>
                  <a:srgbClr val="A9660B"/>
                </a:solidFill>
                <a:latin typeface="Calibri"/>
              </a:rPr>
              <a:t>-log(a₂), car y = 1</a:t>
            </a:r>
          </a:p>
        </p:txBody>
      </p:sp>
      <p:sp>
        <p:nvSpPr>
          <p:cNvPr id="32" name="TextBox 31"/>
          <p:cNvSpPr txBox="1"/>
          <p:nvPr/>
        </p:nvSpPr>
        <p:spPr>
          <a:xfrm>
            <a:off x="6763068" y="4663440"/>
            <a:ext cx="1681332" cy="475488"/>
          </a:xfrm>
          <a:prstGeom prst="rect">
            <a:avLst/>
          </a:prstGeom>
          <a:noFill/>
        </p:spPr>
        <p:txBody>
          <a:bodyPr wrap="square" lIns="0" tIns="0" rIns="0" bIns="0" anchor="ctr">
            <a:spAutoFit/>
          </a:bodyPr>
          <a:lstStyle/>
          <a:p>
            <a:pPr algn="l"/>
            <a:r>
              <a:rPr sz="1400" b="1" i="0">
                <a:solidFill>
                  <a:srgbClr val="A9660B"/>
                </a:solidFill>
                <a:latin typeface="Calibri"/>
              </a:rPr>
              <a:t>scalaire</a:t>
            </a:r>
          </a:p>
        </p:txBody>
      </p:sp>
      <p:sp>
        <p:nvSpPr>
          <p:cNvPr id="33" name="TextBox 32"/>
          <p:cNvSpPr txBox="1"/>
          <p:nvPr/>
        </p:nvSpPr>
        <p:spPr>
          <a:xfrm>
            <a:off x="8773584" y="4663440"/>
            <a:ext cx="2686590" cy="475488"/>
          </a:xfrm>
          <a:prstGeom prst="rect">
            <a:avLst/>
          </a:prstGeom>
          <a:noFill/>
        </p:spPr>
        <p:txBody>
          <a:bodyPr wrap="square" lIns="0" tIns="0" rIns="0" bIns="0" anchor="ctr">
            <a:spAutoFit/>
          </a:bodyPr>
          <a:lstStyle/>
          <a:p>
            <a:pPr algn="r"/>
            <a:r>
              <a:rPr sz="1400" b="1" i="0">
                <a:solidFill>
                  <a:srgbClr val="A9660B"/>
                </a:solidFill>
                <a:latin typeface="Calibri"/>
              </a:rPr>
              <a:t>0,644397</a:t>
            </a:r>
          </a:p>
        </p:txBody>
      </p:sp>
      <p:sp>
        <p:nvSpPr>
          <p:cNvPr id="34" name="Rounded Rectangle 33"/>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Une loss de 0,644, proche de log 2 ≈ 0,693 : le réseau ne sait presque rien.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Choisir la loss selon le problème</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308465" cy="310896"/>
          </a:xfrm>
          <a:prstGeom prst="rect">
            <a:avLst/>
          </a:prstGeom>
          <a:noFill/>
        </p:spPr>
        <p:txBody>
          <a:bodyPr wrap="square" lIns="0" tIns="0" rIns="0" bIns="0" anchor="ctr">
            <a:spAutoFit/>
          </a:bodyPr>
          <a:lstStyle/>
          <a:p>
            <a:pPr algn="l"/>
            <a:r>
              <a:rPr sz="1300" b="1" i="0">
                <a:solidFill>
                  <a:srgbClr val="6D2E46"/>
                </a:solidFill>
                <a:latin typeface="Calibri"/>
              </a:rPr>
              <a:t>Problème</a:t>
            </a:r>
          </a:p>
        </p:txBody>
      </p:sp>
      <p:sp>
        <p:nvSpPr>
          <p:cNvPr id="6" name="TextBox 5"/>
          <p:cNvSpPr txBox="1"/>
          <p:nvPr/>
        </p:nvSpPr>
        <p:spPr>
          <a:xfrm>
            <a:off x="3369169" y="1901952"/>
            <a:ext cx="3120050" cy="310896"/>
          </a:xfrm>
          <a:prstGeom prst="rect">
            <a:avLst/>
          </a:prstGeom>
          <a:noFill/>
        </p:spPr>
        <p:txBody>
          <a:bodyPr wrap="square" lIns="0" tIns="0" rIns="0" bIns="0" anchor="ctr">
            <a:spAutoFit/>
          </a:bodyPr>
          <a:lstStyle/>
          <a:p>
            <a:pPr algn="l"/>
            <a:r>
              <a:rPr sz="1300" b="1" i="0">
                <a:solidFill>
                  <a:srgbClr val="6D2E46"/>
                </a:solidFill>
                <a:latin typeface="Calibri"/>
              </a:rPr>
              <a:t>Sortie du réseau</a:t>
            </a:r>
          </a:p>
        </p:txBody>
      </p:sp>
      <p:sp>
        <p:nvSpPr>
          <p:cNvPr id="7" name="TextBox 6"/>
          <p:cNvSpPr txBox="1"/>
          <p:nvPr/>
        </p:nvSpPr>
        <p:spPr>
          <a:xfrm>
            <a:off x="6818403" y="1901952"/>
            <a:ext cx="2917154" cy="310896"/>
          </a:xfrm>
          <a:prstGeom prst="rect">
            <a:avLst/>
          </a:prstGeom>
          <a:noFill/>
        </p:spPr>
        <p:txBody>
          <a:bodyPr wrap="square" lIns="0" tIns="0" rIns="0" bIns="0" anchor="ctr">
            <a:spAutoFit/>
          </a:bodyPr>
          <a:lstStyle/>
          <a:p>
            <a:pPr algn="l"/>
            <a:r>
              <a:rPr sz="1300" b="1" i="0">
                <a:solidFill>
                  <a:srgbClr val="6D2E46"/>
                </a:solidFill>
                <a:latin typeface="Calibri"/>
              </a:rPr>
              <a:t>Loss</a:t>
            </a:r>
          </a:p>
        </p:txBody>
      </p:sp>
      <p:sp>
        <p:nvSpPr>
          <p:cNvPr id="8" name="TextBox 7"/>
          <p:cNvSpPr txBox="1"/>
          <p:nvPr/>
        </p:nvSpPr>
        <p:spPr>
          <a:xfrm>
            <a:off x="10064742" y="1901952"/>
            <a:ext cx="1395433" cy="310896"/>
          </a:xfrm>
          <a:prstGeom prst="rect">
            <a:avLst/>
          </a:prstGeom>
          <a:noFill/>
        </p:spPr>
        <p:txBody>
          <a:bodyPr wrap="square" lIns="0" tIns="0" rIns="0" bIns="0" anchor="ctr">
            <a:spAutoFit/>
          </a:bodyPr>
          <a:lstStyle/>
          <a:p>
            <a:pPr algn="l"/>
            <a:r>
              <a:rPr sz="1300" b="1" i="0">
                <a:solidFill>
                  <a:srgbClr val="6D2E46"/>
                </a:solidFill>
                <a:latin typeface="Calibri"/>
              </a:rPr>
              <a:t>Déjà vue</a:t>
            </a:r>
          </a:p>
        </p:txBody>
      </p:sp>
      <p:sp>
        <p:nvSpPr>
          <p:cNvPr id="9" name="Rectangle 8"/>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2308465" cy="475488"/>
          </a:xfrm>
          <a:prstGeom prst="rect">
            <a:avLst/>
          </a:prstGeom>
          <a:noFill/>
        </p:spPr>
        <p:txBody>
          <a:bodyPr wrap="square" lIns="0" tIns="0" rIns="0" bIns="0" anchor="ctr">
            <a:spAutoFit/>
          </a:bodyPr>
          <a:lstStyle/>
          <a:p>
            <a:pPr algn="l"/>
            <a:r>
              <a:rPr sz="1400" b="0" i="0">
                <a:solidFill>
                  <a:srgbClr val="2B3440"/>
                </a:solidFill>
                <a:latin typeface="Calibri"/>
              </a:rPr>
              <a:t>Régression</a:t>
            </a:r>
          </a:p>
        </p:txBody>
      </p:sp>
      <p:sp>
        <p:nvSpPr>
          <p:cNvPr id="11" name="TextBox 10"/>
          <p:cNvSpPr txBox="1"/>
          <p:nvPr/>
        </p:nvSpPr>
        <p:spPr>
          <a:xfrm>
            <a:off x="3369169" y="2322576"/>
            <a:ext cx="3120050" cy="475488"/>
          </a:xfrm>
          <a:prstGeom prst="rect">
            <a:avLst/>
          </a:prstGeom>
          <a:noFill/>
        </p:spPr>
        <p:txBody>
          <a:bodyPr wrap="square" lIns="0" tIns="0" rIns="0" bIns="0" anchor="ctr">
            <a:spAutoFit/>
          </a:bodyPr>
          <a:lstStyle/>
          <a:p>
            <a:pPr algn="l"/>
            <a:r>
              <a:rPr sz="1400" b="0" i="0">
                <a:solidFill>
                  <a:srgbClr val="2B3440"/>
                </a:solidFill>
                <a:latin typeface="Calibri"/>
              </a:rPr>
              <a:t>identité (un réel)</a:t>
            </a:r>
          </a:p>
        </p:txBody>
      </p:sp>
      <p:sp>
        <p:nvSpPr>
          <p:cNvPr id="12" name="TextBox 11"/>
          <p:cNvSpPr txBox="1"/>
          <p:nvPr/>
        </p:nvSpPr>
        <p:spPr>
          <a:xfrm>
            <a:off x="6818403" y="2322576"/>
            <a:ext cx="2917154" cy="475488"/>
          </a:xfrm>
          <a:prstGeom prst="rect">
            <a:avLst/>
          </a:prstGeom>
          <a:noFill/>
        </p:spPr>
        <p:txBody>
          <a:bodyPr wrap="square" lIns="0" tIns="0" rIns="0" bIns="0" anchor="ctr">
            <a:spAutoFit/>
          </a:bodyPr>
          <a:lstStyle/>
          <a:p>
            <a:pPr algn="l"/>
            <a:r>
              <a:rPr sz="1400" b="0" i="0">
                <a:solidFill>
                  <a:srgbClr val="2B3440"/>
                </a:solidFill>
                <a:latin typeface="Calibri"/>
              </a:rPr>
              <a:t>squared error (MSE)</a:t>
            </a:r>
          </a:p>
        </p:txBody>
      </p:sp>
      <p:sp>
        <p:nvSpPr>
          <p:cNvPr id="13" name="TextBox 12"/>
          <p:cNvSpPr txBox="1"/>
          <p:nvPr/>
        </p:nvSpPr>
        <p:spPr>
          <a:xfrm>
            <a:off x="10064742" y="2322576"/>
            <a:ext cx="1395433" cy="475488"/>
          </a:xfrm>
          <a:prstGeom prst="rect">
            <a:avLst/>
          </a:prstGeom>
          <a:noFill/>
        </p:spPr>
        <p:txBody>
          <a:bodyPr wrap="square" lIns="0" tIns="0" rIns="0" bIns="0" anchor="ctr">
            <a:spAutoFit/>
          </a:bodyPr>
          <a:lstStyle/>
          <a:p>
            <a:pPr algn="l"/>
            <a:r>
              <a:rPr sz="1400" b="0" i="0">
                <a:solidFill>
                  <a:srgbClr val="2B3440"/>
                </a:solidFill>
                <a:latin typeface="Calibri"/>
              </a:rPr>
              <a:t>séance 4</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2308465" cy="475488"/>
          </a:xfrm>
          <a:prstGeom prst="rect">
            <a:avLst/>
          </a:prstGeom>
          <a:noFill/>
        </p:spPr>
        <p:txBody>
          <a:bodyPr wrap="square" lIns="0" tIns="0" rIns="0" bIns="0" anchor="ctr">
            <a:spAutoFit/>
          </a:bodyPr>
          <a:lstStyle/>
          <a:p>
            <a:pPr algn="l"/>
            <a:r>
              <a:rPr sz="1400" b="0" i="0">
                <a:solidFill>
                  <a:srgbClr val="2B3440"/>
                </a:solidFill>
                <a:latin typeface="Calibri"/>
              </a:rPr>
              <a:t>Classification binaire</a:t>
            </a:r>
          </a:p>
        </p:txBody>
      </p:sp>
      <p:sp>
        <p:nvSpPr>
          <p:cNvPr id="16" name="TextBox 15"/>
          <p:cNvSpPr txBox="1"/>
          <p:nvPr/>
        </p:nvSpPr>
        <p:spPr>
          <a:xfrm>
            <a:off x="3369169" y="2907792"/>
            <a:ext cx="3120050" cy="475488"/>
          </a:xfrm>
          <a:prstGeom prst="rect">
            <a:avLst/>
          </a:prstGeom>
          <a:noFill/>
        </p:spPr>
        <p:txBody>
          <a:bodyPr wrap="square" lIns="0" tIns="0" rIns="0" bIns="0" anchor="ctr">
            <a:spAutoFit/>
          </a:bodyPr>
          <a:lstStyle/>
          <a:p>
            <a:pPr algn="l"/>
            <a:r>
              <a:rPr sz="1400" b="0" i="0">
                <a:solidFill>
                  <a:srgbClr val="2B3440"/>
                </a:solidFill>
                <a:latin typeface="Calibri"/>
              </a:rPr>
              <a:t>sigmoïde (une probabilité)</a:t>
            </a:r>
          </a:p>
        </p:txBody>
      </p:sp>
      <p:sp>
        <p:nvSpPr>
          <p:cNvPr id="17" name="TextBox 16"/>
          <p:cNvSpPr txBox="1"/>
          <p:nvPr/>
        </p:nvSpPr>
        <p:spPr>
          <a:xfrm>
            <a:off x="6818403" y="2907792"/>
            <a:ext cx="2917154" cy="475488"/>
          </a:xfrm>
          <a:prstGeom prst="rect">
            <a:avLst/>
          </a:prstGeom>
          <a:noFill/>
        </p:spPr>
        <p:txBody>
          <a:bodyPr wrap="square" lIns="0" tIns="0" rIns="0" bIns="0" anchor="ctr">
            <a:spAutoFit/>
          </a:bodyPr>
          <a:lstStyle/>
          <a:p>
            <a:pPr algn="l"/>
            <a:r>
              <a:rPr sz="1400" b="0" i="0">
                <a:solidFill>
                  <a:srgbClr val="2B3440"/>
                </a:solidFill>
                <a:latin typeface="Calibri"/>
              </a:rPr>
              <a:t>binary cross-entropy</a:t>
            </a:r>
          </a:p>
        </p:txBody>
      </p:sp>
      <p:sp>
        <p:nvSpPr>
          <p:cNvPr id="18" name="TextBox 17"/>
          <p:cNvSpPr txBox="1"/>
          <p:nvPr/>
        </p:nvSpPr>
        <p:spPr>
          <a:xfrm>
            <a:off x="10064742" y="2907792"/>
            <a:ext cx="1395433" cy="475488"/>
          </a:xfrm>
          <a:prstGeom prst="rect">
            <a:avLst/>
          </a:prstGeom>
          <a:noFill/>
        </p:spPr>
        <p:txBody>
          <a:bodyPr wrap="square" lIns="0" tIns="0" rIns="0" bIns="0" anchor="ctr">
            <a:spAutoFit/>
          </a:bodyPr>
          <a:lstStyle/>
          <a:p>
            <a:pPr algn="l"/>
            <a:r>
              <a:rPr sz="1400" b="0" i="0">
                <a:solidFill>
                  <a:srgbClr val="2B3440"/>
                </a:solidFill>
                <a:latin typeface="Calibri"/>
              </a:rPr>
              <a:t>séance 5</a:t>
            </a:r>
          </a:p>
        </p:txBody>
      </p:sp>
      <p:sp>
        <p:nvSpPr>
          <p:cNvPr id="19" name="Rectangle 18"/>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93008"/>
            <a:ext cx="2308465" cy="475488"/>
          </a:xfrm>
          <a:prstGeom prst="rect">
            <a:avLst/>
          </a:prstGeom>
          <a:noFill/>
        </p:spPr>
        <p:txBody>
          <a:bodyPr wrap="square" lIns="0" tIns="0" rIns="0" bIns="0" anchor="ctr">
            <a:spAutoFit/>
          </a:bodyPr>
          <a:lstStyle/>
          <a:p>
            <a:pPr algn="l"/>
            <a:r>
              <a:rPr sz="1400" b="0" i="0">
                <a:solidFill>
                  <a:srgbClr val="2B3440"/>
                </a:solidFill>
                <a:latin typeface="Calibri"/>
              </a:rPr>
              <a:t>Plusieurs classes</a:t>
            </a:r>
          </a:p>
        </p:txBody>
      </p:sp>
      <p:sp>
        <p:nvSpPr>
          <p:cNvPr id="21" name="TextBox 20"/>
          <p:cNvSpPr txBox="1"/>
          <p:nvPr/>
        </p:nvSpPr>
        <p:spPr>
          <a:xfrm>
            <a:off x="3369169" y="3493008"/>
            <a:ext cx="3120050" cy="475488"/>
          </a:xfrm>
          <a:prstGeom prst="rect">
            <a:avLst/>
          </a:prstGeom>
          <a:noFill/>
        </p:spPr>
        <p:txBody>
          <a:bodyPr wrap="square" lIns="0" tIns="0" rIns="0" bIns="0" anchor="ctr">
            <a:spAutoFit/>
          </a:bodyPr>
          <a:lstStyle/>
          <a:p>
            <a:pPr algn="l"/>
            <a:r>
              <a:rPr sz="1400" b="0" i="0">
                <a:solidFill>
                  <a:srgbClr val="2B3440"/>
                </a:solidFill>
                <a:latin typeface="Calibri"/>
              </a:rPr>
              <a:t>softmax (une distribution)</a:t>
            </a:r>
          </a:p>
        </p:txBody>
      </p:sp>
      <p:sp>
        <p:nvSpPr>
          <p:cNvPr id="22" name="TextBox 21"/>
          <p:cNvSpPr txBox="1"/>
          <p:nvPr/>
        </p:nvSpPr>
        <p:spPr>
          <a:xfrm>
            <a:off x="6818403" y="3493008"/>
            <a:ext cx="2917154" cy="475488"/>
          </a:xfrm>
          <a:prstGeom prst="rect">
            <a:avLst/>
          </a:prstGeom>
          <a:noFill/>
        </p:spPr>
        <p:txBody>
          <a:bodyPr wrap="square" lIns="0" tIns="0" rIns="0" bIns="0" anchor="ctr">
            <a:spAutoFit/>
          </a:bodyPr>
          <a:lstStyle/>
          <a:p>
            <a:pPr algn="l"/>
            <a:r>
              <a:rPr sz="1400" b="0" i="0">
                <a:solidFill>
                  <a:srgbClr val="2B3440"/>
                </a:solidFill>
                <a:latin typeface="Calibri"/>
              </a:rPr>
              <a:t>cross-entropy</a:t>
            </a:r>
          </a:p>
        </p:txBody>
      </p:sp>
      <p:sp>
        <p:nvSpPr>
          <p:cNvPr id="23" name="TextBox 22"/>
          <p:cNvSpPr txBox="1"/>
          <p:nvPr/>
        </p:nvSpPr>
        <p:spPr>
          <a:xfrm>
            <a:off x="10064742" y="3493008"/>
            <a:ext cx="1395433" cy="475488"/>
          </a:xfrm>
          <a:prstGeom prst="rect">
            <a:avLst/>
          </a:prstGeom>
          <a:noFill/>
        </p:spPr>
        <p:txBody>
          <a:bodyPr wrap="square" lIns="0" tIns="0" rIns="0" bIns="0" anchor="ctr">
            <a:spAutoFit/>
          </a:bodyPr>
          <a:lstStyle/>
          <a:p>
            <a:pPr algn="l"/>
            <a:r>
              <a:rPr sz="1400" b="0" i="0">
                <a:solidFill>
                  <a:srgbClr val="2B3440"/>
                </a:solidFill>
                <a:latin typeface="Calibri"/>
              </a:rPr>
              <a:t>séances 5 et 11</a:t>
            </a:r>
          </a:p>
        </p:txBody>
      </p:sp>
      <p:sp>
        <p:nvSpPr>
          <p:cNvPr id="24" name="Rounded Rectangle 23"/>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Les losses ne changent pas avec les réseaux : seul le modèle qui produit la sortie change.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Apprendre : descendre la surface de la loss</a:t>
            </a:r>
          </a:p>
        </p:txBody>
      </p:sp>
      <p:sp>
        <p:nvSpPr>
          <p:cNvPr id="4" name="Rounded Rectangle 3"/>
          <p:cNvSpPr/>
          <p:nvPr/>
        </p:nvSpPr>
        <p:spPr>
          <a:xfrm>
            <a:off x="566928" y="1883664"/>
            <a:ext cx="11057839" cy="3529583"/>
          </a:xfrm>
          <a:prstGeom prst="roundRect">
            <a:avLst>
              <a:gd name="adj" fmla="val 362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n_learning_rate.png"/>
          <p:cNvPicPr>
            <a:picLocks noChangeAspect="1"/>
          </p:cNvPicPr>
          <p:nvPr/>
        </p:nvPicPr>
        <p:blipFill>
          <a:blip r:embed="rId3"/>
          <a:stretch>
            <a:fillRect/>
          </a:stretch>
        </p:blipFill>
        <p:spPr>
          <a:xfrm>
            <a:off x="3888915" y="2011680"/>
            <a:ext cx="4413865" cy="3273551"/>
          </a:xfrm>
          <a:prstGeom prst="rect">
            <a:avLst/>
          </a:prstGeom>
        </p:spPr>
      </p:pic>
      <p:sp>
        <p:nvSpPr>
          <p:cNvPr id="6" name="Rounded Rectangle 5"/>
          <p:cNvSpPr/>
          <p:nvPr/>
        </p:nvSpPr>
        <p:spPr>
          <a:xfrm>
            <a:off x="566928" y="5596127"/>
            <a:ext cx="11057839" cy="786384"/>
          </a:xfrm>
          <a:prstGeom prst="roundRect">
            <a:avLst>
              <a:gd name="adj" fmla="val 16279"/>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678423"/>
            <a:ext cx="10472623" cy="62179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Le gradient descent fait des steps contre la pente : θ ← θ - η·∂L/∂θ. Le gradient donne la direction, le </a:t>
            </a:r>
            <a:r>
              <a:rPr sz="1500" b="1" i="0">
                <a:solidFill>
                  <a:srgbClr val="6D2E46"/>
                </a:solidFill>
                <a:latin typeface="Calibri"/>
              </a:rPr>
              <a:t>learning rate</a:t>
            </a:r>
            <a:r>
              <a:rPr sz="1500" b="0" i="0">
                <a:solidFill>
                  <a:srgbClr val="2B3440"/>
                </a:solidFill>
                <a:latin typeface="Calibri"/>
              </a:rPr>
              <a:t> η la longueur du step. Reste à calculer ∂L/∂θ pour chacun des paramètres.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050" b="1" i="0">
                <a:solidFill>
                  <a:srgbClr val="12233A"/>
                </a:solidFill>
                <a:latin typeface="Cambria"/>
              </a:rPr>
              <a:t>La backpropagation : la chain rule, avec comptabilité</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Calculer une fois depuis la fin, et réutiliser chaque intermédiaire.</a:t>
            </a:r>
          </a:p>
        </p:txBody>
      </p:sp>
      <p:sp>
        <p:nvSpPr>
          <p:cNvPr id="5" name="Rounded Rectangle 4"/>
          <p:cNvSpPr/>
          <p:nvPr/>
        </p:nvSpPr>
        <p:spPr>
          <a:xfrm>
            <a:off x="566928" y="2377440"/>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1</a:t>
            </a:r>
          </a:p>
        </p:txBody>
      </p:sp>
      <p:sp>
        <p:nvSpPr>
          <p:cNvPr id="7" name="TextBox 6"/>
          <p:cNvSpPr txBox="1"/>
          <p:nvPr/>
        </p:nvSpPr>
        <p:spPr>
          <a:xfrm>
            <a:off x="822960" y="3218688"/>
            <a:ext cx="2074087" cy="548640"/>
          </a:xfrm>
          <a:prstGeom prst="rect">
            <a:avLst/>
          </a:prstGeom>
          <a:noFill/>
        </p:spPr>
        <p:txBody>
          <a:bodyPr wrap="square" lIns="0" tIns="0" rIns="0" bIns="0" anchor="t">
            <a:spAutoFit/>
          </a:bodyPr>
          <a:lstStyle/>
          <a:p>
            <a:pPr algn="l"/>
            <a:r>
              <a:rPr sz="1600" b="1" i="0">
                <a:solidFill>
                  <a:srgbClr val="6D2E46"/>
                </a:solidFill>
                <a:latin typeface="Cambria"/>
              </a:rPr>
              <a:t>Forward pass</a:t>
            </a:r>
          </a:p>
        </p:txBody>
      </p:sp>
      <p:sp>
        <p:nvSpPr>
          <p:cNvPr id="8" name="TextBox 7"/>
          <p:cNvSpPr txBox="1"/>
          <p:nvPr/>
        </p:nvSpPr>
        <p:spPr>
          <a:xfrm>
            <a:off x="822960" y="3803904"/>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calculer et </a:t>
            </a:r>
            <a:r>
              <a:rPr sz="1350" b="1" i="0">
                <a:solidFill>
                  <a:srgbClr val="6D2E46"/>
                </a:solidFill>
                <a:latin typeface="Calibri"/>
              </a:rPr>
              <a:t>garder</a:t>
            </a:r>
            <a:r>
              <a:rPr sz="1350" b="0" i="0">
                <a:solidFill>
                  <a:srgbClr val="2B3440"/>
                </a:solidFill>
                <a:latin typeface="Calibri"/>
              </a:rPr>
              <a:t> z₁, a₁, z₂, a₂.</a:t>
            </a:r>
          </a:p>
        </p:txBody>
      </p:sp>
      <p:sp>
        <p:nvSpPr>
          <p:cNvPr id="9" name="TextBox 8"/>
          <p:cNvSpPr txBox="1"/>
          <p:nvPr/>
        </p:nvSpPr>
        <p:spPr>
          <a:xfrm>
            <a:off x="3171367"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0" name="Rounded Rectangle 9"/>
          <p:cNvSpPr/>
          <p:nvPr/>
        </p:nvSpPr>
        <p:spPr>
          <a:xfrm>
            <a:off x="3390823" y="2377440"/>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46855"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2</a:t>
            </a:r>
          </a:p>
        </p:txBody>
      </p:sp>
      <p:sp>
        <p:nvSpPr>
          <p:cNvPr id="12" name="TextBox 11"/>
          <p:cNvSpPr txBox="1"/>
          <p:nvPr/>
        </p:nvSpPr>
        <p:spPr>
          <a:xfrm>
            <a:off x="3646855" y="3218688"/>
            <a:ext cx="2074087" cy="548640"/>
          </a:xfrm>
          <a:prstGeom prst="rect">
            <a:avLst/>
          </a:prstGeom>
          <a:noFill/>
        </p:spPr>
        <p:txBody>
          <a:bodyPr wrap="square" lIns="0" tIns="0" rIns="0" bIns="0" anchor="t">
            <a:spAutoFit/>
          </a:bodyPr>
          <a:lstStyle/>
          <a:p>
            <a:pPr algn="l"/>
            <a:r>
              <a:rPr sz="1600" b="1" i="0">
                <a:solidFill>
                  <a:srgbClr val="6D2E46"/>
                </a:solidFill>
                <a:latin typeface="Cambria"/>
              </a:rPr>
              <a:t>Gradient de sortie</a:t>
            </a:r>
          </a:p>
        </p:txBody>
      </p:sp>
      <p:sp>
        <p:nvSpPr>
          <p:cNvPr id="13" name="TextBox 12"/>
          <p:cNvSpPr txBox="1"/>
          <p:nvPr/>
        </p:nvSpPr>
        <p:spPr>
          <a:xfrm>
            <a:off x="3646855" y="3803904"/>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∂L/∂z₂ = a₂ - y : un nombre par exemple.</a:t>
            </a:r>
          </a:p>
        </p:txBody>
      </p:sp>
      <p:sp>
        <p:nvSpPr>
          <p:cNvPr id="14" name="TextBox 13"/>
          <p:cNvSpPr txBox="1"/>
          <p:nvPr/>
        </p:nvSpPr>
        <p:spPr>
          <a:xfrm>
            <a:off x="5995263"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5" name="Rounded Rectangle 14"/>
          <p:cNvSpPr/>
          <p:nvPr/>
        </p:nvSpPr>
        <p:spPr>
          <a:xfrm>
            <a:off x="6214719" y="2377440"/>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70751"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3</a:t>
            </a:r>
          </a:p>
        </p:txBody>
      </p:sp>
      <p:sp>
        <p:nvSpPr>
          <p:cNvPr id="17" name="TextBox 16"/>
          <p:cNvSpPr txBox="1"/>
          <p:nvPr/>
        </p:nvSpPr>
        <p:spPr>
          <a:xfrm>
            <a:off x="6470751" y="3218688"/>
            <a:ext cx="2074087" cy="548640"/>
          </a:xfrm>
          <a:prstGeom prst="rect">
            <a:avLst/>
          </a:prstGeom>
          <a:noFill/>
        </p:spPr>
        <p:txBody>
          <a:bodyPr wrap="square" lIns="0" tIns="0" rIns="0" bIns="0" anchor="t">
            <a:spAutoFit/>
          </a:bodyPr>
          <a:lstStyle/>
          <a:p>
            <a:pPr algn="l"/>
            <a:r>
              <a:rPr sz="1600" b="1" i="0">
                <a:solidFill>
                  <a:srgbClr val="6D2E46"/>
                </a:solidFill>
                <a:latin typeface="Cambria"/>
              </a:rPr>
              <a:t>Remonter</a:t>
            </a:r>
          </a:p>
        </p:txBody>
      </p:sp>
      <p:sp>
        <p:nvSpPr>
          <p:cNvPr id="18" name="TextBox 17"/>
          <p:cNvSpPr txBox="1"/>
          <p:nvPr/>
        </p:nvSpPr>
        <p:spPr>
          <a:xfrm>
            <a:off x="6470751" y="3803904"/>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à chaque couche : gradient venu d'en haut × dérivée locale.</a:t>
            </a:r>
          </a:p>
        </p:txBody>
      </p:sp>
      <p:sp>
        <p:nvSpPr>
          <p:cNvPr id="19" name="TextBox 18"/>
          <p:cNvSpPr txBox="1"/>
          <p:nvPr/>
        </p:nvSpPr>
        <p:spPr>
          <a:xfrm>
            <a:off x="8819159"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20" name="Rounded Rectangle 19"/>
          <p:cNvSpPr/>
          <p:nvPr/>
        </p:nvSpPr>
        <p:spPr>
          <a:xfrm>
            <a:off x="9038615" y="2377440"/>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294647"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4</a:t>
            </a:r>
          </a:p>
        </p:txBody>
      </p:sp>
      <p:sp>
        <p:nvSpPr>
          <p:cNvPr id="22" name="TextBox 21"/>
          <p:cNvSpPr txBox="1"/>
          <p:nvPr/>
        </p:nvSpPr>
        <p:spPr>
          <a:xfrm>
            <a:off x="9294647" y="3218688"/>
            <a:ext cx="2074087" cy="548640"/>
          </a:xfrm>
          <a:prstGeom prst="rect">
            <a:avLst/>
          </a:prstGeom>
          <a:noFill/>
        </p:spPr>
        <p:txBody>
          <a:bodyPr wrap="square" lIns="0" tIns="0" rIns="0" bIns="0" anchor="t">
            <a:spAutoFit/>
          </a:bodyPr>
          <a:lstStyle/>
          <a:p>
            <a:pPr algn="l"/>
            <a:r>
              <a:rPr sz="1600" b="1" i="0">
                <a:solidFill>
                  <a:srgbClr val="6D2E46"/>
                </a:solidFill>
                <a:latin typeface="Cambria"/>
              </a:rPr>
              <a:t>Mettre à jour</a:t>
            </a:r>
          </a:p>
        </p:txBody>
      </p:sp>
      <p:sp>
        <p:nvSpPr>
          <p:cNvPr id="23" name="TextBox 22"/>
          <p:cNvSpPr txBox="1"/>
          <p:nvPr/>
        </p:nvSpPr>
        <p:spPr>
          <a:xfrm>
            <a:off x="9294647" y="3803904"/>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chaque paramètre reçoit son gradient ; un seul step pour tous.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computational graph de la fiche</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5_graphe_calcul.png"/>
          <p:cNvPicPr>
            <a:picLocks noChangeAspect="1"/>
          </p:cNvPicPr>
          <p:nvPr/>
        </p:nvPicPr>
        <p:blipFill>
          <a:blip r:embed="rId3"/>
          <a:stretch>
            <a:fillRect/>
          </a:stretch>
        </p:blipFill>
        <p:spPr>
          <a:xfrm>
            <a:off x="694944" y="1872451"/>
            <a:ext cx="10801807" cy="3789752"/>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Le forward pass lit le graphe de gauche à droite ; le backward pass le relit de droite à gauche, en multipliant à chaque flèche par la dérivée locale de l'opération. Chaque terme calculé à la main correspond à une flèche.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petit miracle</a:t>
            </a:r>
          </a:p>
        </p:txBody>
      </p:sp>
      <p:sp>
        <p:nvSpPr>
          <p:cNvPr id="4" name="Rounded Rectangle 3"/>
          <p:cNvSpPr/>
          <p:nvPr/>
        </p:nvSpPr>
        <p:spPr>
          <a:xfrm>
            <a:off x="566928" y="1956816"/>
            <a:ext cx="4617720" cy="4398264"/>
          </a:xfrm>
          <a:prstGeom prst="roundRect">
            <a:avLst>
              <a:gd name="adj" fmla="val 291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a₂ - y</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le gradient en sortie</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∂L/∂a₂ = (a₂ - y) / [a₂(1 - a₂)] et ∂a₂/∂z₂ = a₂(1 - a₂) : les facteurs </a:t>
            </a:r>
            <a:r>
              <a:rPr sz="1600" b="1" i="0">
                <a:solidFill>
                  <a:srgbClr val="6D2E46"/>
                </a:solidFill>
                <a:latin typeface="Calibri"/>
              </a:rPr>
              <a:t>s'annulent</a:t>
            </a:r>
            <a:r>
              <a:rPr sz="1600" b="0" i="0">
                <a:solidFill>
                  <a:srgbClr val="2B3440"/>
                </a:solidFill>
                <a:latin typeface="Calibri"/>
              </a:rPr>
              <a:t>.</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Sur la fiche : 0,524979 - 1 = </a:t>
            </a:r>
            <a:r>
              <a:rPr sz="1600" b="1" i="0">
                <a:solidFill>
                  <a:srgbClr val="6D2E46"/>
                </a:solidFill>
                <a:latin typeface="Calibri"/>
              </a:rPr>
              <a:t>-0,475021</a:t>
            </a:r>
            <a:r>
              <a:rPr sz="1600" b="0" i="0">
                <a:solidFill>
                  <a:srgbClr val="2B3440"/>
                </a:solidFill>
                <a:latin typeface="Calibri"/>
              </a:rPr>
              <a:t>. Négatif : le réseau a sous-estimé, il faut pousser la sortie vers le haut.</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Ce n'est pas un hasard : la cross-entropy est la loss pour laquelle la dérivée de la sigmoïde disparaît.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Pourquoi pas la squared error avec une sigmoïde</a:t>
            </a:r>
          </a:p>
        </p:txBody>
      </p:sp>
      <p:sp>
        <p:nvSpPr>
          <p:cNvPr id="4" name="Rounded Rectangle 3"/>
          <p:cNvSpPr/>
          <p:nvPr/>
        </p:nvSpPr>
        <p:spPr>
          <a:xfrm>
            <a:off x="566928" y="1883664"/>
            <a:ext cx="5373471" cy="4471416"/>
          </a:xfrm>
          <a:prstGeom prst="roundRect">
            <a:avLst>
              <a:gd name="adj" fmla="val 2862"/>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066544"/>
            <a:ext cx="4824831" cy="493776"/>
          </a:xfrm>
          <a:prstGeom prst="rect">
            <a:avLst/>
          </a:prstGeom>
          <a:noFill/>
        </p:spPr>
        <p:txBody>
          <a:bodyPr wrap="square" lIns="0" tIns="0" rIns="0" bIns="0" anchor="ctr">
            <a:spAutoFit/>
          </a:bodyPr>
          <a:lstStyle/>
          <a:p>
            <a:pPr algn="l"/>
            <a:r>
              <a:rPr sz="1700" b="1" i="0">
                <a:solidFill>
                  <a:srgbClr val="9E2B25"/>
                </a:solidFill>
                <a:latin typeface="Cambria"/>
              </a:rPr>
              <a:t>Squared error</a:t>
            </a:r>
          </a:p>
        </p:txBody>
      </p:sp>
      <p:sp>
        <p:nvSpPr>
          <p:cNvPr id="6" name="TextBox 5"/>
          <p:cNvSpPr txBox="1"/>
          <p:nvPr/>
        </p:nvSpPr>
        <p:spPr>
          <a:xfrm>
            <a:off x="841247" y="2596896"/>
            <a:ext cx="4824831" cy="822960"/>
          </a:xfrm>
          <a:prstGeom prst="rect">
            <a:avLst/>
          </a:prstGeom>
          <a:noFill/>
        </p:spPr>
        <p:txBody>
          <a:bodyPr wrap="square" lIns="0" tIns="0" rIns="0" bIns="0" anchor="ctr">
            <a:spAutoFit/>
          </a:bodyPr>
          <a:lstStyle/>
          <a:p>
            <a:pPr algn="l"/>
            <a:r>
              <a:rPr sz="3400" b="1" i="0">
                <a:solidFill>
                  <a:srgbClr val="9E2B25"/>
                </a:solidFill>
                <a:latin typeface="Cambria"/>
              </a:rPr>
              <a:t>(a - y)·a(1 - a)</a:t>
            </a:r>
          </a:p>
        </p:txBody>
      </p:sp>
      <p:sp>
        <p:nvSpPr>
          <p:cNvPr id="7" name="TextBox 6"/>
          <p:cNvSpPr txBox="1"/>
          <p:nvPr/>
        </p:nvSpPr>
        <p:spPr>
          <a:xfrm>
            <a:off x="841247"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 facteur a(1 - a) survit.</a:t>
            </a:r>
          </a:p>
        </p:txBody>
      </p:sp>
      <p:sp>
        <p:nvSpPr>
          <p:cNvPr id="8" name="TextBox 7"/>
          <p:cNvSpPr txBox="1"/>
          <p:nvPr/>
        </p:nvSpPr>
        <p:spPr>
          <a:xfrm>
            <a:off x="841247"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Très sûr et très faux (a ≈ 0, y = 1) : ce facteur vaut presque 0.</a:t>
            </a:r>
          </a:p>
        </p:txBody>
      </p:sp>
      <p:sp>
        <p:nvSpPr>
          <p:cNvPr id="9" name="TextBox 8"/>
          <p:cNvSpPr txBox="1"/>
          <p:nvPr/>
        </p:nvSpPr>
        <p:spPr>
          <a:xfrm>
            <a:off x="841247"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 gradient </a:t>
            </a:r>
            <a:r>
              <a:rPr sz="1450" b="1" i="0">
                <a:solidFill>
                  <a:srgbClr val="6D2E46"/>
                </a:solidFill>
                <a:latin typeface="Calibri"/>
              </a:rPr>
              <a:t>s'éteint</a:t>
            </a:r>
            <a:r>
              <a:rPr sz="1450" b="0" i="0">
                <a:solidFill>
                  <a:srgbClr val="2B3440"/>
                </a:solidFill>
                <a:latin typeface="Calibri"/>
              </a:rPr>
              <a:t> au moment où il devrait être le plus grand.</a:t>
            </a:r>
          </a:p>
        </p:txBody>
      </p:sp>
      <p:sp>
        <p:nvSpPr>
          <p:cNvPr id="10" name="Rounded Rectangle 9"/>
          <p:cNvSpPr/>
          <p:nvPr/>
        </p:nvSpPr>
        <p:spPr>
          <a:xfrm>
            <a:off x="6251295" y="1883664"/>
            <a:ext cx="5373471" cy="4471416"/>
          </a:xfrm>
          <a:prstGeom prst="roundRect">
            <a:avLst>
              <a:gd name="adj" fmla="val 2862"/>
            </a:avLst>
          </a:prstGeom>
          <a:solidFill>
            <a:srgbClr val="EF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25615" y="2066544"/>
            <a:ext cx="4824831" cy="493776"/>
          </a:xfrm>
          <a:prstGeom prst="rect">
            <a:avLst/>
          </a:prstGeom>
          <a:noFill/>
        </p:spPr>
        <p:txBody>
          <a:bodyPr wrap="square" lIns="0" tIns="0" rIns="0" bIns="0" anchor="ctr">
            <a:spAutoFit/>
          </a:bodyPr>
          <a:lstStyle/>
          <a:p>
            <a:pPr algn="l"/>
            <a:r>
              <a:rPr sz="1700" b="1" i="0">
                <a:solidFill>
                  <a:srgbClr val="1F6F5C"/>
                </a:solidFill>
                <a:latin typeface="Cambria"/>
              </a:rPr>
              <a:t>Cross-entropy</a:t>
            </a:r>
          </a:p>
        </p:txBody>
      </p:sp>
      <p:sp>
        <p:nvSpPr>
          <p:cNvPr id="12" name="TextBox 11"/>
          <p:cNvSpPr txBox="1"/>
          <p:nvPr/>
        </p:nvSpPr>
        <p:spPr>
          <a:xfrm>
            <a:off x="6525615" y="2596896"/>
            <a:ext cx="4824831" cy="822960"/>
          </a:xfrm>
          <a:prstGeom prst="rect">
            <a:avLst/>
          </a:prstGeom>
          <a:noFill/>
        </p:spPr>
        <p:txBody>
          <a:bodyPr wrap="square" lIns="0" tIns="0" rIns="0" bIns="0" anchor="ctr">
            <a:spAutoFit/>
          </a:bodyPr>
          <a:lstStyle/>
          <a:p>
            <a:pPr algn="l"/>
            <a:r>
              <a:rPr sz="3400" b="1" i="0">
                <a:solidFill>
                  <a:srgbClr val="1F6F5C"/>
                </a:solidFill>
                <a:latin typeface="Cambria"/>
              </a:rPr>
              <a:t>a - y</a:t>
            </a:r>
          </a:p>
        </p:txBody>
      </p:sp>
      <p:sp>
        <p:nvSpPr>
          <p:cNvPr id="13" name="TextBox 12"/>
          <p:cNvSpPr txBox="1"/>
          <p:nvPr/>
        </p:nvSpPr>
        <p:spPr>
          <a:xfrm>
            <a:off x="6525615"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 facteur disparaît.</a:t>
            </a:r>
          </a:p>
        </p:txBody>
      </p:sp>
      <p:sp>
        <p:nvSpPr>
          <p:cNvPr id="14" name="TextBox 13"/>
          <p:cNvSpPr txBox="1"/>
          <p:nvPr/>
        </p:nvSpPr>
        <p:spPr>
          <a:xfrm>
            <a:off x="6525615"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Très faux : un gradient proche de -1, une forte correction.</a:t>
            </a:r>
          </a:p>
        </p:txBody>
      </p:sp>
      <p:sp>
        <p:nvSpPr>
          <p:cNvPr id="15" name="TextBox 14"/>
          <p:cNvSpPr txBox="1"/>
          <p:nvPr/>
        </p:nvSpPr>
        <p:spPr>
          <a:xfrm>
            <a:off x="6525615"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 gradient est </a:t>
            </a:r>
            <a:r>
              <a:rPr sz="1450" b="1" i="0">
                <a:solidFill>
                  <a:srgbClr val="6D2E46"/>
                </a:solidFill>
                <a:latin typeface="Calibri"/>
              </a:rPr>
              <a:t>proportionnel à l'erreur</a:t>
            </a:r>
            <a:r>
              <a:rPr sz="1450" b="0" i="0">
                <a:solidFill>
                  <a:srgbClr val="2B3440"/>
                </a:solidFill>
                <a:latin typeface="Calibri"/>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Les gradients de la fiche, et ce qu'ils disent</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3049600" cy="310896"/>
          </a:xfrm>
          <a:prstGeom prst="rect">
            <a:avLst/>
          </a:prstGeom>
          <a:noFill/>
        </p:spPr>
        <p:txBody>
          <a:bodyPr wrap="square" lIns="0" tIns="0" rIns="0" bIns="0" anchor="ctr">
            <a:spAutoFit/>
          </a:bodyPr>
          <a:lstStyle/>
          <a:p>
            <a:pPr algn="l"/>
            <a:r>
              <a:rPr sz="1300" b="1" i="0">
                <a:solidFill>
                  <a:srgbClr val="6D2E46"/>
                </a:solidFill>
                <a:latin typeface="Calibri"/>
              </a:rPr>
              <a:t>Gradient</a:t>
            </a:r>
          </a:p>
        </p:txBody>
      </p:sp>
      <p:sp>
        <p:nvSpPr>
          <p:cNvPr id="6" name="TextBox 5"/>
          <p:cNvSpPr txBox="1"/>
          <p:nvPr/>
        </p:nvSpPr>
        <p:spPr>
          <a:xfrm>
            <a:off x="4110304" y="1901952"/>
            <a:ext cx="3049600" cy="310896"/>
          </a:xfrm>
          <a:prstGeom prst="rect">
            <a:avLst/>
          </a:prstGeom>
          <a:noFill/>
        </p:spPr>
        <p:txBody>
          <a:bodyPr wrap="square" lIns="0" tIns="0" rIns="0" bIns="0" anchor="ctr">
            <a:spAutoFit/>
          </a:bodyPr>
          <a:lstStyle/>
          <a:p>
            <a:pPr algn="l"/>
            <a:r>
              <a:rPr sz="1300" b="1" i="0">
                <a:solidFill>
                  <a:srgbClr val="6D2E46"/>
                </a:solidFill>
                <a:latin typeface="Calibri"/>
              </a:rPr>
              <a:t>Valeur</a:t>
            </a:r>
          </a:p>
        </p:txBody>
      </p:sp>
      <p:sp>
        <p:nvSpPr>
          <p:cNvPr id="7" name="TextBox 6"/>
          <p:cNvSpPr txBox="1"/>
          <p:nvPr/>
        </p:nvSpPr>
        <p:spPr>
          <a:xfrm>
            <a:off x="7489088" y="1901952"/>
            <a:ext cx="3971086" cy="310896"/>
          </a:xfrm>
          <a:prstGeom prst="rect">
            <a:avLst/>
          </a:prstGeom>
          <a:noFill/>
        </p:spPr>
        <p:txBody>
          <a:bodyPr wrap="square" lIns="0" tIns="0" rIns="0" bIns="0" anchor="ctr">
            <a:spAutoFit/>
          </a:bodyPr>
          <a:lstStyle/>
          <a:p>
            <a:pPr algn="l"/>
            <a:r>
              <a:rPr sz="1300" b="1" i="0">
                <a:solidFill>
                  <a:srgbClr val="6D2E46"/>
                </a:solidFill>
                <a:latin typeface="Calibri"/>
              </a:rPr>
              <a:t>Lecture</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3049600" cy="475488"/>
          </a:xfrm>
          <a:prstGeom prst="rect">
            <a:avLst/>
          </a:prstGeom>
          <a:noFill/>
        </p:spPr>
        <p:txBody>
          <a:bodyPr wrap="square" lIns="0" tIns="0" rIns="0" bIns="0" anchor="ctr">
            <a:spAutoFit/>
          </a:bodyPr>
          <a:lstStyle/>
          <a:p>
            <a:pPr algn="l"/>
            <a:r>
              <a:rPr sz="1400" b="0" i="0">
                <a:solidFill>
                  <a:srgbClr val="2B3440"/>
                </a:solidFill>
                <a:latin typeface="Calibri"/>
              </a:rPr>
              <a:t>∂L/∂z₂</a:t>
            </a:r>
          </a:p>
        </p:txBody>
      </p:sp>
      <p:sp>
        <p:nvSpPr>
          <p:cNvPr id="10" name="TextBox 9"/>
          <p:cNvSpPr txBox="1"/>
          <p:nvPr/>
        </p:nvSpPr>
        <p:spPr>
          <a:xfrm>
            <a:off x="4110304" y="2322576"/>
            <a:ext cx="3049600" cy="475488"/>
          </a:xfrm>
          <a:prstGeom prst="rect">
            <a:avLst/>
          </a:prstGeom>
          <a:noFill/>
        </p:spPr>
        <p:txBody>
          <a:bodyPr wrap="square" lIns="0" tIns="0" rIns="0" bIns="0" anchor="ctr">
            <a:spAutoFit/>
          </a:bodyPr>
          <a:lstStyle/>
          <a:p>
            <a:pPr algn="l"/>
            <a:r>
              <a:rPr sz="1400" b="0" i="0">
                <a:solidFill>
                  <a:srgbClr val="2B3440"/>
                </a:solidFill>
                <a:latin typeface="Calibri"/>
              </a:rPr>
              <a:t>-0,475021</a:t>
            </a:r>
          </a:p>
        </p:txBody>
      </p:sp>
      <p:sp>
        <p:nvSpPr>
          <p:cNvPr id="11" name="TextBox 10"/>
          <p:cNvSpPr txBox="1"/>
          <p:nvPr/>
        </p:nvSpPr>
        <p:spPr>
          <a:xfrm>
            <a:off x="7489088" y="2322576"/>
            <a:ext cx="3971086" cy="475488"/>
          </a:xfrm>
          <a:prstGeom prst="rect">
            <a:avLst/>
          </a:prstGeom>
          <a:noFill/>
        </p:spPr>
        <p:txBody>
          <a:bodyPr wrap="square" lIns="0" tIns="0" rIns="0" bIns="0" anchor="ctr">
            <a:spAutoFit/>
          </a:bodyPr>
          <a:lstStyle/>
          <a:p>
            <a:pPr algn="l"/>
            <a:r>
              <a:rPr sz="1400" b="0" i="0">
                <a:solidFill>
                  <a:srgbClr val="2B3440"/>
                </a:solidFill>
                <a:latin typeface="Calibri"/>
              </a:rPr>
              <a:t>négatif : pousser la sortie vers le haut</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3049600" cy="475488"/>
          </a:xfrm>
          <a:prstGeom prst="rect">
            <a:avLst/>
          </a:prstGeom>
          <a:noFill/>
        </p:spPr>
        <p:txBody>
          <a:bodyPr wrap="square" lIns="0" tIns="0" rIns="0" bIns="0" anchor="ctr">
            <a:spAutoFit/>
          </a:bodyPr>
          <a:lstStyle/>
          <a:p>
            <a:pPr algn="l"/>
            <a:r>
              <a:rPr sz="1400" b="0" i="0">
                <a:solidFill>
                  <a:srgbClr val="2B3440"/>
                </a:solidFill>
                <a:latin typeface="Calibri"/>
              </a:rPr>
              <a:t>∂L/∂W₂</a:t>
            </a:r>
          </a:p>
        </p:txBody>
      </p:sp>
      <p:sp>
        <p:nvSpPr>
          <p:cNvPr id="14" name="TextBox 13"/>
          <p:cNvSpPr txBox="1"/>
          <p:nvPr/>
        </p:nvSpPr>
        <p:spPr>
          <a:xfrm>
            <a:off x="4110304" y="2907792"/>
            <a:ext cx="3049600" cy="475488"/>
          </a:xfrm>
          <a:prstGeom prst="rect">
            <a:avLst/>
          </a:prstGeom>
          <a:noFill/>
        </p:spPr>
        <p:txBody>
          <a:bodyPr wrap="square" lIns="0" tIns="0" rIns="0" bIns="0" anchor="ctr">
            <a:spAutoFit/>
          </a:bodyPr>
          <a:lstStyle/>
          <a:p>
            <a:pPr algn="l"/>
            <a:r>
              <a:rPr sz="1400" b="0" i="0">
                <a:solidFill>
                  <a:srgbClr val="2B3440"/>
                </a:solidFill>
                <a:latin typeface="Calibri"/>
              </a:rPr>
              <a:t>[-0,23751 ; -0,285012]</a:t>
            </a:r>
          </a:p>
        </p:txBody>
      </p:sp>
      <p:sp>
        <p:nvSpPr>
          <p:cNvPr id="15" name="TextBox 14"/>
          <p:cNvSpPr txBox="1"/>
          <p:nvPr/>
        </p:nvSpPr>
        <p:spPr>
          <a:xfrm>
            <a:off x="7489088" y="2907792"/>
            <a:ext cx="3971086" cy="475488"/>
          </a:xfrm>
          <a:prstGeom prst="rect">
            <a:avLst/>
          </a:prstGeom>
          <a:noFill/>
        </p:spPr>
        <p:txBody>
          <a:bodyPr wrap="square" lIns="0" tIns="0" rIns="0" bIns="0" anchor="ctr">
            <a:spAutoFit/>
          </a:bodyPr>
          <a:lstStyle/>
          <a:p>
            <a:pPr algn="l"/>
            <a:r>
              <a:rPr sz="1400" b="0" i="0">
                <a:solidFill>
                  <a:srgbClr val="2B3440"/>
                </a:solidFill>
                <a:latin typeface="Calibri"/>
              </a:rPr>
              <a:t>activation entrante × erreur sortante</a:t>
            </a:r>
          </a:p>
        </p:txBody>
      </p:sp>
      <p:sp>
        <p:nvSpPr>
          <p:cNvPr id="16" name="Rectangle 15"/>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3049600" cy="475488"/>
          </a:xfrm>
          <a:prstGeom prst="rect">
            <a:avLst/>
          </a:prstGeom>
          <a:noFill/>
        </p:spPr>
        <p:txBody>
          <a:bodyPr wrap="square" lIns="0" tIns="0" rIns="0" bIns="0" anchor="ctr">
            <a:spAutoFit/>
          </a:bodyPr>
          <a:lstStyle/>
          <a:p>
            <a:pPr algn="l"/>
            <a:r>
              <a:rPr sz="1400" b="0" i="0">
                <a:solidFill>
                  <a:srgbClr val="2B3440"/>
                </a:solidFill>
                <a:latin typeface="Calibri"/>
              </a:rPr>
              <a:t>∂L/∂z₁</a:t>
            </a:r>
          </a:p>
        </p:txBody>
      </p:sp>
      <p:sp>
        <p:nvSpPr>
          <p:cNvPr id="18" name="TextBox 17"/>
          <p:cNvSpPr txBox="1"/>
          <p:nvPr/>
        </p:nvSpPr>
        <p:spPr>
          <a:xfrm>
            <a:off x="4110304" y="3493008"/>
            <a:ext cx="3049600" cy="475488"/>
          </a:xfrm>
          <a:prstGeom prst="rect">
            <a:avLst/>
          </a:prstGeom>
          <a:noFill/>
        </p:spPr>
        <p:txBody>
          <a:bodyPr wrap="square" lIns="0" tIns="0" rIns="0" bIns="0" anchor="ctr">
            <a:spAutoFit/>
          </a:bodyPr>
          <a:lstStyle/>
          <a:p>
            <a:pPr algn="l"/>
            <a:r>
              <a:rPr sz="1400" b="0" i="0">
                <a:solidFill>
                  <a:srgbClr val="2B3440"/>
                </a:solidFill>
                <a:latin typeface="Calibri"/>
              </a:rPr>
              <a:t>[-0,475 ; +0,475]</a:t>
            </a:r>
          </a:p>
        </p:txBody>
      </p:sp>
      <p:sp>
        <p:nvSpPr>
          <p:cNvPr id="19" name="TextBox 18"/>
          <p:cNvSpPr txBox="1"/>
          <p:nvPr/>
        </p:nvSpPr>
        <p:spPr>
          <a:xfrm>
            <a:off x="7489088" y="3493008"/>
            <a:ext cx="3971086" cy="475488"/>
          </a:xfrm>
          <a:prstGeom prst="rect">
            <a:avLst/>
          </a:prstGeom>
          <a:noFill/>
        </p:spPr>
        <p:txBody>
          <a:bodyPr wrap="square" lIns="0" tIns="0" rIns="0" bIns="0" anchor="ctr">
            <a:spAutoFit/>
          </a:bodyPr>
          <a:lstStyle/>
          <a:p>
            <a:pPr algn="l"/>
            <a:r>
              <a:rPr sz="1400" b="0" i="0">
                <a:solidFill>
                  <a:srgbClr val="2B3440"/>
                </a:solidFill>
                <a:latin typeface="Calibri"/>
              </a:rPr>
              <a:t>signes opposés, car W₂ = [1 ; -1]</a:t>
            </a:r>
          </a:p>
        </p:txBody>
      </p:sp>
      <p:sp>
        <p:nvSpPr>
          <p:cNvPr id="20" name="Rectangle 19"/>
          <p:cNvSpPr/>
          <p:nvPr/>
        </p:nvSpPr>
        <p:spPr>
          <a:xfrm>
            <a:off x="566928" y="4023360"/>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3049600" cy="475488"/>
          </a:xfrm>
          <a:prstGeom prst="rect">
            <a:avLst/>
          </a:prstGeom>
          <a:noFill/>
        </p:spPr>
        <p:txBody>
          <a:bodyPr wrap="square" lIns="0" tIns="0" rIns="0" bIns="0" anchor="ctr">
            <a:spAutoFit/>
          </a:bodyPr>
          <a:lstStyle/>
          <a:p>
            <a:pPr algn="l"/>
            <a:r>
              <a:rPr sz="1400" b="1" i="0">
                <a:solidFill>
                  <a:srgbClr val="A9660B"/>
                </a:solidFill>
                <a:latin typeface="Calibri"/>
              </a:rPr>
              <a:t>∂L/∂W₁, colonne de x₂</a:t>
            </a:r>
          </a:p>
        </p:txBody>
      </p:sp>
      <p:sp>
        <p:nvSpPr>
          <p:cNvPr id="22" name="TextBox 21"/>
          <p:cNvSpPr txBox="1"/>
          <p:nvPr/>
        </p:nvSpPr>
        <p:spPr>
          <a:xfrm>
            <a:off x="4110304" y="4078224"/>
            <a:ext cx="3049600" cy="475488"/>
          </a:xfrm>
          <a:prstGeom prst="rect">
            <a:avLst/>
          </a:prstGeom>
          <a:noFill/>
        </p:spPr>
        <p:txBody>
          <a:bodyPr wrap="square" lIns="0" tIns="0" rIns="0" bIns="0" anchor="ctr">
            <a:spAutoFit/>
          </a:bodyPr>
          <a:lstStyle/>
          <a:p>
            <a:pPr algn="l"/>
            <a:r>
              <a:rPr sz="1400" b="1" i="0">
                <a:solidFill>
                  <a:srgbClr val="A9660B"/>
                </a:solidFill>
                <a:latin typeface="Calibri"/>
              </a:rPr>
              <a:t>[0 ; 0]</a:t>
            </a:r>
          </a:p>
        </p:txBody>
      </p:sp>
      <p:sp>
        <p:nvSpPr>
          <p:cNvPr id="23" name="TextBox 22"/>
          <p:cNvSpPr txBox="1"/>
          <p:nvPr/>
        </p:nvSpPr>
        <p:spPr>
          <a:xfrm>
            <a:off x="7489088" y="4078224"/>
            <a:ext cx="3971086" cy="475488"/>
          </a:xfrm>
          <a:prstGeom prst="rect">
            <a:avLst/>
          </a:prstGeom>
          <a:noFill/>
        </p:spPr>
        <p:txBody>
          <a:bodyPr wrap="square" lIns="0" tIns="0" rIns="0" bIns="0" anchor="ctr">
            <a:spAutoFit/>
          </a:bodyPr>
          <a:lstStyle/>
          <a:p>
            <a:pPr algn="l"/>
            <a:r>
              <a:rPr sz="1400" b="1" i="0">
                <a:solidFill>
                  <a:srgbClr val="A9660B"/>
                </a:solidFill>
                <a:latin typeface="Calibri"/>
              </a:rPr>
              <a:t>x₂ = 0 : aucun signal, aucun gradient</a:t>
            </a:r>
          </a:p>
        </p:txBody>
      </p:sp>
      <p:sp>
        <p:nvSpPr>
          <p:cNvPr id="24" name="Rectangle 23"/>
          <p:cNvSpPr/>
          <p:nvPr/>
        </p:nvSpPr>
        <p:spPr>
          <a:xfrm>
            <a:off x="566928" y="4608576"/>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663440"/>
            <a:ext cx="3049600" cy="475488"/>
          </a:xfrm>
          <a:prstGeom prst="rect">
            <a:avLst/>
          </a:prstGeom>
          <a:noFill/>
        </p:spPr>
        <p:txBody>
          <a:bodyPr wrap="square" lIns="0" tIns="0" rIns="0" bIns="0" anchor="ctr">
            <a:spAutoFit/>
          </a:bodyPr>
          <a:lstStyle/>
          <a:p>
            <a:pPr algn="l"/>
            <a:r>
              <a:rPr sz="1400" b="0" i="0">
                <a:solidFill>
                  <a:srgbClr val="2B3440"/>
                </a:solidFill>
                <a:latin typeface="Calibri"/>
              </a:rPr>
              <a:t>loss après un step, η = 0,1</a:t>
            </a:r>
          </a:p>
        </p:txBody>
      </p:sp>
      <p:sp>
        <p:nvSpPr>
          <p:cNvPr id="26" name="TextBox 25"/>
          <p:cNvSpPr txBox="1"/>
          <p:nvPr/>
        </p:nvSpPr>
        <p:spPr>
          <a:xfrm>
            <a:off x="4110304" y="4663440"/>
            <a:ext cx="3049600" cy="475488"/>
          </a:xfrm>
          <a:prstGeom prst="rect">
            <a:avLst/>
          </a:prstGeom>
          <a:noFill/>
        </p:spPr>
        <p:txBody>
          <a:bodyPr wrap="square" lIns="0" tIns="0" rIns="0" bIns="0" anchor="ctr">
            <a:spAutoFit/>
          </a:bodyPr>
          <a:lstStyle/>
          <a:p>
            <a:pPr algn="l"/>
            <a:r>
              <a:rPr sz="1400" b="0" i="0">
                <a:solidFill>
                  <a:srgbClr val="2B3440"/>
                </a:solidFill>
                <a:latin typeface="Calibri"/>
              </a:rPr>
              <a:t>0,644 → 0,526785</a:t>
            </a:r>
          </a:p>
        </p:txBody>
      </p:sp>
      <p:sp>
        <p:nvSpPr>
          <p:cNvPr id="27" name="TextBox 26"/>
          <p:cNvSpPr txBox="1"/>
          <p:nvPr/>
        </p:nvSpPr>
        <p:spPr>
          <a:xfrm>
            <a:off x="7489088" y="4663440"/>
            <a:ext cx="3971086" cy="475488"/>
          </a:xfrm>
          <a:prstGeom prst="rect">
            <a:avLst/>
          </a:prstGeom>
          <a:noFill/>
        </p:spPr>
        <p:txBody>
          <a:bodyPr wrap="square" lIns="0" tIns="0" rIns="0" bIns="0" anchor="ctr">
            <a:spAutoFit/>
          </a:bodyPr>
          <a:lstStyle/>
          <a:p>
            <a:pPr algn="l"/>
            <a:r>
              <a:rPr sz="1400" b="0" i="0">
                <a:solidFill>
                  <a:srgbClr val="2B3440"/>
                </a:solidFill>
                <a:latin typeface="Calibri"/>
              </a:rPr>
              <a:t>le step a amélioré le réseau</a:t>
            </a:r>
          </a:p>
        </p:txBody>
      </p:sp>
      <p:sp>
        <p:nvSpPr>
          <p:cNvPr id="28" name="Rounded Rectangle 27"/>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Le gradient ne circule que sur les chemins qui ont porté du signal.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Vérifier sans algèbre : les finite differences</a:t>
            </a:r>
          </a:p>
        </p:txBody>
      </p:sp>
      <p:sp>
        <p:nvSpPr>
          <p:cNvPr id="4" name="Rounded Rectangle 3"/>
          <p:cNvSpPr/>
          <p:nvPr/>
        </p:nvSpPr>
        <p:spPr>
          <a:xfrm>
            <a:off x="566928" y="1883664"/>
            <a:ext cx="11057839" cy="3529583"/>
          </a:xfrm>
          <a:prstGeom prst="roundRect">
            <a:avLst>
              <a:gd name="adj" fmla="val 362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um_grad.png"/>
          <p:cNvPicPr>
            <a:picLocks noChangeAspect="1"/>
          </p:cNvPicPr>
          <p:nvPr/>
        </p:nvPicPr>
        <p:blipFill>
          <a:blip r:embed="rId3"/>
          <a:stretch>
            <a:fillRect/>
          </a:stretch>
        </p:blipFill>
        <p:spPr>
          <a:xfrm>
            <a:off x="3509863" y="2011680"/>
            <a:ext cx="5171968" cy="3273551"/>
          </a:xfrm>
          <a:prstGeom prst="rect">
            <a:avLst/>
          </a:prstGeom>
        </p:spPr>
      </p:pic>
      <p:sp>
        <p:nvSpPr>
          <p:cNvPr id="6" name="Rounded Rectangle 5"/>
          <p:cNvSpPr/>
          <p:nvPr/>
        </p:nvSpPr>
        <p:spPr>
          <a:xfrm>
            <a:off x="566928" y="5596127"/>
            <a:ext cx="11057839" cy="786384"/>
          </a:xfrm>
          <a:prstGeom prst="roundRect">
            <a:avLst>
              <a:gd name="adj" fmla="val 16279"/>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678423"/>
            <a:ext cx="10472623" cy="62179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On pousse un paramètre de ±ε et on mesure la pente : (L(θ + ε) - L(θ - ε)) / 2ε. Lent, imprécis, mais indépendant de toute dérivation : l'écart avec le calcul à la main est de </a:t>
            </a:r>
            <a:r>
              <a:rPr sz="1500" b="1" i="0">
                <a:solidFill>
                  <a:srgbClr val="6D2E46"/>
                </a:solidFill>
                <a:latin typeface="Calibri"/>
              </a:rPr>
              <a:t>1,139e-10</a:t>
            </a:r>
            <a:r>
              <a:rPr sz="1500" b="0" i="0">
                <a:solidFill>
                  <a:srgbClr val="2B3440"/>
                </a:solidFill>
                <a:latin typeface="Calibri"/>
              </a:rPr>
              <a:t>. Choisir ε ≈ 10⁻⁶, jamais 10⁻¹².</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Du papier au code : trois changements</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Par batch  </a:t>
            </a:r>
            <a:r>
              <a:rPr sz="1600" b="0" i="0">
                <a:solidFill>
                  <a:srgbClr val="2B3440"/>
                </a:solidFill>
                <a:latin typeface="Calibri"/>
              </a:rPr>
              <a:t>les quatre points à la fois ; les gradients sont </a:t>
            </a:r>
            <a:r>
              <a:rPr sz="1600" b="1" i="0">
                <a:solidFill>
                  <a:srgbClr val="6D2E46"/>
                </a:solidFill>
                <a:latin typeface="Calibri"/>
              </a:rPr>
              <a:t>moyennés</a:t>
            </a:r>
            <a:r>
              <a:rPr sz="1600" b="0" i="0">
                <a:solidFill>
                  <a:srgbClr val="2B3440"/>
                </a:solidFill>
                <a:latin typeface="Calibri"/>
              </a:rPr>
              <a:t> sur les exemples.</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Initialisation aléatoire  </a:t>
            </a:r>
            <a:r>
              <a:rPr sz="1600" b="0" i="0">
                <a:solidFill>
                  <a:srgbClr val="2B3440"/>
                </a:solidFill>
                <a:latin typeface="Calibri"/>
              </a:rPr>
              <a:t>des poids identiques donnent des unités identiques pour toujours : il faut </a:t>
            </a:r>
            <a:r>
              <a:rPr sz="1600" b="1" i="0">
                <a:solidFill>
                  <a:srgbClr val="6D2E46"/>
                </a:solidFill>
                <a:latin typeface="Calibri"/>
              </a:rPr>
              <a:t>briser la symétrie</a:t>
            </a:r>
            <a:r>
              <a:rPr sz="1600" b="0" i="0">
                <a:solidFill>
                  <a:srgbClr val="2B3440"/>
                </a:solidFill>
                <a:latin typeface="Calibri"/>
              </a:rPr>
              <a:t> (symmetry breaking).</a:t>
            </a:r>
          </a:p>
        </p:txBody>
      </p:sp>
      <p:sp>
        <p:nvSpPr>
          <p:cNvPr id="8" name="Rounded Rectangle 7"/>
          <p:cNvSpPr/>
          <p:nvPr/>
        </p:nvSpPr>
        <p:spPr>
          <a:xfrm>
            <a:off x="566928" y="3675887"/>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67327"/>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Boucle  </a:t>
            </a:r>
            <a:r>
              <a:rPr sz="1600" b="0" i="0">
                <a:solidFill>
                  <a:srgbClr val="2B3440"/>
                </a:solidFill>
                <a:latin typeface="Calibri"/>
              </a:rPr>
              <a:t>forward pass, loss, backward pass, mise à jour, 4 000 fois : XOR résolu, accuracy </a:t>
            </a:r>
            <a:r>
              <a:rPr sz="1600" b="1" i="0">
                <a:solidFill>
                  <a:srgbClr val="6D2E46"/>
                </a:solidFill>
                <a:latin typeface="Calibri"/>
              </a:rPr>
              <a:t>1,00</a:t>
            </a:r>
            <a:r>
              <a:rPr sz="1600" b="0" i="0">
                <a:solidFill>
                  <a:srgbClr val="2B3440"/>
                </a:solidFill>
                <a:latin typeface="Calibri"/>
              </a:rPr>
              <a:t>, loss </a:t>
            </a:r>
            <a:r>
              <a:rPr sz="1600" b="1" i="0">
                <a:solidFill>
                  <a:srgbClr val="6D2E46"/>
                </a:solidFill>
                <a:latin typeface="Calibri"/>
              </a:rPr>
              <a:t>0,000913</a:t>
            </a:r>
            <a:r>
              <a:rPr sz="1600" b="0" i="0">
                <a:solidFill>
                  <a:srgbClr val="2B3440"/>
                </a:solidFill>
                <a:latin typeface="Calibri"/>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De NumPy à PyTorch</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958281" cy="310896"/>
          </a:xfrm>
          <a:prstGeom prst="rect">
            <a:avLst/>
          </a:prstGeom>
          <a:noFill/>
        </p:spPr>
        <p:txBody>
          <a:bodyPr wrap="square" lIns="0" tIns="0" rIns="0" bIns="0" anchor="ctr">
            <a:spAutoFit/>
          </a:bodyPr>
          <a:lstStyle/>
          <a:p>
            <a:pPr algn="l"/>
            <a:r>
              <a:rPr sz="1300" b="1" i="0">
                <a:solidFill>
                  <a:srgbClr val="6D2E46"/>
                </a:solidFill>
                <a:latin typeface="Calibri"/>
              </a:rPr>
              <a:t>Votre NumPy</a:t>
            </a:r>
          </a:p>
        </p:txBody>
      </p:sp>
      <p:sp>
        <p:nvSpPr>
          <p:cNvPr id="6" name="TextBox 5"/>
          <p:cNvSpPr txBox="1"/>
          <p:nvPr/>
        </p:nvSpPr>
        <p:spPr>
          <a:xfrm>
            <a:off x="4018985" y="1901952"/>
            <a:ext cx="3854863" cy="310896"/>
          </a:xfrm>
          <a:prstGeom prst="rect">
            <a:avLst/>
          </a:prstGeom>
          <a:noFill/>
        </p:spPr>
        <p:txBody>
          <a:bodyPr wrap="square" lIns="0" tIns="0" rIns="0" bIns="0" anchor="ctr">
            <a:spAutoFit/>
          </a:bodyPr>
          <a:lstStyle/>
          <a:p>
            <a:pPr algn="l"/>
            <a:r>
              <a:rPr sz="1300" b="1" i="0">
                <a:solidFill>
                  <a:srgbClr val="6D2E46"/>
                </a:solidFill>
                <a:latin typeface="Calibri"/>
              </a:rPr>
              <a:t>PyTorch</a:t>
            </a:r>
          </a:p>
        </p:txBody>
      </p:sp>
      <p:sp>
        <p:nvSpPr>
          <p:cNvPr id="7" name="TextBox 6"/>
          <p:cNvSpPr txBox="1"/>
          <p:nvPr/>
        </p:nvSpPr>
        <p:spPr>
          <a:xfrm>
            <a:off x="8203032" y="1901952"/>
            <a:ext cx="3257142" cy="310896"/>
          </a:xfrm>
          <a:prstGeom prst="rect">
            <a:avLst/>
          </a:prstGeom>
          <a:noFill/>
        </p:spPr>
        <p:txBody>
          <a:bodyPr wrap="square" lIns="0" tIns="0" rIns="0" bIns="0" anchor="ctr">
            <a:spAutoFit/>
          </a:bodyPr>
          <a:lstStyle/>
          <a:p>
            <a:pPr algn="l"/>
            <a:r>
              <a:rPr sz="1300" b="1" i="0">
                <a:solidFill>
                  <a:srgbClr val="6D2E46"/>
                </a:solidFill>
                <a:latin typeface="Calibri"/>
              </a:rPr>
              <a:t>Rôle</a:t>
            </a:r>
          </a:p>
        </p:txBody>
      </p:sp>
      <p:sp>
        <p:nvSpPr>
          <p:cNvPr id="8" name="Rectangle 7"/>
          <p:cNvSpPr/>
          <p:nvPr/>
        </p:nvSpPr>
        <p:spPr>
          <a:xfrm>
            <a:off x="566928" y="2267712"/>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2958281" cy="464820"/>
          </a:xfrm>
          <a:prstGeom prst="rect">
            <a:avLst/>
          </a:prstGeom>
          <a:noFill/>
        </p:spPr>
        <p:txBody>
          <a:bodyPr wrap="square" lIns="0" tIns="0" rIns="0" bIns="0" anchor="ctr">
            <a:spAutoFit/>
          </a:bodyPr>
          <a:lstStyle/>
          <a:p>
            <a:pPr algn="l"/>
            <a:r>
              <a:rPr sz="1400" b="0" i="0">
                <a:solidFill>
                  <a:srgbClr val="2B3440"/>
                </a:solidFill>
                <a:latin typeface="Calibri"/>
              </a:rPr>
              <a:t>W, b tirés à la main</a:t>
            </a:r>
          </a:p>
        </p:txBody>
      </p:sp>
      <p:sp>
        <p:nvSpPr>
          <p:cNvPr id="10" name="TextBox 9"/>
          <p:cNvSpPr txBox="1"/>
          <p:nvPr/>
        </p:nvSpPr>
        <p:spPr>
          <a:xfrm>
            <a:off x="4018985" y="2322576"/>
            <a:ext cx="3854863" cy="464820"/>
          </a:xfrm>
          <a:prstGeom prst="rect">
            <a:avLst/>
          </a:prstGeom>
          <a:noFill/>
        </p:spPr>
        <p:txBody>
          <a:bodyPr wrap="square" lIns="0" tIns="0" rIns="0" bIns="0" anchor="ctr">
            <a:spAutoFit/>
          </a:bodyPr>
          <a:lstStyle/>
          <a:p>
            <a:pPr algn="l"/>
            <a:r>
              <a:rPr sz="1350" b="0" i="0">
                <a:solidFill>
                  <a:srgbClr val="2B3440"/>
                </a:solidFill>
                <a:latin typeface="Courier New"/>
              </a:rPr>
              <a:t>nn.Linear(2, 4)</a:t>
            </a:r>
          </a:p>
        </p:txBody>
      </p:sp>
      <p:sp>
        <p:nvSpPr>
          <p:cNvPr id="11" name="TextBox 10"/>
          <p:cNvSpPr txBox="1"/>
          <p:nvPr/>
        </p:nvSpPr>
        <p:spPr>
          <a:xfrm>
            <a:off x="8203032" y="2322576"/>
            <a:ext cx="3257142" cy="464820"/>
          </a:xfrm>
          <a:prstGeom prst="rect">
            <a:avLst/>
          </a:prstGeom>
          <a:noFill/>
        </p:spPr>
        <p:txBody>
          <a:bodyPr wrap="square" lIns="0" tIns="0" rIns="0" bIns="0" anchor="ctr">
            <a:spAutoFit/>
          </a:bodyPr>
          <a:lstStyle/>
          <a:p>
            <a:pPr algn="l"/>
            <a:r>
              <a:rPr sz="1400" b="0" i="0">
                <a:solidFill>
                  <a:srgbClr val="2B3440"/>
                </a:solidFill>
                <a:latin typeface="Calibri"/>
              </a:rPr>
              <a:t>poids et biais</a:t>
            </a:r>
          </a:p>
        </p:txBody>
      </p:sp>
      <p:sp>
        <p:nvSpPr>
          <p:cNvPr id="12" name="Rectangle 11"/>
          <p:cNvSpPr/>
          <p:nvPr/>
        </p:nvSpPr>
        <p:spPr>
          <a:xfrm>
            <a:off x="566928" y="2842260"/>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897124"/>
            <a:ext cx="2958281" cy="464820"/>
          </a:xfrm>
          <a:prstGeom prst="rect">
            <a:avLst/>
          </a:prstGeom>
          <a:noFill/>
        </p:spPr>
        <p:txBody>
          <a:bodyPr wrap="square" lIns="0" tIns="0" rIns="0" bIns="0" anchor="ctr">
            <a:spAutoFit/>
          </a:bodyPr>
          <a:lstStyle/>
          <a:p>
            <a:pPr algn="l"/>
            <a:r>
              <a:rPr sz="1350" b="0" i="0">
                <a:solidFill>
                  <a:srgbClr val="2B3440"/>
                </a:solidFill>
                <a:latin typeface="Courier New"/>
              </a:rPr>
              <a:t>np.maximum(0, z)</a:t>
            </a:r>
          </a:p>
        </p:txBody>
      </p:sp>
      <p:sp>
        <p:nvSpPr>
          <p:cNvPr id="14" name="TextBox 13"/>
          <p:cNvSpPr txBox="1"/>
          <p:nvPr/>
        </p:nvSpPr>
        <p:spPr>
          <a:xfrm>
            <a:off x="4018985" y="2897124"/>
            <a:ext cx="3854863" cy="464820"/>
          </a:xfrm>
          <a:prstGeom prst="rect">
            <a:avLst/>
          </a:prstGeom>
          <a:noFill/>
        </p:spPr>
        <p:txBody>
          <a:bodyPr wrap="square" lIns="0" tIns="0" rIns="0" bIns="0" anchor="ctr">
            <a:spAutoFit/>
          </a:bodyPr>
          <a:lstStyle/>
          <a:p>
            <a:pPr algn="l"/>
            <a:r>
              <a:rPr sz="1350" b="0" i="0">
                <a:solidFill>
                  <a:srgbClr val="2B3440"/>
                </a:solidFill>
                <a:latin typeface="Courier New"/>
              </a:rPr>
              <a:t>nn.ReLU()</a:t>
            </a:r>
          </a:p>
        </p:txBody>
      </p:sp>
      <p:sp>
        <p:nvSpPr>
          <p:cNvPr id="15" name="TextBox 14"/>
          <p:cNvSpPr txBox="1"/>
          <p:nvPr/>
        </p:nvSpPr>
        <p:spPr>
          <a:xfrm>
            <a:off x="8203032" y="2897124"/>
            <a:ext cx="3257142" cy="464820"/>
          </a:xfrm>
          <a:prstGeom prst="rect">
            <a:avLst/>
          </a:prstGeom>
          <a:noFill/>
        </p:spPr>
        <p:txBody>
          <a:bodyPr wrap="square" lIns="0" tIns="0" rIns="0" bIns="0" anchor="ctr">
            <a:spAutoFit/>
          </a:bodyPr>
          <a:lstStyle/>
          <a:p>
            <a:pPr algn="l"/>
            <a:r>
              <a:rPr sz="1400" b="0" i="0">
                <a:solidFill>
                  <a:srgbClr val="2B3440"/>
                </a:solidFill>
                <a:latin typeface="Calibri"/>
              </a:rPr>
              <a:t>activation</a:t>
            </a:r>
          </a:p>
        </p:txBody>
      </p:sp>
      <p:sp>
        <p:nvSpPr>
          <p:cNvPr id="16" name="Rectangle 15"/>
          <p:cNvSpPr/>
          <p:nvPr/>
        </p:nvSpPr>
        <p:spPr>
          <a:xfrm>
            <a:off x="566928" y="3416808"/>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71672"/>
            <a:ext cx="2958281" cy="464820"/>
          </a:xfrm>
          <a:prstGeom prst="rect">
            <a:avLst/>
          </a:prstGeom>
          <a:noFill/>
        </p:spPr>
        <p:txBody>
          <a:bodyPr wrap="square" lIns="0" tIns="0" rIns="0" bIns="0" anchor="ctr">
            <a:spAutoFit/>
          </a:bodyPr>
          <a:lstStyle/>
          <a:p>
            <a:pPr algn="l"/>
            <a:r>
              <a:rPr sz="1400" b="0" i="0">
                <a:solidFill>
                  <a:srgbClr val="2B3440"/>
                </a:solidFill>
                <a:latin typeface="Calibri"/>
              </a:rPr>
              <a:t>votre loss</a:t>
            </a:r>
          </a:p>
        </p:txBody>
      </p:sp>
      <p:sp>
        <p:nvSpPr>
          <p:cNvPr id="18" name="TextBox 17"/>
          <p:cNvSpPr txBox="1"/>
          <p:nvPr/>
        </p:nvSpPr>
        <p:spPr>
          <a:xfrm>
            <a:off x="4018985" y="3471672"/>
            <a:ext cx="3854863" cy="464820"/>
          </a:xfrm>
          <a:prstGeom prst="rect">
            <a:avLst/>
          </a:prstGeom>
          <a:noFill/>
        </p:spPr>
        <p:txBody>
          <a:bodyPr wrap="square" lIns="0" tIns="0" rIns="0" bIns="0" anchor="ctr">
            <a:spAutoFit/>
          </a:bodyPr>
          <a:lstStyle/>
          <a:p>
            <a:pPr algn="l"/>
            <a:r>
              <a:rPr sz="1350" b="0" i="0">
                <a:solidFill>
                  <a:srgbClr val="2B3440"/>
                </a:solidFill>
                <a:latin typeface="Courier New"/>
              </a:rPr>
              <a:t>nn.BCEWithLogitsLoss()</a:t>
            </a:r>
          </a:p>
        </p:txBody>
      </p:sp>
      <p:sp>
        <p:nvSpPr>
          <p:cNvPr id="19" name="TextBox 18"/>
          <p:cNvSpPr txBox="1"/>
          <p:nvPr/>
        </p:nvSpPr>
        <p:spPr>
          <a:xfrm>
            <a:off x="8203032" y="3471672"/>
            <a:ext cx="3257142" cy="464820"/>
          </a:xfrm>
          <a:prstGeom prst="rect">
            <a:avLst/>
          </a:prstGeom>
          <a:noFill/>
        </p:spPr>
        <p:txBody>
          <a:bodyPr wrap="square" lIns="0" tIns="0" rIns="0" bIns="0" anchor="ctr">
            <a:spAutoFit/>
          </a:bodyPr>
          <a:lstStyle/>
          <a:p>
            <a:pPr algn="l"/>
            <a:r>
              <a:rPr sz="1400" b="0" i="0">
                <a:solidFill>
                  <a:srgbClr val="2B3440"/>
                </a:solidFill>
                <a:latin typeface="Calibri"/>
              </a:rPr>
              <a:t>cross-entropy, sigmoïde comprise</a:t>
            </a:r>
          </a:p>
        </p:txBody>
      </p:sp>
      <p:sp>
        <p:nvSpPr>
          <p:cNvPr id="20" name="Rectangle 19"/>
          <p:cNvSpPr/>
          <p:nvPr/>
        </p:nvSpPr>
        <p:spPr>
          <a:xfrm>
            <a:off x="566928" y="3991356"/>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46220"/>
            <a:ext cx="2958281" cy="464820"/>
          </a:xfrm>
          <a:prstGeom prst="rect">
            <a:avLst/>
          </a:prstGeom>
          <a:noFill/>
        </p:spPr>
        <p:txBody>
          <a:bodyPr wrap="square" lIns="0" tIns="0" rIns="0" bIns="0" anchor="ctr">
            <a:spAutoFit/>
          </a:bodyPr>
          <a:lstStyle/>
          <a:p>
            <a:pPr algn="l"/>
            <a:r>
              <a:rPr sz="1400" b="0" i="0">
                <a:solidFill>
                  <a:srgbClr val="2B3440"/>
                </a:solidFill>
                <a:latin typeface="Calibri"/>
              </a:rPr>
              <a:t>votre backward()</a:t>
            </a:r>
          </a:p>
        </p:txBody>
      </p:sp>
      <p:sp>
        <p:nvSpPr>
          <p:cNvPr id="22" name="TextBox 21"/>
          <p:cNvSpPr txBox="1"/>
          <p:nvPr/>
        </p:nvSpPr>
        <p:spPr>
          <a:xfrm>
            <a:off x="4018985" y="4046220"/>
            <a:ext cx="3854863" cy="464820"/>
          </a:xfrm>
          <a:prstGeom prst="rect">
            <a:avLst/>
          </a:prstGeom>
          <a:noFill/>
        </p:spPr>
        <p:txBody>
          <a:bodyPr wrap="square" lIns="0" tIns="0" rIns="0" bIns="0" anchor="ctr">
            <a:spAutoFit/>
          </a:bodyPr>
          <a:lstStyle/>
          <a:p>
            <a:pPr algn="l"/>
            <a:r>
              <a:rPr sz="1350" b="0" i="0">
                <a:solidFill>
                  <a:srgbClr val="2B3440"/>
                </a:solidFill>
                <a:latin typeface="Courier New"/>
              </a:rPr>
              <a:t>perte.backward()</a:t>
            </a:r>
          </a:p>
        </p:txBody>
      </p:sp>
      <p:sp>
        <p:nvSpPr>
          <p:cNvPr id="23" name="TextBox 22"/>
          <p:cNvSpPr txBox="1"/>
          <p:nvPr/>
        </p:nvSpPr>
        <p:spPr>
          <a:xfrm>
            <a:off x="8203032" y="4046220"/>
            <a:ext cx="3257142" cy="464820"/>
          </a:xfrm>
          <a:prstGeom prst="rect">
            <a:avLst/>
          </a:prstGeom>
          <a:noFill/>
        </p:spPr>
        <p:txBody>
          <a:bodyPr wrap="square" lIns="0" tIns="0" rIns="0" bIns="0" anchor="ctr">
            <a:spAutoFit/>
          </a:bodyPr>
          <a:lstStyle/>
          <a:p>
            <a:pPr algn="l"/>
            <a:r>
              <a:rPr sz="1400" b="0" i="0">
                <a:solidFill>
                  <a:srgbClr val="2B3440"/>
                </a:solidFill>
                <a:latin typeface="Calibri"/>
              </a:rPr>
              <a:t>toute la chain rule</a:t>
            </a:r>
          </a:p>
        </p:txBody>
      </p:sp>
      <p:sp>
        <p:nvSpPr>
          <p:cNvPr id="24" name="Rectangle 23"/>
          <p:cNvSpPr/>
          <p:nvPr/>
        </p:nvSpPr>
        <p:spPr>
          <a:xfrm>
            <a:off x="566928" y="4565904"/>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620767"/>
            <a:ext cx="2958281" cy="464820"/>
          </a:xfrm>
          <a:prstGeom prst="rect">
            <a:avLst/>
          </a:prstGeom>
          <a:noFill/>
        </p:spPr>
        <p:txBody>
          <a:bodyPr wrap="square" lIns="0" tIns="0" rIns="0" bIns="0" anchor="ctr">
            <a:spAutoFit/>
          </a:bodyPr>
          <a:lstStyle/>
          <a:p>
            <a:pPr algn="l"/>
            <a:r>
              <a:rPr sz="1400" b="0" i="0">
                <a:solidFill>
                  <a:srgbClr val="2B3440"/>
                </a:solidFill>
                <a:latin typeface="Calibri"/>
              </a:rPr>
              <a:t>votre step()</a:t>
            </a:r>
          </a:p>
        </p:txBody>
      </p:sp>
      <p:sp>
        <p:nvSpPr>
          <p:cNvPr id="26" name="TextBox 25"/>
          <p:cNvSpPr txBox="1"/>
          <p:nvPr/>
        </p:nvSpPr>
        <p:spPr>
          <a:xfrm>
            <a:off x="4018985" y="4620767"/>
            <a:ext cx="3854863" cy="464820"/>
          </a:xfrm>
          <a:prstGeom prst="rect">
            <a:avLst/>
          </a:prstGeom>
          <a:noFill/>
        </p:spPr>
        <p:txBody>
          <a:bodyPr wrap="square" lIns="0" tIns="0" rIns="0" bIns="0" anchor="ctr">
            <a:spAutoFit/>
          </a:bodyPr>
          <a:lstStyle/>
          <a:p>
            <a:pPr algn="l"/>
            <a:r>
              <a:rPr sz="1350" b="0" i="0">
                <a:solidFill>
                  <a:srgbClr val="2B3440"/>
                </a:solidFill>
                <a:latin typeface="Courier New"/>
              </a:rPr>
              <a:t>optimiseur.step()</a:t>
            </a:r>
          </a:p>
        </p:txBody>
      </p:sp>
      <p:sp>
        <p:nvSpPr>
          <p:cNvPr id="27" name="TextBox 26"/>
          <p:cNvSpPr txBox="1"/>
          <p:nvPr/>
        </p:nvSpPr>
        <p:spPr>
          <a:xfrm>
            <a:off x="8203032" y="4620767"/>
            <a:ext cx="3257142" cy="464820"/>
          </a:xfrm>
          <a:prstGeom prst="rect">
            <a:avLst/>
          </a:prstGeom>
          <a:noFill/>
        </p:spPr>
        <p:txBody>
          <a:bodyPr wrap="square" lIns="0" tIns="0" rIns="0" bIns="0" anchor="ctr">
            <a:spAutoFit/>
          </a:bodyPr>
          <a:lstStyle/>
          <a:p>
            <a:pPr algn="l"/>
            <a:r>
              <a:rPr sz="1400" b="0" i="0">
                <a:solidFill>
                  <a:srgbClr val="2B3440"/>
                </a:solidFill>
                <a:latin typeface="Calibri"/>
              </a:rPr>
              <a:t>la mise à jour</a:t>
            </a:r>
          </a:p>
        </p:txBody>
      </p:sp>
      <p:sp>
        <p:nvSpPr>
          <p:cNvPr id="28" name="Rectangle 27"/>
          <p:cNvSpPr/>
          <p:nvPr/>
        </p:nvSpPr>
        <p:spPr>
          <a:xfrm>
            <a:off x="566928" y="5140451"/>
            <a:ext cx="11057839" cy="574548"/>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5195315"/>
            <a:ext cx="2958281" cy="464820"/>
          </a:xfrm>
          <a:prstGeom prst="rect">
            <a:avLst/>
          </a:prstGeom>
          <a:noFill/>
        </p:spPr>
        <p:txBody>
          <a:bodyPr wrap="square" lIns="0" tIns="0" rIns="0" bIns="0" anchor="ctr">
            <a:spAutoFit/>
          </a:bodyPr>
          <a:lstStyle/>
          <a:p>
            <a:pPr algn="l"/>
            <a:r>
              <a:rPr sz="1400" b="1" i="0">
                <a:solidFill>
                  <a:srgbClr val="A9660B"/>
                </a:solidFill>
                <a:latin typeface="Calibri"/>
              </a:rPr>
              <a:t>(rien)</a:t>
            </a:r>
          </a:p>
        </p:txBody>
      </p:sp>
      <p:sp>
        <p:nvSpPr>
          <p:cNvPr id="30" name="TextBox 29"/>
          <p:cNvSpPr txBox="1"/>
          <p:nvPr/>
        </p:nvSpPr>
        <p:spPr>
          <a:xfrm>
            <a:off x="4018985" y="5195315"/>
            <a:ext cx="3854863" cy="464820"/>
          </a:xfrm>
          <a:prstGeom prst="rect">
            <a:avLst/>
          </a:prstGeom>
          <a:noFill/>
        </p:spPr>
        <p:txBody>
          <a:bodyPr wrap="square" lIns="0" tIns="0" rIns="0" bIns="0" anchor="ctr">
            <a:spAutoFit/>
          </a:bodyPr>
          <a:lstStyle/>
          <a:p>
            <a:pPr algn="l"/>
            <a:r>
              <a:rPr sz="1350" b="1" i="0">
                <a:solidFill>
                  <a:srgbClr val="A9660B"/>
                </a:solidFill>
                <a:latin typeface="Courier New"/>
              </a:rPr>
              <a:t>optimiseur.zero_grad()</a:t>
            </a:r>
          </a:p>
        </p:txBody>
      </p:sp>
      <p:sp>
        <p:nvSpPr>
          <p:cNvPr id="31" name="TextBox 30"/>
          <p:cNvSpPr txBox="1"/>
          <p:nvPr/>
        </p:nvSpPr>
        <p:spPr>
          <a:xfrm>
            <a:off x="8203032" y="5195315"/>
            <a:ext cx="3257142" cy="464820"/>
          </a:xfrm>
          <a:prstGeom prst="rect">
            <a:avLst/>
          </a:prstGeom>
          <a:noFill/>
        </p:spPr>
        <p:txBody>
          <a:bodyPr wrap="square" lIns="0" tIns="0" rIns="0" bIns="0" anchor="ctr">
            <a:spAutoFit/>
          </a:bodyPr>
          <a:lstStyle/>
          <a:p>
            <a:pPr algn="l"/>
            <a:r>
              <a:rPr sz="1400" b="1" i="0">
                <a:solidFill>
                  <a:srgbClr val="A9660B"/>
                </a:solidFill>
                <a:latin typeface="Calibri"/>
              </a:rPr>
              <a:t>vider les gradients accumulés</a:t>
            </a:r>
          </a:p>
        </p:txBody>
      </p:sp>
      <p:sp>
        <p:nvSpPr>
          <p:cNvPr id="32" name="Rounded Rectangle 31"/>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Chaque ligne a sa traduction, sauf une.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autograd fait exactement votre calcul</a:t>
            </a:r>
          </a:p>
        </p:txBody>
      </p:sp>
      <p:sp>
        <p:nvSpPr>
          <p:cNvPr id="4" name="Rounded Rectangle 3"/>
          <p:cNvSpPr/>
          <p:nvPr/>
        </p:nvSpPr>
        <p:spPr>
          <a:xfrm>
            <a:off x="566928" y="1956816"/>
            <a:ext cx="4617720" cy="4398264"/>
          </a:xfrm>
          <a:prstGeom prst="roundRect">
            <a:avLst>
              <a:gd name="adj" fmla="val 291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0,0</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écart entre votre gradient et celui d'autograd</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Sur la fiche, les gradients calculés à la main et ceux de </a:t>
            </a:r>
            <a:r>
              <a:rPr sz="1350" b="0" i="0">
                <a:solidFill>
                  <a:srgbClr val="2B3440"/>
                </a:solidFill>
                <a:latin typeface="Courier New"/>
              </a:rPr>
              <a:t>loss.backward()</a:t>
            </a:r>
            <a:r>
              <a:rPr sz="1600" b="0" i="0">
                <a:solidFill>
                  <a:srgbClr val="2B3440"/>
                </a:solidFill>
                <a:latin typeface="Calibri"/>
              </a:rPr>
              <a:t> coïncident </a:t>
            </a:r>
            <a:r>
              <a:rPr sz="1600" b="1" i="0">
                <a:solidFill>
                  <a:srgbClr val="6D2E46"/>
                </a:solidFill>
                <a:latin typeface="Calibri"/>
              </a:rPr>
              <a:t>au bit près</a:t>
            </a:r>
            <a:r>
              <a:rPr sz="1600" b="0" i="0">
                <a:solidFill>
                  <a:srgbClr val="2B3440"/>
                </a:solidFill>
                <a:latin typeface="Calibri"/>
              </a:rPr>
              <a:t>.</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350" b="0" i="0">
                <a:solidFill>
                  <a:srgbClr val="2B3440"/>
                </a:solidFill>
                <a:latin typeface="Courier New"/>
              </a:rPr>
              <a:t>loss.backward()</a:t>
            </a:r>
            <a:r>
              <a:rPr sz="1600" b="0" i="0">
                <a:solidFill>
                  <a:srgbClr val="2B3440"/>
                </a:solidFill>
                <a:latin typeface="Calibri"/>
              </a:rPr>
              <a:t> applique la chain rule au graphe enregistré pendant le forward pass : ce que vous avez fait.</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En float32, le type par défaut, l'accord serait d'environ 10⁻⁷ : de la précision, pas une erreur.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Deux pièges silencieux</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156686" cy="310896"/>
          </a:xfrm>
          <a:prstGeom prst="rect">
            <a:avLst/>
          </a:prstGeom>
          <a:noFill/>
        </p:spPr>
        <p:txBody>
          <a:bodyPr wrap="square" lIns="0" tIns="0" rIns="0" bIns="0" anchor="ctr">
            <a:spAutoFit/>
          </a:bodyPr>
          <a:lstStyle/>
          <a:p>
            <a:pPr algn="l"/>
            <a:r>
              <a:rPr sz="1300" b="1" i="0">
                <a:solidFill>
                  <a:srgbClr val="6D2E46"/>
                </a:solidFill>
                <a:latin typeface="Calibri"/>
              </a:rPr>
              <a:t>Piège</a:t>
            </a:r>
          </a:p>
        </p:txBody>
      </p:sp>
      <p:sp>
        <p:nvSpPr>
          <p:cNvPr id="6" name="TextBox 5"/>
          <p:cNvSpPr txBox="1"/>
          <p:nvPr/>
        </p:nvSpPr>
        <p:spPr>
          <a:xfrm>
            <a:off x="3217390" y="1901952"/>
            <a:ext cx="2756724" cy="310896"/>
          </a:xfrm>
          <a:prstGeom prst="rect">
            <a:avLst/>
          </a:prstGeom>
          <a:noFill/>
        </p:spPr>
        <p:txBody>
          <a:bodyPr wrap="square" lIns="0" tIns="0" rIns="0" bIns="0" anchor="ctr">
            <a:spAutoFit/>
          </a:bodyPr>
          <a:lstStyle/>
          <a:p>
            <a:pPr algn="l"/>
            <a:r>
              <a:rPr sz="1300" b="1" i="0">
                <a:solidFill>
                  <a:srgbClr val="6D2E46"/>
                </a:solidFill>
                <a:latin typeface="Calibri"/>
              </a:rPr>
              <a:t>Ce qui se passe</a:t>
            </a:r>
          </a:p>
        </p:txBody>
      </p:sp>
      <p:sp>
        <p:nvSpPr>
          <p:cNvPr id="7" name="TextBox 6"/>
          <p:cNvSpPr txBox="1"/>
          <p:nvPr/>
        </p:nvSpPr>
        <p:spPr>
          <a:xfrm>
            <a:off x="6303299" y="1901952"/>
            <a:ext cx="2756724" cy="310896"/>
          </a:xfrm>
          <a:prstGeom prst="rect">
            <a:avLst/>
          </a:prstGeom>
          <a:noFill/>
        </p:spPr>
        <p:txBody>
          <a:bodyPr wrap="square" lIns="0" tIns="0" rIns="0" bIns="0" anchor="ctr">
            <a:spAutoFit/>
          </a:bodyPr>
          <a:lstStyle/>
          <a:p>
            <a:pPr algn="l"/>
            <a:r>
              <a:rPr sz="1300" b="1" i="0">
                <a:solidFill>
                  <a:srgbClr val="6D2E46"/>
                </a:solidFill>
                <a:latin typeface="Calibri"/>
              </a:rPr>
              <a:t>Mesuré au TD 2</a:t>
            </a:r>
          </a:p>
        </p:txBody>
      </p:sp>
      <p:sp>
        <p:nvSpPr>
          <p:cNvPr id="8" name="TextBox 7"/>
          <p:cNvSpPr txBox="1"/>
          <p:nvPr/>
        </p:nvSpPr>
        <p:spPr>
          <a:xfrm>
            <a:off x="9389208" y="1901952"/>
            <a:ext cx="2070967" cy="310896"/>
          </a:xfrm>
          <a:prstGeom prst="rect">
            <a:avLst/>
          </a:prstGeom>
          <a:noFill/>
        </p:spPr>
        <p:txBody>
          <a:bodyPr wrap="square" lIns="0" tIns="0" rIns="0" bIns="0" anchor="ctr">
            <a:spAutoFit/>
          </a:bodyPr>
          <a:lstStyle/>
          <a:p>
            <a:pPr algn="l"/>
            <a:r>
              <a:rPr sz="1300" b="1" i="0">
                <a:solidFill>
                  <a:srgbClr val="6D2E46"/>
                </a:solidFill>
                <a:latin typeface="Calibri"/>
              </a:rPr>
              <a:t>Parade</a:t>
            </a:r>
          </a:p>
        </p:txBody>
      </p:sp>
      <p:sp>
        <p:nvSpPr>
          <p:cNvPr id="9" name="Rectangle 8"/>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2156686" cy="475488"/>
          </a:xfrm>
          <a:prstGeom prst="rect">
            <a:avLst/>
          </a:prstGeom>
          <a:noFill/>
        </p:spPr>
        <p:txBody>
          <a:bodyPr wrap="square" lIns="0" tIns="0" rIns="0" bIns="0" anchor="ctr">
            <a:spAutoFit/>
          </a:bodyPr>
          <a:lstStyle/>
          <a:p>
            <a:pPr algn="l"/>
            <a:r>
              <a:rPr sz="1400" b="0" i="0">
                <a:solidFill>
                  <a:srgbClr val="2B3440"/>
                </a:solidFill>
                <a:latin typeface="Calibri"/>
              </a:rPr>
              <a:t>zero_grad() oublié</a:t>
            </a:r>
          </a:p>
        </p:txBody>
      </p:sp>
      <p:sp>
        <p:nvSpPr>
          <p:cNvPr id="11" name="TextBox 10"/>
          <p:cNvSpPr txBox="1"/>
          <p:nvPr/>
        </p:nvSpPr>
        <p:spPr>
          <a:xfrm>
            <a:off x="3217390" y="2322576"/>
            <a:ext cx="2756724" cy="475488"/>
          </a:xfrm>
          <a:prstGeom prst="rect">
            <a:avLst/>
          </a:prstGeom>
          <a:noFill/>
        </p:spPr>
        <p:txBody>
          <a:bodyPr wrap="square" lIns="0" tIns="0" rIns="0" bIns="0" anchor="ctr">
            <a:spAutoFit/>
          </a:bodyPr>
          <a:lstStyle/>
          <a:p>
            <a:pPr algn="l"/>
            <a:r>
              <a:rPr sz="1400" b="0" i="0">
                <a:solidFill>
                  <a:srgbClr val="2B3440"/>
                </a:solidFill>
                <a:latin typeface="Calibri"/>
              </a:rPr>
              <a:t>les gradients de toutes les itérations </a:t>
            </a:r>
            <a:r>
              <a:rPr sz="1400" b="1" i="0">
                <a:solidFill>
                  <a:srgbClr val="6D2E46"/>
                </a:solidFill>
                <a:latin typeface="Calibri"/>
              </a:rPr>
              <a:t>s'additionnent</a:t>
            </a:r>
          </a:p>
        </p:txBody>
      </p:sp>
      <p:sp>
        <p:nvSpPr>
          <p:cNvPr id="12" name="TextBox 11"/>
          <p:cNvSpPr txBox="1"/>
          <p:nvPr/>
        </p:nvSpPr>
        <p:spPr>
          <a:xfrm>
            <a:off x="6303299" y="2322576"/>
            <a:ext cx="2756724" cy="475488"/>
          </a:xfrm>
          <a:prstGeom prst="rect">
            <a:avLst/>
          </a:prstGeom>
          <a:noFill/>
        </p:spPr>
        <p:txBody>
          <a:bodyPr wrap="square" lIns="0" tIns="0" rIns="0" bIns="0" anchor="ctr">
            <a:spAutoFit/>
          </a:bodyPr>
          <a:lstStyle/>
          <a:p>
            <a:pPr algn="l"/>
            <a:r>
              <a:rPr sz="1400" b="0" i="0">
                <a:solidFill>
                  <a:srgbClr val="2B3440"/>
                </a:solidFill>
                <a:latin typeface="Calibri"/>
              </a:rPr>
              <a:t>pas d'explosion : loss bloquée à 0,4799, accuracy 0,75</a:t>
            </a:r>
          </a:p>
        </p:txBody>
      </p:sp>
      <p:sp>
        <p:nvSpPr>
          <p:cNvPr id="13" name="TextBox 12"/>
          <p:cNvSpPr txBox="1"/>
          <p:nvPr/>
        </p:nvSpPr>
        <p:spPr>
          <a:xfrm>
            <a:off x="9389208" y="2322576"/>
            <a:ext cx="2070967" cy="475488"/>
          </a:xfrm>
          <a:prstGeom prst="rect">
            <a:avLst/>
          </a:prstGeom>
          <a:noFill/>
        </p:spPr>
        <p:txBody>
          <a:bodyPr wrap="square" lIns="0" tIns="0" rIns="0" bIns="0" anchor="ctr">
            <a:spAutoFit/>
          </a:bodyPr>
          <a:lstStyle/>
          <a:p>
            <a:pPr algn="l"/>
            <a:r>
              <a:rPr sz="1400" b="0" i="0">
                <a:solidFill>
                  <a:srgbClr val="2B3440"/>
                </a:solidFill>
                <a:latin typeface="Calibri"/>
              </a:rPr>
              <a:t>vider les gradients avant chaque backward()</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2156686" cy="475488"/>
          </a:xfrm>
          <a:prstGeom prst="rect">
            <a:avLst/>
          </a:prstGeom>
          <a:noFill/>
        </p:spPr>
        <p:txBody>
          <a:bodyPr wrap="square" lIns="0" tIns="0" rIns="0" bIns="0" anchor="ctr">
            <a:spAutoFit/>
          </a:bodyPr>
          <a:lstStyle/>
          <a:p>
            <a:pPr algn="l"/>
            <a:r>
              <a:rPr sz="1400" b="0" i="0">
                <a:solidFill>
                  <a:srgbClr val="2B3440"/>
                </a:solidFill>
                <a:latin typeface="Calibri"/>
              </a:rPr>
              <a:t>probabilités au lieu de logits</a:t>
            </a:r>
          </a:p>
        </p:txBody>
      </p:sp>
      <p:sp>
        <p:nvSpPr>
          <p:cNvPr id="16" name="TextBox 15"/>
          <p:cNvSpPr txBox="1"/>
          <p:nvPr/>
        </p:nvSpPr>
        <p:spPr>
          <a:xfrm>
            <a:off x="3217390" y="2907792"/>
            <a:ext cx="2756724" cy="475488"/>
          </a:xfrm>
          <a:prstGeom prst="rect">
            <a:avLst/>
          </a:prstGeom>
          <a:noFill/>
        </p:spPr>
        <p:txBody>
          <a:bodyPr wrap="square" lIns="0" tIns="0" rIns="0" bIns="0" anchor="ctr">
            <a:spAutoFit/>
          </a:bodyPr>
          <a:lstStyle/>
          <a:p>
            <a:pPr algn="l"/>
            <a:r>
              <a:rPr sz="1400" b="0" i="0">
                <a:solidFill>
                  <a:srgbClr val="2B3440"/>
                </a:solidFill>
                <a:latin typeface="Calibri"/>
              </a:rPr>
              <a:t>BCEWithLogitsLoss applique </a:t>
            </a:r>
            <a:r>
              <a:rPr sz="1400" b="1" i="0">
                <a:solidFill>
                  <a:srgbClr val="6D2E46"/>
                </a:solidFill>
                <a:latin typeface="Calibri"/>
              </a:rPr>
              <a:t>déjà</a:t>
            </a:r>
            <a:r>
              <a:rPr sz="1400" b="0" i="0">
                <a:solidFill>
                  <a:srgbClr val="2B3440"/>
                </a:solidFill>
                <a:latin typeface="Calibri"/>
              </a:rPr>
              <a:t> la sigmoïde</a:t>
            </a:r>
          </a:p>
        </p:txBody>
      </p:sp>
      <p:sp>
        <p:nvSpPr>
          <p:cNvPr id="17" name="TextBox 16"/>
          <p:cNvSpPr txBox="1"/>
          <p:nvPr/>
        </p:nvSpPr>
        <p:spPr>
          <a:xfrm>
            <a:off x="6303299" y="2907792"/>
            <a:ext cx="2756724" cy="475488"/>
          </a:xfrm>
          <a:prstGeom prst="rect">
            <a:avLst/>
          </a:prstGeom>
          <a:noFill/>
        </p:spPr>
        <p:txBody>
          <a:bodyPr wrap="square" lIns="0" tIns="0" rIns="0" bIns="0" anchor="ctr">
            <a:spAutoFit/>
          </a:bodyPr>
          <a:lstStyle/>
          <a:p>
            <a:pPr algn="l"/>
            <a:r>
              <a:rPr sz="1400" b="0" i="0">
                <a:solidFill>
                  <a:srgbClr val="2B3440"/>
                </a:solidFill>
                <a:latin typeface="Calibri"/>
              </a:rPr>
              <a:t>loss bloquée vers 0,50, accuracy 0,50</a:t>
            </a:r>
          </a:p>
        </p:txBody>
      </p:sp>
      <p:sp>
        <p:nvSpPr>
          <p:cNvPr id="18" name="TextBox 17"/>
          <p:cNvSpPr txBox="1"/>
          <p:nvPr/>
        </p:nvSpPr>
        <p:spPr>
          <a:xfrm>
            <a:off x="9389208" y="2907792"/>
            <a:ext cx="2070967" cy="475488"/>
          </a:xfrm>
          <a:prstGeom prst="rect">
            <a:avLst/>
          </a:prstGeom>
          <a:noFill/>
        </p:spPr>
        <p:txBody>
          <a:bodyPr wrap="square" lIns="0" tIns="0" rIns="0" bIns="0" anchor="ctr">
            <a:spAutoFit/>
          </a:bodyPr>
          <a:lstStyle/>
          <a:p>
            <a:pPr algn="l"/>
            <a:r>
              <a:rPr sz="1400" b="0" i="0">
                <a:solidFill>
                  <a:srgbClr val="2B3440"/>
                </a:solidFill>
                <a:latin typeface="Calibri"/>
              </a:rPr>
              <a:t>lui passer les logits bruts</a:t>
            </a:r>
          </a:p>
        </p:txBody>
      </p:sp>
      <p:sp>
        <p:nvSpPr>
          <p:cNvPr id="19" name="Rounded Rectangle 18"/>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Aucun des deux ne lève d'erreur : le modèle s'entraîne, simplement mal.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learning rate : prédisez</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Le même réseau 2-4-1 sur XOR, 4 000 epochs.</a:t>
            </a:r>
          </a:p>
        </p:txBody>
      </p:sp>
      <p:sp>
        <p:nvSpPr>
          <p:cNvPr id="5" name="Rounded Rectangle 4"/>
          <p:cNvSpPr/>
          <p:nvPr/>
        </p:nvSpPr>
        <p:spPr>
          <a:xfrm>
            <a:off x="566928" y="2103120"/>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η = 0,001  </a:t>
            </a:r>
            <a:r>
              <a:rPr sz="1600" b="0" i="0">
                <a:solidFill>
                  <a:srgbClr val="2B3440"/>
                </a:solidFill>
                <a:latin typeface="Calibri"/>
              </a:rPr>
              <a:t>converge, rampe, oscille ou diverge ?</a:t>
            </a:r>
          </a:p>
        </p:txBody>
      </p:sp>
      <p:sp>
        <p:nvSpPr>
          <p:cNvPr id="7" name="Rounded Rectangle 6"/>
          <p:cNvSpPr/>
          <p:nvPr/>
        </p:nvSpPr>
        <p:spPr>
          <a:xfrm>
            <a:off x="566928" y="2982772"/>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074212"/>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η = 0,05  </a:t>
            </a:r>
            <a:r>
              <a:rPr sz="1600" b="0" i="0">
                <a:solidFill>
                  <a:srgbClr val="2B3440"/>
                </a:solidFill>
                <a:latin typeface="Calibri"/>
              </a:rPr>
              <a:t>converge, rampe, oscille ou diverge ?</a:t>
            </a:r>
          </a:p>
        </p:txBody>
      </p:sp>
      <p:sp>
        <p:nvSpPr>
          <p:cNvPr id="9" name="Rounded Rectangle 8"/>
          <p:cNvSpPr/>
          <p:nvPr/>
        </p:nvSpPr>
        <p:spPr>
          <a:xfrm>
            <a:off x="566928" y="3862425"/>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3953865"/>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η = 0,5  </a:t>
            </a:r>
            <a:r>
              <a:rPr sz="1600" b="0" i="0">
                <a:solidFill>
                  <a:srgbClr val="2B3440"/>
                </a:solidFill>
                <a:latin typeface="Calibri"/>
              </a:rPr>
              <a:t>converge, rampe, oscille ou diverge ?</a:t>
            </a:r>
          </a:p>
        </p:txBody>
      </p:sp>
      <p:sp>
        <p:nvSpPr>
          <p:cNvPr id="11" name="Rounded Rectangle 10"/>
          <p:cNvSpPr/>
          <p:nvPr/>
        </p:nvSpPr>
        <p:spPr>
          <a:xfrm>
            <a:off x="566928" y="4742078"/>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833518"/>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η = 5  </a:t>
            </a:r>
            <a:r>
              <a:rPr sz="1600" b="0" i="0">
                <a:solidFill>
                  <a:srgbClr val="2B3440"/>
                </a:solidFill>
                <a:latin typeface="Calibri"/>
              </a:rPr>
              <a:t>converge, rampe, oscille ou diverge ?</a:t>
            </a:r>
          </a:p>
        </p:txBody>
      </p:sp>
      <p:sp>
        <p:nvSpPr>
          <p:cNvPr id="13" name="Rounded Rectangle 12"/>
          <p:cNvSpPr/>
          <p:nvPr/>
        </p:nvSpPr>
        <p:spPr>
          <a:xfrm>
            <a:off x="566928" y="5621731"/>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5713171"/>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η = 50  </a:t>
            </a:r>
            <a:r>
              <a:rPr sz="1600" b="0" i="0">
                <a:solidFill>
                  <a:srgbClr val="2B3440"/>
                </a:solidFill>
                <a:latin typeface="Calibri"/>
              </a:rPr>
              <a:t>converge, rampe, oscille ou diverge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Cinq learning rates, cinq destins</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6_taux_apprentissage.png"/>
          <p:cNvPicPr>
            <a:picLocks noChangeAspect="1"/>
          </p:cNvPicPr>
          <p:nvPr/>
        </p:nvPicPr>
        <p:blipFill>
          <a:blip r:embed="rId3"/>
          <a:stretch>
            <a:fillRect/>
          </a:stretch>
        </p:blipFill>
        <p:spPr>
          <a:xfrm>
            <a:off x="694944" y="1937289"/>
            <a:ext cx="10801807" cy="3453194"/>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0,001 rampe encore (</a:t>
            </a:r>
            <a:r>
              <a:rPr sz="1350" b="1" i="0">
                <a:solidFill>
                  <a:srgbClr val="6D2E46"/>
                </a:solidFill>
                <a:latin typeface="Calibri"/>
              </a:rPr>
              <a:t>0,648724</a:t>
            </a:r>
            <a:r>
              <a:rPr sz="1350" b="0" i="0">
                <a:solidFill>
                  <a:srgbClr val="2B3440"/>
                </a:solidFill>
                <a:latin typeface="Calibri"/>
              </a:rPr>
              <a:t>) ; 0,05 et 0,5 convergent (</a:t>
            </a:r>
            <a:r>
              <a:rPr sz="1350" b="1" i="0">
                <a:solidFill>
                  <a:srgbClr val="6D2E46"/>
                </a:solidFill>
                <a:latin typeface="Calibri"/>
              </a:rPr>
              <a:t>0,018847</a:t>
            </a:r>
            <a:r>
              <a:rPr sz="1350" b="0" i="0">
                <a:solidFill>
                  <a:srgbClr val="2B3440"/>
                </a:solidFill>
                <a:latin typeface="Calibri"/>
              </a:rPr>
              <a:t> et </a:t>
            </a:r>
            <a:r>
              <a:rPr sz="1350" b="1" i="0">
                <a:solidFill>
                  <a:srgbClr val="6D2E46"/>
                </a:solidFill>
                <a:latin typeface="Calibri"/>
              </a:rPr>
              <a:t>0,000913</a:t>
            </a:r>
            <a:r>
              <a:rPr sz="1350" b="0" i="0">
                <a:solidFill>
                  <a:srgbClr val="2B3440"/>
                </a:solidFill>
                <a:latin typeface="Calibri"/>
              </a:rPr>
              <a:t>) ; à 5, la loss finale </a:t>
            </a:r>
            <a:r>
              <a:rPr sz="1350" b="1" i="0">
                <a:solidFill>
                  <a:srgbClr val="6D2E46"/>
                </a:solidFill>
                <a:latin typeface="Calibri"/>
              </a:rPr>
              <a:t>0,477388</a:t>
            </a:r>
            <a:r>
              <a:rPr sz="1350" b="0" i="0">
                <a:solidFill>
                  <a:srgbClr val="2B3440"/>
                </a:solidFill>
                <a:latin typeface="Calibri"/>
              </a:rPr>
              <a:t> ressemble à un apprentissage médiocre, mais on compte trois dead units sur quatre ; à 50, tout meurt et la loss finit au-dessus de son départ (</a:t>
            </a:r>
            <a:r>
              <a:rPr sz="1350" b="1" i="0">
                <a:solidFill>
                  <a:srgbClr val="6D2E46"/>
                </a:solidFill>
                <a:latin typeface="Calibri"/>
              </a:rPr>
              <a:t>5,735559</a:t>
            </a:r>
            <a:r>
              <a:rPr sz="1350" b="0" i="0">
                <a:solidFill>
                  <a:srgbClr val="2B3440"/>
                </a:solidFill>
                <a:latin typeface="Calibri"/>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Trop petit gaspille du temps ; trop grand gaspille le modèle.</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À 5, les premiers steps ont tué trois unités sur quatre : la courbe ressemble à de l'underfitting et appelle le remède inverse, </a:t>
            </a:r>
            <a:r>
              <a:rPr sz="1700" b="1" i="0">
                <a:solidFill>
                  <a:srgbClr val="FFFFFF"/>
                </a:solidFill>
                <a:latin typeface="Calibri"/>
              </a:rPr>
              <a:t>baisser le learning rate</a:t>
            </a:r>
            <a:r>
              <a:rPr sz="1700" b="0" i="0">
                <a:solidFill>
                  <a:srgbClr val="9FB0C4"/>
                </a:solidFill>
                <a:latin typeface="Calibri"/>
              </a:rPr>
              <a:t>. Au TD 2, Leaky ReLU répare aussi ce cas ; aucun remède d'activation ne sauve un learning rate de 50.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Synthèse de la partie 1</a:t>
            </a:r>
          </a:p>
        </p:txBody>
      </p:sp>
      <p:sp>
        <p:nvSpPr>
          <p:cNvPr id="4" name="Rounded Rectangle 3"/>
          <p:cNvSpPr/>
          <p:nvPr/>
        </p:nvSpPr>
        <p:spPr>
          <a:xfrm>
            <a:off x="566928" y="181051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Une droite ne sépare pas XOR ; un réseau </a:t>
            </a:r>
            <a:r>
              <a:rPr sz="1600" b="1" i="0">
                <a:solidFill>
                  <a:srgbClr val="6D2E46"/>
                </a:solidFill>
                <a:latin typeface="Calibri"/>
              </a:rPr>
              <a:t>apprend</a:t>
            </a:r>
            <a:r>
              <a:rPr sz="1600" b="0" i="0">
                <a:solidFill>
                  <a:srgbClr val="2B3440"/>
                </a:solidFill>
                <a:latin typeface="Calibri"/>
              </a:rPr>
              <a:t> les combinaisons qui manquent.</a:t>
            </a:r>
          </a:p>
        </p:txBody>
      </p:sp>
      <p:sp>
        <p:nvSpPr>
          <p:cNvPr id="6" name="Rounded Rectangle 5"/>
          <p:cNvSpPr/>
          <p:nvPr/>
        </p:nvSpPr>
        <p:spPr>
          <a:xfrm>
            <a:off x="566928" y="2592324"/>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683764"/>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Sans non-linéarité, la profondeur n'apporte </a:t>
            </a:r>
            <a:r>
              <a:rPr sz="1600" b="1" i="0">
                <a:solidFill>
                  <a:srgbClr val="6D2E46"/>
                </a:solidFill>
                <a:latin typeface="Calibri"/>
              </a:rPr>
              <a:t>rien</a:t>
            </a:r>
            <a:r>
              <a:rPr sz="1600" b="0" i="0">
                <a:solidFill>
                  <a:srgbClr val="2B3440"/>
                </a:solidFill>
                <a:latin typeface="Calibri"/>
              </a:rPr>
              <a:t> : dix couches linéaires valent une.</a:t>
            </a:r>
          </a:p>
        </p:txBody>
      </p:sp>
      <p:sp>
        <p:nvSpPr>
          <p:cNvPr id="8" name="Rounded Rectangle 7"/>
          <p:cNvSpPr/>
          <p:nvPr/>
        </p:nvSpPr>
        <p:spPr>
          <a:xfrm>
            <a:off x="566928" y="3374136"/>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465576"/>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Universal approximation : </a:t>
            </a:r>
            <a:r>
              <a:rPr sz="1600" b="1" i="0">
                <a:solidFill>
                  <a:srgbClr val="6D2E46"/>
                </a:solidFill>
                <a:latin typeface="Calibri"/>
              </a:rPr>
              <a:t>pouvoir représenter</a:t>
            </a:r>
            <a:r>
              <a:rPr sz="1600" b="0" i="0">
                <a:solidFill>
                  <a:srgbClr val="2B3440"/>
                </a:solidFill>
                <a:latin typeface="Calibri"/>
              </a:rPr>
              <a:t> n'est ni apprendre, ni généraliser, ni extrapoler.</a:t>
            </a:r>
          </a:p>
        </p:txBody>
      </p:sp>
      <p:sp>
        <p:nvSpPr>
          <p:cNvPr id="10" name="Rounded Rectangle 9"/>
          <p:cNvSpPr/>
          <p:nvPr/>
        </p:nvSpPr>
        <p:spPr>
          <a:xfrm>
            <a:off x="566928" y="4155948"/>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247388"/>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La backpropagation est la </a:t>
            </a:r>
            <a:r>
              <a:rPr sz="1600" b="1" i="0">
                <a:solidFill>
                  <a:srgbClr val="6D2E46"/>
                </a:solidFill>
                <a:latin typeface="Calibri"/>
              </a:rPr>
              <a:t>chain rule</a:t>
            </a:r>
            <a:r>
              <a:rPr sz="1600" b="0" i="0">
                <a:solidFill>
                  <a:srgbClr val="2B3440"/>
                </a:solidFill>
                <a:latin typeface="Calibri"/>
              </a:rPr>
              <a:t> calculée depuis la fin ; en sortie, a - y.</a:t>
            </a:r>
          </a:p>
        </p:txBody>
      </p:sp>
      <p:sp>
        <p:nvSpPr>
          <p:cNvPr id="12" name="Rounded Rectangle 11"/>
          <p:cNvSpPr/>
          <p:nvPr/>
        </p:nvSpPr>
        <p:spPr>
          <a:xfrm>
            <a:off x="566928" y="4937760"/>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5029200"/>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autograd reproduit </a:t>
            </a:r>
            <a:r>
              <a:rPr sz="1600" b="1" i="0">
                <a:solidFill>
                  <a:srgbClr val="6D2E46"/>
                </a:solidFill>
                <a:latin typeface="Calibri"/>
              </a:rPr>
              <a:t>exactement</a:t>
            </a:r>
            <a:r>
              <a:rPr sz="1600" b="0" i="0">
                <a:solidFill>
                  <a:srgbClr val="2B3440"/>
                </a:solidFill>
                <a:latin typeface="Calibri"/>
              </a:rPr>
              <a:t> le calcul à la main ; zero_grad et les logits sont les pièges silencieux.</a:t>
            </a:r>
          </a:p>
        </p:txBody>
      </p:sp>
      <p:sp>
        <p:nvSpPr>
          <p:cNvPr id="14" name="Rounded Rectangle 13"/>
          <p:cNvSpPr/>
          <p:nvPr/>
        </p:nvSpPr>
        <p:spPr>
          <a:xfrm>
            <a:off x="566928" y="571957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5811012"/>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Le learning rate : trop petit rampe, trop grand </a:t>
            </a:r>
            <a:r>
              <a:rPr sz="1600" b="1" i="0">
                <a:solidFill>
                  <a:srgbClr val="6D2E46"/>
                </a:solidFill>
                <a:latin typeface="Calibri"/>
              </a:rPr>
              <a:t>casse</a:t>
            </a:r>
            <a:r>
              <a:rPr sz="1600" b="0" i="0">
                <a:solidFill>
                  <a:srgbClr val="2B3440"/>
                </a:solidFill>
                <a:latin typeface="Calibri"/>
              </a:rPr>
              <a:t> le modèle, parfois en silence.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1 · SÉANCE 8 · REPRÉSENTER ET APPRENDRE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Mini-quiz 1</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Quatre questions, cinq minutes, puis correction.</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1  </a:t>
            </a:r>
            <a:r>
              <a:rPr sz="1600" b="0" i="0">
                <a:solidFill>
                  <a:srgbClr val="2B3440"/>
                </a:solidFill>
                <a:latin typeface="Calibri"/>
              </a:rPr>
              <a:t>Montrez qu'un réseau à deux couches sans activation est une couche unique.</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2  </a:t>
            </a:r>
            <a:r>
              <a:rPr sz="1600" b="0" i="0">
                <a:solidFill>
                  <a:srgbClr val="2B3440"/>
                </a:solidFill>
                <a:latin typeface="Calibri"/>
              </a:rPr>
              <a:t>Sur la fiche, pourquoi ∂L/∂z₂ vaut-il exactement a₂ - y ?</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3  </a:t>
            </a:r>
            <a:r>
              <a:rPr sz="1600" b="0" i="0">
                <a:solidFill>
                  <a:srgbClr val="2B3440"/>
                </a:solidFill>
                <a:latin typeface="Calibri"/>
              </a:rPr>
              <a:t>Une colonne de ∂L/∂W₁ est nulle. Laquelle, et pourquoi ?</a:t>
            </a:r>
          </a:p>
        </p:txBody>
      </p:sp>
      <p:sp>
        <p:nvSpPr>
          <p:cNvPr id="11" name="Rounded Rectangle 10"/>
          <p:cNvSpPr/>
          <p:nvPr/>
        </p:nvSpPr>
        <p:spPr>
          <a:xfrm>
            <a:off x="566928" y="4901183"/>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4  </a:t>
            </a:r>
            <a:r>
              <a:rPr sz="1600" b="0" i="0">
                <a:solidFill>
                  <a:srgbClr val="2B3440"/>
                </a:solidFill>
                <a:latin typeface="Calibri"/>
              </a:rPr>
              <a:t>Loss finale de 0,48 à η = 5 : quelle mesure faire avant de conclure à l'underfitting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PAUSE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587020"/>
          </a:xfrm>
          <a:prstGeom prst="rect">
            <a:avLst/>
          </a:prstGeom>
          <a:noFill/>
        </p:spPr>
        <p:txBody>
          <a:bodyPr wrap="square" lIns="0" tIns="0" rIns="0" bIns="0" anchor="t">
            <a:spAutoFit/>
          </a:bodyPr>
          <a:lstStyle/>
          <a:p>
            <a:pPr algn="l">
              <a:lnSpc>
                <a:spcPct val="116000"/>
              </a:lnSpc>
            </a:pPr>
            <a:r>
              <a:rPr sz="3600" b="1" i="0" dirty="0">
                <a:solidFill>
                  <a:srgbClr val="FFFFFF"/>
                </a:solidFill>
                <a:latin typeface="Cambria"/>
              </a:rPr>
              <a:t>Pause · 1</a:t>
            </a:r>
            <a:r>
              <a:rPr lang="en-US" sz="3600" b="1" i="0" dirty="0">
                <a:solidFill>
                  <a:srgbClr val="FFFFFF"/>
                </a:solidFill>
                <a:latin typeface="Cambria"/>
              </a:rPr>
              <a:t>5</a:t>
            </a:r>
            <a:r>
              <a:rPr sz="3600" b="1" i="0" dirty="0">
                <a:solidFill>
                  <a:srgbClr val="FFFFFF"/>
                </a:solidFill>
                <a:latin typeface="Cambria"/>
              </a:rPr>
              <a:t> minutes</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À méditer : notre réseau peut, en théorie, approcher n'importe quelle fonction. Pourquoi pourrait-il perdre contre un gradient boosting sur les annonces de Barcelone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640080" y="2176272"/>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600" b="1" i="0">
                <a:solidFill>
                  <a:srgbClr val="12233A"/>
                </a:solidFill>
                <a:latin typeface="Calibri"/>
              </a:rPr>
              <a:t>2</a:t>
            </a: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Entraîner un réseau en pratique</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Séance 9. La même machinerie sur les annonces de Barcelone : préparer, entraîner, diagnostiquer, puis comparer honnêtement au champion.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Rappel des prérequis de la partie 2</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3804587" cy="310896"/>
          </a:xfrm>
          <a:prstGeom prst="rect">
            <a:avLst/>
          </a:prstGeom>
          <a:noFill/>
        </p:spPr>
        <p:txBody>
          <a:bodyPr wrap="square" lIns="0" tIns="0" rIns="0" bIns="0" anchor="ctr">
            <a:spAutoFit/>
          </a:bodyPr>
          <a:lstStyle/>
          <a:p>
            <a:pPr algn="l"/>
            <a:r>
              <a:rPr sz="1300" b="1" i="0">
                <a:solidFill>
                  <a:srgbClr val="6D2E46"/>
                </a:solidFill>
                <a:latin typeface="Calibri"/>
              </a:rPr>
              <a:t>Notion</a:t>
            </a:r>
          </a:p>
        </p:txBody>
      </p:sp>
      <p:sp>
        <p:nvSpPr>
          <p:cNvPr id="6" name="TextBox 5"/>
          <p:cNvSpPr txBox="1"/>
          <p:nvPr/>
        </p:nvSpPr>
        <p:spPr>
          <a:xfrm>
            <a:off x="4865291" y="1901952"/>
            <a:ext cx="600914" cy="310896"/>
          </a:xfrm>
          <a:prstGeom prst="rect">
            <a:avLst/>
          </a:prstGeom>
          <a:noFill/>
        </p:spPr>
        <p:txBody>
          <a:bodyPr wrap="square" lIns="0" tIns="0" rIns="0" bIns="0" anchor="ctr">
            <a:spAutoFit/>
          </a:bodyPr>
          <a:lstStyle/>
          <a:p>
            <a:pPr algn="l"/>
            <a:r>
              <a:rPr sz="1300" b="1" i="0">
                <a:solidFill>
                  <a:srgbClr val="6D2E46"/>
                </a:solidFill>
                <a:latin typeface="Calibri"/>
              </a:rPr>
              <a:t>Séance</a:t>
            </a:r>
          </a:p>
        </p:txBody>
      </p:sp>
      <p:sp>
        <p:nvSpPr>
          <p:cNvPr id="7" name="TextBox 6"/>
          <p:cNvSpPr txBox="1"/>
          <p:nvPr/>
        </p:nvSpPr>
        <p:spPr>
          <a:xfrm>
            <a:off x="5795390" y="1901952"/>
            <a:ext cx="5664784" cy="310896"/>
          </a:xfrm>
          <a:prstGeom prst="rect">
            <a:avLst/>
          </a:prstGeom>
          <a:noFill/>
        </p:spPr>
        <p:txBody>
          <a:bodyPr wrap="square" lIns="0" tIns="0" rIns="0" bIns="0" anchor="ctr">
            <a:spAutoFit/>
          </a:bodyPr>
          <a:lstStyle/>
          <a:p>
            <a:pPr algn="l"/>
            <a:r>
              <a:rPr sz="1300" b="1" i="0">
                <a:solidFill>
                  <a:srgbClr val="6D2E46"/>
                </a:solidFill>
                <a:latin typeface="Calibri"/>
              </a:rPr>
              <a:t>Pourquoi elle compte ici</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3804587" cy="475488"/>
          </a:xfrm>
          <a:prstGeom prst="rect">
            <a:avLst/>
          </a:prstGeom>
          <a:noFill/>
        </p:spPr>
        <p:txBody>
          <a:bodyPr wrap="square" lIns="0" tIns="0" rIns="0" bIns="0" anchor="ctr">
            <a:spAutoFit/>
          </a:bodyPr>
          <a:lstStyle/>
          <a:p>
            <a:pPr algn="l"/>
            <a:r>
              <a:rPr sz="1400" b="0" i="0">
                <a:solidFill>
                  <a:srgbClr val="2B3440"/>
                </a:solidFill>
                <a:latin typeface="Calibri"/>
              </a:rPr>
              <a:t>Préprocesseur ajusté dans le fold</a:t>
            </a:r>
          </a:p>
        </p:txBody>
      </p:sp>
      <p:sp>
        <p:nvSpPr>
          <p:cNvPr id="10" name="TextBox 9"/>
          <p:cNvSpPr txBox="1"/>
          <p:nvPr/>
        </p:nvSpPr>
        <p:spPr>
          <a:xfrm>
            <a:off x="4865291" y="2322576"/>
            <a:ext cx="600914" cy="475488"/>
          </a:xfrm>
          <a:prstGeom prst="rect">
            <a:avLst/>
          </a:prstGeom>
          <a:noFill/>
        </p:spPr>
        <p:txBody>
          <a:bodyPr wrap="square" lIns="0" tIns="0" rIns="0" bIns="0" anchor="ctr">
            <a:spAutoFit/>
          </a:bodyPr>
          <a:lstStyle/>
          <a:p>
            <a:pPr algn="l"/>
            <a:r>
              <a:rPr sz="1400" b="0" i="0">
                <a:solidFill>
                  <a:srgbClr val="2B3440"/>
                </a:solidFill>
                <a:latin typeface="Calibri"/>
              </a:rPr>
              <a:t>S3</a:t>
            </a:r>
          </a:p>
        </p:txBody>
      </p:sp>
      <p:sp>
        <p:nvSpPr>
          <p:cNvPr id="11" name="TextBox 10"/>
          <p:cNvSpPr txBox="1"/>
          <p:nvPr/>
        </p:nvSpPr>
        <p:spPr>
          <a:xfrm>
            <a:off x="5795390" y="2322576"/>
            <a:ext cx="5664784" cy="475488"/>
          </a:xfrm>
          <a:prstGeom prst="rect">
            <a:avLst/>
          </a:prstGeom>
          <a:noFill/>
        </p:spPr>
        <p:txBody>
          <a:bodyPr wrap="square" lIns="0" tIns="0" rIns="0" bIns="0" anchor="ctr">
            <a:spAutoFit/>
          </a:bodyPr>
          <a:lstStyle/>
          <a:p>
            <a:pPr algn="l"/>
            <a:r>
              <a:rPr sz="1400" b="0" i="0">
                <a:solidFill>
                  <a:srgbClr val="2B3440"/>
                </a:solidFill>
                <a:latin typeface="Calibri"/>
              </a:rPr>
              <a:t>plus de Pipeline pour l'imposer : à vous de le tenir</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3804587" cy="475488"/>
          </a:xfrm>
          <a:prstGeom prst="rect">
            <a:avLst/>
          </a:prstGeom>
          <a:noFill/>
        </p:spPr>
        <p:txBody>
          <a:bodyPr wrap="square" lIns="0" tIns="0" rIns="0" bIns="0" anchor="ctr">
            <a:spAutoFit/>
          </a:bodyPr>
          <a:lstStyle/>
          <a:p>
            <a:pPr algn="l"/>
            <a:r>
              <a:rPr sz="1400" b="0" i="0">
                <a:solidFill>
                  <a:srgbClr val="2B3440"/>
                </a:solidFill>
                <a:latin typeface="Calibri"/>
              </a:rPr>
              <a:t>GroupKFold par hôte</a:t>
            </a:r>
          </a:p>
        </p:txBody>
      </p:sp>
      <p:sp>
        <p:nvSpPr>
          <p:cNvPr id="14" name="TextBox 13"/>
          <p:cNvSpPr txBox="1"/>
          <p:nvPr/>
        </p:nvSpPr>
        <p:spPr>
          <a:xfrm>
            <a:off x="4865291" y="2907792"/>
            <a:ext cx="600914" cy="475488"/>
          </a:xfrm>
          <a:prstGeom prst="rect">
            <a:avLst/>
          </a:prstGeom>
          <a:noFill/>
        </p:spPr>
        <p:txBody>
          <a:bodyPr wrap="square" lIns="0" tIns="0" rIns="0" bIns="0" anchor="ctr">
            <a:spAutoFit/>
          </a:bodyPr>
          <a:lstStyle/>
          <a:p>
            <a:pPr algn="l"/>
            <a:r>
              <a:rPr sz="1400" b="0" i="0">
                <a:solidFill>
                  <a:srgbClr val="2B3440"/>
                </a:solidFill>
                <a:latin typeface="Calibri"/>
              </a:rPr>
              <a:t>S6</a:t>
            </a:r>
          </a:p>
        </p:txBody>
      </p:sp>
      <p:sp>
        <p:nvSpPr>
          <p:cNvPr id="15" name="TextBox 14"/>
          <p:cNvSpPr txBox="1"/>
          <p:nvPr/>
        </p:nvSpPr>
        <p:spPr>
          <a:xfrm>
            <a:off x="5795390" y="2907792"/>
            <a:ext cx="5664784" cy="475488"/>
          </a:xfrm>
          <a:prstGeom prst="rect">
            <a:avLst/>
          </a:prstGeom>
          <a:noFill/>
        </p:spPr>
        <p:txBody>
          <a:bodyPr wrap="square" lIns="0" tIns="0" rIns="0" bIns="0" anchor="ctr">
            <a:spAutoFit/>
          </a:bodyPr>
          <a:lstStyle/>
          <a:p>
            <a:pPr algn="l"/>
            <a:r>
              <a:rPr sz="1400" b="0" i="0">
                <a:solidFill>
                  <a:srgbClr val="2B3440"/>
                </a:solidFill>
                <a:latin typeface="Calibri"/>
              </a:rPr>
              <a:t>un hôte ne doit pas être des deux côtés d'un fold</a:t>
            </a:r>
          </a:p>
        </p:txBody>
      </p:sp>
      <p:sp>
        <p:nvSpPr>
          <p:cNvPr id="16" name="Rectangle 15"/>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3804587" cy="475488"/>
          </a:xfrm>
          <a:prstGeom prst="rect">
            <a:avLst/>
          </a:prstGeom>
          <a:noFill/>
        </p:spPr>
        <p:txBody>
          <a:bodyPr wrap="square" lIns="0" tIns="0" rIns="0" bIns="0" anchor="ctr">
            <a:spAutoFit/>
          </a:bodyPr>
          <a:lstStyle/>
          <a:p>
            <a:pPr algn="l"/>
            <a:r>
              <a:rPr sz="1400" b="0" i="0">
                <a:solidFill>
                  <a:srgbClr val="2B3440"/>
                </a:solidFill>
                <a:latin typeface="Calibri"/>
              </a:rPr>
              <a:t>Paired t-test, lecture des signes</a:t>
            </a:r>
          </a:p>
        </p:txBody>
      </p:sp>
      <p:sp>
        <p:nvSpPr>
          <p:cNvPr id="18" name="TextBox 17"/>
          <p:cNvSpPr txBox="1"/>
          <p:nvPr/>
        </p:nvSpPr>
        <p:spPr>
          <a:xfrm>
            <a:off x="4865291" y="3493008"/>
            <a:ext cx="600914" cy="475488"/>
          </a:xfrm>
          <a:prstGeom prst="rect">
            <a:avLst/>
          </a:prstGeom>
          <a:noFill/>
        </p:spPr>
        <p:txBody>
          <a:bodyPr wrap="square" lIns="0" tIns="0" rIns="0" bIns="0" anchor="ctr">
            <a:spAutoFit/>
          </a:bodyPr>
          <a:lstStyle/>
          <a:p>
            <a:pPr algn="l"/>
            <a:r>
              <a:rPr sz="1400" b="0" i="0">
                <a:solidFill>
                  <a:srgbClr val="2B3440"/>
                </a:solidFill>
                <a:latin typeface="Calibri"/>
              </a:rPr>
              <a:t>S6</a:t>
            </a:r>
          </a:p>
        </p:txBody>
      </p:sp>
      <p:sp>
        <p:nvSpPr>
          <p:cNvPr id="19" name="TextBox 18"/>
          <p:cNvSpPr txBox="1"/>
          <p:nvPr/>
        </p:nvSpPr>
        <p:spPr>
          <a:xfrm>
            <a:off x="5795390" y="3493008"/>
            <a:ext cx="5664784" cy="475488"/>
          </a:xfrm>
          <a:prstGeom prst="rect">
            <a:avLst/>
          </a:prstGeom>
          <a:noFill/>
        </p:spPr>
        <p:txBody>
          <a:bodyPr wrap="square" lIns="0" tIns="0" rIns="0" bIns="0" anchor="ctr">
            <a:spAutoFit/>
          </a:bodyPr>
          <a:lstStyle/>
          <a:p>
            <a:pPr algn="l"/>
            <a:r>
              <a:rPr sz="1400" b="0" i="0">
                <a:solidFill>
                  <a:srgbClr val="2B3440"/>
                </a:solidFill>
                <a:latin typeface="Calibri"/>
              </a:rPr>
              <a:t>décider si deux modèles diffèrent vraiment</a:t>
            </a:r>
          </a:p>
        </p:txBody>
      </p:sp>
      <p:sp>
        <p:nvSpPr>
          <p:cNvPr id="20" name="Rectangle 19"/>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3804587" cy="475488"/>
          </a:xfrm>
          <a:prstGeom prst="rect">
            <a:avLst/>
          </a:prstGeom>
          <a:noFill/>
        </p:spPr>
        <p:txBody>
          <a:bodyPr wrap="square" lIns="0" tIns="0" rIns="0" bIns="0" anchor="ctr">
            <a:spAutoFit/>
          </a:bodyPr>
          <a:lstStyle/>
          <a:p>
            <a:pPr algn="l"/>
            <a:r>
              <a:rPr sz="1400" b="0" i="0">
                <a:solidFill>
                  <a:srgbClr val="2B3440"/>
                </a:solidFill>
                <a:latin typeface="Calibri"/>
              </a:rPr>
              <a:t>HistGradientBoosting, AUC 0,9216</a:t>
            </a:r>
          </a:p>
        </p:txBody>
      </p:sp>
      <p:sp>
        <p:nvSpPr>
          <p:cNvPr id="22" name="TextBox 21"/>
          <p:cNvSpPr txBox="1"/>
          <p:nvPr/>
        </p:nvSpPr>
        <p:spPr>
          <a:xfrm>
            <a:off x="4865291" y="4078224"/>
            <a:ext cx="600914" cy="475488"/>
          </a:xfrm>
          <a:prstGeom prst="rect">
            <a:avLst/>
          </a:prstGeom>
          <a:noFill/>
        </p:spPr>
        <p:txBody>
          <a:bodyPr wrap="square" lIns="0" tIns="0" rIns="0" bIns="0" anchor="ctr">
            <a:spAutoFit/>
          </a:bodyPr>
          <a:lstStyle/>
          <a:p>
            <a:pPr algn="l"/>
            <a:r>
              <a:rPr sz="1400" b="0" i="0">
                <a:solidFill>
                  <a:srgbClr val="2B3440"/>
                </a:solidFill>
                <a:latin typeface="Calibri"/>
              </a:rPr>
              <a:t>S7</a:t>
            </a:r>
          </a:p>
        </p:txBody>
      </p:sp>
      <p:sp>
        <p:nvSpPr>
          <p:cNvPr id="23" name="TextBox 22"/>
          <p:cNvSpPr txBox="1"/>
          <p:nvPr/>
        </p:nvSpPr>
        <p:spPr>
          <a:xfrm>
            <a:off x="5795390" y="4078224"/>
            <a:ext cx="5664784" cy="475488"/>
          </a:xfrm>
          <a:prstGeom prst="rect">
            <a:avLst/>
          </a:prstGeom>
          <a:noFill/>
        </p:spPr>
        <p:txBody>
          <a:bodyPr wrap="square" lIns="0" tIns="0" rIns="0" bIns="0" anchor="ctr">
            <a:spAutoFit/>
          </a:bodyPr>
          <a:lstStyle/>
          <a:p>
            <a:pPr algn="l"/>
            <a:r>
              <a:rPr sz="1400" b="0" i="0">
                <a:solidFill>
                  <a:srgbClr val="2B3440"/>
                </a:solidFill>
                <a:latin typeface="Calibri"/>
              </a:rPr>
              <a:t>le champion à battre, sur les mêmes folds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Du jouet au réel : le problème de Barcelone</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Données  </a:t>
            </a:r>
            <a:r>
              <a:rPr sz="1600" b="0" i="0">
                <a:solidFill>
                  <a:srgbClr val="2B3440"/>
                </a:solidFill>
                <a:latin typeface="Calibri"/>
              </a:rPr>
              <a:t>un training set de </a:t>
            </a:r>
            <a:r>
              <a:rPr sz="1600" b="1" i="0">
                <a:solidFill>
                  <a:srgbClr val="6D2E46"/>
                </a:solidFill>
                <a:latin typeface="Calibri"/>
              </a:rPr>
              <a:t>12 626</a:t>
            </a:r>
            <a:r>
              <a:rPr sz="1600" b="0" i="0">
                <a:solidFill>
                  <a:srgbClr val="2B3440"/>
                </a:solidFill>
                <a:latin typeface="Calibri"/>
              </a:rPr>
              <a:t> annonces ; cible : l'annonce porte-t-elle un numéro de licence ? (part de oui : </a:t>
            </a:r>
            <a:r>
              <a:rPr sz="1600" b="1" i="0">
                <a:solidFill>
                  <a:srgbClr val="6D2E46"/>
                </a:solidFill>
                <a:latin typeface="Calibri"/>
              </a:rPr>
              <a:t>0,6666</a:t>
            </a:r>
            <a:r>
              <a:rPr sz="1600" b="0" i="0">
                <a:solidFill>
                  <a:srgbClr val="2B3440"/>
                </a:solidFill>
                <a:latin typeface="Calibri"/>
              </a:rPr>
              <a:t>).</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Features  </a:t>
            </a:r>
            <a:r>
              <a:rPr sz="1600" b="0" i="0">
                <a:solidFill>
                  <a:srgbClr val="2B3440"/>
                </a:solidFill>
                <a:latin typeface="Calibri"/>
              </a:rPr>
              <a:t>14 colonnes d'origine deviennent </a:t>
            </a:r>
            <a:r>
              <a:rPr sz="1600" b="1" i="0">
                <a:solidFill>
                  <a:srgbClr val="6D2E46"/>
                </a:solidFill>
                <a:latin typeface="Calibri"/>
              </a:rPr>
              <a:t>77</a:t>
            </a:r>
            <a:r>
              <a:rPr sz="1600" b="0" i="0">
                <a:solidFill>
                  <a:srgbClr val="2B3440"/>
                </a:solidFill>
                <a:latin typeface="Calibri"/>
              </a:rPr>
              <a:t> features : 11 numériques standardisées et 66 indicatrices.</a:t>
            </a:r>
          </a:p>
        </p:txBody>
      </p:sp>
      <p:sp>
        <p:nvSpPr>
          <p:cNvPr id="8" name="Rounded Rectangle 7"/>
          <p:cNvSpPr/>
          <p:nvPr/>
        </p:nvSpPr>
        <p:spPr>
          <a:xfrm>
            <a:off x="566928" y="3675887"/>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67327"/>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Fold 0  10 100</a:t>
            </a:r>
            <a:r>
              <a:rPr sz="1600" b="0" i="0">
                <a:solidFill>
                  <a:srgbClr val="2B3440"/>
                </a:solidFill>
                <a:latin typeface="Calibri"/>
              </a:rPr>
              <a:t> lignes pour entraîner, </a:t>
            </a:r>
            <a:r>
              <a:rPr sz="1600" b="1" i="0">
                <a:solidFill>
                  <a:srgbClr val="6D2E46"/>
                </a:solidFill>
                <a:latin typeface="Calibri"/>
              </a:rPr>
              <a:t>2 526</a:t>
            </a:r>
            <a:r>
              <a:rPr sz="1600" b="0" i="0">
                <a:solidFill>
                  <a:srgbClr val="2B3440"/>
                </a:solidFill>
                <a:latin typeface="Calibri"/>
              </a:rPr>
              <a:t> pour valider ; les illustrations de cette partie l'utilisent.</a:t>
            </a:r>
          </a:p>
        </p:txBody>
      </p:sp>
      <p:sp>
        <p:nvSpPr>
          <p:cNvPr id="10" name="Rounded Rectangle 9"/>
          <p:cNvSpPr/>
          <p:nvPr/>
        </p:nvSpPr>
        <p:spPr>
          <a:xfrm>
            <a:off x="566928" y="460857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700016"/>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Réseau de référence  </a:t>
            </a:r>
            <a:r>
              <a:rPr sz="1600" b="0" i="0">
                <a:solidFill>
                  <a:srgbClr val="2B3440"/>
                </a:solidFill>
                <a:latin typeface="Calibri"/>
              </a:rPr>
              <a:t>77 → 64 → 32 → 1, ReLU, Adam, learning rate 0,001.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Pourquoi le scaling est mécanique</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7_descente_echelle.png"/>
          <p:cNvPicPr>
            <a:picLocks noChangeAspect="1"/>
          </p:cNvPicPr>
          <p:nvPr/>
        </p:nvPicPr>
        <p:blipFill>
          <a:blip r:embed="rId3"/>
          <a:stretch>
            <a:fillRect/>
          </a:stretch>
        </p:blipFill>
        <p:spPr>
          <a:xfrm>
            <a:off x="2379613" y="1828800"/>
            <a:ext cx="7432468"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Le gradient d'un poids est proportionnel à l'entrée qu'il multiplie. Sans scaling, le plus grand learning rate stable varie d'un facteur </a:t>
            </a:r>
            <a:r>
              <a:rPr sz="1350" b="1" i="0">
                <a:solidFill>
                  <a:srgbClr val="6D2E46"/>
                </a:solidFill>
                <a:latin typeface="Calibri"/>
              </a:rPr>
              <a:t>20 715</a:t>
            </a:r>
            <a:r>
              <a:rPr sz="1350" b="0" i="0">
                <a:solidFill>
                  <a:srgbClr val="2B3440"/>
                </a:solidFill>
                <a:latin typeface="Calibri"/>
              </a:rPr>
              <a:t> d'une feature à l'autre (TD 3) : la cuvette est étirée et le gradient descent zigzague. Standardisées, toutes les features ont le même learning rate stable.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Les briques de PyTorch</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409913" cy="310896"/>
          </a:xfrm>
          <a:prstGeom prst="rect">
            <a:avLst/>
          </a:prstGeom>
          <a:noFill/>
        </p:spPr>
        <p:txBody>
          <a:bodyPr wrap="square" lIns="0" tIns="0" rIns="0" bIns="0" anchor="ctr">
            <a:spAutoFit/>
          </a:bodyPr>
          <a:lstStyle/>
          <a:p>
            <a:pPr algn="l"/>
            <a:r>
              <a:rPr sz="1300" b="1" i="0">
                <a:solidFill>
                  <a:srgbClr val="6D2E46"/>
                </a:solidFill>
                <a:latin typeface="Calibri"/>
              </a:rPr>
              <a:t>Brique</a:t>
            </a:r>
          </a:p>
        </p:txBody>
      </p:sp>
      <p:sp>
        <p:nvSpPr>
          <p:cNvPr id="6" name="TextBox 5"/>
          <p:cNvSpPr txBox="1"/>
          <p:nvPr/>
        </p:nvSpPr>
        <p:spPr>
          <a:xfrm>
            <a:off x="3470617" y="1901952"/>
            <a:ext cx="5149011" cy="310896"/>
          </a:xfrm>
          <a:prstGeom prst="rect">
            <a:avLst/>
          </a:prstGeom>
          <a:noFill/>
        </p:spPr>
        <p:txBody>
          <a:bodyPr wrap="square" lIns="0" tIns="0" rIns="0" bIns="0" anchor="ctr">
            <a:spAutoFit/>
          </a:bodyPr>
          <a:lstStyle/>
          <a:p>
            <a:pPr algn="l"/>
            <a:r>
              <a:rPr sz="1300" b="1" i="0">
                <a:solidFill>
                  <a:srgbClr val="6D2E46"/>
                </a:solidFill>
                <a:latin typeface="Calibri"/>
              </a:rPr>
              <a:t>Rôle</a:t>
            </a:r>
          </a:p>
        </p:txBody>
      </p:sp>
      <p:sp>
        <p:nvSpPr>
          <p:cNvPr id="7" name="TextBox 6"/>
          <p:cNvSpPr txBox="1"/>
          <p:nvPr/>
        </p:nvSpPr>
        <p:spPr>
          <a:xfrm>
            <a:off x="8948813" y="1901952"/>
            <a:ext cx="2511361" cy="310896"/>
          </a:xfrm>
          <a:prstGeom prst="rect">
            <a:avLst/>
          </a:prstGeom>
          <a:noFill/>
        </p:spPr>
        <p:txBody>
          <a:bodyPr wrap="square" lIns="0" tIns="0" rIns="0" bIns="0" anchor="ctr">
            <a:spAutoFit/>
          </a:bodyPr>
          <a:lstStyle/>
          <a:p>
            <a:pPr algn="l"/>
            <a:r>
              <a:rPr sz="1300" b="1" i="0">
                <a:solidFill>
                  <a:srgbClr val="6D2E46"/>
                </a:solidFill>
                <a:latin typeface="Calibri"/>
              </a:rPr>
              <a:t>Dans votre NumPy</a:t>
            </a:r>
          </a:p>
        </p:txBody>
      </p:sp>
      <p:sp>
        <p:nvSpPr>
          <p:cNvPr id="8" name="Rectangle 7"/>
          <p:cNvSpPr/>
          <p:nvPr/>
        </p:nvSpPr>
        <p:spPr>
          <a:xfrm>
            <a:off x="566928" y="2267712"/>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2409913" cy="464820"/>
          </a:xfrm>
          <a:prstGeom prst="rect">
            <a:avLst/>
          </a:prstGeom>
          <a:noFill/>
        </p:spPr>
        <p:txBody>
          <a:bodyPr wrap="square" lIns="0" tIns="0" rIns="0" bIns="0" anchor="ctr">
            <a:spAutoFit/>
          </a:bodyPr>
          <a:lstStyle/>
          <a:p>
            <a:pPr algn="l"/>
            <a:r>
              <a:rPr sz="1400" b="0" i="0">
                <a:solidFill>
                  <a:srgbClr val="2B3440"/>
                </a:solidFill>
                <a:latin typeface="Calibri"/>
              </a:rPr>
              <a:t>tenseur</a:t>
            </a:r>
          </a:p>
        </p:txBody>
      </p:sp>
      <p:sp>
        <p:nvSpPr>
          <p:cNvPr id="10" name="TextBox 9"/>
          <p:cNvSpPr txBox="1"/>
          <p:nvPr/>
        </p:nvSpPr>
        <p:spPr>
          <a:xfrm>
            <a:off x="3470617" y="2322576"/>
            <a:ext cx="5149011" cy="464820"/>
          </a:xfrm>
          <a:prstGeom prst="rect">
            <a:avLst/>
          </a:prstGeom>
          <a:noFill/>
        </p:spPr>
        <p:txBody>
          <a:bodyPr wrap="square" lIns="0" tIns="0" rIns="0" bIns="0" anchor="ctr">
            <a:spAutoFit/>
          </a:bodyPr>
          <a:lstStyle/>
          <a:p>
            <a:pPr algn="l"/>
            <a:r>
              <a:rPr sz="1400" b="0" i="0">
                <a:solidFill>
                  <a:srgbClr val="2B3440"/>
                </a:solidFill>
                <a:latin typeface="Calibri"/>
              </a:rPr>
              <a:t>tableau typé, qui peut enregistrer ses opérations</a:t>
            </a:r>
          </a:p>
        </p:txBody>
      </p:sp>
      <p:sp>
        <p:nvSpPr>
          <p:cNvPr id="11" name="TextBox 10"/>
          <p:cNvSpPr txBox="1"/>
          <p:nvPr/>
        </p:nvSpPr>
        <p:spPr>
          <a:xfrm>
            <a:off x="8948813" y="2322576"/>
            <a:ext cx="2511361" cy="464820"/>
          </a:xfrm>
          <a:prstGeom prst="rect">
            <a:avLst/>
          </a:prstGeom>
          <a:noFill/>
        </p:spPr>
        <p:txBody>
          <a:bodyPr wrap="square" lIns="0" tIns="0" rIns="0" bIns="0" anchor="ctr">
            <a:spAutoFit/>
          </a:bodyPr>
          <a:lstStyle/>
          <a:p>
            <a:pPr algn="l"/>
            <a:r>
              <a:rPr sz="1400" b="0" i="0">
                <a:solidFill>
                  <a:srgbClr val="2B3440"/>
                </a:solidFill>
                <a:latin typeface="Calibri"/>
              </a:rPr>
              <a:t>np.ndarray</a:t>
            </a:r>
          </a:p>
        </p:txBody>
      </p:sp>
      <p:sp>
        <p:nvSpPr>
          <p:cNvPr id="12" name="Rectangle 11"/>
          <p:cNvSpPr/>
          <p:nvPr/>
        </p:nvSpPr>
        <p:spPr>
          <a:xfrm>
            <a:off x="566928" y="2842260"/>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897124"/>
            <a:ext cx="2409913" cy="464820"/>
          </a:xfrm>
          <a:prstGeom prst="rect">
            <a:avLst/>
          </a:prstGeom>
          <a:noFill/>
        </p:spPr>
        <p:txBody>
          <a:bodyPr wrap="square" lIns="0" tIns="0" rIns="0" bIns="0" anchor="ctr">
            <a:spAutoFit/>
          </a:bodyPr>
          <a:lstStyle/>
          <a:p>
            <a:pPr algn="l"/>
            <a:r>
              <a:rPr sz="1400" b="0" i="0">
                <a:solidFill>
                  <a:srgbClr val="2B3440"/>
                </a:solidFill>
                <a:latin typeface="Calibri"/>
              </a:rPr>
              <a:t>autograd</a:t>
            </a:r>
          </a:p>
        </p:txBody>
      </p:sp>
      <p:sp>
        <p:nvSpPr>
          <p:cNvPr id="14" name="TextBox 13"/>
          <p:cNvSpPr txBox="1"/>
          <p:nvPr/>
        </p:nvSpPr>
        <p:spPr>
          <a:xfrm>
            <a:off x="3470617" y="2897124"/>
            <a:ext cx="5149011" cy="464820"/>
          </a:xfrm>
          <a:prstGeom prst="rect">
            <a:avLst/>
          </a:prstGeom>
          <a:noFill/>
        </p:spPr>
        <p:txBody>
          <a:bodyPr wrap="square" lIns="0" tIns="0" rIns="0" bIns="0" anchor="ctr">
            <a:spAutoFit/>
          </a:bodyPr>
          <a:lstStyle/>
          <a:p>
            <a:pPr algn="l"/>
            <a:r>
              <a:rPr sz="1400" b="0" i="0">
                <a:solidFill>
                  <a:srgbClr val="2B3440"/>
                </a:solidFill>
                <a:latin typeface="Calibri"/>
              </a:rPr>
              <a:t>rejoue le graphe à l'envers pour les gradients</a:t>
            </a:r>
          </a:p>
        </p:txBody>
      </p:sp>
      <p:sp>
        <p:nvSpPr>
          <p:cNvPr id="15" name="TextBox 14"/>
          <p:cNvSpPr txBox="1"/>
          <p:nvPr/>
        </p:nvSpPr>
        <p:spPr>
          <a:xfrm>
            <a:off x="8948813" y="2897124"/>
            <a:ext cx="2511361" cy="464820"/>
          </a:xfrm>
          <a:prstGeom prst="rect">
            <a:avLst/>
          </a:prstGeom>
          <a:noFill/>
        </p:spPr>
        <p:txBody>
          <a:bodyPr wrap="square" lIns="0" tIns="0" rIns="0" bIns="0" anchor="ctr">
            <a:spAutoFit/>
          </a:bodyPr>
          <a:lstStyle/>
          <a:p>
            <a:pPr algn="l"/>
            <a:r>
              <a:rPr sz="1400" b="0" i="0">
                <a:solidFill>
                  <a:srgbClr val="2B3440"/>
                </a:solidFill>
                <a:latin typeface="Calibri"/>
              </a:rPr>
              <a:t>votre backward()</a:t>
            </a:r>
          </a:p>
        </p:txBody>
      </p:sp>
      <p:sp>
        <p:nvSpPr>
          <p:cNvPr id="16" name="Rectangle 15"/>
          <p:cNvSpPr/>
          <p:nvPr/>
        </p:nvSpPr>
        <p:spPr>
          <a:xfrm>
            <a:off x="566928" y="3416808"/>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71672"/>
            <a:ext cx="2409913" cy="464820"/>
          </a:xfrm>
          <a:prstGeom prst="rect">
            <a:avLst/>
          </a:prstGeom>
          <a:noFill/>
        </p:spPr>
        <p:txBody>
          <a:bodyPr wrap="square" lIns="0" tIns="0" rIns="0" bIns="0" anchor="ctr">
            <a:spAutoFit/>
          </a:bodyPr>
          <a:lstStyle/>
          <a:p>
            <a:pPr algn="l"/>
            <a:r>
              <a:rPr sz="1400" b="0" i="0">
                <a:solidFill>
                  <a:srgbClr val="2B3440"/>
                </a:solidFill>
                <a:latin typeface="Calibri"/>
              </a:rPr>
              <a:t>nn.Module, nn.Sequential</a:t>
            </a:r>
          </a:p>
        </p:txBody>
      </p:sp>
      <p:sp>
        <p:nvSpPr>
          <p:cNvPr id="18" name="TextBox 17"/>
          <p:cNvSpPr txBox="1"/>
          <p:nvPr/>
        </p:nvSpPr>
        <p:spPr>
          <a:xfrm>
            <a:off x="3470617" y="3471672"/>
            <a:ext cx="5149011" cy="464820"/>
          </a:xfrm>
          <a:prstGeom prst="rect">
            <a:avLst/>
          </a:prstGeom>
          <a:noFill/>
        </p:spPr>
        <p:txBody>
          <a:bodyPr wrap="square" lIns="0" tIns="0" rIns="0" bIns="0" anchor="ctr">
            <a:spAutoFit/>
          </a:bodyPr>
          <a:lstStyle/>
          <a:p>
            <a:pPr algn="l"/>
            <a:r>
              <a:rPr sz="1400" b="0" i="0">
                <a:solidFill>
                  <a:srgbClr val="2B3440"/>
                </a:solidFill>
                <a:latin typeface="Calibri"/>
              </a:rPr>
              <a:t>déclare les couches et leurs paramètres</a:t>
            </a:r>
          </a:p>
        </p:txBody>
      </p:sp>
      <p:sp>
        <p:nvSpPr>
          <p:cNvPr id="19" name="TextBox 18"/>
          <p:cNvSpPr txBox="1"/>
          <p:nvPr/>
        </p:nvSpPr>
        <p:spPr>
          <a:xfrm>
            <a:off x="8948813" y="3471672"/>
            <a:ext cx="2511361" cy="464820"/>
          </a:xfrm>
          <a:prstGeom prst="rect">
            <a:avLst/>
          </a:prstGeom>
          <a:noFill/>
        </p:spPr>
        <p:txBody>
          <a:bodyPr wrap="square" lIns="0" tIns="0" rIns="0" bIns="0" anchor="ctr">
            <a:spAutoFit/>
          </a:bodyPr>
          <a:lstStyle/>
          <a:p>
            <a:pPr algn="l"/>
            <a:r>
              <a:rPr sz="1400" b="0" i="0">
                <a:solidFill>
                  <a:srgbClr val="2B3440"/>
                </a:solidFill>
                <a:latin typeface="Calibri"/>
              </a:rPr>
              <a:t>votre classe</a:t>
            </a:r>
          </a:p>
        </p:txBody>
      </p:sp>
      <p:sp>
        <p:nvSpPr>
          <p:cNvPr id="20" name="Rectangle 19"/>
          <p:cNvSpPr/>
          <p:nvPr/>
        </p:nvSpPr>
        <p:spPr>
          <a:xfrm>
            <a:off x="566928" y="3991356"/>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46220"/>
            <a:ext cx="2409913" cy="464820"/>
          </a:xfrm>
          <a:prstGeom prst="rect">
            <a:avLst/>
          </a:prstGeom>
          <a:noFill/>
        </p:spPr>
        <p:txBody>
          <a:bodyPr wrap="square" lIns="0" tIns="0" rIns="0" bIns="0" anchor="ctr">
            <a:spAutoFit/>
          </a:bodyPr>
          <a:lstStyle/>
          <a:p>
            <a:pPr algn="l"/>
            <a:r>
              <a:rPr sz="1400" b="0" i="0">
                <a:solidFill>
                  <a:srgbClr val="2B3440"/>
                </a:solidFill>
                <a:latin typeface="Calibri"/>
              </a:rPr>
              <a:t>Dataset</a:t>
            </a:r>
          </a:p>
        </p:txBody>
      </p:sp>
      <p:sp>
        <p:nvSpPr>
          <p:cNvPr id="22" name="TextBox 21"/>
          <p:cNvSpPr txBox="1"/>
          <p:nvPr/>
        </p:nvSpPr>
        <p:spPr>
          <a:xfrm>
            <a:off x="3470617" y="4046220"/>
            <a:ext cx="5149011" cy="464820"/>
          </a:xfrm>
          <a:prstGeom prst="rect">
            <a:avLst/>
          </a:prstGeom>
          <a:noFill/>
        </p:spPr>
        <p:txBody>
          <a:bodyPr wrap="square" lIns="0" tIns="0" rIns="0" bIns="0" anchor="ctr">
            <a:spAutoFit/>
          </a:bodyPr>
          <a:lstStyle/>
          <a:p>
            <a:pPr algn="l"/>
            <a:r>
              <a:rPr sz="1400" b="0" i="0">
                <a:solidFill>
                  <a:srgbClr val="2B3440"/>
                </a:solidFill>
                <a:latin typeface="Calibri"/>
              </a:rPr>
              <a:t>dit comment obtenir </a:t>
            </a:r>
            <a:r>
              <a:rPr sz="1400" b="1" i="0">
                <a:solidFill>
                  <a:srgbClr val="6D2E46"/>
                </a:solidFill>
                <a:latin typeface="Calibri"/>
              </a:rPr>
              <a:t>un</a:t>
            </a:r>
            <a:r>
              <a:rPr sz="1400" b="0" i="0">
                <a:solidFill>
                  <a:srgbClr val="2B3440"/>
                </a:solidFill>
                <a:latin typeface="Calibri"/>
              </a:rPr>
              <a:t> exemple</a:t>
            </a:r>
          </a:p>
        </p:txBody>
      </p:sp>
      <p:sp>
        <p:nvSpPr>
          <p:cNvPr id="23" name="TextBox 22"/>
          <p:cNvSpPr txBox="1"/>
          <p:nvPr/>
        </p:nvSpPr>
        <p:spPr>
          <a:xfrm>
            <a:off x="8948813" y="4046220"/>
            <a:ext cx="2511361" cy="464820"/>
          </a:xfrm>
          <a:prstGeom prst="rect">
            <a:avLst/>
          </a:prstGeom>
          <a:noFill/>
        </p:spPr>
        <p:txBody>
          <a:bodyPr wrap="square" lIns="0" tIns="0" rIns="0" bIns="0" anchor="ctr">
            <a:spAutoFit/>
          </a:bodyPr>
          <a:lstStyle/>
          <a:p>
            <a:pPr algn="l"/>
            <a:r>
              <a:rPr sz="1400" b="0" i="0">
                <a:solidFill>
                  <a:srgbClr val="2B3440"/>
                </a:solidFill>
                <a:latin typeface="Calibri"/>
              </a:rPr>
              <a:t>X[i], y[i]</a:t>
            </a:r>
          </a:p>
        </p:txBody>
      </p:sp>
      <p:sp>
        <p:nvSpPr>
          <p:cNvPr id="24" name="Rectangle 23"/>
          <p:cNvSpPr/>
          <p:nvPr/>
        </p:nvSpPr>
        <p:spPr>
          <a:xfrm>
            <a:off x="566928" y="4565904"/>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620767"/>
            <a:ext cx="2409913" cy="464820"/>
          </a:xfrm>
          <a:prstGeom prst="rect">
            <a:avLst/>
          </a:prstGeom>
          <a:noFill/>
        </p:spPr>
        <p:txBody>
          <a:bodyPr wrap="square" lIns="0" tIns="0" rIns="0" bIns="0" anchor="ctr">
            <a:spAutoFit/>
          </a:bodyPr>
          <a:lstStyle/>
          <a:p>
            <a:pPr algn="l"/>
            <a:r>
              <a:rPr sz="1400" b="0" i="0">
                <a:solidFill>
                  <a:srgbClr val="2B3440"/>
                </a:solidFill>
                <a:latin typeface="Calibri"/>
              </a:rPr>
              <a:t>DataLoader</a:t>
            </a:r>
          </a:p>
        </p:txBody>
      </p:sp>
      <p:sp>
        <p:nvSpPr>
          <p:cNvPr id="26" name="TextBox 25"/>
          <p:cNvSpPr txBox="1"/>
          <p:nvPr/>
        </p:nvSpPr>
        <p:spPr>
          <a:xfrm>
            <a:off x="3470617" y="4620767"/>
            <a:ext cx="5149011" cy="464820"/>
          </a:xfrm>
          <a:prstGeom prst="rect">
            <a:avLst/>
          </a:prstGeom>
          <a:noFill/>
        </p:spPr>
        <p:txBody>
          <a:bodyPr wrap="square" lIns="0" tIns="0" rIns="0" bIns="0" anchor="ctr">
            <a:spAutoFit/>
          </a:bodyPr>
          <a:lstStyle/>
          <a:p>
            <a:pPr algn="l"/>
            <a:r>
              <a:rPr sz="1400" b="0" i="0">
                <a:solidFill>
                  <a:srgbClr val="2B3440"/>
                </a:solidFill>
                <a:latin typeface="Calibri"/>
              </a:rPr>
              <a:t>fait des batches, les mélange à chaque epoch</a:t>
            </a:r>
          </a:p>
        </p:txBody>
      </p:sp>
      <p:sp>
        <p:nvSpPr>
          <p:cNvPr id="27" name="TextBox 26"/>
          <p:cNvSpPr txBox="1"/>
          <p:nvPr/>
        </p:nvSpPr>
        <p:spPr>
          <a:xfrm>
            <a:off x="8948813" y="4620767"/>
            <a:ext cx="2511361" cy="464820"/>
          </a:xfrm>
          <a:prstGeom prst="rect">
            <a:avLst/>
          </a:prstGeom>
          <a:noFill/>
        </p:spPr>
        <p:txBody>
          <a:bodyPr wrap="square" lIns="0" tIns="0" rIns="0" bIns="0" anchor="ctr">
            <a:spAutoFit/>
          </a:bodyPr>
          <a:lstStyle/>
          <a:p>
            <a:pPr algn="l"/>
            <a:r>
              <a:rPr sz="1400" b="0" i="0">
                <a:solidFill>
                  <a:srgbClr val="2B3440"/>
                </a:solidFill>
                <a:latin typeface="Calibri"/>
              </a:rPr>
              <a:t>votre boucle sur les batches</a:t>
            </a:r>
          </a:p>
        </p:txBody>
      </p:sp>
      <p:sp>
        <p:nvSpPr>
          <p:cNvPr id="28" name="Rectangle 27"/>
          <p:cNvSpPr/>
          <p:nvPr/>
        </p:nvSpPr>
        <p:spPr>
          <a:xfrm>
            <a:off x="566928" y="5140451"/>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5195315"/>
            <a:ext cx="2409913" cy="464820"/>
          </a:xfrm>
          <a:prstGeom prst="rect">
            <a:avLst/>
          </a:prstGeom>
          <a:noFill/>
        </p:spPr>
        <p:txBody>
          <a:bodyPr wrap="square" lIns="0" tIns="0" rIns="0" bIns="0" anchor="ctr">
            <a:spAutoFit/>
          </a:bodyPr>
          <a:lstStyle/>
          <a:p>
            <a:pPr algn="l"/>
            <a:r>
              <a:rPr sz="1400" b="0" i="0">
                <a:solidFill>
                  <a:srgbClr val="2B3440"/>
                </a:solidFill>
                <a:latin typeface="Calibri"/>
              </a:rPr>
              <a:t>optimizer</a:t>
            </a:r>
          </a:p>
        </p:txBody>
      </p:sp>
      <p:sp>
        <p:nvSpPr>
          <p:cNvPr id="30" name="TextBox 29"/>
          <p:cNvSpPr txBox="1"/>
          <p:nvPr/>
        </p:nvSpPr>
        <p:spPr>
          <a:xfrm>
            <a:off x="3470617" y="5195315"/>
            <a:ext cx="5149011" cy="464820"/>
          </a:xfrm>
          <a:prstGeom prst="rect">
            <a:avLst/>
          </a:prstGeom>
          <a:noFill/>
        </p:spPr>
        <p:txBody>
          <a:bodyPr wrap="square" lIns="0" tIns="0" rIns="0" bIns="0" anchor="ctr">
            <a:spAutoFit/>
          </a:bodyPr>
          <a:lstStyle/>
          <a:p>
            <a:pPr algn="l"/>
            <a:r>
              <a:rPr sz="1400" b="0" i="0">
                <a:solidFill>
                  <a:srgbClr val="2B3440"/>
                </a:solidFill>
                <a:latin typeface="Calibri"/>
              </a:rPr>
              <a:t>applique la règle de mise à jour</a:t>
            </a:r>
          </a:p>
        </p:txBody>
      </p:sp>
      <p:sp>
        <p:nvSpPr>
          <p:cNvPr id="31" name="TextBox 30"/>
          <p:cNvSpPr txBox="1"/>
          <p:nvPr/>
        </p:nvSpPr>
        <p:spPr>
          <a:xfrm>
            <a:off x="8948813" y="5195315"/>
            <a:ext cx="2511361" cy="464820"/>
          </a:xfrm>
          <a:prstGeom prst="rect">
            <a:avLst/>
          </a:prstGeom>
          <a:noFill/>
        </p:spPr>
        <p:txBody>
          <a:bodyPr wrap="square" lIns="0" tIns="0" rIns="0" bIns="0" anchor="ctr">
            <a:spAutoFit/>
          </a:bodyPr>
          <a:lstStyle/>
          <a:p>
            <a:pPr algn="l"/>
            <a:r>
              <a:rPr sz="1400" b="0" i="0">
                <a:solidFill>
                  <a:srgbClr val="2B3440"/>
                </a:solidFill>
                <a:latin typeface="Calibri"/>
              </a:rPr>
              <a:t>votre step()</a:t>
            </a:r>
          </a:p>
        </p:txBody>
      </p:sp>
      <p:sp>
        <p:nvSpPr>
          <p:cNvPr id="32" name="Rounded Rectangle 31"/>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Piège : une sortie (n, 1) comparée à une cible (n,) donne une matrice (n, n), sans erreur.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Batch, itération, epoch</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Sur les 10 100 lignes du training set du fold 0.</a:t>
            </a:r>
          </a:p>
        </p:txBody>
      </p:sp>
      <p:sp>
        <p:nvSpPr>
          <p:cNvPr id="5" name="Rectangle 4"/>
          <p:cNvSpPr/>
          <p:nvPr/>
        </p:nvSpPr>
        <p:spPr>
          <a:xfrm>
            <a:off x="566928" y="2139696"/>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194560"/>
            <a:ext cx="3009031" cy="310896"/>
          </a:xfrm>
          <a:prstGeom prst="rect">
            <a:avLst/>
          </a:prstGeom>
          <a:noFill/>
        </p:spPr>
        <p:txBody>
          <a:bodyPr wrap="square" lIns="0" tIns="0" rIns="0" bIns="0" anchor="ctr">
            <a:spAutoFit/>
          </a:bodyPr>
          <a:lstStyle/>
          <a:p>
            <a:pPr algn="r"/>
            <a:r>
              <a:rPr sz="1300" b="1" i="0">
                <a:solidFill>
                  <a:srgbClr val="6D2E46"/>
                </a:solidFill>
                <a:latin typeface="Calibri"/>
              </a:rPr>
              <a:t>Batch size</a:t>
            </a:r>
          </a:p>
        </p:txBody>
      </p:sp>
      <p:sp>
        <p:nvSpPr>
          <p:cNvPr id="7" name="TextBox 6"/>
          <p:cNvSpPr txBox="1"/>
          <p:nvPr/>
        </p:nvSpPr>
        <p:spPr>
          <a:xfrm>
            <a:off x="4069735" y="2194560"/>
            <a:ext cx="3009031" cy="310896"/>
          </a:xfrm>
          <a:prstGeom prst="rect">
            <a:avLst/>
          </a:prstGeom>
          <a:noFill/>
        </p:spPr>
        <p:txBody>
          <a:bodyPr wrap="square" lIns="0" tIns="0" rIns="0" bIns="0" anchor="ctr">
            <a:spAutoFit/>
          </a:bodyPr>
          <a:lstStyle/>
          <a:p>
            <a:pPr algn="r"/>
            <a:r>
              <a:rPr sz="1300" b="1" i="0">
                <a:solidFill>
                  <a:srgbClr val="6D2E46"/>
                </a:solidFill>
                <a:latin typeface="Calibri"/>
              </a:rPr>
              <a:t>Batches par epoch</a:t>
            </a:r>
          </a:p>
        </p:txBody>
      </p:sp>
      <p:sp>
        <p:nvSpPr>
          <p:cNvPr id="8" name="TextBox 7"/>
          <p:cNvSpPr txBox="1"/>
          <p:nvPr/>
        </p:nvSpPr>
        <p:spPr>
          <a:xfrm>
            <a:off x="7407951" y="2194560"/>
            <a:ext cx="4052223" cy="310896"/>
          </a:xfrm>
          <a:prstGeom prst="rect">
            <a:avLst/>
          </a:prstGeom>
          <a:noFill/>
        </p:spPr>
        <p:txBody>
          <a:bodyPr wrap="square" lIns="0" tIns="0" rIns="0" bIns="0" anchor="ctr">
            <a:spAutoFit/>
          </a:bodyPr>
          <a:lstStyle/>
          <a:p>
            <a:pPr algn="r"/>
            <a:r>
              <a:rPr sz="1300" b="1" i="0">
                <a:solidFill>
                  <a:srgbClr val="6D2E46"/>
                </a:solidFill>
                <a:latin typeface="Calibri"/>
              </a:rPr>
              <a:t>Mises à jour en 20 epochs</a:t>
            </a:r>
          </a:p>
        </p:txBody>
      </p:sp>
      <p:sp>
        <p:nvSpPr>
          <p:cNvPr id="9" name="Rectangle 8"/>
          <p:cNvSpPr/>
          <p:nvPr/>
        </p:nvSpPr>
        <p:spPr>
          <a:xfrm>
            <a:off x="566928" y="2560320"/>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615184"/>
            <a:ext cx="3009031" cy="475488"/>
          </a:xfrm>
          <a:prstGeom prst="rect">
            <a:avLst/>
          </a:prstGeom>
          <a:noFill/>
        </p:spPr>
        <p:txBody>
          <a:bodyPr wrap="square" lIns="0" tIns="0" rIns="0" bIns="0" anchor="ctr">
            <a:spAutoFit/>
          </a:bodyPr>
          <a:lstStyle/>
          <a:p>
            <a:pPr algn="r"/>
            <a:r>
              <a:rPr sz="1400" b="0" i="0">
                <a:solidFill>
                  <a:srgbClr val="2B3440"/>
                </a:solidFill>
                <a:latin typeface="Calibri"/>
              </a:rPr>
              <a:t>64</a:t>
            </a:r>
          </a:p>
        </p:txBody>
      </p:sp>
      <p:sp>
        <p:nvSpPr>
          <p:cNvPr id="11" name="TextBox 10"/>
          <p:cNvSpPr txBox="1"/>
          <p:nvPr/>
        </p:nvSpPr>
        <p:spPr>
          <a:xfrm>
            <a:off x="4069735" y="2615184"/>
            <a:ext cx="3009031" cy="475488"/>
          </a:xfrm>
          <a:prstGeom prst="rect">
            <a:avLst/>
          </a:prstGeom>
          <a:noFill/>
        </p:spPr>
        <p:txBody>
          <a:bodyPr wrap="square" lIns="0" tIns="0" rIns="0" bIns="0" anchor="ctr">
            <a:spAutoFit/>
          </a:bodyPr>
          <a:lstStyle/>
          <a:p>
            <a:pPr algn="r"/>
            <a:r>
              <a:rPr sz="1400" b="0" i="0">
                <a:solidFill>
                  <a:srgbClr val="2B3440"/>
                </a:solidFill>
                <a:latin typeface="Calibri"/>
              </a:rPr>
              <a:t>158</a:t>
            </a:r>
          </a:p>
        </p:txBody>
      </p:sp>
      <p:sp>
        <p:nvSpPr>
          <p:cNvPr id="12" name="TextBox 11"/>
          <p:cNvSpPr txBox="1"/>
          <p:nvPr/>
        </p:nvSpPr>
        <p:spPr>
          <a:xfrm>
            <a:off x="7407951" y="2615184"/>
            <a:ext cx="4052223" cy="475488"/>
          </a:xfrm>
          <a:prstGeom prst="rect">
            <a:avLst/>
          </a:prstGeom>
          <a:noFill/>
        </p:spPr>
        <p:txBody>
          <a:bodyPr wrap="square" lIns="0" tIns="0" rIns="0" bIns="0" anchor="ctr">
            <a:spAutoFit/>
          </a:bodyPr>
          <a:lstStyle/>
          <a:p>
            <a:pPr algn="r"/>
            <a:r>
              <a:rPr sz="1400" b="0" i="0">
                <a:solidFill>
                  <a:srgbClr val="2B3440"/>
                </a:solidFill>
                <a:latin typeface="Calibri"/>
              </a:rPr>
              <a:t>3 160</a:t>
            </a:r>
          </a:p>
        </p:txBody>
      </p:sp>
      <p:sp>
        <p:nvSpPr>
          <p:cNvPr id="13" name="Rectangle 12"/>
          <p:cNvSpPr/>
          <p:nvPr/>
        </p:nvSpPr>
        <p:spPr>
          <a:xfrm>
            <a:off x="566928" y="3145536"/>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200400"/>
            <a:ext cx="3009031" cy="475488"/>
          </a:xfrm>
          <a:prstGeom prst="rect">
            <a:avLst/>
          </a:prstGeom>
          <a:noFill/>
        </p:spPr>
        <p:txBody>
          <a:bodyPr wrap="square" lIns="0" tIns="0" rIns="0" bIns="0" anchor="ctr">
            <a:spAutoFit/>
          </a:bodyPr>
          <a:lstStyle/>
          <a:p>
            <a:pPr algn="r"/>
            <a:r>
              <a:rPr sz="1400" b="0" i="0">
                <a:solidFill>
                  <a:srgbClr val="2B3440"/>
                </a:solidFill>
                <a:latin typeface="Calibri"/>
              </a:rPr>
              <a:t>256</a:t>
            </a:r>
          </a:p>
        </p:txBody>
      </p:sp>
      <p:sp>
        <p:nvSpPr>
          <p:cNvPr id="15" name="TextBox 14"/>
          <p:cNvSpPr txBox="1"/>
          <p:nvPr/>
        </p:nvSpPr>
        <p:spPr>
          <a:xfrm>
            <a:off x="4069735" y="3200400"/>
            <a:ext cx="3009031" cy="475488"/>
          </a:xfrm>
          <a:prstGeom prst="rect">
            <a:avLst/>
          </a:prstGeom>
          <a:noFill/>
        </p:spPr>
        <p:txBody>
          <a:bodyPr wrap="square" lIns="0" tIns="0" rIns="0" bIns="0" anchor="ctr">
            <a:spAutoFit/>
          </a:bodyPr>
          <a:lstStyle/>
          <a:p>
            <a:pPr algn="r"/>
            <a:r>
              <a:rPr sz="1400" b="0" i="0">
                <a:solidFill>
                  <a:srgbClr val="2B3440"/>
                </a:solidFill>
                <a:latin typeface="Calibri"/>
              </a:rPr>
              <a:t>40</a:t>
            </a:r>
          </a:p>
        </p:txBody>
      </p:sp>
      <p:sp>
        <p:nvSpPr>
          <p:cNvPr id="16" name="TextBox 15"/>
          <p:cNvSpPr txBox="1"/>
          <p:nvPr/>
        </p:nvSpPr>
        <p:spPr>
          <a:xfrm>
            <a:off x="7407951" y="3200400"/>
            <a:ext cx="4052223" cy="475488"/>
          </a:xfrm>
          <a:prstGeom prst="rect">
            <a:avLst/>
          </a:prstGeom>
          <a:noFill/>
        </p:spPr>
        <p:txBody>
          <a:bodyPr wrap="square" lIns="0" tIns="0" rIns="0" bIns="0" anchor="ctr">
            <a:spAutoFit/>
          </a:bodyPr>
          <a:lstStyle/>
          <a:p>
            <a:pPr algn="r"/>
            <a:r>
              <a:rPr sz="1400" b="0" i="0">
                <a:solidFill>
                  <a:srgbClr val="2B3440"/>
                </a:solidFill>
                <a:latin typeface="Calibri"/>
              </a:rPr>
              <a:t>800</a:t>
            </a:r>
          </a:p>
        </p:txBody>
      </p:sp>
      <p:sp>
        <p:nvSpPr>
          <p:cNvPr id="17" name="Rectangle 16"/>
          <p:cNvSpPr/>
          <p:nvPr/>
        </p:nvSpPr>
        <p:spPr>
          <a:xfrm>
            <a:off x="566928" y="373075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785615"/>
            <a:ext cx="3009031" cy="475488"/>
          </a:xfrm>
          <a:prstGeom prst="rect">
            <a:avLst/>
          </a:prstGeom>
          <a:noFill/>
        </p:spPr>
        <p:txBody>
          <a:bodyPr wrap="square" lIns="0" tIns="0" rIns="0" bIns="0" anchor="ctr">
            <a:spAutoFit/>
          </a:bodyPr>
          <a:lstStyle/>
          <a:p>
            <a:pPr algn="r"/>
            <a:r>
              <a:rPr sz="1400" b="0" i="0">
                <a:solidFill>
                  <a:srgbClr val="2B3440"/>
                </a:solidFill>
                <a:latin typeface="Calibri"/>
              </a:rPr>
              <a:t>1 024</a:t>
            </a:r>
          </a:p>
        </p:txBody>
      </p:sp>
      <p:sp>
        <p:nvSpPr>
          <p:cNvPr id="19" name="TextBox 18"/>
          <p:cNvSpPr txBox="1"/>
          <p:nvPr/>
        </p:nvSpPr>
        <p:spPr>
          <a:xfrm>
            <a:off x="4069735" y="3785615"/>
            <a:ext cx="3009031" cy="475488"/>
          </a:xfrm>
          <a:prstGeom prst="rect">
            <a:avLst/>
          </a:prstGeom>
          <a:noFill/>
        </p:spPr>
        <p:txBody>
          <a:bodyPr wrap="square" lIns="0" tIns="0" rIns="0" bIns="0" anchor="ctr">
            <a:spAutoFit/>
          </a:bodyPr>
          <a:lstStyle/>
          <a:p>
            <a:pPr algn="r"/>
            <a:r>
              <a:rPr sz="1400" b="0" i="0">
                <a:solidFill>
                  <a:srgbClr val="2B3440"/>
                </a:solidFill>
                <a:latin typeface="Calibri"/>
              </a:rPr>
              <a:t>10</a:t>
            </a:r>
          </a:p>
        </p:txBody>
      </p:sp>
      <p:sp>
        <p:nvSpPr>
          <p:cNvPr id="20" name="TextBox 19"/>
          <p:cNvSpPr txBox="1"/>
          <p:nvPr/>
        </p:nvSpPr>
        <p:spPr>
          <a:xfrm>
            <a:off x="7407951" y="3785615"/>
            <a:ext cx="4052223" cy="475488"/>
          </a:xfrm>
          <a:prstGeom prst="rect">
            <a:avLst/>
          </a:prstGeom>
          <a:noFill/>
        </p:spPr>
        <p:txBody>
          <a:bodyPr wrap="square" lIns="0" tIns="0" rIns="0" bIns="0" anchor="ctr">
            <a:spAutoFit/>
          </a:bodyPr>
          <a:lstStyle/>
          <a:p>
            <a:pPr algn="r"/>
            <a:r>
              <a:rPr sz="1400" b="0" i="0">
                <a:solidFill>
                  <a:srgbClr val="2B3440"/>
                </a:solidFill>
                <a:latin typeface="Calibri"/>
              </a:rPr>
              <a:t>200</a:t>
            </a:r>
          </a:p>
        </p:txBody>
      </p:sp>
      <p:sp>
        <p:nvSpPr>
          <p:cNvPr id="21" name="Rounded Rectangle 20"/>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Batch : les exemples d'un step. Itération : un step. Epoch : un passage complet sur les données.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La training loop</a:t>
            </a:r>
          </a:p>
        </p:txBody>
      </p:sp>
      <p:sp>
        <p:nvSpPr>
          <p:cNvPr id="4" name="Rounded Rectangle 3"/>
          <p:cNvSpPr/>
          <p:nvPr/>
        </p:nvSpPr>
        <p:spPr>
          <a:xfrm>
            <a:off x="566928" y="1865376"/>
            <a:ext cx="11057839" cy="2834639"/>
          </a:xfrm>
          <a:prstGeom prst="roundRect">
            <a:avLst>
              <a:gd name="adj" fmla="val 3225"/>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048256"/>
            <a:ext cx="10399471" cy="2468879"/>
          </a:xfrm>
          <a:prstGeom prst="rect">
            <a:avLst/>
          </a:prstGeom>
          <a:noFill/>
        </p:spPr>
        <p:txBody>
          <a:bodyPr wrap="square" lIns="0" tIns="0" rIns="0" bIns="0" anchor="t">
            <a:spAutoFit/>
          </a:bodyPr>
          <a:lstStyle/>
          <a:p>
            <a:pPr algn="l">
              <a:lnSpc>
                <a:spcPct val="132000"/>
              </a:lnSpc>
            </a:pPr>
            <a:r>
              <a:rPr sz="1450" b="0" i="0">
                <a:solidFill>
                  <a:srgbClr val="12233A"/>
                </a:solidFill>
                <a:latin typeface="Courier New"/>
              </a:rPr>
              <a:t>for epoque in range(n_epoques):</a:t>
            </a:r>
          </a:p>
          <a:p>
            <a:pPr algn="l">
              <a:lnSpc>
                <a:spcPct val="132000"/>
              </a:lnSpc>
            </a:pPr>
            <a:r>
              <a:rPr sz="1450" b="0" i="0">
                <a:solidFill>
                  <a:srgbClr val="12233A"/>
                </a:solidFill>
                <a:latin typeface="Courier New"/>
              </a:rPr>
              <a:t>    modele.train()                  # dropout et batch norm : train mode</a:t>
            </a:r>
          </a:p>
          <a:p>
            <a:pPr algn="l">
              <a:lnSpc>
                <a:spcPct val="132000"/>
              </a:lnSpc>
            </a:pPr>
            <a:r>
              <a:rPr sz="1450" b="0" i="0">
                <a:solidFill>
                  <a:srgbClr val="12233A"/>
                </a:solidFill>
                <a:latin typeface="Courier New"/>
              </a:rPr>
              <a:t>    for xb, yb in chargeur_entrainement:</a:t>
            </a:r>
          </a:p>
          <a:p>
            <a:pPr algn="l">
              <a:lnSpc>
                <a:spcPct val="132000"/>
              </a:lnSpc>
            </a:pPr>
            <a:r>
              <a:rPr sz="1450" b="0" i="0">
                <a:solidFill>
                  <a:srgbClr val="12233A"/>
                </a:solidFill>
                <a:latin typeface="Courier New"/>
              </a:rPr>
              <a:t>        optimiseur.zero_grad()      # vider les gradients accumulés</a:t>
            </a:r>
          </a:p>
          <a:p>
            <a:pPr algn="l">
              <a:lnSpc>
                <a:spcPct val="132000"/>
              </a:lnSpc>
            </a:pPr>
            <a:r>
              <a:rPr sz="1450" b="0" i="0">
                <a:solidFill>
                  <a:srgbClr val="12233A"/>
                </a:solidFill>
                <a:latin typeface="Courier New"/>
              </a:rPr>
              <a:t>        perte = perte_fn(modele(xb), yb)</a:t>
            </a:r>
          </a:p>
          <a:p>
            <a:pPr algn="l">
              <a:lnSpc>
                <a:spcPct val="132000"/>
              </a:lnSpc>
            </a:pPr>
            <a:r>
              <a:rPr sz="1450" b="0" i="0">
                <a:solidFill>
                  <a:srgbClr val="12233A"/>
                </a:solidFill>
                <a:latin typeface="Courier New"/>
              </a:rPr>
              <a:t>        perte.backward()            # la chain rule</a:t>
            </a:r>
          </a:p>
          <a:p>
            <a:pPr algn="l">
              <a:lnSpc>
                <a:spcPct val="132000"/>
              </a:lnSpc>
            </a:pPr>
            <a:r>
              <a:rPr sz="1450" b="0" i="0">
                <a:solidFill>
                  <a:srgbClr val="12233A"/>
                </a:solidFill>
                <a:latin typeface="Courier New"/>
              </a:rPr>
              <a:t>        optimiseur.step()           # la mise à jour</a:t>
            </a:r>
          </a:p>
          <a:p>
            <a:pPr algn="l">
              <a:lnSpc>
                <a:spcPct val="132000"/>
              </a:lnSpc>
            </a:pPr>
            <a:r>
              <a:rPr sz="1450" b="0" i="0">
                <a:solidFill>
                  <a:srgbClr val="12233A"/>
                </a:solidFill>
                <a:latin typeface="Courier New"/>
              </a:rPr>
              <a:t>    modele.eval()                   # puis évaluer, sans graphe :</a:t>
            </a:r>
          </a:p>
          <a:p>
            <a:pPr algn="l">
              <a:lnSpc>
                <a:spcPct val="132000"/>
              </a:lnSpc>
            </a:pPr>
            <a:r>
              <a:rPr sz="1450" b="0" i="0">
                <a:solidFill>
                  <a:srgbClr val="12233A"/>
                </a:solidFill>
                <a:latin typeface="Courier New"/>
              </a:rPr>
              <a:t>    with torch.no_grad(): ...</a:t>
            </a:r>
          </a:p>
        </p:txBody>
      </p:sp>
      <p:sp>
        <p:nvSpPr>
          <p:cNvPr id="6" name="Rounded Rectangle 5"/>
          <p:cNvSpPr/>
          <p:nvPr/>
        </p:nvSpPr>
        <p:spPr>
          <a:xfrm>
            <a:off x="566928" y="4919472"/>
            <a:ext cx="11057839" cy="1426464"/>
          </a:xfrm>
          <a:prstGeom prst="roundRect">
            <a:avLst>
              <a:gd name="adj" fmla="val 8974"/>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047488"/>
            <a:ext cx="10472623" cy="1170432"/>
          </a:xfrm>
          <a:prstGeom prst="rect">
            <a:avLst/>
          </a:prstGeom>
          <a:noFill/>
        </p:spPr>
        <p:txBody>
          <a:bodyPr wrap="square" lIns="0" tIns="0" rIns="0" bIns="0" anchor="t">
            <a:spAutoFit/>
          </a:bodyPr>
          <a:lstStyle/>
          <a:p>
            <a:pPr algn="l">
              <a:lnSpc>
                <a:spcPct val="128000"/>
              </a:lnSpc>
            </a:pPr>
            <a:r>
              <a:rPr sz="1550" b="0" i="0">
                <a:solidFill>
                  <a:srgbClr val="2B3440"/>
                </a:solidFill>
                <a:latin typeface="Calibri"/>
              </a:rPr>
              <a:t>Les gestes de la séance 8, plus deux ajouts : </a:t>
            </a:r>
            <a:r>
              <a:rPr sz="1550" b="1" i="0">
                <a:solidFill>
                  <a:srgbClr val="6D2E46"/>
                </a:solidFill>
                <a:latin typeface="Calibri"/>
              </a:rPr>
              <a:t>train() et eval()</a:t>
            </a:r>
            <a:r>
              <a:rPr sz="1550" b="0" i="0">
                <a:solidFill>
                  <a:srgbClr val="2B3440"/>
                </a:solidFill>
                <a:latin typeface="Calibri"/>
              </a:rPr>
              <a:t>, qui changent le comportement du dropout et de la batch norm, et </a:t>
            </a:r>
            <a:r>
              <a:rPr sz="1550" b="1" i="0">
                <a:solidFill>
                  <a:srgbClr val="6D2E46"/>
                </a:solidFill>
                <a:latin typeface="Calibri"/>
              </a:rPr>
              <a:t>no_grad()</a:t>
            </a:r>
            <a:r>
              <a:rPr sz="1550" b="0" i="0">
                <a:solidFill>
                  <a:srgbClr val="2B3440"/>
                </a:solidFill>
                <a:latin typeface="Calibri"/>
              </a:rPr>
              <a:t>, qui évite de construire le graphe pendant l'évaluation.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Suivre la validation dès l'epoch 1</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0_premiere_courbe.png"/>
          <p:cNvPicPr>
            <a:picLocks noChangeAspect="1"/>
          </p:cNvPicPr>
          <p:nvPr/>
        </p:nvPicPr>
        <p:blipFill>
          <a:blip r:embed="rId3"/>
          <a:stretch>
            <a:fillRect/>
          </a:stretch>
        </p:blipFill>
        <p:spPr>
          <a:xfrm>
            <a:off x="1679112" y="1828800"/>
            <a:ext cx="8833470"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La validation atteint son minimum (</a:t>
            </a:r>
            <a:r>
              <a:rPr sz="1350" b="1" i="0">
                <a:solidFill>
                  <a:srgbClr val="6D2E46"/>
                </a:solidFill>
                <a:latin typeface="Calibri"/>
              </a:rPr>
              <a:t>0,4424</a:t>
            </a:r>
            <a:r>
              <a:rPr sz="1350" b="0" i="0">
                <a:solidFill>
                  <a:srgbClr val="2B3440"/>
                </a:solidFill>
                <a:latin typeface="Calibri"/>
              </a:rPr>
              <a:t>) à l'epoch 8, puis remonte pendant que l'entraînement continue de baisser : </a:t>
            </a:r>
            <a:r>
              <a:rPr sz="1350" b="1" i="0">
                <a:solidFill>
                  <a:srgbClr val="6D2E46"/>
                </a:solidFill>
                <a:latin typeface="Calibri"/>
              </a:rPr>
              <a:t>17</a:t>
            </a:r>
            <a:r>
              <a:rPr sz="1350" b="0" i="0">
                <a:solidFill>
                  <a:srgbClr val="2B3440"/>
                </a:solidFill>
                <a:latin typeface="Calibri"/>
              </a:rPr>
              <a:t> epochs de mémorisation. N'afficher que la loss finale aurait fait rapporter un modèle moins bon, sans le savoir.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Trois optimizers sur un ravin</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8_optimiseurs.png"/>
          <p:cNvPicPr>
            <a:picLocks noChangeAspect="1"/>
          </p:cNvPicPr>
          <p:nvPr/>
        </p:nvPicPr>
        <p:blipFill>
          <a:blip r:embed="rId3"/>
          <a:stretch>
            <a:fillRect/>
          </a:stretch>
        </p:blipFill>
        <p:spPr>
          <a:xfrm>
            <a:off x="1458739" y="1828800"/>
            <a:ext cx="9274215"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SGD, au plus grand learning rate stable, zigzague et avance lentement le long du ravin. Le </a:t>
            </a:r>
            <a:r>
              <a:rPr sz="1350" b="1" i="0">
                <a:solidFill>
                  <a:srgbClr val="6D2E46"/>
                </a:solidFill>
                <a:latin typeface="Calibri"/>
              </a:rPr>
              <a:t>momentum</a:t>
            </a:r>
            <a:r>
              <a:rPr sz="1350" b="0" i="0">
                <a:solidFill>
                  <a:srgbClr val="2B3440"/>
                </a:solidFill>
                <a:latin typeface="Calibri"/>
              </a:rPr>
              <a:t> accumule une vitesse : les oscillations s'annulent, l'avancée s'additionne (step effectif η / (1 - β)). </a:t>
            </a:r>
            <a:r>
              <a:rPr sz="1350" b="1" i="0">
                <a:solidFill>
                  <a:srgbClr val="6D2E46"/>
                </a:solidFill>
                <a:latin typeface="Calibri"/>
              </a:rPr>
              <a:t>Adam</a:t>
            </a:r>
            <a:r>
              <a:rPr sz="1350" b="0" i="0">
                <a:solidFill>
                  <a:srgbClr val="2B3440"/>
                </a:solidFill>
                <a:latin typeface="Calibri"/>
              </a:rPr>
              <a:t> adapte le step de chaque paramètre à partir des moyennes du gradient et de son carré.</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Optimizers, mesurés sur Barcelone</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4380636" cy="310896"/>
          </a:xfrm>
          <a:prstGeom prst="rect">
            <a:avLst/>
          </a:prstGeom>
          <a:noFill/>
        </p:spPr>
        <p:txBody>
          <a:bodyPr wrap="square" lIns="0" tIns="0" rIns="0" bIns="0" anchor="ctr">
            <a:spAutoFit/>
          </a:bodyPr>
          <a:lstStyle/>
          <a:p>
            <a:pPr algn="l"/>
            <a:r>
              <a:rPr sz="1300" b="1" i="0">
                <a:solidFill>
                  <a:srgbClr val="6D2E46"/>
                </a:solidFill>
                <a:latin typeface="Calibri"/>
              </a:rPr>
              <a:t>Optimizer</a:t>
            </a:r>
          </a:p>
        </p:txBody>
      </p:sp>
      <p:sp>
        <p:nvSpPr>
          <p:cNvPr id="6" name="TextBox 5"/>
          <p:cNvSpPr txBox="1"/>
          <p:nvPr/>
        </p:nvSpPr>
        <p:spPr>
          <a:xfrm>
            <a:off x="5441340" y="1901952"/>
            <a:ext cx="3561537" cy="310896"/>
          </a:xfrm>
          <a:prstGeom prst="rect">
            <a:avLst/>
          </a:prstGeom>
          <a:noFill/>
        </p:spPr>
        <p:txBody>
          <a:bodyPr wrap="square" lIns="0" tIns="0" rIns="0" bIns="0" anchor="ctr">
            <a:spAutoFit/>
          </a:bodyPr>
          <a:lstStyle/>
          <a:p>
            <a:pPr algn="r"/>
            <a:r>
              <a:rPr sz="1300" b="1" i="0">
                <a:solidFill>
                  <a:srgbClr val="6D2E46"/>
                </a:solidFill>
                <a:latin typeface="Calibri"/>
              </a:rPr>
              <a:t>Training loss, epoch 15</a:t>
            </a:r>
          </a:p>
        </p:txBody>
      </p:sp>
      <p:sp>
        <p:nvSpPr>
          <p:cNvPr id="7" name="TextBox 6"/>
          <p:cNvSpPr txBox="1"/>
          <p:nvPr/>
        </p:nvSpPr>
        <p:spPr>
          <a:xfrm>
            <a:off x="9332061" y="1901952"/>
            <a:ext cx="2128113" cy="310896"/>
          </a:xfrm>
          <a:prstGeom prst="rect">
            <a:avLst/>
          </a:prstGeom>
          <a:noFill/>
        </p:spPr>
        <p:txBody>
          <a:bodyPr wrap="square" lIns="0" tIns="0" rIns="0" bIns="0" anchor="ctr">
            <a:spAutoFit/>
          </a:bodyPr>
          <a:lstStyle/>
          <a:p>
            <a:pPr algn="r"/>
            <a:r>
              <a:rPr sz="1300" b="1" i="0">
                <a:solidFill>
                  <a:srgbClr val="6D2E46"/>
                </a:solidFill>
                <a:latin typeface="Calibri"/>
              </a:rPr>
              <a:t>AUC, fold 0</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4380636" cy="475488"/>
          </a:xfrm>
          <a:prstGeom prst="rect">
            <a:avLst/>
          </a:prstGeom>
          <a:noFill/>
        </p:spPr>
        <p:txBody>
          <a:bodyPr wrap="square" lIns="0" tIns="0" rIns="0" bIns="0" anchor="ctr">
            <a:spAutoFit/>
          </a:bodyPr>
          <a:lstStyle/>
          <a:p>
            <a:pPr algn="l"/>
            <a:r>
              <a:rPr sz="1400" b="0" i="0">
                <a:solidFill>
                  <a:srgbClr val="2B3440"/>
                </a:solidFill>
                <a:latin typeface="Calibri"/>
              </a:rPr>
              <a:t>SGD, learning rate 0,01</a:t>
            </a:r>
          </a:p>
        </p:txBody>
      </p:sp>
      <p:sp>
        <p:nvSpPr>
          <p:cNvPr id="10" name="TextBox 9"/>
          <p:cNvSpPr txBox="1"/>
          <p:nvPr/>
        </p:nvSpPr>
        <p:spPr>
          <a:xfrm>
            <a:off x="5441340" y="2322576"/>
            <a:ext cx="3561537" cy="475488"/>
          </a:xfrm>
          <a:prstGeom prst="rect">
            <a:avLst/>
          </a:prstGeom>
          <a:noFill/>
        </p:spPr>
        <p:txBody>
          <a:bodyPr wrap="square" lIns="0" tIns="0" rIns="0" bIns="0" anchor="ctr">
            <a:spAutoFit/>
          </a:bodyPr>
          <a:lstStyle/>
          <a:p>
            <a:pPr algn="r"/>
            <a:r>
              <a:rPr sz="1400" b="0" i="0">
                <a:solidFill>
                  <a:srgbClr val="2B3440"/>
                </a:solidFill>
                <a:latin typeface="Calibri"/>
              </a:rPr>
              <a:t>0,5810</a:t>
            </a:r>
          </a:p>
        </p:txBody>
      </p:sp>
      <p:sp>
        <p:nvSpPr>
          <p:cNvPr id="11" name="TextBox 10"/>
          <p:cNvSpPr txBox="1"/>
          <p:nvPr/>
        </p:nvSpPr>
        <p:spPr>
          <a:xfrm>
            <a:off x="9332061" y="2322576"/>
            <a:ext cx="2128113" cy="475488"/>
          </a:xfrm>
          <a:prstGeom prst="rect">
            <a:avLst/>
          </a:prstGeom>
          <a:noFill/>
        </p:spPr>
        <p:txBody>
          <a:bodyPr wrap="square" lIns="0" tIns="0" rIns="0" bIns="0" anchor="ctr">
            <a:spAutoFit/>
          </a:bodyPr>
          <a:lstStyle/>
          <a:p>
            <a:pPr algn="r"/>
            <a:r>
              <a:rPr sz="1400" b="0" i="0">
                <a:solidFill>
                  <a:srgbClr val="2B3440"/>
                </a:solidFill>
                <a:latin typeface="Calibri"/>
              </a:rPr>
              <a:t>0,7622</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4380636" cy="475488"/>
          </a:xfrm>
          <a:prstGeom prst="rect">
            <a:avLst/>
          </a:prstGeom>
          <a:noFill/>
        </p:spPr>
        <p:txBody>
          <a:bodyPr wrap="square" lIns="0" tIns="0" rIns="0" bIns="0" anchor="ctr">
            <a:spAutoFit/>
          </a:bodyPr>
          <a:lstStyle/>
          <a:p>
            <a:pPr algn="l"/>
            <a:r>
              <a:rPr sz="1400" b="0" i="0">
                <a:solidFill>
                  <a:srgbClr val="2B3440"/>
                </a:solidFill>
                <a:latin typeface="Calibri"/>
              </a:rPr>
              <a:t>SGD, learning rate 0,1</a:t>
            </a:r>
          </a:p>
        </p:txBody>
      </p:sp>
      <p:sp>
        <p:nvSpPr>
          <p:cNvPr id="14" name="TextBox 13"/>
          <p:cNvSpPr txBox="1"/>
          <p:nvPr/>
        </p:nvSpPr>
        <p:spPr>
          <a:xfrm>
            <a:off x="5441340" y="2907792"/>
            <a:ext cx="3561537" cy="475488"/>
          </a:xfrm>
          <a:prstGeom prst="rect">
            <a:avLst/>
          </a:prstGeom>
          <a:noFill/>
        </p:spPr>
        <p:txBody>
          <a:bodyPr wrap="square" lIns="0" tIns="0" rIns="0" bIns="0" anchor="ctr">
            <a:spAutoFit/>
          </a:bodyPr>
          <a:lstStyle/>
          <a:p>
            <a:pPr algn="r"/>
            <a:r>
              <a:rPr sz="1400" b="0" i="0">
                <a:solidFill>
                  <a:srgbClr val="2B3440"/>
                </a:solidFill>
                <a:latin typeface="Calibri"/>
              </a:rPr>
              <a:t>0,2970</a:t>
            </a:r>
          </a:p>
        </p:txBody>
      </p:sp>
      <p:sp>
        <p:nvSpPr>
          <p:cNvPr id="15" name="TextBox 14"/>
          <p:cNvSpPr txBox="1"/>
          <p:nvPr/>
        </p:nvSpPr>
        <p:spPr>
          <a:xfrm>
            <a:off x="9332061" y="2907792"/>
            <a:ext cx="2128113" cy="475488"/>
          </a:xfrm>
          <a:prstGeom prst="rect">
            <a:avLst/>
          </a:prstGeom>
          <a:noFill/>
        </p:spPr>
        <p:txBody>
          <a:bodyPr wrap="square" lIns="0" tIns="0" rIns="0" bIns="0" anchor="ctr">
            <a:spAutoFit/>
          </a:bodyPr>
          <a:lstStyle/>
          <a:p>
            <a:pPr algn="r"/>
            <a:r>
              <a:rPr sz="1400" b="0" i="0">
                <a:solidFill>
                  <a:srgbClr val="2B3440"/>
                </a:solidFill>
                <a:latin typeface="Calibri"/>
              </a:rPr>
              <a:t>0,8438</a:t>
            </a:r>
          </a:p>
        </p:txBody>
      </p:sp>
      <p:sp>
        <p:nvSpPr>
          <p:cNvPr id="16" name="Rectangle 15"/>
          <p:cNvSpPr/>
          <p:nvPr/>
        </p:nvSpPr>
        <p:spPr>
          <a:xfrm>
            <a:off x="566928" y="3438144"/>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4380636" cy="475488"/>
          </a:xfrm>
          <a:prstGeom prst="rect">
            <a:avLst/>
          </a:prstGeom>
          <a:noFill/>
        </p:spPr>
        <p:txBody>
          <a:bodyPr wrap="square" lIns="0" tIns="0" rIns="0" bIns="0" anchor="ctr">
            <a:spAutoFit/>
          </a:bodyPr>
          <a:lstStyle/>
          <a:p>
            <a:pPr algn="l"/>
            <a:r>
              <a:rPr sz="1400" b="1" i="0">
                <a:solidFill>
                  <a:srgbClr val="A9660B"/>
                </a:solidFill>
                <a:latin typeface="Calibri"/>
              </a:rPr>
              <a:t>SGD + momentum 0,9, learning rate 0,01</a:t>
            </a:r>
          </a:p>
        </p:txBody>
      </p:sp>
      <p:sp>
        <p:nvSpPr>
          <p:cNvPr id="18" name="TextBox 17"/>
          <p:cNvSpPr txBox="1"/>
          <p:nvPr/>
        </p:nvSpPr>
        <p:spPr>
          <a:xfrm>
            <a:off x="5441340" y="3493008"/>
            <a:ext cx="3561537" cy="475488"/>
          </a:xfrm>
          <a:prstGeom prst="rect">
            <a:avLst/>
          </a:prstGeom>
          <a:noFill/>
        </p:spPr>
        <p:txBody>
          <a:bodyPr wrap="square" lIns="0" tIns="0" rIns="0" bIns="0" anchor="ctr">
            <a:spAutoFit/>
          </a:bodyPr>
          <a:lstStyle/>
          <a:p>
            <a:pPr algn="r"/>
            <a:r>
              <a:rPr sz="1400" b="1" i="0">
                <a:solidFill>
                  <a:srgbClr val="A9660B"/>
                </a:solidFill>
                <a:latin typeface="Calibri"/>
              </a:rPr>
              <a:t>0,2985</a:t>
            </a:r>
          </a:p>
        </p:txBody>
      </p:sp>
      <p:sp>
        <p:nvSpPr>
          <p:cNvPr id="19" name="TextBox 18"/>
          <p:cNvSpPr txBox="1"/>
          <p:nvPr/>
        </p:nvSpPr>
        <p:spPr>
          <a:xfrm>
            <a:off x="9332061" y="3493008"/>
            <a:ext cx="2128113" cy="475488"/>
          </a:xfrm>
          <a:prstGeom prst="rect">
            <a:avLst/>
          </a:prstGeom>
          <a:noFill/>
        </p:spPr>
        <p:txBody>
          <a:bodyPr wrap="square" lIns="0" tIns="0" rIns="0" bIns="0" anchor="ctr">
            <a:spAutoFit/>
          </a:bodyPr>
          <a:lstStyle/>
          <a:p>
            <a:pPr algn="r"/>
            <a:r>
              <a:rPr sz="1400" b="1" i="0">
                <a:solidFill>
                  <a:srgbClr val="A9660B"/>
                </a:solidFill>
                <a:latin typeface="Calibri"/>
              </a:rPr>
              <a:t>0,8428</a:t>
            </a:r>
          </a:p>
        </p:txBody>
      </p:sp>
      <p:sp>
        <p:nvSpPr>
          <p:cNvPr id="20" name="Rectangle 19"/>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4380636" cy="475488"/>
          </a:xfrm>
          <a:prstGeom prst="rect">
            <a:avLst/>
          </a:prstGeom>
          <a:noFill/>
        </p:spPr>
        <p:txBody>
          <a:bodyPr wrap="square" lIns="0" tIns="0" rIns="0" bIns="0" anchor="ctr">
            <a:spAutoFit/>
          </a:bodyPr>
          <a:lstStyle/>
          <a:p>
            <a:pPr algn="l"/>
            <a:r>
              <a:rPr sz="1400" b="0" i="0">
                <a:solidFill>
                  <a:srgbClr val="2B3440"/>
                </a:solidFill>
                <a:latin typeface="Calibri"/>
              </a:rPr>
              <a:t>Adam, learning rate 0,001</a:t>
            </a:r>
          </a:p>
        </p:txBody>
      </p:sp>
      <p:sp>
        <p:nvSpPr>
          <p:cNvPr id="22" name="TextBox 21"/>
          <p:cNvSpPr txBox="1"/>
          <p:nvPr/>
        </p:nvSpPr>
        <p:spPr>
          <a:xfrm>
            <a:off x="5441340" y="4078224"/>
            <a:ext cx="3561537" cy="475488"/>
          </a:xfrm>
          <a:prstGeom prst="rect">
            <a:avLst/>
          </a:prstGeom>
          <a:noFill/>
        </p:spPr>
        <p:txBody>
          <a:bodyPr wrap="square" lIns="0" tIns="0" rIns="0" bIns="0" anchor="ctr">
            <a:spAutoFit/>
          </a:bodyPr>
          <a:lstStyle/>
          <a:p>
            <a:pPr algn="r"/>
            <a:r>
              <a:rPr sz="1400" b="0" i="0">
                <a:solidFill>
                  <a:srgbClr val="2B3440"/>
                </a:solidFill>
                <a:latin typeface="Calibri"/>
              </a:rPr>
              <a:t>0,2353</a:t>
            </a:r>
          </a:p>
        </p:txBody>
      </p:sp>
      <p:sp>
        <p:nvSpPr>
          <p:cNvPr id="23" name="TextBox 22"/>
          <p:cNvSpPr txBox="1"/>
          <p:nvPr/>
        </p:nvSpPr>
        <p:spPr>
          <a:xfrm>
            <a:off x="9332061" y="4078224"/>
            <a:ext cx="2128113" cy="475488"/>
          </a:xfrm>
          <a:prstGeom prst="rect">
            <a:avLst/>
          </a:prstGeom>
          <a:noFill/>
        </p:spPr>
        <p:txBody>
          <a:bodyPr wrap="square" lIns="0" tIns="0" rIns="0" bIns="0" anchor="ctr">
            <a:spAutoFit/>
          </a:bodyPr>
          <a:lstStyle/>
          <a:p>
            <a:pPr algn="r"/>
            <a:r>
              <a:rPr sz="1400" b="0" i="0">
                <a:solidFill>
                  <a:srgbClr val="2B3440"/>
                </a:solidFill>
                <a:latin typeface="Calibri"/>
              </a:rPr>
              <a:t>0,8544</a:t>
            </a:r>
          </a:p>
        </p:txBody>
      </p:sp>
      <p:sp>
        <p:nvSpPr>
          <p:cNvPr id="24" name="Rounded Rectangle 23"/>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Momentum 0,9 au learning rate 0,01 ≈ SGD à 0,1 : la vitesse multiplie le step par 1 / (1 - 0,9) = 10.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learning rate schedule</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09_planification.png"/>
          <p:cNvPicPr>
            <a:picLocks noChangeAspect="1"/>
          </p:cNvPicPr>
          <p:nvPr/>
        </p:nvPicPr>
        <p:blipFill>
          <a:blip r:embed="rId3"/>
          <a:stretch>
            <a:fillRect/>
          </a:stretch>
        </p:blipFill>
        <p:spPr>
          <a:xfrm>
            <a:off x="1589977" y="1828800"/>
            <a:ext cx="9011739"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Un learning rate constant avance vite puis agite le modèle en fin de parcours. Les schedules le réduisent (paliers, cosinus) ; le </a:t>
            </a:r>
            <a:r>
              <a:rPr sz="1350" b="1" i="0">
                <a:solidFill>
                  <a:srgbClr val="6D2E46"/>
                </a:solidFill>
                <a:latin typeface="Calibri"/>
              </a:rPr>
              <a:t>warm-up</a:t>
            </a:r>
            <a:r>
              <a:rPr sz="1350" b="0" i="0">
                <a:solidFill>
                  <a:srgbClr val="2B3440"/>
                </a:solidFill>
                <a:latin typeface="Calibri"/>
              </a:rPr>
              <a:t> commence petit pour éviter les grands steps du début. Mesuré au TD 3 : validation finale </a:t>
            </a:r>
            <a:r>
              <a:rPr sz="1350" b="1" i="0">
                <a:solidFill>
                  <a:srgbClr val="6D2E46"/>
                </a:solidFill>
                <a:latin typeface="Calibri"/>
              </a:rPr>
              <a:t>0,5054</a:t>
            </a:r>
            <a:r>
              <a:rPr sz="1350" b="0" i="0">
                <a:solidFill>
                  <a:srgbClr val="2B3440"/>
                </a:solidFill>
                <a:latin typeface="Calibri"/>
              </a:rPr>
              <a:t> à learning rate constant, </a:t>
            </a:r>
            <a:r>
              <a:rPr sz="1350" b="1" i="0">
                <a:solidFill>
                  <a:srgbClr val="6D2E46"/>
                </a:solidFill>
                <a:latin typeface="Calibri"/>
              </a:rPr>
              <a:t>0,4522</a:t>
            </a:r>
            <a:r>
              <a:rPr sz="1350" b="0" i="0">
                <a:solidFill>
                  <a:srgbClr val="2B3440"/>
                </a:solidFill>
                <a:latin typeface="Calibri"/>
              </a:rPr>
              <a:t> avec des paliers.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Initialiser les poids</a:t>
            </a:r>
          </a:p>
        </p:txBody>
      </p:sp>
      <p:sp>
        <p:nvSpPr>
          <p:cNvPr id="4" name="Rounded Rectangle 3"/>
          <p:cNvSpPr/>
          <p:nvPr/>
        </p:nvSpPr>
        <p:spPr>
          <a:xfrm>
            <a:off x="566928" y="1883664"/>
            <a:ext cx="5373471" cy="4471416"/>
          </a:xfrm>
          <a:prstGeom prst="roundRect">
            <a:avLst>
              <a:gd name="adj" fmla="val 2862"/>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066544"/>
            <a:ext cx="4824831" cy="493776"/>
          </a:xfrm>
          <a:prstGeom prst="rect">
            <a:avLst/>
          </a:prstGeom>
          <a:noFill/>
        </p:spPr>
        <p:txBody>
          <a:bodyPr wrap="square" lIns="0" tIns="0" rIns="0" bIns="0" anchor="ctr">
            <a:spAutoFit/>
          </a:bodyPr>
          <a:lstStyle/>
          <a:p>
            <a:pPr algn="l"/>
            <a:r>
              <a:rPr sz="1700" b="1" i="0">
                <a:solidFill>
                  <a:srgbClr val="9E2B25"/>
                </a:solidFill>
                <a:latin typeface="Cambria"/>
              </a:rPr>
              <a:t>Les pannes</a:t>
            </a:r>
          </a:p>
        </p:txBody>
      </p:sp>
      <p:sp>
        <p:nvSpPr>
          <p:cNvPr id="6" name="TextBox 5"/>
          <p:cNvSpPr txBox="1"/>
          <p:nvPr/>
        </p:nvSpPr>
        <p:spPr>
          <a:xfrm>
            <a:off x="841247" y="2596896"/>
            <a:ext cx="4824831" cy="822960"/>
          </a:xfrm>
          <a:prstGeom prst="rect">
            <a:avLst/>
          </a:prstGeom>
          <a:noFill/>
        </p:spPr>
        <p:txBody>
          <a:bodyPr wrap="square" lIns="0" tIns="0" rIns="0" bIns="0" anchor="ctr">
            <a:spAutoFit/>
          </a:bodyPr>
          <a:lstStyle/>
          <a:p>
            <a:pPr algn="l"/>
            <a:r>
              <a:rPr sz="3400" b="1" i="0">
                <a:solidFill>
                  <a:srgbClr val="9E2B25"/>
                </a:solidFill>
                <a:latin typeface="Cambria"/>
              </a:rPr>
              <a:t>AUC 0,5000</a:t>
            </a:r>
          </a:p>
        </p:txBody>
      </p:sp>
      <p:sp>
        <p:nvSpPr>
          <p:cNvPr id="7" name="TextBox 6"/>
          <p:cNvSpPr txBox="1"/>
          <p:nvPr/>
        </p:nvSpPr>
        <p:spPr>
          <a:xfrm>
            <a:off x="841247"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Tout à zéro : aucun gradient ne remonte, rien n'apprend.</a:t>
            </a:r>
          </a:p>
        </p:txBody>
      </p:sp>
      <p:sp>
        <p:nvSpPr>
          <p:cNvPr id="8" name="TextBox 7"/>
          <p:cNvSpPr txBox="1"/>
          <p:nvPr/>
        </p:nvSpPr>
        <p:spPr>
          <a:xfrm>
            <a:off x="841247"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Une constante : 64 unités identiques, qui le restent.</a:t>
            </a:r>
          </a:p>
        </p:txBody>
      </p:sp>
      <p:sp>
        <p:nvSpPr>
          <p:cNvPr id="9" name="TextBox 8"/>
          <p:cNvSpPr txBox="1"/>
          <p:nvPr/>
        </p:nvSpPr>
        <p:spPr>
          <a:xfrm>
            <a:off x="841247"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Écart-type 3 : loss de </a:t>
            </a:r>
            <a:r>
              <a:rPr sz="1450" b="1" i="0">
                <a:solidFill>
                  <a:srgbClr val="6D2E46"/>
                </a:solidFill>
                <a:latin typeface="Calibri"/>
              </a:rPr>
              <a:t>1 906</a:t>
            </a:r>
            <a:r>
              <a:rPr sz="1450" b="0" i="0">
                <a:solidFill>
                  <a:srgbClr val="2B3440"/>
                </a:solidFill>
                <a:latin typeface="Calibri"/>
              </a:rPr>
              <a:t> à la première epoch.</a:t>
            </a:r>
          </a:p>
        </p:txBody>
      </p:sp>
      <p:sp>
        <p:nvSpPr>
          <p:cNvPr id="10" name="Rounded Rectangle 9"/>
          <p:cNvSpPr/>
          <p:nvPr/>
        </p:nvSpPr>
        <p:spPr>
          <a:xfrm>
            <a:off x="6251295" y="1883664"/>
            <a:ext cx="5373471" cy="4471416"/>
          </a:xfrm>
          <a:prstGeom prst="roundRect">
            <a:avLst>
              <a:gd name="adj" fmla="val 2862"/>
            </a:avLst>
          </a:prstGeom>
          <a:solidFill>
            <a:srgbClr val="EF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25615" y="2066544"/>
            <a:ext cx="4824831" cy="493776"/>
          </a:xfrm>
          <a:prstGeom prst="rect">
            <a:avLst/>
          </a:prstGeom>
          <a:noFill/>
        </p:spPr>
        <p:txBody>
          <a:bodyPr wrap="square" lIns="0" tIns="0" rIns="0" bIns="0" anchor="ctr">
            <a:spAutoFit/>
          </a:bodyPr>
          <a:lstStyle/>
          <a:p>
            <a:pPr algn="l"/>
            <a:r>
              <a:rPr sz="1700" b="1" i="0">
                <a:solidFill>
                  <a:srgbClr val="1F6F5C"/>
                </a:solidFill>
                <a:latin typeface="Cambria"/>
              </a:rPr>
              <a:t>Les règles</a:t>
            </a:r>
          </a:p>
        </p:txBody>
      </p:sp>
      <p:sp>
        <p:nvSpPr>
          <p:cNvPr id="12" name="TextBox 11"/>
          <p:cNvSpPr txBox="1"/>
          <p:nvPr/>
        </p:nvSpPr>
        <p:spPr>
          <a:xfrm>
            <a:off x="6525615" y="2596896"/>
            <a:ext cx="4824831" cy="822960"/>
          </a:xfrm>
          <a:prstGeom prst="rect">
            <a:avLst/>
          </a:prstGeom>
          <a:noFill/>
        </p:spPr>
        <p:txBody>
          <a:bodyPr wrap="square" lIns="0" tIns="0" rIns="0" bIns="0" anchor="ctr">
            <a:spAutoFit/>
          </a:bodyPr>
          <a:lstStyle/>
          <a:p>
            <a:pPr algn="l"/>
            <a:r>
              <a:rPr sz="3400" b="1" i="0">
                <a:solidFill>
                  <a:srgbClr val="1F6F5C"/>
                </a:solidFill>
                <a:latin typeface="Cambria"/>
              </a:rPr>
              <a:t>He : 2 / n</a:t>
            </a:r>
          </a:p>
        </p:txBody>
      </p:sp>
      <p:sp>
        <p:nvSpPr>
          <p:cNvPr id="13" name="TextBox 12"/>
          <p:cNvSpPr txBox="1"/>
          <p:nvPr/>
        </p:nvSpPr>
        <p:spPr>
          <a:xfrm>
            <a:off x="6525615"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Aléatoire, pour le </a:t>
            </a:r>
            <a:r>
              <a:rPr sz="1450" b="1" i="0">
                <a:solidFill>
                  <a:srgbClr val="6D2E46"/>
                </a:solidFill>
                <a:latin typeface="Calibri"/>
              </a:rPr>
              <a:t>symmetry breaking</a:t>
            </a:r>
            <a:r>
              <a:rPr sz="1450" b="0" i="0">
                <a:solidFill>
                  <a:srgbClr val="2B3440"/>
                </a:solidFill>
                <a:latin typeface="Calibri"/>
              </a:rPr>
              <a:t>.</a:t>
            </a:r>
          </a:p>
        </p:txBody>
      </p:sp>
      <p:sp>
        <p:nvSpPr>
          <p:cNvPr id="14" name="TextBox 13"/>
          <p:cNvSpPr txBox="1"/>
          <p:nvPr/>
        </p:nvSpPr>
        <p:spPr>
          <a:xfrm>
            <a:off x="6525615"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Variance 2 / n (n entrées) pour ReLU, selon He ; 2 / (n + m) pour tanh, selon Glorot.</a:t>
            </a:r>
          </a:p>
        </p:txBody>
      </p:sp>
      <p:sp>
        <p:nvSpPr>
          <p:cNvPr id="15" name="TextBox 14"/>
          <p:cNvSpPr txBox="1"/>
          <p:nvPr/>
        </p:nvSpPr>
        <p:spPr>
          <a:xfrm>
            <a:off x="6525615"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Les biais peuvent démarrer à zéro.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2400" b="1" i="0">
                <a:solidFill>
                  <a:srgbClr val="12233A"/>
                </a:solidFill>
                <a:latin typeface="Cambria"/>
              </a:rPr>
              <a:t>Batch size et learning rate achètent de la vitesse, pas de la qualité</a:t>
            </a:r>
          </a:p>
        </p:txBody>
      </p:sp>
      <p:sp>
        <p:nvSpPr>
          <p:cNvPr id="4" name="Rounded Rectangle 3"/>
          <p:cNvSpPr/>
          <p:nvPr/>
        </p:nvSpPr>
        <p:spPr>
          <a:xfrm>
            <a:off x="566928" y="1956816"/>
            <a:ext cx="4617720" cy="4398264"/>
          </a:xfrm>
          <a:prstGeom prst="roundRect">
            <a:avLst>
              <a:gd name="adj" fmla="val 291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0,0051</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écart d'AUC entre six réglages, sur 5 folds</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Batches de 64 à 1 024, learning rate de 0,001 à 0,01 : l'AUC ne varie que de 0,0051, pour un écart-type d'environ 0,04 entre folds.</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Ce qui change : le nombre d'epochs nécessaires (de 7 à 40) et le temps de calcul (de 5 à 17 s).</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Sur un problème bien plus grand, ces réglages peuvent peser sur la qualité ; ici, on a mesuré qu'ils ne le font pas.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Capacité : un plancher, puis un plateau</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3670459" cy="310896"/>
          </a:xfrm>
          <a:prstGeom prst="rect">
            <a:avLst/>
          </a:prstGeom>
          <a:noFill/>
        </p:spPr>
        <p:txBody>
          <a:bodyPr wrap="square" lIns="0" tIns="0" rIns="0" bIns="0" anchor="ctr">
            <a:spAutoFit/>
          </a:bodyPr>
          <a:lstStyle/>
          <a:p>
            <a:pPr algn="l"/>
            <a:r>
              <a:rPr sz="1300" b="1" i="0">
                <a:solidFill>
                  <a:srgbClr val="6D2E46"/>
                </a:solidFill>
                <a:latin typeface="Calibri"/>
              </a:rPr>
              <a:t>Hidden layers</a:t>
            </a:r>
          </a:p>
        </p:txBody>
      </p:sp>
      <p:sp>
        <p:nvSpPr>
          <p:cNvPr id="6" name="TextBox 5"/>
          <p:cNvSpPr txBox="1"/>
          <p:nvPr/>
        </p:nvSpPr>
        <p:spPr>
          <a:xfrm>
            <a:off x="4731163" y="1901952"/>
            <a:ext cx="3199913" cy="310896"/>
          </a:xfrm>
          <a:prstGeom prst="rect">
            <a:avLst/>
          </a:prstGeom>
          <a:noFill/>
        </p:spPr>
        <p:txBody>
          <a:bodyPr wrap="square" lIns="0" tIns="0" rIns="0" bIns="0" anchor="ctr">
            <a:spAutoFit/>
          </a:bodyPr>
          <a:lstStyle/>
          <a:p>
            <a:pPr algn="r"/>
            <a:r>
              <a:rPr sz="1300" b="1" i="0">
                <a:solidFill>
                  <a:srgbClr val="6D2E46"/>
                </a:solidFill>
                <a:latin typeface="Calibri"/>
              </a:rPr>
              <a:t>Paramètres</a:t>
            </a:r>
          </a:p>
        </p:txBody>
      </p:sp>
      <p:sp>
        <p:nvSpPr>
          <p:cNvPr id="7" name="TextBox 6"/>
          <p:cNvSpPr txBox="1"/>
          <p:nvPr/>
        </p:nvSpPr>
        <p:spPr>
          <a:xfrm>
            <a:off x="8260261" y="1901952"/>
            <a:ext cx="3199913" cy="310896"/>
          </a:xfrm>
          <a:prstGeom prst="rect">
            <a:avLst/>
          </a:prstGeom>
          <a:noFill/>
        </p:spPr>
        <p:txBody>
          <a:bodyPr wrap="square" lIns="0" tIns="0" rIns="0" bIns="0" anchor="ctr">
            <a:spAutoFit/>
          </a:bodyPr>
          <a:lstStyle/>
          <a:p>
            <a:pPr algn="r"/>
            <a:r>
              <a:rPr sz="1300" b="1" i="0">
                <a:solidFill>
                  <a:srgbClr val="6D2E46"/>
                </a:solidFill>
                <a:latin typeface="Calibri"/>
              </a:rPr>
              <a:t>AUC, 5 folds</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3670459" cy="475488"/>
          </a:xfrm>
          <a:prstGeom prst="rect">
            <a:avLst/>
          </a:prstGeom>
          <a:noFill/>
        </p:spPr>
        <p:txBody>
          <a:bodyPr wrap="square" lIns="0" tIns="0" rIns="0" bIns="0" anchor="ctr">
            <a:spAutoFit/>
          </a:bodyPr>
          <a:lstStyle/>
          <a:p>
            <a:pPr algn="l"/>
            <a:r>
              <a:rPr sz="1400" b="0" i="0">
                <a:solidFill>
                  <a:srgbClr val="2B3440"/>
                </a:solidFill>
                <a:latin typeface="Calibri"/>
              </a:rPr>
              <a:t>(16,)</a:t>
            </a:r>
          </a:p>
        </p:txBody>
      </p:sp>
      <p:sp>
        <p:nvSpPr>
          <p:cNvPr id="10" name="TextBox 9"/>
          <p:cNvSpPr txBox="1"/>
          <p:nvPr/>
        </p:nvSpPr>
        <p:spPr>
          <a:xfrm>
            <a:off x="4731163" y="2322576"/>
            <a:ext cx="3199913" cy="475488"/>
          </a:xfrm>
          <a:prstGeom prst="rect">
            <a:avLst/>
          </a:prstGeom>
          <a:noFill/>
        </p:spPr>
        <p:txBody>
          <a:bodyPr wrap="square" lIns="0" tIns="0" rIns="0" bIns="0" anchor="ctr">
            <a:spAutoFit/>
          </a:bodyPr>
          <a:lstStyle/>
          <a:p>
            <a:pPr algn="r"/>
            <a:r>
              <a:rPr sz="1400" b="0" i="0">
                <a:solidFill>
                  <a:srgbClr val="2B3440"/>
                </a:solidFill>
                <a:latin typeface="Calibri"/>
              </a:rPr>
              <a:t>1 265</a:t>
            </a:r>
          </a:p>
        </p:txBody>
      </p:sp>
      <p:sp>
        <p:nvSpPr>
          <p:cNvPr id="11" name="TextBox 10"/>
          <p:cNvSpPr txBox="1"/>
          <p:nvPr/>
        </p:nvSpPr>
        <p:spPr>
          <a:xfrm>
            <a:off x="8260261" y="2322576"/>
            <a:ext cx="3199913" cy="475488"/>
          </a:xfrm>
          <a:prstGeom prst="rect">
            <a:avLst/>
          </a:prstGeom>
          <a:noFill/>
        </p:spPr>
        <p:txBody>
          <a:bodyPr wrap="square" lIns="0" tIns="0" rIns="0" bIns="0" anchor="ctr">
            <a:spAutoFit/>
          </a:bodyPr>
          <a:lstStyle/>
          <a:p>
            <a:pPr algn="r"/>
            <a:r>
              <a:rPr sz="1400" b="0" i="0">
                <a:solidFill>
                  <a:srgbClr val="2B3440"/>
                </a:solidFill>
                <a:latin typeface="Calibri"/>
              </a:rPr>
              <a:t>0,8990</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3670459" cy="475488"/>
          </a:xfrm>
          <a:prstGeom prst="rect">
            <a:avLst/>
          </a:prstGeom>
          <a:noFill/>
        </p:spPr>
        <p:txBody>
          <a:bodyPr wrap="square" lIns="0" tIns="0" rIns="0" bIns="0" anchor="ctr">
            <a:spAutoFit/>
          </a:bodyPr>
          <a:lstStyle/>
          <a:p>
            <a:pPr algn="l"/>
            <a:r>
              <a:rPr sz="1400" b="0" i="0">
                <a:solidFill>
                  <a:srgbClr val="2B3440"/>
                </a:solidFill>
                <a:latin typeface="Calibri"/>
              </a:rPr>
              <a:t>(64, 32)</a:t>
            </a:r>
          </a:p>
        </p:txBody>
      </p:sp>
      <p:sp>
        <p:nvSpPr>
          <p:cNvPr id="14" name="TextBox 13"/>
          <p:cNvSpPr txBox="1"/>
          <p:nvPr/>
        </p:nvSpPr>
        <p:spPr>
          <a:xfrm>
            <a:off x="4731163" y="2907792"/>
            <a:ext cx="3199913" cy="475488"/>
          </a:xfrm>
          <a:prstGeom prst="rect">
            <a:avLst/>
          </a:prstGeom>
          <a:noFill/>
        </p:spPr>
        <p:txBody>
          <a:bodyPr wrap="square" lIns="0" tIns="0" rIns="0" bIns="0" anchor="ctr">
            <a:spAutoFit/>
          </a:bodyPr>
          <a:lstStyle/>
          <a:p>
            <a:pPr algn="r"/>
            <a:r>
              <a:rPr sz="1400" b="0" i="0">
                <a:solidFill>
                  <a:srgbClr val="2B3440"/>
                </a:solidFill>
                <a:latin typeface="Calibri"/>
              </a:rPr>
              <a:t>7 105</a:t>
            </a:r>
          </a:p>
        </p:txBody>
      </p:sp>
      <p:sp>
        <p:nvSpPr>
          <p:cNvPr id="15" name="TextBox 14"/>
          <p:cNvSpPr txBox="1"/>
          <p:nvPr/>
        </p:nvSpPr>
        <p:spPr>
          <a:xfrm>
            <a:off x="8260261" y="2907792"/>
            <a:ext cx="3199913" cy="475488"/>
          </a:xfrm>
          <a:prstGeom prst="rect">
            <a:avLst/>
          </a:prstGeom>
          <a:noFill/>
        </p:spPr>
        <p:txBody>
          <a:bodyPr wrap="square" lIns="0" tIns="0" rIns="0" bIns="0" anchor="ctr">
            <a:spAutoFit/>
          </a:bodyPr>
          <a:lstStyle/>
          <a:p>
            <a:pPr algn="r"/>
            <a:r>
              <a:rPr sz="1400" b="0" i="0">
                <a:solidFill>
                  <a:srgbClr val="2B3440"/>
                </a:solidFill>
                <a:latin typeface="Calibri"/>
              </a:rPr>
              <a:t>0,9116</a:t>
            </a:r>
          </a:p>
        </p:txBody>
      </p:sp>
      <p:sp>
        <p:nvSpPr>
          <p:cNvPr id="16" name="Rectangle 15"/>
          <p:cNvSpPr/>
          <p:nvPr/>
        </p:nvSpPr>
        <p:spPr>
          <a:xfrm>
            <a:off x="566928" y="3438144"/>
            <a:ext cx="11057839" cy="585216"/>
          </a:xfrm>
          <a:prstGeom prst="rect">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3670459" cy="475488"/>
          </a:xfrm>
          <a:prstGeom prst="rect">
            <a:avLst/>
          </a:prstGeom>
          <a:noFill/>
        </p:spPr>
        <p:txBody>
          <a:bodyPr wrap="square" lIns="0" tIns="0" rIns="0" bIns="0" anchor="ctr">
            <a:spAutoFit/>
          </a:bodyPr>
          <a:lstStyle/>
          <a:p>
            <a:pPr algn="l"/>
            <a:r>
              <a:rPr sz="1400" b="1" i="0">
                <a:solidFill>
                  <a:srgbClr val="A9660B"/>
                </a:solidFill>
                <a:latin typeface="Calibri"/>
              </a:rPr>
              <a:t>(256, 128, 64)</a:t>
            </a:r>
          </a:p>
        </p:txBody>
      </p:sp>
      <p:sp>
        <p:nvSpPr>
          <p:cNvPr id="18" name="TextBox 17"/>
          <p:cNvSpPr txBox="1"/>
          <p:nvPr/>
        </p:nvSpPr>
        <p:spPr>
          <a:xfrm>
            <a:off x="4731163" y="3493008"/>
            <a:ext cx="3199913" cy="475488"/>
          </a:xfrm>
          <a:prstGeom prst="rect">
            <a:avLst/>
          </a:prstGeom>
          <a:noFill/>
        </p:spPr>
        <p:txBody>
          <a:bodyPr wrap="square" lIns="0" tIns="0" rIns="0" bIns="0" anchor="ctr">
            <a:spAutoFit/>
          </a:bodyPr>
          <a:lstStyle/>
          <a:p>
            <a:pPr algn="r"/>
            <a:r>
              <a:rPr sz="1400" b="1" i="0">
                <a:solidFill>
                  <a:srgbClr val="A9660B"/>
                </a:solidFill>
                <a:latin typeface="Calibri"/>
              </a:rPr>
              <a:t>61 185</a:t>
            </a:r>
          </a:p>
        </p:txBody>
      </p:sp>
      <p:sp>
        <p:nvSpPr>
          <p:cNvPr id="19" name="TextBox 18"/>
          <p:cNvSpPr txBox="1"/>
          <p:nvPr/>
        </p:nvSpPr>
        <p:spPr>
          <a:xfrm>
            <a:off x="8260261" y="3493008"/>
            <a:ext cx="3199913" cy="475488"/>
          </a:xfrm>
          <a:prstGeom prst="rect">
            <a:avLst/>
          </a:prstGeom>
          <a:noFill/>
        </p:spPr>
        <p:txBody>
          <a:bodyPr wrap="square" lIns="0" tIns="0" rIns="0" bIns="0" anchor="ctr">
            <a:spAutoFit/>
          </a:bodyPr>
          <a:lstStyle/>
          <a:p>
            <a:pPr algn="r"/>
            <a:r>
              <a:rPr sz="1400" b="1" i="0">
                <a:solidFill>
                  <a:srgbClr val="A9660B"/>
                </a:solidFill>
                <a:latin typeface="Calibri"/>
              </a:rPr>
              <a:t>0,9105</a:t>
            </a:r>
          </a:p>
        </p:txBody>
      </p:sp>
      <p:sp>
        <p:nvSpPr>
          <p:cNvPr id="20" name="Rounded Rectangle 19"/>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8,6 fois plus de paramètres, et l'AUC ne bouge pas (-0,0011) : au-dessus du plancher, la capacité achète de la vitesse, pas de l'AUC.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Plus de couches, c'est mieux ? Pas forcément</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2_gradient_evanescent.png"/>
          <p:cNvPicPr>
            <a:picLocks noChangeAspect="1"/>
          </p:cNvPicPr>
          <p:nvPr/>
        </p:nvPicPr>
        <p:blipFill>
          <a:blip r:embed="rId3"/>
          <a:stretch>
            <a:fillRect/>
          </a:stretch>
        </p:blipFill>
        <p:spPr>
          <a:xfrm>
            <a:off x="1789483" y="1828800"/>
            <a:ext cx="8612728"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Avec 8 couches sigmoïdes, le gradient de la première couche est des millions de fois plus faible que celui de la dernière. Mesuré au TD 4 : avec des sigmoïdes et SGD, 5 couches font </a:t>
            </a:r>
            <a:r>
              <a:rPr sz="1350" b="1" i="0">
                <a:solidFill>
                  <a:srgbClr val="6D2E46"/>
                </a:solidFill>
                <a:latin typeface="Calibri"/>
              </a:rPr>
              <a:t>0,6240</a:t>
            </a:r>
            <a:r>
              <a:rPr sz="1350" b="0" i="0">
                <a:solidFill>
                  <a:srgbClr val="2B3440"/>
                </a:solidFill>
                <a:latin typeface="Calibri"/>
              </a:rPr>
              <a:t> contre </a:t>
            </a:r>
            <a:r>
              <a:rPr sz="1350" b="1" i="0">
                <a:solidFill>
                  <a:srgbClr val="6D2E46"/>
                </a:solidFill>
                <a:latin typeface="Calibri"/>
              </a:rPr>
              <a:t>0,8341</a:t>
            </a:r>
            <a:r>
              <a:rPr sz="1350" b="0" i="0">
                <a:solidFill>
                  <a:srgbClr val="2B3440"/>
                </a:solidFill>
                <a:latin typeface="Calibri"/>
              </a:rPr>
              <a:t> pour une seule ; avec ReLU et SGD, 5 couches font </a:t>
            </a:r>
            <a:r>
              <a:rPr sz="1350" b="1" i="0">
                <a:solidFill>
                  <a:srgbClr val="6D2E46"/>
                </a:solidFill>
                <a:latin typeface="Calibri"/>
              </a:rPr>
              <a:t>0,8586</a:t>
            </a:r>
            <a:r>
              <a:rPr sz="1350" b="0" i="0">
                <a:solidFill>
                  <a:srgbClr val="2B3440"/>
                </a:solidFill>
                <a:latin typeface="Calibri"/>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Lire les courbes : trois allures</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1_trois_courbes.png"/>
          <p:cNvPicPr>
            <a:picLocks noChangeAspect="1"/>
          </p:cNvPicPr>
          <p:nvPr/>
        </p:nvPicPr>
        <p:blipFill>
          <a:blip r:embed="rId3"/>
          <a:stretch>
            <a:fillRect/>
          </a:stretch>
        </p:blipFill>
        <p:spPr>
          <a:xfrm>
            <a:off x="1141114" y="1828800"/>
            <a:ext cx="9909467"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A, underfitting : deux losses hautes qui descendent ensemble, lentement. B, sain : la validation se stabilise pendant que l'entraînement baisse. C, cassé : une loss initiale de plusieurs milliers, puis rien d'interprétable. Chaque allure appelle une action différente.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Le quatrième cas : la courbe qui ment.</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Une descente propre vers un plateau médiocre peut être de l'underfitting, ou des ReLU tuées par un learning rate trop grand. Les remèdes sont </a:t>
            </a:r>
            <a:r>
              <a:rPr sz="1700" b="1" i="0">
                <a:solidFill>
                  <a:srgbClr val="FFFFFF"/>
                </a:solidFill>
                <a:latin typeface="Calibri"/>
              </a:rPr>
              <a:t>opposés</a:t>
            </a:r>
            <a:r>
              <a:rPr sz="1700" b="0" i="0">
                <a:solidFill>
                  <a:srgbClr val="9FB0C4"/>
                </a:solidFill>
                <a:latin typeface="Calibri"/>
              </a:rPr>
              <a:t> : ajouter de la capacité, ou baisser le learning rate. La mesure qui tranche : compter les unités vivantes.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La checklist de débogage</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Avant de toucher au moindre hyperparamètre.</a:t>
            </a:r>
          </a:p>
        </p:txBody>
      </p:sp>
      <p:sp>
        <p:nvSpPr>
          <p:cNvPr id="5" name="Rounded Rectangle 4"/>
          <p:cNvSpPr/>
          <p:nvPr/>
        </p:nvSpPr>
        <p:spPr>
          <a:xfrm>
            <a:off x="566928" y="2377440"/>
            <a:ext cx="1644853" cy="2514600"/>
          </a:xfrm>
          <a:prstGeom prst="roundRect">
            <a:avLst>
              <a:gd name="adj" fmla="val 7782"/>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1</a:t>
            </a:r>
          </a:p>
        </p:txBody>
      </p:sp>
      <p:sp>
        <p:nvSpPr>
          <p:cNvPr id="7" name="TextBox 6"/>
          <p:cNvSpPr txBox="1"/>
          <p:nvPr/>
        </p:nvSpPr>
        <p:spPr>
          <a:xfrm>
            <a:off x="822960" y="3218688"/>
            <a:ext cx="1132789" cy="548640"/>
          </a:xfrm>
          <a:prstGeom prst="rect">
            <a:avLst/>
          </a:prstGeom>
          <a:noFill/>
        </p:spPr>
        <p:txBody>
          <a:bodyPr wrap="square" lIns="0" tIns="0" rIns="0" bIns="0" anchor="t">
            <a:spAutoFit/>
          </a:bodyPr>
          <a:lstStyle/>
          <a:p>
            <a:pPr algn="l"/>
            <a:r>
              <a:rPr sz="1600" b="1" i="0">
                <a:solidFill>
                  <a:srgbClr val="6D2E46"/>
                </a:solidFill>
                <a:latin typeface="Cambria"/>
              </a:rPr>
              <a:t>Formes</a:t>
            </a:r>
          </a:p>
        </p:txBody>
      </p:sp>
      <p:sp>
        <p:nvSpPr>
          <p:cNvPr id="8" name="TextBox 7"/>
          <p:cNvSpPr txBox="1"/>
          <p:nvPr/>
        </p:nvSpPr>
        <p:spPr>
          <a:xfrm>
            <a:off x="822960" y="3803904"/>
            <a:ext cx="1132789"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sortie et cible en (n, 1)</a:t>
            </a:r>
          </a:p>
        </p:txBody>
      </p:sp>
      <p:sp>
        <p:nvSpPr>
          <p:cNvPr id="9" name="TextBox 8"/>
          <p:cNvSpPr txBox="1"/>
          <p:nvPr/>
        </p:nvSpPr>
        <p:spPr>
          <a:xfrm>
            <a:off x="2230069"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0" name="Rounded Rectangle 9"/>
          <p:cNvSpPr/>
          <p:nvPr/>
        </p:nvSpPr>
        <p:spPr>
          <a:xfrm>
            <a:off x="2449525" y="2377440"/>
            <a:ext cx="1644853" cy="2514600"/>
          </a:xfrm>
          <a:prstGeom prst="roundRect">
            <a:avLst>
              <a:gd name="adj" fmla="val 7782"/>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705557"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2</a:t>
            </a:r>
          </a:p>
        </p:txBody>
      </p:sp>
      <p:sp>
        <p:nvSpPr>
          <p:cNvPr id="12" name="TextBox 11"/>
          <p:cNvSpPr txBox="1"/>
          <p:nvPr/>
        </p:nvSpPr>
        <p:spPr>
          <a:xfrm>
            <a:off x="2705557" y="3218688"/>
            <a:ext cx="1132789" cy="548640"/>
          </a:xfrm>
          <a:prstGeom prst="rect">
            <a:avLst/>
          </a:prstGeom>
          <a:noFill/>
        </p:spPr>
        <p:txBody>
          <a:bodyPr wrap="square" lIns="0" tIns="0" rIns="0" bIns="0" anchor="t">
            <a:spAutoFit/>
          </a:bodyPr>
          <a:lstStyle/>
          <a:p>
            <a:pPr algn="l"/>
            <a:r>
              <a:rPr sz="1600" b="1" i="0">
                <a:solidFill>
                  <a:srgbClr val="6D2E46"/>
                </a:solidFill>
                <a:latin typeface="Cambria"/>
              </a:rPr>
              <a:t>Données</a:t>
            </a:r>
          </a:p>
        </p:txBody>
      </p:sp>
      <p:sp>
        <p:nvSpPr>
          <p:cNvPr id="13" name="TextBox 12"/>
          <p:cNvSpPr txBox="1"/>
          <p:nvPr/>
        </p:nvSpPr>
        <p:spPr>
          <a:xfrm>
            <a:off x="2705557" y="3803904"/>
            <a:ext cx="1132789"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échelle, fold, cible</a:t>
            </a:r>
          </a:p>
        </p:txBody>
      </p:sp>
      <p:sp>
        <p:nvSpPr>
          <p:cNvPr id="14" name="TextBox 13"/>
          <p:cNvSpPr txBox="1"/>
          <p:nvPr/>
        </p:nvSpPr>
        <p:spPr>
          <a:xfrm>
            <a:off x="4112666"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5" name="Rounded Rectangle 14"/>
          <p:cNvSpPr/>
          <p:nvPr/>
        </p:nvSpPr>
        <p:spPr>
          <a:xfrm>
            <a:off x="4332122" y="2377440"/>
            <a:ext cx="1644853" cy="2514600"/>
          </a:xfrm>
          <a:prstGeom prst="roundRect">
            <a:avLst>
              <a:gd name="adj" fmla="val 7782"/>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588154"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3</a:t>
            </a:r>
          </a:p>
        </p:txBody>
      </p:sp>
      <p:sp>
        <p:nvSpPr>
          <p:cNvPr id="17" name="TextBox 16"/>
          <p:cNvSpPr txBox="1"/>
          <p:nvPr/>
        </p:nvSpPr>
        <p:spPr>
          <a:xfrm>
            <a:off x="4588154" y="3218688"/>
            <a:ext cx="1132789" cy="548640"/>
          </a:xfrm>
          <a:prstGeom prst="rect">
            <a:avLst/>
          </a:prstGeom>
          <a:noFill/>
        </p:spPr>
        <p:txBody>
          <a:bodyPr wrap="square" lIns="0" tIns="0" rIns="0" bIns="0" anchor="t">
            <a:spAutoFit/>
          </a:bodyPr>
          <a:lstStyle/>
          <a:p>
            <a:pPr algn="l"/>
            <a:r>
              <a:rPr sz="1600" b="1" i="0">
                <a:solidFill>
                  <a:srgbClr val="6D2E46"/>
                </a:solidFill>
                <a:latin typeface="Cambria"/>
              </a:rPr>
              <a:t>Loss</a:t>
            </a:r>
          </a:p>
        </p:txBody>
      </p:sp>
      <p:sp>
        <p:nvSpPr>
          <p:cNvPr id="18" name="TextBox 17"/>
          <p:cNvSpPr txBox="1"/>
          <p:nvPr/>
        </p:nvSpPr>
        <p:spPr>
          <a:xfrm>
            <a:off x="4588154" y="3803904"/>
            <a:ext cx="1132789"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des logits, pas des probabilités</a:t>
            </a:r>
          </a:p>
        </p:txBody>
      </p:sp>
      <p:sp>
        <p:nvSpPr>
          <p:cNvPr id="19" name="TextBox 18"/>
          <p:cNvSpPr txBox="1"/>
          <p:nvPr/>
        </p:nvSpPr>
        <p:spPr>
          <a:xfrm>
            <a:off x="5995263"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20" name="Rounded Rectangle 19"/>
          <p:cNvSpPr/>
          <p:nvPr/>
        </p:nvSpPr>
        <p:spPr>
          <a:xfrm>
            <a:off x="6214719" y="2377440"/>
            <a:ext cx="1644853" cy="2514600"/>
          </a:xfrm>
          <a:prstGeom prst="roundRect">
            <a:avLst>
              <a:gd name="adj" fmla="val 7782"/>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70751"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4</a:t>
            </a:r>
          </a:p>
        </p:txBody>
      </p:sp>
      <p:sp>
        <p:nvSpPr>
          <p:cNvPr id="22" name="TextBox 21"/>
          <p:cNvSpPr txBox="1"/>
          <p:nvPr/>
        </p:nvSpPr>
        <p:spPr>
          <a:xfrm>
            <a:off x="6470751" y="3218688"/>
            <a:ext cx="1132789" cy="548640"/>
          </a:xfrm>
          <a:prstGeom prst="rect">
            <a:avLst/>
          </a:prstGeom>
          <a:noFill/>
        </p:spPr>
        <p:txBody>
          <a:bodyPr wrap="square" lIns="0" tIns="0" rIns="0" bIns="0" anchor="t">
            <a:spAutoFit/>
          </a:bodyPr>
          <a:lstStyle/>
          <a:p>
            <a:pPr algn="l"/>
            <a:r>
              <a:rPr sz="1600" b="1" i="0">
                <a:solidFill>
                  <a:srgbClr val="6D2E46"/>
                </a:solidFill>
                <a:latin typeface="Cambria"/>
              </a:rPr>
              <a:t>Boucle</a:t>
            </a:r>
          </a:p>
        </p:txBody>
      </p:sp>
      <p:sp>
        <p:nvSpPr>
          <p:cNvPr id="23" name="TextBox 22"/>
          <p:cNvSpPr txBox="1"/>
          <p:nvPr/>
        </p:nvSpPr>
        <p:spPr>
          <a:xfrm>
            <a:off x="6470751" y="3803904"/>
            <a:ext cx="1132789"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zero_grad, backward, step</a:t>
            </a:r>
          </a:p>
        </p:txBody>
      </p:sp>
      <p:sp>
        <p:nvSpPr>
          <p:cNvPr id="24" name="TextBox 23"/>
          <p:cNvSpPr txBox="1"/>
          <p:nvPr/>
        </p:nvSpPr>
        <p:spPr>
          <a:xfrm>
            <a:off x="7877860"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25" name="Rounded Rectangle 24"/>
          <p:cNvSpPr/>
          <p:nvPr/>
        </p:nvSpPr>
        <p:spPr>
          <a:xfrm>
            <a:off x="8097316" y="2377440"/>
            <a:ext cx="1644853" cy="2514600"/>
          </a:xfrm>
          <a:prstGeom prst="roundRect">
            <a:avLst>
              <a:gd name="adj" fmla="val 7782"/>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353348"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5</a:t>
            </a:r>
          </a:p>
        </p:txBody>
      </p:sp>
      <p:sp>
        <p:nvSpPr>
          <p:cNvPr id="27" name="TextBox 26"/>
          <p:cNvSpPr txBox="1"/>
          <p:nvPr/>
        </p:nvSpPr>
        <p:spPr>
          <a:xfrm>
            <a:off x="8353348" y="3218688"/>
            <a:ext cx="1132789" cy="548640"/>
          </a:xfrm>
          <a:prstGeom prst="rect">
            <a:avLst/>
          </a:prstGeom>
          <a:noFill/>
        </p:spPr>
        <p:txBody>
          <a:bodyPr wrap="square" lIns="0" tIns="0" rIns="0" bIns="0" anchor="t">
            <a:spAutoFit/>
          </a:bodyPr>
          <a:lstStyle/>
          <a:p>
            <a:pPr algn="l"/>
            <a:r>
              <a:rPr sz="1600" b="1" i="0">
                <a:solidFill>
                  <a:srgbClr val="6D2E46"/>
                </a:solidFill>
                <a:latin typeface="Cambria"/>
              </a:rPr>
              <a:t>Learning rate</a:t>
            </a:r>
          </a:p>
        </p:txBody>
      </p:sp>
      <p:sp>
        <p:nvSpPr>
          <p:cNvPr id="28" name="TextBox 27"/>
          <p:cNvSpPr txBox="1"/>
          <p:nvPr/>
        </p:nvSpPr>
        <p:spPr>
          <a:xfrm>
            <a:off x="8353348" y="3803904"/>
            <a:ext cx="1132789"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essayer ×10 et ÷10</a:t>
            </a:r>
          </a:p>
        </p:txBody>
      </p:sp>
      <p:sp>
        <p:nvSpPr>
          <p:cNvPr id="29" name="TextBox 28"/>
          <p:cNvSpPr txBox="1"/>
          <p:nvPr/>
        </p:nvSpPr>
        <p:spPr>
          <a:xfrm>
            <a:off x="9760457" y="3429000"/>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30" name="Rounded Rectangle 29"/>
          <p:cNvSpPr/>
          <p:nvPr/>
        </p:nvSpPr>
        <p:spPr>
          <a:xfrm>
            <a:off x="9979913" y="2377440"/>
            <a:ext cx="1644853" cy="2514600"/>
          </a:xfrm>
          <a:prstGeom prst="roundRect">
            <a:avLst>
              <a:gd name="adj" fmla="val 7782"/>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35945" y="2615184"/>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6</a:t>
            </a:r>
          </a:p>
        </p:txBody>
      </p:sp>
      <p:sp>
        <p:nvSpPr>
          <p:cNvPr id="32" name="TextBox 31"/>
          <p:cNvSpPr txBox="1"/>
          <p:nvPr/>
        </p:nvSpPr>
        <p:spPr>
          <a:xfrm>
            <a:off x="10235945" y="3218688"/>
            <a:ext cx="1132789" cy="548640"/>
          </a:xfrm>
          <a:prstGeom prst="rect">
            <a:avLst/>
          </a:prstGeom>
          <a:noFill/>
        </p:spPr>
        <p:txBody>
          <a:bodyPr wrap="square" lIns="0" tIns="0" rIns="0" bIns="0" anchor="t">
            <a:spAutoFit/>
          </a:bodyPr>
          <a:lstStyle/>
          <a:p>
            <a:pPr algn="l"/>
            <a:r>
              <a:rPr sz="1600" b="1" i="0">
                <a:solidFill>
                  <a:srgbClr val="6D2E46"/>
                </a:solidFill>
                <a:latin typeface="Cambria"/>
              </a:rPr>
              <a:t>20 lignes</a:t>
            </a:r>
          </a:p>
        </p:txBody>
      </p:sp>
      <p:sp>
        <p:nvSpPr>
          <p:cNvPr id="33" name="TextBox 32"/>
          <p:cNvSpPr txBox="1"/>
          <p:nvPr/>
        </p:nvSpPr>
        <p:spPr>
          <a:xfrm>
            <a:off x="10235945" y="3803904"/>
            <a:ext cx="1132789"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les mémoriser jusqu'à une loss quasi nulle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Pause vérification 2</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Deux minutes, en binôme.</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Q1  </a:t>
            </a:r>
            <a:r>
              <a:rPr sz="1600" b="0" i="0">
                <a:solidFill>
                  <a:srgbClr val="2B3440"/>
                </a:solidFill>
                <a:latin typeface="Calibri"/>
              </a:rPr>
              <a:t>Pourquoi le scaling est-il indispensable pour un réseau, et pas pour un arbre ?</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Q2  </a:t>
            </a:r>
            <a:r>
              <a:rPr sz="1600" b="0" i="0">
                <a:solidFill>
                  <a:srgbClr val="2B3440"/>
                </a:solidFill>
                <a:latin typeface="Calibri"/>
              </a:rPr>
              <a:t>Des batches de 1 024 demandent plus d'epochs que des batches de 64. Pourquoi ?</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Q3  </a:t>
            </a:r>
            <a:r>
              <a:rPr sz="1600" b="0" i="0">
                <a:solidFill>
                  <a:srgbClr val="2B3440"/>
                </a:solidFill>
                <a:latin typeface="Calibri"/>
              </a:rPr>
              <a:t>Une courbe erratique appelle-t-elle plus de capacité ?</a:t>
            </a:r>
          </a:p>
        </p:txBody>
      </p:sp>
      <p:sp>
        <p:nvSpPr>
          <p:cNvPr id="11" name="Rounded Rectangle 10"/>
          <p:cNvSpPr/>
          <p:nvPr/>
        </p:nvSpPr>
        <p:spPr>
          <a:xfrm>
            <a:off x="566928" y="4901183"/>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Q4  </a:t>
            </a:r>
            <a:r>
              <a:rPr sz="1600" b="0" i="0">
                <a:solidFill>
                  <a:srgbClr val="2B3440"/>
                </a:solidFill>
                <a:latin typeface="Calibri"/>
              </a:rPr>
              <a:t>Que prouve un test des 20 lignes réussi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La comparaison honnête : le protocole</a:t>
            </a:r>
          </a:p>
        </p:txBody>
      </p:sp>
      <p:sp>
        <p:nvSpPr>
          <p:cNvPr id="4" name="Rounded Rectangle 3"/>
          <p:cNvSpPr/>
          <p:nvPr/>
        </p:nvSpPr>
        <p:spPr>
          <a:xfrm>
            <a:off x="566928"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1</a:t>
            </a:r>
          </a:p>
        </p:txBody>
      </p:sp>
      <p:sp>
        <p:nvSpPr>
          <p:cNvPr id="6" name="TextBox 5"/>
          <p:cNvSpPr txBox="1"/>
          <p:nvPr/>
        </p:nvSpPr>
        <p:spPr>
          <a:xfrm>
            <a:off x="822960"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Mêmes folds</a:t>
            </a:r>
          </a:p>
        </p:txBody>
      </p:sp>
      <p:sp>
        <p:nvSpPr>
          <p:cNvPr id="7" name="TextBox 6"/>
          <p:cNvSpPr txBox="1"/>
          <p:nvPr/>
        </p:nvSpPr>
        <p:spPr>
          <a:xfrm>
            <a:off x="822960"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GroupKFold par hôte, identiques pour les deux modèles</a:t>
            </a:r>
          </a:p>
        </p:txBody>
      </p:sp>
      <p:sp>
        <p:nvSpPr>
          <p:cNvPr id="8" name="TextBox 7"/>
          <p:cNvSpPr txBox="1"/>
          <p:nvPr/>
        </p:nvSpPr>
        <p:spPr>
          <a:xfrm>
            <a:off x="3171367" y="3191256"/>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9" name="Rounded Rectangle 8"/>
          <p:cNvSpPr/>
          <p:nvPr/>
        </p:nvSpPr>
        <p:spPr>
          <a:xfrm>
            <a:off x="3390823"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46855"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2</a:t>
            </a:r>
          </a:p>
        </p:txBody>
      </p:sp>
      <p:sp>
        <p:nvSpPr>
          <p:cNvPr id="11" name="TextBox 10"/>
          <p:cNvSpPr txBox="1"/>
          <p:nvPr/>
        </p:nvSpPr>
        <p:spPr>
          <a:xfrm>
            <a:off x="3646855"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Même préparation</a:t>
            </a:r>
          </a:p>
        </p:txBody>
      </p:sp>
      <p:sp>
        <p:nvSpPr>
          <p:cNvPr id="12" name="TextBox 11"/>
          <p:cNvSpPr txBox="1"/>
          <p:nvPr/>
        </p:nvSpPr>
        <p:spPr>
          <a:xfrm>
            <a:off x="3646855"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préprocesseur réajusté dans chaque fold</a:t>
            </a:r>
          </a:p>
        </p:txBody>
      </p:sp>
      <p:sp>
        <p:nvSpPr>
          <p:cNvPr id="13" name="TextBox 12"/>
          <p:cNvSpPr txBox="1"/>
          <p:nvPr/>
        </p:nvSpPr>
        <p:spPr>
          <a:xfrm>
            <a:off x="5995263" y="3191256"/>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4" name="Rounded Rectangle 13"/>
          <p:cNvSpPr/>
          <p:nvPr/>
        </p:nvSpPr>
        <p:spPr>
          <a:xfrm>
            <a:off x="6214719"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70751"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3</a:t>
            </a:r>
          </a:p>
        </p:txBody>
      </p:sp>
      <p:sp>
        <p:nvSpPr>
          <p:cNvPr id="16" name="TextBox 15"/>
          <p:cNvSpPr txBox="1"/>
          <p:nvPr/>
        </p:nvSpPr>
        <p:spPr>
          <a:xfrm>
            <a:off x="6470751"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Paired t-test</a:t>
            </a:r>
          </a:p>
        </p:txBody>
      </p:sp>
      <p:sp>
        <p:nvSpPr>
          <p:cNvPr id="17" name="TextBox 16"/>
          <p:cNvSpPr txBox="1"/>
          <p:nvPr/>
        </p:nvSpPr>
        <p:spPr>
          <a:xfrm>
            <a:off x="6470751"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différences par fold, t-test, lecture des signes</a:t>
            </a:r>
          </a:p>
        </p:txBody>
      </p:sp>
      <p:sp>
        <p:nvSpPr>
          <p:cNvPr id="18" name="TextBox 17"/>
          <p:cNvSpPr txBox="1"/>
          <p:nvPr/>
        </p:nvSpPr>
        <p:spPr>
          <a:xfrm>
            <a:off x="8819159" y="3191256"/>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9" name="Rounded Rectangle 18"/>
          <p:cNvSpPr/>
          <p:nvPr/>
        </p:nvSpPr>
        <p:spPr>
          <a:xfrm>
            <a:off x="9038615"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94647"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4</a:t>
            </a:r>
          </a:p>
        </p:txBody>
      </p:sp>
      <p:sp>
        <p:nvSpPr>
          <p:cNvPr id="21" name="TextBox 20"/>
          <p:cNvSpPr txBox="1"/>
          <p:nvPr/>
        </p:nvSpPr>
        <p:spPr>
          <a:xfrm>
            <a:off x="9294647"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Asymétries nommées</a:t>
            </a:r>
          </a:p>
        </p:txBody>
      </p:sp>
      <p:sp>
        <p:nvSpPr>
          <p:cNvPr id="22" name="TextBox 21"/>
          <p:cNvSpPr txBox="1"/>
          <p:nvPr/>
        </p:nvSpPr>
        <p:spPr>
          <a:xfrm>
            <a:off x="9294647"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ici, l'early stopping pour le réseau, les réglages par défaut pour le booster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Résultat : le booster gagne dans les cinq folds</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3_plis_apparies.png"/>
          <p:cNvPicPr>
            <a:picLocks noChangeAspect="1"/>
          </p:cNvPicPr>
          <p:nvPr/>
        </p:nvPicPr>
        <p:blipFill>
          <a:blip r:embed="rId3"/>
          <a:stretch>
            <a:fillRect/>
          </a:stretch>
        </p:blipFill>
        <p:spPr>
          <a:xfrm>
            <a:off x="3220555" y="1828800"/>
            <a:ext cx="5750584"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MLP </a:t>
            </a:r>
            <a:r>
              <a:rPr sz="1350" b="1" i="0">
                <a:solidFill>
                  <a:srgbClr val="6D2E46"/>
                </a:solidFill>
                <a:latin typeface="Calibri"/>
              </a:rPr>
              <a:t>0,9124 ± 0,0387</a:t>
            </a:r>
            <a:r>
              <a:rPr sz="1350" b="0" i="0">
                <a:solidFill>
                  <a:srgbClr val="2B3440"/>
                </a:solidFill>
                <a:latin typeface="Calibri"/>
              </a:rPr>
              <a:t> contre HistGradientBoosting </a:t>
            </a:r>
            <a:r>
              <a:rPr sz="1350" b="1" i="0">
                <a:solidFill>
                  <a:srgbClr val="6D2E46"/>
                </a:solidFill>
                <a:latin typeface="Calibri"/>
              </a:rPr>
              <a:t>0,9216 ± 0,0381</a:t>
            </a:r>
            <a:r>
              <a:rPr sz="1350" b="0" i="0">
                <a:solidFill>
                  <a:srgbClr val="2B3440"/>
                </a:solidFill>
                <a:latin typeface="Calibri"/>
              </a:rPr>
              <a:t>, sur les mêmes folds : cinq différences négatives, paired t-test </a:t>
            </a:r>
            <a:r>
              <a:rPr sz="1350" b="1" i="0">
                <a:solidFill>
                  <a:srgbClr val="6D2E46"/>
                </a:solidFill>
                <a:latin typeface="Calibri"/>
              </a:rPr>
              <a:t>p = 0,0062</a:t>
            </a:r>
            <a:r>
              <a:rPr sz="1350" b="0" i="0">
                <a:solidFill>
                  <a:srgbClr val="2B3440"/>
                </a:solidFill>
                <a:latin typeface="Calibri"/>
              </a:rPr>
              <a:t>. Le TD 4 reproduit ce résultat à l'identique.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Pourquoi les arbres gagnent sur les tableaux</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Grinsztajn, Oyallon et Varoquaux (2022), sur 45 jeux de données tabulaires.</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Cibles irrégulières  </a:t>
            </a:r>
            <a:r>
              <a:rPr sz="1600" b="0" i="0">
                <a:solidFill>
                  <a:srgbClr val="2B3440"/>
                </a:solidFill>
                <a:latin typeface="Calibri"/>
              </a:rPr>
              <a:t>un seuil réglementaire est une marche nette : un arbre la coupe en une fois, un réseau l'approche avec beaucoup d'unités.</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Features inutiles  </a:t>
            </a:r>
            <a:r>
              <a:rPr sz="1600" b="0" i="0">
                <a:solidFill>
                  <a:srgbClr val="2B3440"/>
                </a:solidFill>
                <a:latin typeface="Calibri"/>
              </a:rPr>
              <a:t>un arbre ne coupe jamais sur une colonne inutile ; un réseau doit apprendre à l'ignorer, ce qui coûte capacité et données.</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Colonnes significatives  </a:t>
            </a:r>
            <a:r>
              <a:rPr sz="1600" b="0" i="0">
                <a:solidFill>
                  <a:srgbClr val="2B3440"/>
                </a:solidFill>
                <a:latin typeface="Calibri"/>
              </a:rPr>
              <a:t>un arbre traite chaque feature séparément ; la première couche d'un réseau les mélange toutes.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Une affirmation célèbre, et notre mesure</a:t>
            </a:r>
          </a:p>
        </p:txBody>
      </p:sp>
      <p:sp>
        <p:nvSpPr>
          <p:cNvPr id="4" name="Rounded Rectangle 3"/>
          <p:cNvSpPr/>
          <p:nvPr/>
        </p:nvSpPr>
        <p:spPr>
          <a:xfrm>
            <a:off x="566928" y="1883664"/>
            <a:ext cx="11057839" cy="3380994"/>
          </a:xfrm>
          <a:prstGeom prst="roundRect">
            <a:avLst>
              <a:gd name="adj" fmla="val 378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n_scale_driver.png"/>
          <p:cNvPicPr>
            <a:picLocks noChangeAspect="1"/>
          </p:cNvPicPr>
          <p:nvPr/>
        </p:nvPicPr>
        <p:blipFill>
          <a:blip r:embed="rId3"/>
          <a:stretch>
            <a:fillRect/>
          </a:stretch>
        </p:blipFill>
        <p:spPr>
          <a:xfrm>
            <a:off x="4088315" y="2011680"/>
            <a:ext cx="4015063" cy="3124961"/>
          </a:xfrm>
          <a:prstGeom prst="rect">
            <a:avLst/>
          </a:prstGeom>
        </p:spPr>
      </p:pic>
      <p:sp>
        <p:nvSpPr>
          <p:cNvPr id="6" name="Rounded Rectangle 5"/>
          <p:cNvSpPr/>
          <p:nvPr/>
        </p:nvSpPr>
        <p:spPr>
          <a:xfrm>
            <a:off x="566928" y="5447538"/>
            <a:ext cx="11057839" cy="934974"/>
          </a:xfrm>
          <a:prstGeom prst="roundRect">
            <a:avLst>
              <a:gd name="adj" fmla="val 13691"/>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529833"/>
            <a:ext cx="10472623" cy="77038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Schéma d'Andrew Ng (Machine Learning Yearning, 2018) : plus il y a de données, plus les grands réseaux distancent les méthodes classiques. Une tendance générale, dessinée et non mesurée. À 12 626 lignes tabulaires, notre mesure donne l'avantage au booster.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Quand un réseau est, ou n'est pas, le bon outil</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1732447" cy="310896"/>
          </a:xfrm>
          <a:prstGeom prst="rect">
            <a:avLst/>
          </a:prstGeom>
          <a:noFill/>
        </p:spPr>
        <p:txBody>
          <a:bodyPr wrap="square" lIns="0" tIns="0" rIns="0" bIns="0" anchor="ctr">
            <a:spAutoFit/>
          </a:bodyPr>
          <a:lstStyle/>
          <a:p>
            <a:pPr algn="l"/>
            <a:endParaRPr/>
          </a:p>
        </p:txBody>
      </p:sp>
      <p:sp>
        <p:nvSpPr>
          <p:cNvPr id="6" name="TextBox 5"/>
          <p:cNvSpPr txBox="1"/>
          <p:nvPr/>
        </p:nvSpPr>
        <p:spPr>
          <a:xfrm>
            <a:off x="2793151" y="1901952"/>
            <a:ext cx="4356341" cy="310896"/>
          </a:xfrm>
          <a:prstGeom prst="rect">
            <a:avLst/>
          </a:prstGeom>
          <a:noFill/>
        </p:spPr>
        <p:txBody>
          <a:bodyPr wrap="square" lIns="0" tIns="0" rIns="0" bIns="0" anchor="ctr">
            <a:spAutoFit/>
          </a:bodyPr>
          <a:lstStyle/>
          <a:p>
            <a:pPr algn="l"/>
            <a:r>
              <a:rPr sz="1300" b="1" i="0">
                <a:solidFill>
                  <a:srgbClr val="6D2E46"/>
                </a:solidFill>
                <a:latin typeface="Calibri"/>
              </a:rPr>
              <a:t>Plutôt des arbres</a:t>
            </a:r>
          </a:p>
        </p:txBody>
      </p:sp>
      <p:sp>
        <p:nvSpPr>
          <p:cNvPr id="7" name="TextBox 6"/>
          <p:cNvSpPr txBox="1"/>
          <p:nvPr/>
        </p:nvSpPr>
        <p:spPr>
          <a:xfrm>
            <a:off x="7478676" y="1901952"/>
            <a:ext cx="3981499" cy="310896"/>
          </a:xfrm>
          <a:prstGeom prst="rect">
            <a:avLst/>
          </a:prstGeom>
          <a:noFill/>
        </p:spPr>
        <p:txBody>
          <a:bodyPr wrap="square" lIns="0" tIns="0" rIns="0" bIns="0" anchor="ctr">
            <a:spAutoFit/>
          </a:bodyPr>
          <a:lstStyle/>
          <a:p>
            <a:pPr algn="l"/>
            <a:r>
              <a:rPr sz="1300" b="1" i="0">
                <a:solidFill>
                  <a:srgbClr val="6D2E46"/>
                </a:solidFill>
                <a:latin typeface="Calibri"/>
              </a:rPr>
              <a:t>Plutôt un réseau</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1732447" cy="475488"/>
          </a:xfrm>
          <a:prstGeom prst="rect">
            <a:avLst/>
          </a:prstGeom>
          <a:noFill/>
        </p:spPr>
        <p:txBody>
          <a:bodyPr wrap="square" lIns="0" tIns="0" rIns="0" bIns="0" anchor="ctr">
            <a:spAutoFit/>
          </a:bodyPr>
          <a:lstStyle/>
          <a:p>
            <a:pPr algn="l"/>
            <a:r>
              <a:rPr sz="1400" b="0" i="0">
                <a:solidFill>
                  <a:srgbClr val="2B3440"/>
                </a:solidFill>
                <a:latin typeface="Calibri"/>
              </a:rPr>
              <a:t>La donnée</a:t>
            </a:r>
          </a:p>
        </p:txBody>
      </p:sp>
      <p:sp>
        <p:nvSpPr>
          <p:cNvPr id="10" name="TextBox 9"/>
          <p:cNvSpPr txBox="1"/>
          <p:nvPr/>
        </p:nvSpPr>
        <p:spPr>
          <a:xfrm>
            <a:off x="2793151" y="2322576"/>
            <a:ext cx="4356341" cy="475488"/>
          </a:xfrm>
          <a:prstGeom prst="rect">
            <a:avLst/>
          </a:prstGeom>
          <a:noFill/>
        </p:spPr>
        <p:txBody>
          <a:bodyPr wrap="square" lIns="0" tIns="0" rIns="0" bIns="0" anchor="ctr">
            <a:spAutoFit/>
          </a:bodyPr>
          <a:lstStyle/>
          <a:p>
            <a:pPr algn="l"/>
            <a:r>
              <a:rPr sz="1400" b="0" i="0">
                <a:solidFill>
                  <a:srgbClr val="2B3440"/>
                </a:solidFill>
                <a:latin typeface="Calibri"/>
              </a:rPr>
              <a:t>un tableau de colonnes individuellement significatives</a:t>
            </a:r>
          </a:p>
        </p:txBody>
      </p:sp>
      <p:sp>
        <p:nvSpPr>
          <p:cNvPr id="11" name="TextBox 10"/>
          <p:cNvSpPr txBox="1"/>
          <p:nvPr/>
        </p:nvSpPr>
        <p:spPr>
          <a:xfrm>
            <a:off x="7478676" y="2322576"/>
            <a:ext cx="3981499" cy="475488"/>
          </a:xfrm>
          <a:prstGeom prst="rect">
            <a:avLst/>
          </a:prstGeom>
          <a:noFill/>
        </p:spPr>
        <p:txBody>
          <a:bodyPr wrap="square" lIns="0" tIns="0" rIns="0" bIns="0" anchor="ctr">
            <a:spAutoFit/>
          </a:bodyPr>
          <a:lstStyle/>
          <a:p>
            <a:pPr algn="l"/>
            <a:r>
              <a:rPr sz="1400" b="0" i="0">
                <a:solidFill>
                  <a:srgbClr val="2B3440"/>
                </a:solidFill>
                <a:latin typeface="Calibri"/>
              </a:rPr>
              <a:t>du texte, des images, du son : pas de colonnes</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1732447" cy="475488"/>
          </a:xfrm>
          <a:prstGeom prst="rect">
            <a:avLst/>
          </a:prstGeom>
          <a:noFill/>
        </p:spPr>
        <p:txBody>
          <a:bodyPr wrap="square" lIns="0" tIns="0" rIns="0" bIns="0" anchor="ctr">
            <a:spAutoFit/>
          </a:bodyPr>
          <a:lstStyle/>
          <a:p>
            <a:pPr algn="l"/>
            <a:r>
              <a:rPr sz="1400" b="0" i="0">
                <a:solidFill>
                  <a:srgbClr val="2B3440"/>
                </a:solidFill>
                <a:latin typeface="Calibri"/>
              </a:rPr>
              <a:t>La taille</a:t>
            </a:r>
          </a:p>
        </p:txBody>
      </p:sp>
      <p:sp>
        <p:nvSpPr>
          <p:cNvPr id="14" name="TextBox 13"/>
          <p:cNvSpPr txBox="1"/>
          <p:nvPr/>
        </p:nvSpPr>
        <p:spPr>
          <a:xfrm>
            <a:off x="2793151" y="2907792"/>
            <a:ext cx="4356341" cy="475488"/>
          </a:xfrm>
          <a:prstGeom prst="rect">
            <a:avLst/>
          </a:prstGeom>
          <a:noFill/>
        </p:spPr>
        <p:txBody>
          <a:bodyPr wrap="square" lIns="0" tIns="0" rIns="0" bIns="0" anchor="ctr">
            <a:spAutoFit/>
          </a:bodyPr>
          <a:lstStyle/>
          <a:p>
            <a:pPr algn="l"/>
            <a:r>
              <a:rPr sz="1400" b="0" i="0">
                <a:solidFill>
                  <a:srgbClr val="2B3440"/>
                </a:solidFill>
                <a:latin typeface="Calibri"/>
              </a:rPr>
              <a:t>moyenne (ici 12 626 lignes)</a:t>
            </a:r>
          </a:p>
        </p:txBody>
      </p:sp>
      <p:sp>
        <p:nvSpPr>
          <p:cNvPr id="15" name="TextBox 14"/>
          <p:cNvSpPr txBox="1"/>
          <p:nvPr/>
        </p:nvSpPr>
        <p:spPr>
          <a:xfrm>
            <a:off x="7478676" y="2907792"/>
            <a:ext cx="3981499" cy="475488"/>
          </a:xfrm>
          <a:prstGeom prst="rect">
            <a:avLst/>
          </a:prstGeom>
          <a:noFill/>
        </p:spPr>
        <p:txBody>
          <a:bodyPr wrap="square" lIns="0" tIns="0" rIns="0" bIns="0" anchor="ctr">
            <a:spAutoFit/>
          </a:bodyPr>
          <a:lstStyle/>
          <a:p>
            <a:pPr algn="l"/>
            <a:r>
              <a:rPr sz="1400" b="0" i="0">
                <a:solidFill>
                  <a:srgbClr val="2B3440"/>
                </a:solidFill>
                <a:latin typeface="Calibri"/>
              </a:rPr>
              <a:t>de très grands volumes</a:t>
            </a:r>
          </a:p>
        </p:txBody>
      </p:sp>
      <p:sp>
        <p:nvSpPr>
          <p:cNvPr id="16" name="Rectangle 15"/>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1732447" cy="475488"/>
          </a:xfrm>
          <a:prstGeom prst="rect">
            <a:avLst/>
          </a:prstGeom>
          <a:noFill/>
        </p:spPr>
        <p:txBody>
          <a:bodyPr wrap="square" lIns="0" tIns="0" rIns="0" bIns="0" anchor="ctr">
            <a:spAutoFit/>
          </a:bodyPr>
          <a:lstStyle/>
          <a:p>
            <a:pPr algn="l"/>
            <a:r>
              <a:rPr sz="1400" b="0" i="0">
                <a:solidFill>
                  <a:srgbClr val="2B3440"/>
                </a:solidFill>
                <a:latin typeface="Calibri"/>
              </a:rPr>
              <a:t>La structure</a:t>
            </a:r>
          </a:p>
        </p:txBody>
      </p:sp>
      <p:sp>
        <p:nvSpPr>
          <p:cNvPr id="18" name="TextBox 17"/>
          <p:cNvSpPr txBox="1"/>
          <p:nvPr/>
        </p:nvSpPr>
        <p:spPr>
          <a:xfrm>
            <a:off x="2793151" y="3493008"/>
            <a:ext cx="4356341" cy="475488"/>
          </a:xfrm>
          <a:prstGeom prst="rect">
            <a:avLst/>
          </a:prstGeom>
          <a:noFill/>
        </p:spPr>
        <p:txBody>
          <a:bodyPr wrap="square" lIns="0" tIns="0" rIns="0" bIns="0" anchor="ctr">
            <a:spAutoFit/>
          </a:bodyPr>
          <a:lstStyle/>
          <a:p>
            <a:pPr algn="l"/>
            <a:r>
              <a:rPr sz="1400" b="0" i="0">
                <a:solidFill>
                  <a:srgbClr val="2B3440"/>
                </a:solidFill>
                <a:latin typeface="Calibri"/>
              </a:rPr>
              <a:t>seuils nets, features hétérogènes</a:t>
            </a:r>
          </a:p>
        </p:txBody>
      </p:sp>
      <p:sp>
        <p:nvSpPr>
          <p:cNvPr id="19" name="TextBox 18"/>
          <p:cNvSpPr txBox="1"/>
          <p:nvPr/>
        </p:nvSpPr>
        <p:spPr>
          <a:xfrm>
            <a:off x="7478676" y="3493008"/>
            <a:ext cx="3981499" cy="475488"/>
          </a:xfrm>
          <a:prstGeom prst="rect">
            <a:avLst/>
          </a:prstGeom>
          <a:noFill/>
        </p:spPr>
        <p:txBody>
          <a:bodyPr wrap="square" lIns="0" tIns="0" rIns="0" bIns="0" anchor="ctr">
            <a:spAutoFit/>
          </a:bodyPr>
          <a:lstStyle/>
          <a:p>
            <a:pPr algn="l"/>
            <a:r>
              <a:rPr sz="1400" b="0" i="0">
                <a:solidFill>
                  <a:srgbClr val="2B3440"/>
                </a:solidFill>
                <a:latin typeface="Calibri"/>
              </a:rPr>
              <a:t>des représentations à apprendre</a:t>
            </a:r>
          </a:p>
        </p:txBody>
      </p:sp>
      <p:sp>
        <p:nvSpPr>
          <p:cNvPr id="20" name="Rectangle 19"/>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1732447" cy="475488"/>
          </a:xfrm>
          <a:prstGeom prst="rect">
            <a:avLst/>
          </a:prstGeom>
          <a:noFill/>
        </p:spPr>
        <p:txBody>
          <a:bodyPr wrap="square" lIns="0" tIns="0" rIns="0" bIns="0" anchor="ctr">
            <a:spAutoFit/>
          </a:bodyPr>
          <a:lstStyle/>
          <a:p>
            <a:pPr algn="l"/>
            <a:r>
              <a:rPr sz="1400" b="0" i="0">
                <a:solidFill>
                  <a:srgbClr val="2B3440"/>
                </a:solidFill>
                <a:latin typeface="Calibri"/>
              </a:rPr>
              <a:t>Ici</a:t>
            </a:r>
          </a:p>
        </p:txBody>
      </p:sp>
      <p:sp>
        <p:nvSpPr>
          <p:cNvPr id="22" name="TextBox 21"/>
          <p:cNvSpPr txBox="1"/>
          <p:nvPr/>
        </p:nvSpPr>
        <p:spPr>
          <a:xfrm>
            <a:off x="2793151" y="4078224"/>
            <a:ext cx="4356341" cy="475488"/>
          </a:xfrm>
          <a:prstGeom prst="rect">
            <a:avLst/>
          </a:prstGeom>
          <a:noFill/>
        </p:spPr>
        <p:txBody>
          <a:bodyPr wrap="square" lIns="0" tIns="0" rIns="0" bIns="0" anchor="ctr">
            <a:spAutoFit/>
          </a:bodyPr>
          <a:lstStyle/>
          <a:p>
            <a:pPr algn="l"/>
            <a:r>
              <a:rPr sz="1400" b="1" i="0">
                <a:solidFill>
                  <a:srgbClr val="6D2E46"/>
                </a:solidFill>
                <a:latin typeface="Calibri"/>
              </a:rPr>
              <a:t>0,9216</a:t>
            </a:r>
            <a:r>
              <a:rPr sz="1400" b="0" i="0">
                <a:solidFill>
                  <a:srgbClr val="2B3440"/>
                </a:solidFill>
                <a:latin typeface="Calibri"/>
              </a:rPr>
              <a:t> contre 0,9124, pour moins de calcul</a:t>
            </a:r>
          </a:p>
        </p:txBody>
      </p:sp>
      <p:sp>
        <p:nvSpPr>
          <p:cNvPr id="23" name="TextBox 22"/>
          <p:cNvSpPr txBox="1"/>
          <p:nvPr/>
        </p:nvSpPr>
        <p:spPr>
          <a:xfrm>
            <a:off x="7478676" y="4078224"/>
            <a:ext cx="3981499" cy="475488"/>
          </a:xfrm>
          <a:prstGeom prst="rect">
            <a:avLst/>
          </a:prstGeom>
          <a:noFill/>
        </p:spPr>
        <p:txBody>
          <a:bodyPr wrap="square" lIns="0" tIns="0" rIns="0" bIns="0" anchor="ctr">
            <a:spAutoFit/>
          </a:bodyPr>
          <a:lstStyle/>
          <a:p>
            <a:pPr algn="l"/>
            <a:r>
              <a:rPr sz="1400" b="0" i="0">
                <a:solidFill>
                  <a:srgbClr val="2B3440"/>
                </a:solidFill>
                <a:latin typeface="Calibri"/>
              </a:rPr>
              <a:t>séance 11 : la description des annonces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Synthèse de la partie 2</a:t>
            </a:r>
          </a:p>
        </p:txBody>
      </p:sp>
      <p:sp>
        <p:nvSpPr>
          <p:cNvPr id="4" name="Rounded Rectangle 3"/>
          <p:cNvSpPr/>
          <p:nvPr/>
        </p:nvSpPr>
        <p:spPr>
          <a:xfrm>
            <a:off x="566928" y="181051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Le scaling est </a:t>
            </a:r>
            <a:r>
              <a:rPr sz="1600" b="1" i="0">
                <a:solidFill>
                  <a:srgbClr val="6D2E46"/>
                </a:solidFill>
                <a:latin typeface="Calibri"/>
              </a:rPr>
              <a:t>mécanique</a:t>
            </a:r>
            <a:r>
              <a:rPr sz="1600" b="0" i="0">
                <a:solidFill>
                  <a:srgbClr val="2B3440"/>
                </a:solidFill>
                <a:latin typeface="Calibri"/>
              </a:rPr>
              <a:t> ; le préprocesseur reste dans le fold.</a:t>
            </a:r>
          </a:p>
        </p:txBody>
      </p:sp>
      <p:sp>
        <p:nvSpPr>
          <p:cNvPr id="6" name="Rounded Rectangle 5"/>
          <p:cNvSpPr/>
          <p:nvPr/>
        </p:nvSpPr>
        <p:spPr>
          <a:xfrm>
            <a:off x="566928" y="2592324"/>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683764"/>
            <a:ext cx="10472623" cy="452627"/>
          </a:xfrm>
          <a:prstGeom prst="rect">
            <a:avLst/>
          </a:prstGeom>
          <a:noFill/>
        </p:spPr>
        <p:txBody>
          <a:bodyPr wrap="square" lIns="0" tIns="0" rIns="0" bIns="0" anchor="ctr">
            <a:spAutoFit/>
          </a:bodyPr>
          <a:lstStyle/>
          <a:p>
            <a:pPr algn="l">
              <a:lnSpc>
                <a:spcPct val="120000"/>
              </a:lnSpc>
            </a:pPr>
            <a:r>
              <a:rPr sz="1450" b="0" i="0">
                <a:solidFill>
                  <a:srgbClr val="2B3440"/>
                </a:solidFill>
                <a:latin typeface="Calibri"/>
              </a:rPr>
              <a:t>La boucle : train(), zero_grad, loss, backward, step ; puis eval() et no_grad(). </a:t>
            </a:r>
            <a:r>
              <a:rPr sz="1450" b="1" i="0">
                <a:solidFill>
                  <a:srgbClr val="6D2E46"/>
                </a:solidFill>
                <a:latin typeface="Calibri"/>
              </a:rPr>
              <a:t>Suivre la validation dès l'epoch 1.</a:t>
            </a:r>
          </a:p>
        </p:txBody>
      </p:sp>
      <p:sp>
        <p:nvSpPr>
          <p:cNvPr id="8" name="Rounded Rectangle 7"/>
          <p:cNvSpPr/>
          <p:nvPr/>
        </p:nvSpPr>
        <p:spPr>
          <a:xfrm>
            <a:off x="566928" y="3374136"/>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465576"/>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Momentum et Adam accélèrent ; schedule et initialisation stabilisent.</a:t>
            </a:r>
          </a:p>
        </p:txBody>
      </p:sp>
      <p:sp>
        <p:nvSpPr>
          <p:cNvPr id="10" name="Rounded Rectangle 9"/>
          <p:cNvSpPr/>
          <p:nvPr/>
        </p:nvSpPr>
        <p:spPr>
          <a:xfrm>
            <a:off x="566928" y="4155948"/>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247388"/>
            <a:ext cx="10472623" cy="452627"/>
          </a:xfrm>
          <a:prstGeom prst="rect">
            <a:avLst/>
          </a:prstGeom>
          <a:noFill/>
        </p:spPr>
        <p:txBody>
          <a:bodyPr wrap="square" lIns="0" tIns="0" rIns="0" bIns="0" anchor="ctr">
            <a:spAutoFit/>
          </a:bodyPr>
          <a:lstStyle/>
          <a:p>
            <a:pPr algn="l">
              <a:lnSpc>
                <a:spcPct val="120000"/>
              </a:lnSpc>
            </a:pPr>
            <a:r>
              <a:rPr sz="1450" b="0" i="0">
                <a:solidFill>
                  <a:srgbClr val="2B3440"/>
                </a:solidFill>
                <a:latin typeface="Calibri"/>
              </a:rPr>
              <a:t>Batch size et learning rate achètent de la </a:t>
            </a:r>
            <a:r>
              <a:rPr sz="1450" b="1" i="0">
                <a:solidFill>
                  <a:srgbClr val="6D2E46"/>
                </a:solidFill>
                <a:latin typeface="Calibri"/>
              </a:rPr>
              <a:t>vitesse</a:t>
            </a:r>
            <a:r>
              <a:rPr sz="1450" b="0" i="0">
                <a:solidFill>
                  <a:srgbClr val="2B3440"/>
                </a:solidFill>
                <a:latin typeface="Calibri"/>
              </a:rPr>
              <a:t> ; la capacité a un </a:t>
            </a:r>
            <a:r>
              <a:rPr sz="1450" b="1" i="0">
                <a:solidFill>
                  <a:srgbClr val="6D2E46"/>
                </a:solidFill>
                <a:latin typeface="Calibri"/>
              </a:rPr>
              <a:t>plancher</a:t>
            </a:r>
            <a:r>
              <a:rPr sz="1450" b="0" i="0">
                <a:solidFill>
                  <a:srgbClr val="2B3440"/>
                </a:solidFill>
                <a:latin typeface="Calibri"/>
              </a:rPr>
              <a:t> puis un </a:t>
            </a:r>
            <a:r>
              <a:rPr sz="1450" b="1" i="0">
                <a:solidFill>
                  <a:srgbClr val="6D2E46"/>
                </a:solidFill>
                <a:latin typeface="Calibri"/>
              </a:rPr>
              <a:t>plateau</a:t>
            </a:r>
            <a:r>
              <a:rPr sz="1450" b="0" i="0">
                <a:solidFill>
                  <a:srgbClr val="2B3440"/>
                </a:solidFill>
                <a:latin typeface="Calibri"/>
              </a:rPr>
              <a:t> ; la profondeur exige la bonne machinerie.</a:t>
            </a:r>
          </a:p>
        </p:txBody>
      </p:sp>
      <p:sp>
        <p:nvSpPr>
          <p:cNvPr id="12" name="Rounded Rectangle 11"/>
          <p:cNvSpPr/>
          <p:nvPr/>
        </p:nvSpPr>
        <p:spPr>
          <a:xfrm>
            <a:off x="566928" y="4937760"/>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5029200"/>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Lire les courbes et déboguer </a:t>
            </a:r>
            <a:r>
              <a:rPr sz="1600" b="1" i="0">
                <a:solidFill>
                  <a:srgbClr val="6D2E46"/>
                </a:solidFill>
                <a:latin typeface="Calibri"/>
              </a:rPr>
              <a:t>avant</a:t>
            </a:r>
            <a:r>
              <a:rPr sz="1600" b="0" i="0">
                <a:solidFill>
                  <a:srgbClr val="2B3440"/>
                </a:solidFill>
                <a:latin typeface="Calibri"/>
              </a:rPr>
              <a:t> de régler.</a:t>
            </a:r>
          </a:p>
        </p:txBody>
      </p:sp>
      <p:sp>
        <p:nvSpPr>
          <p:cNvPr id="14" name="Rounded Rectangle 13"/>
          <p:cNvSpPr/>
          <p:nvPr/>
        </p:nvSpPr>
        <p:spPr>
          <a:xfrm>
            <a:off x="566928" y="571957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5811012"/>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Le booster gagne dans les </a:t>
            </a:r>
            <a:r>
              <a:rPr sz="1600" b="1" i="0">
                <a:solidFill>
                  <a:srgbClr val="6D2E46"/>
                </a:solidFill>
                <a:latin typeface="Calibri"/>
              </a:rPr>
              <a:t>cinq folds</a:t>
            </a:r>
            <a:r>
              <a:rPr sz="1600" b="0" i="0">
                <a:solidFill>
                  <a:srgbClr val="2B3440"/>
                </a:solidFill>
                <a:latin typeface="Calibri"/>
              </a:rPr>
              <a:t> (p = 0,0062) : un résultat établi, borné à ce problème.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2 · SÉANCE 9 · ENTRAÎNER EN PRATIQUE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Mini-quiz 2</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Quatre questions, puis correction.</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1  </a:t>
            </a:r>
            <a:r>
              <a:rPr sz="1600" b="0" i="0">
                <a:solidFill>
                  <a:srgbClr val="2B3440"/>
                </a:solidFill>
                <a:latin typeface="Calibri"/>
              </a:rPr>
              <a:t>Donnez le mécanisme, pas la règle, qui rend le scaling nécessaire.</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2  </a:t>
            </a:r>
            <a:r>
              <a:rPr sz="1600" b="0" i="0">
                <a:solidFill>
                  <a:srgbClr val="2B3440"/>
                </a:solidFill>
                <a:latin typeface="Calibri"/>
              </a:rPr>
              <a:t>Un réseau à 16 unités a une AUC basse et ne s'arrête jamais avant la fin du budget : deux explications ?</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3  </a:t>
            </a:r>
            <a:r>
              <a:rPr sz="1600" b="0" i="0">
                <a:solidFill>
                  <a:srgbClr val="2B3440"/>
                </a:solidFill>
                <a:latin typeface="Calibri"/>
              </a:rPr>
              <a:t>Énoncez le résultat MLP contre HistGB assez précisément pour qu'on puisse le vérifier.</a:t>
            </a:r>
          </a:p>
        </p:txBody>
      </p:sp>
      <p:sp>
        <p:nvSpPr>
          <p:cNvPr id="11" name="Rounded Rectangle 10"/>
          <p:cNvSpPr/>
          <p:nvPr/>
        </p:nvSpPr>
        <p:spPr>
          <a:xfrm>
            <a:off x="566928" y="4901183"/>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4  </a:t>
            </a:r>
            <a:r>
              <a:rPr sz="1600" b="0" i="0">
                <a:solidFill>
                  <a:srgbClr val="2B3440"/>
                </a:solidFill>
                <a:latin typeface="Calibri"/>
              </a:rPr>
              <a:t>Pourquoi 5 couches sigmoïdes peuvent-elles perdre contre une seule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PAUSE</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587020"/>
          </a:xfrm>
          <a:prstGeom prst="rect">
            <a:avLst/>
          </a:prstGeom>
          <a:noFill/>
        </p:spPr>
        <p:txBody>
          <a:bodyPr wrap="square" lIns="0" tIns="0" rIns="0" bIns="0" anchor="t">
            <a:spAutoFit/>
          </a:bodyPr>
          <a:lstStyle/>
          <a:p>
            <a:pPr algn="l">
              <a:lnSpc>
                <a:spcPct val="116000"/>
              </a:lnSpc>
            </a:pPr>
            <a:r>
              <a:rPr sz="3600" b="1" i="0" dirty="0">
                <a:solidFill>
                  <a:srgbClr val="FFFFFF"/>
                </a:solidFill>
                <a:latin typeface="Cambria"/>
              </a:rPr>
              <a:t>Pause · 1</a:t>
            </a:r>
            <a:r>
              <a:rPr lang="en-US" sz="3600" b="1" i="0" dirty="0">
                <a:solidFill>
                  <a:srgbClr val="FFFFFF"/>
                </a:solidFill>
                <a:latin typeface="Cambria"/>
              </a:rPr>
              <a:t>5</a:t>
            </a:r>
            <a:r>
              <a:rPr sz="3600" b="1" i="0" dirty="0">
                <a:solidFill>
                  <a:srgbClr val="FFFFFF"/>
                </a:solidFill>
                <a:latin typeface="Cambria"/>
              </a:rPr>
              <a:t> minutes</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À méditer : parmi l'early stopping, le weight decay, le dropout et la batch norm, lequel aidera le moins notre grand réseau ? Écrivez votre réponse : on la vérifiera.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Oval 3"/>
          <p:cNvSpPr/>
          <p:nvPr/>
        </p:nvSpPr>
        <p:spPr>
          <a:xfrm>
            <a:off x="566928" y="2139696"/>
            <a:ext cx="841248" cy="841248"/>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600" b="1" i="0">
                <a:solidFill>
                  <a:srgbClr val="12233A"/>
                </a:solidFill>
                <a:latin typeface="Calibri"/>
              </a:rPr>
              <a:t>3</a:t>
            </a:r>
          </a:p>
        </p:txBody>
      </p:sp>
      <p:sp>
        <p:nvSpPr>
          <p:cNvPr id="5" name="TextBox 4"/>
          <p:cNvSpPr txBox="1"/>
          <p:nvPr/>
        </p:nvSpPr>
        <p:spPr>
          <a:xfrm>
            <a:off x="1709928" y="1975104"/>
            <a:ext cx="7948879" cy="1243584"/>
          </a:xfrm>
          <a:prstGeom prst="rect">
            <a:avLst/>
          </a:prstGeom>
          <a:noFill/>
        </p:spPr>
        <p:txBody>
          <a:bodyPr wrap="square" lIns="0" tIns="0" rIns="0" bIns="0" anchor="ctr">
            <a:spAutoFit/>
          </a:bodyPr>
          <a:lstStyle/>
          <a:p>
            <a:pPr algn="l"/>
            <a:r>
              <a:rPr sz="3400" b="1" i="0">
                <a:solidFill>
                  <a:srgbClr val="FFFFFF"/>
                </a:solidFill>
                <a:latin typeface="Cambria"/>
              </a:rPr>
              <a:t>Généraliser</a:t>
            </a:r>
          </a:p>
        </p:txBody>
      </p:sp>
      <p:sp>
        <p:nvSpPr>
          <p:cNvPr id="6" name="TextBox 5"/>
          <p:cNvSpPr txBox="1"/>
          <p:nvPr/>
        </p:nvSpPr>
        <p:spPr>
          <a:xfrm>
            <a:off x="1709928" y="3346704"/>
            <a:ext cx="7948879" cy="1371600"/>
          </a:xfrm>
          <a:prstGeom prst="rect">
            <a:avLst/>
          </a:prstGeom>
          <a:noFill/>
        </p:spPr>
        <p:txBody>
          <a:bodyPr wrap="square" lIns="0" tIns="0" rIns="0" bIns="0" anchor="t">
            <a:spAutoFit/>
          </a:bodyPr>
          <a:lstStyle/>
          <a:p>
            <a:pPr algn="l">
              <a:lnSpc>
                <a:spcPct val="130000"/>
              </a:lnSpc>
            </a:pPr>
            <a:r>
              <a:rPr sz="1600" b="0" i="0">
                <a:solidFill>
                  <a:srgbClr val="9FB0C4"/>
                </a:solidFill>
                <a:latin typeface="Calibri"/>
              </a:rPr>
              <a:t>Séance 10. Empêcher le réseau d'apprendre par coeur, et prouver ce qui marche par une ablation contrôlée.</a:t>
            </a:r>
          </a:p>
        </p:txBody>
      </p:sp>
      <p:sp>
        <p:nvSpPr>
          <p:cNvPr id="7" name="TextBox 6"/>
          <p:cNvSpPr txBox="1"/>
          <p:nvPr/>
        </p:nvSpPr>
        <p:spPr>
          <a:xfrm>
            <a:off x="9887407" y="2103120"/>
            <a:ext cx="1737360" cy="457200"/>
          </a:xfrm>
          <a:prstGeom prst="rect">
            <a:avLst/>
          </a:prstGeom>
          <a:noFill/>
        </p:spPr>
        <p:txBody>
          <a:bodyPr wrap="square" lIns="0" tIns="0" rIns="0" bIns="0" anchor="t">
            <a:spAutoFit/>
          </a:bodyPr>
          <a:lstStyle/>
          <a:p>
            <a:pPr algn="r"/>
            <a:r>
              <a:rPr sz="1500" b="1" i="0">
                <a:solidFill>
                  <a:srgbClr val="E9A93D"/>
                </a:solidFill>
                <a:latin typeface="Calibri"/>
              </a:rPr>
              <a:t>55 min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Rappel des prérequis de la partie 3</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4527997" cy="310896"/>
          </a:xfrm>
          <a:prstGeom prst="rect">
            <a:avLst/>
          </a:prstGeom>
          <a:noFill/>
        </p:spPr>
        <p:txBody>
          <a:bodyPr wrap="square" lIns="0" tIns="0" rIns="0" bIns="0" anchor="ctr">
            <a:spAutoFit/>
          </a:bodyPr>
          <a:lstStyle/>
          <a:p>
            <a:pPr algn="l"/>
            <a:r>
              <a:rPr sz="1300" b="1" i="0">
                <a:solidFill>
                  <a:srgbClr val="6D2E46"/>
                </a:solidFill>
                <a:latin typeface="Calibri"/>
              </a:rPr>
              <a:t>Notion</a:t>
            </a:r>
          </a:p>
        </p:txBody>
      </p:sp>
      <p:sp>
        <p:nvSpPr>
          <p:cNvPr id="6" name="TextBox 5"/>
          <p:cNvSpPr txBox="1"/>
          <p:nvPr/>
        </p:nvSpPr>
        <p:spPr>
          <a:xfrm>
            <a:off x="5588701" y="1901952"/>
            <a:ext cx="600914" cy="310896"/>
          </a:xfrm>
          <a:prstGeom prst="rect">
            <a:avLst/>
          </a:prstGeom>
          <a:noFill/>
        </p:spPr>
        <p:txBody>
          <a:bodyPr wrap="square" lIns="0" tIns="0" rIns="0" bIns="0" anchor="ctr">
            <a:spAutoFit/>
          </a:bodyPr>
          <a:lstStyle/>
          <a:p>
            <a:pPr algn="l"/>
            <a:r>
              <a:rPr sz="1300" b="1" i="0">
                <a:solidFill>
                  <a:srgbClr val="6D2E46"/>
                </a:solidFill>
                <a:latin typeface="Calibri"/>
              </a:rPr>
              <a:t>Séance</a:t>
            </a:r>
          </a:p>
        </p:txBody>
      </p:sp>
      <p:sp>
        <p:nvSpPr>
          <p:cNvPr id="7" name="TextBox 6"/>
          <p:cNvSpPr txBox="1"/>
          <p:nvPr/>
        </p:nvSpPr>
        <p:spPr>
          <a:xfrm>
            <a:off x="6518800" y="1901952"/>
            <a:ext cx="4941374" cy="310896"/>
          </a:xfrm>
          <a:prstGeom prst="rect">
            <a:avLst/>
          </a:prstGeom>
          <a:noFill/>
        </p:spPr>
        <p:txBody>
          <a:bodyPr wrap="square" lIns="0" tIns="0" rIns="0" bIns="0" anchor="ctr">
            <a:spAutoFit/>
          </a:bodyPr>
          <a:lstStyle/>
          <a:p>
            <a:pPr algn="l"/>
            <a:r>
              <a:rPr sz="1300" b="1" i="0">
                <a:solidFill>
                  <a:srgbClr val="6D2E46"/>
                </a:solidFill>
                <a:latin typeface="Calibri"/>
              </a:rPr>
              <a:t>Ce qu'elle devient ici</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4527997" cy="475488"/>
          </a:xfrm>
          <a:prstGeom prst="rect">
            <a:avLst/>
          </a:prstGeom>
          <a:noFill/>
        </p:spPr>
        <p:txBody>
          <a:bodyPr wrap="square" lIns="0" tIns="0" rIns="0" bIns="0" anchor="ctr">
            <a:spAutoFit/>
          </a:bodyPr>
          <a:lstStyle/>
          <a:p>
            <a:pPr algn="l"/>
            <a:r>
              <a:rPr sz="1400" b="0" i="0">
                <a:solidFill>
                  <a:srgbClr val="2B3440"/>
                </a:solidFill>
                <a:latin typeface="Calibri"/>
              </a:rPr>
              <a:t>Underfitting, overfitting, bias-variance</a:t>
            </a:r>
          </a:p>
        </p:txBody>
      </p:sp>
      <p:sp>
        <p:nvSpPr>
          <p:cNvPr id="10" name="TextBox 9"/>
          <p:cNvSpPr txBox="1"/>
          <p:nvPr/>
        </p:nvSpPr>
        <p:spPr>
          <a:xfrm>
            <a:off x="5588701" y="2322576"/>
            <a:ext cx="600914" cy="475488"/>
          </a:xfrm>
          <a:prstGeom prst="rect">
            <a:avLst/>
          </a:prstGeom>
          <a:noFill/>
        </p:spPr>
        <p:txBody>
          <a:bodyPr wrap="square" lIns="0" tIns="0" rIns="0" bIns="0" anchor="ctr">
            <a:spAutoFit/>
          </a:bodyPr>
          <a:lstStyle/>
          <a:p>
            <a:pPr algn="l"/>
            <a:r>
              <a:rPr sz="1400" b="0" i="0">
                <a:solidFill>
                  <a:srgbClr val="2B3440"/>
                </a:solidFill>
                <a:latin typeface="Calibri"/>
              </a:rPr>
              <a:t>S4</a:t>
            </a:r>
          </a:p>
        </p:txBody>
      </p:sp>
      <p:sp>
        <p:nvSpPr>
          <p:cNvPr id="11" name="TextBox 10"/>
          <p:cNvSpPr txBox="1"/>
          <p:nvPr/>
        </p:nvSpPr>
        <p:spPr>
          <a:xfrm>
            <a:off x="6518800" y="2322576"/>
            <a:ext cx="4941374" cy="475488"/>
          </a:xfrm>
          <a:prstGeom prst="rect">
            <a:avLst/>
          </a:prstGeom>
          <a:noFill/>
        </p:spPr>
        <p:txBody>
          <a:bodyPr wrap="square" lIns="0" tIns="0" rIns="0" bIns="0" anchor="ctr">
            <a:spAutoFit/>
          </a:bodyPr>
          <a:lstStyle/>
          <a:p>
            <a:pPr algn="l"/>
            <a:r>
              <a:rPr sz="1400" b="0" i="0">
                <a:solidFill>
                  <a:srgbClr val="2B3440"/>
                </a:solidFill>
                <a:latin typeface="Calibri"/>
              </a:rPr>
              <a:t>le gap entre train et validation</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4527997" cy="475488"/>
          </a:xfrm>
          <a:prstGeom prst="rect">
            <a:avLst/>
          </a:prstGeom>
          <a:noFill/>
        </p:spPr>
        <p:txBody>
          <a:bodyPr wrap="square" lIns="0" tIns="0" rIns="0" bIns="0" anchor="ctr">
            <a:spAutoFit/>
          </a:bodyPr>
          <a:lstStyle/>
          <a:p>
            <a:pPr algn="l"/>
            <a:r>
              <a:rPr sz="1400" b="0" i="0">
                <a:solidFill>
                  <a:srgbClr val="2B3440"/>
                </a:solidFill>
                <a:latin typeface="Calibri"/>
              </a:rPr>
              <a:t>Ridge : une pénalité sur la taille des coefficients</a:t>
            </a:r>
          </a:p>
        </p:txBody>
      </p:sp>
      <p:sp>
        <p:nvSpPr>
          <p:cNvPr id="14" name="TextBox 13"/>
          <p:cNvSpPr txBox="1"/>
          <p:nvPr/>
        </p:nvSpPr>
        <p:spPr>
          <a:xfrm>
            <a:off x="5588701" y="2907792"/>
            <a:ext cx="600914" cy="475488"/>
          </a:xfrm>
          <a:prstGeom prst="rect">
            <a:avLst/>
          </a:prstGeom>
          <a:noFill/>
        </p:spPr>
        <p:txBody>
          <a:bodyPr wrap="square" lIns="0" tIns="0" rIns="0" bIns="0" anchor="ctr">
            <a:spAutoFit/>
          </a:bodyPr>
          <a:lstStyle/>
          <a:p>
            <a:pPr algn="l"/>
            <a:r>
              <a:rPr sz="1400" b="0" i="0">
                <a:solidFill>
                  <a:srgbClr val="2B3440"/>
                </a:solidFill>
                <a:latin typeface="Calibri"/>
              </a:rPr>
              <a:t>S4</a:t>
            </a:r>
          </a:p>
        </p:txBody>
      </p:sp>
      <p:sp>
        <p:nvSpPr>
          <p:cNvPr id="15" name="TextBox 14"/>
          <p:cNvSpPr txBox="1"/>
          <p:nvPr/>
        </p:nvSpPr>
        <p:spPr>
          <a:xfrm>
            <a:off x="6518800" y="2907792"/>
            <a:ext cx="4941374" cy="475488"/>
          </a:xfrm>
          <a:prstGeom prst="rect">
            <a:avLst/>
          </a:prstGeom>
          <a:noFill/>
        </p:spPr>
        <p:txBody>
          <a:bodyPr wrap="square" lIns="0" tIns="0" rIns="0" bIns="0" anchor="ctr">
            <a:spAutoFit/>
          </a:bodyPr>
          <a:lstStyle/>
          <a:p>
            <a:pPr algn="l"/>
            <a:r>
              <a:rPr sz="1400" b="0" i="0">
                <a:solidFill>
                  <a:srgbClr val="2B3440"/>
                </a:solidFill>
                <a:latin typeface="Calibri"/>
              </a:rPr>
              <a:t>le weight decay</a:t>
            </a:r>
          </a:p>
        </p:txBody>
      </p:sp>
      <p:sp>
        <p:nvSpPr>
          <p:cNvPr id="16" name="Rectangle 15"/>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4527997" cy="475488"/>
          </a:xfrm>
          <a:prstGeom prst="rect">
            <a:avLst/>
          </a:prstGeom>
          <a:noFill/>
        </p:spPr>
        <p:txBody>
          <a:bodyPr wrap="square" lIns="0" tIns="0" rIns="0" bIns="0" anchor="ctr">
            <a:spAutoFit/>
          </a:bodyPr>
          <a:lstStyle/>
          <a:p>
            <a:pPr algn="l"/>
            <a:r>
              <a:rPr sz="1400" b="0" i="0">
                <a:solidFill>
                  <a:srgbClr val="2B3440"/>
                </a:solidFill>
                <a:latin typeface="Calibri"/>
              </a:rPr>
              <a:t>Bruit d'une estimation, seuil fixé à l'avance</a:t>
            </a:r>
          </a:p>
        </p:txBody>
      </p:sp>
      <p:sp>
        <p:nvSpPr>
          <p:cNvPr id="18" name="TextBox 17"/>
          <p:cNvSpPr txBox="1"/>
          <p:nvPr/>
        </p:nvSpPr>
        <p:spPr>
          <a:xfrm>
            <a:off x="5588701" y="3493008"/>
            <a:ext cx="600914" cy="475488"/>
          </a:xfrm>
          <a:prstGeom prst="rect">
            <a:avLst/>
          </a:prstGeom>
          <a:noFill/>
        </p:spPr>
        <p:txBody>
          <a:bodyPr wrap="square" lIns="0" tIns="0" rIns="0" bIns="0" anchor="ctr">
            <a:spAutoFit/>
          </a:bodyPr>
          <a:lstStyle/>
          <a:p>
            <a:pPr algn="l"/>
            <a:r>
              <a:rPr sz="1400" b="0" i="0">
                <a:solidFill>
                  <a:srgbClr val="2B3440"/>
                </a:solidFill>
                <a:latin typeface="Calibri"/>
              </a:rPr>
              <a:t>S6</a:t>
            </a:r>
          </a:p>
        </p:txBody>
      </p:sp>
      <p:sp>
        <p:nvSpPr>
          <p:cNvPr id="19" name="TextBox 18"/>
          <p:cNvSpPr txBox="1"/>
          <p:nvPr/>
        </p:nvSpPr>
        <p:spPr>
          <a:xfrm>
            <a:off x="6518800" y="3493008"/>
            <a:ext cx="4941374" cy="475488"/>
          </a:xfrm>
          <a:prstGeom prst="rect">
            <a:avLst/>
          </a:prstGeom>
          <a:noFill/>
        </p:spPr>
        <p:txBody>
          <a:bodyPr wrap="square" lIns="0" tIns="0" rIns="0" bIns="0" anchor="ctr">
            <a:spAutoFit/>
          </a:bodyPr>
          <a:lstStyle/>
          <a:p>
            <a:pPr algn="l"/>
            <a:r>
              <a:rPr sz="1400" b="0" i="0">
                <a:solidFill>
                  <a:srgbClr val="2B3440"/>
                </a:solidFill>
                <a:latin typeface="Calibri"/>
              </a:rPr>
              <a:t>les seeds et la règle des deux écarts-types</a:t>
            </a:r>
          </a:p>
        </p:txBody>
      </p:sp>
      <p:sp>
        <p:nvSpPr>
          <p:cNvPr id="20" name="Rectangle 19"/>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4527997" cy="475488"/>
          </a:xfrm>
          <a:prstGeom prst="rect">
            <a:avLst/>
          </a:prstGeom>
          <a:noFill/>
        </p:spPr>
        <p:txBody>
          <a:bodyPr wrap="square" lIns="0" tIns="0" rIns="0" bIns="0" anchor="ctr">
            <a:spAutoFit/>
          </a:bodyPr>
          <a:lstStyle/>
          <a:p>
            <a:pPr algn="l"/>
            <a:r>
              <a:rPr sz="1400" b="0" i="0">
                <a:solidFill>
                  <a:srgbClr val="2B3440"/>
                </a:solidFill>
                <a:latin typeface="Calibri"/>
              </a:rPr>
              <a:t>Lecture des courbes</a:t>
            </a:r>
          </a:p>
        </p:txBody>
      </p:sp>
      <p:sp>
        <p:nvSpPr>
          <p:cNvPr id="22" name="TextBox 21"/>
          <p:cNvSpPr txBox="1"/>
          <p:nvPr/>
        </p:nvSpPr>
        <p:spPr>
          <a:xfrm>
            <a:off x="5588701" y="4078224"/>
            <a:ext cx="600914" cy="475488"/>
          </a:xfrm>
          <a:prstGeom prst="rect">
            <a:avLst/>
          </a:prstGeom>
          <a:noFill/>
        </p:spPr>
        <p:txBody>
          <a:bodyPr wrap="square" lIns="0" tIns="0" rIns="0" bIns="0" anchor="ctr">
            <a:spAutoFit/>
          </a:bodyPr>
          <a:lstStyle/>
          <a:p>
            <a:pPr algn="l"/>
            <a:r>
              <a:rPr sz="1400" b="0" i="0">
                <a:solidFill>
                  <a:srgbClr val="2B3440"/>
                </a:solidFill>
                <a:latin typeface="Calibri"/>
              </a:rPr>
              <a:t>S9</a:t>
            </a:r>
          </a:p>
        </p:txBody>
      </p:sp>
      <p:sp>
        <p:nvSpPr>
          <p:cNvPr id="23" name="TextBox 22"/>
          <p:cNvSpPr txBox="1"/>
          <p:nvPr/>
        </p:nvSpPr>
        <p:spPr>
          <a:xfrm>
            <a:off x="6518800" y="4078224"/>
            <a:ext cx="4941374" cy="475488"/>
          </a:xfrm>
          <a:prstGeom prst="rect">
            <a:avLst/>
          </a:prstGeom>
          <a:noFill/>
        </p:spPr>
        <p:txBody>
          <a:bodyPr wrap="square" lIns="0" tIns="0" rIns="0" bIns="0" anchor="ctr">
            <a:spAutoFit/>
          </a:bodyPr>
          <a:lstStyle/>
          <a:p>
            <a:pPr algn="l"/>
            <a:r>
              <a:rPr sz="1400" b="0" i="0">
                <a:solidFill>
                  <a:srgbClr val="2B3440"/>
                </a:solidFill>
                <a:latin typeface="Calibri"/>
              </a:rPr>
              <a:t>le diagnostic qui précède tout remède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point de départ : un réseau en overfitting</a:t>
            </a:r>
          </a:p>
        </p:txBody>
      </p:sp>
      <p:sp>
        <p:nvSpPr>
          <p:cNvPr id="4" name="Rounded Rectangle 3"/>
          <p:cNvSpPr/>
          <p:nvPr/>
        </p:nvSpPr>
        <p:spPr>
          <a:xfrm>
            <a:off x="566928" y="1956816"/>
            <a:ext cx="4617720" cy="4398264"/>
          </a:xfrm>
          <a:prstGeom prst="roundRect">
            <a:avLst>
              <a:gd name="adj" fmla="val 291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0,911</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gap moyen entre validation loss et training loss</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1" i="0">
                <a:solidFill>
                  <a:srgbClr val="6D2E46"/>
                </a:solidFill>
                <a:latin typeface="Calibri"/>
              </a:rPr>
              <a:t>61 185</a:t>
            </a:r>
            <a:r>
              <a:rPr sz="1600" b="0" i="0">
                <a:solidFill>
                  <a:srgbClr val="2B3440"/>
                </a:solidFill>
                <a:latin typeface="Calibri"/>
              </a:rPr>
              <a:t> paramètres pour </a:t>
            </a:r>
            <a:r>
              <a:rPr sz="1600" b="1" i="0">
                <a:solidFill>
                  <a:srgbClr val="6D2E46"/>
                </a:solidFill>
                <a:latin typeface="Calibri"/>
              </a:rPr>
              <a:t>10 100</a:t>
            </a:r>
            <a:r>
              <a:rPr sz="1600" b="0" i="0">
                <a:solidFill>
                  <a:srgbClr val="2B3440"/>
                </a:solidFill>
                <a:latin typeface="Calibri"/>
              </a:rPr>
              <a:t> lignes : six fois plus de paramètres que d'exemples.</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Sans régularisation : AUC </a:t>
            </a:r>
            <a:r>
              <a:rPr sz="1600" b="1" i="0">
                <a:solidFill>
                  <a:srgbClr val="6D2E46"/>
                </a:solidFill>
                <a:latin typeface="Calibri"/>
              </a:rPr>
              <a:t>0,8023</a:t>
            </a:r>
            <a:r>
              <a:rPr sz="1600" b="0" i="0">
                <a:solidFill>
                  <a:srgbClr val="2B3440"/>
                </a:solidFill>
                <a:latin typeface="Calibri"/>
              </a:rPr>
              <a:t>, écart-type </a:t>
            </a:r>
            <a:r>
              <a:rPr sz="1600" b="1" i="0">
                <a:solidFill>
                  <a:srgbClr val="6D2E46"/>
                </a:solidFill>
                <a:latin typeface="Calibri"/>
              </a:rPr>
              <a:t>0,0112</a:t>
            </a:r>
            <a:r>
              <a:rPr sz="1600" b="0" i="0">
                <a:solidFill>
                  <a:srgbClr val="2B3440"/>
                </a:solidFill>
                <a:latin typeface="Calibri"/>
              </a:rPr>
              <a:t> sur trois seeds, 40 epochs.</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La training loss tend vers zéro ; la validation remonte après quelques epochs.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Rappel : underfitting et overfitting</a:t>
            </a:r>
          </a:p>
        </p:txBody>
      </p:sp>
      <p:sp>
        <p:nvSpPr>
          <p:cNvPr id="4" name="Rounded Rectangle 3"/>
          <p:cNvSpPr/>
          <p:nvPr/>
        </p:nvSpPr>
        <p:spPr>
          <a:xfrm>
            <a:off x="566928" y="1883664"/>
            <a:ext cx="11057839" cy="3529583"/>
          </a:xfrm>
          <a:prstGeom prst="roundRect">
            <a:avLst>
              <a:gd name="adj" fmla="val 362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ias-variance.png"/>
          <p:cNvPicPr>
            <a:picLocks noChangeAspect="1"/>
          </p:cNvPicPr>
          <p:nvPr/>
        </p:nvPicPr>
        <p:blipFill>
          <a:blip r:embed="rId3"/>
          <a:stretch>
            <a:fillRect/>
          </a:stretch>
        </p:blipFill>
        <p:spPr>
          <a:xfrm>
            <a:off x="1731111" y="2011680"/>
            <a:ext cx="8729471" cy="3273551"/>
          </a:xfrm>
          <a:prstGeom prst="rect">
            <a:avLst/>
          </a:prstGeom>
        </p:spPr>
      </p:pic>
      <p:sp>
        <p:nvSpPr>
          <p:cNvPr id="6" name="Rounded Rectangle 5"/>
          <p:cNvSpPr/>
          <p:nvPr/>
        </p:nvSpPr>
        <p:spPr>
          <a:xfrm>
            <a:off x="566928" y="5596127"/>
            <a:ext cx="11057839" cy="786384"/>
          </a:xfrm>
          <a:prstGeom prst="roundRect">
            <a:avLst>
              <a:gd name="adj" fmla="val 16279"/>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678423"/>
            <a:ext cx="10472623" cy="62179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Trop simple, le modèle rate la structure (biais) ; trop souple, il épouse le bruit (variance). Notre réseau de 61 185 paramètres est du côté droit : il faut le ramener vers le milieu sans le rendre aveugle.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Mémoriser n'est pas généraliser, et personne ne sait tout à fait pourquoi les réseaux généralisent.</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Zhang et al. (2017) : un réseau peut apprendre par coeur des étiquettes tirées au hasard. Les arguments classiques de capacité n'expliquent donc pas, seuls, pourquoi les réseaux généralisent : c'est une question ouverte.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Six remèdes : le problème, le mécanisme, le coût</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1528532" cy="310896"/>
          </a:xfrm>
          <a:prstGeom prst="rect">
            <a:avLst/>
          </a:prstGeom>
          <a:noFill/>
        </p:spPr>
        <p:txBody>
          <a:bodyPr wrap="square" lIns="0" tIns="0" rIns="0" bIns="0" anchor="ctr">
            <a:spAutoFit/>
          </a:bodyPr>
          <a:lstStyle/>
          <a:p>
            <a:pPr algn="l"/>
            <a:r>
              <a:rPr sz="1300" b="1" i="0">
                <a:solidFill>
                  <a:srgbClr val="6D2E46"/>
                </a:solidFill>
                <a:latin typeface="Calibri"/>
              </a:rPr>
              <a:t>Remède</a:t>
            </a:r>
          </a:p>
        </p:txBody>
      </p:sp>
      <p:sp>
        <p:nvSpPr>
          <p:cNvPr id="6" name="TextBox 5"/>
          <p:cNvSpPr txBox="1"/>
          <p:nvPr/>
        </p:nvSpPr>
        <p:spPr>
          <a:xfrm>
            <a:off x="2589236" y="1901952"/>
            <a:ext cx="2324697" cy="310896"/>
          </a:xfrm>
          <a:prstGeom prst="rect">
            <a:avLst/>
          </a:prstGeom>
          <a:noFill/>
        </p:spPr>
        <p:txBody>
          <a:bodyPr wrap="square" lIns="0" tIns="0" rIns="0" bIns="0" anchor="ctr">
            <a:spAutoFit/>
          </a:bodyPr>
          <a:lstStyle/>
          <a:p>
            <a:pPr algn="l"/>
            <a:r>
              <a:rPr sz="1300" b="1" i="0">
                <a:solidFill>
                  <a:srgbClr val="6D2E46"/>
                </a:solidFill>
                <a:latin typeface="Calibri"/>
              </a:rPr>
              <a:t>Problème traité</a:t>
            </a:r>
          </a:p>
        </p:txBody>
      </p:sp>
      <p:sp>
        <p:nvSpPr>
          <p:cNvPr id="7" name="TextBox 6"/>
          <p:cNvSpPr txBox="1"/>
          <p:nvPr/>
        </p:nvSpPr>
        <p:spPr>
          <a:xfrm>
            <a:off x="5243118" y="1901952"/>
            <a:ext cx="3386249" cy="310896"/>
          </a:xfrm>
          <a:prstGeom prst="rect">
            <a:avLst/>
          </a:prstGeom>
          <a:noFill/>
        </p:spPr>
        <p:txBody>
          <a:bodyPr wrap="square" lIns="0" tIns="0" rIns="0" bIns="0" anchor="ctr">
            <a:spAutoFit/>
          </a:bodyPr>
          <a:lstStyle/>
          <a:p>
            <a:pPr algn="l"/>
            <a:r>
              <a:rPr sz="1300" b="1" i="0">
                <a:solidFill>
                  <a:srgbClr val="6D2E46"/>
                </a:solidFill>
                <a:latin typeface="Calibri"/>
              </a:rPr>
              <a:t>Mécanisme</a:t>
            </a:r>
          </a:p>
        </p:txBody>
      </p:sp>
      <p:sp>
        <p:nvSpPr>
          <p:cNvPr id="8" name="TextBox 7"/>
          <p:cNvSpPr txBox="1"/>
          <p:nvPr/>
        </p:nvSpPr>
        <p:spPr>
          <a:xfrm>
            <a:off x="8958552" y="1901952"/>
            <a:ext cx="2501622" cy="310896"/>
          </a:xfrm>
          <a:prstGeom prst="rect">
            <a:avLst/>
          </a:prstGeom>
          <a:noFill/>
        </p:spPr>
        <p:txBody>
          <a:bodyPr wrap="square" lIns="0" tIns="0" rIns="0" bIns="0" anchor="ctr">
            <a:spAutoFit/>
          </a:bodyPr>
          <a:lstStyle/>
          <a:p>
            <a:pPr algn="l"/>
            <a:r>
              <a:rPr sz="1300" b="1" i="0">
                <a:solidFill>
                  <a:srgbClr val="6D2E46"/>
                </a:solidFill>
                <a:latin typeface="Calibri"/>
              </a:rPr>
              <a:t>Coût</a:t>
            </a:r>
          </a:p>
        </p:txBody>
      </p:sp>
      <p:sp>
        <p:nvSpPr>
          <p:cNvPr id="9" name="Rectangle 8"/>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1528532" cy="475488"/>
          </a:xfrm>
          <a:prstGeom prst="rect">
            <a:avLst/>
          </a:prstGeom>
          <a:noFill/>
        </p:spPr>
        <p:txBody>
          <a:bodyPr wrap="square" lIns="0" tIns="0" rIns="0" bIns="0" anchor="ctr">
            <a:spAutoFit/>
          </a:bodyPr>
          <a:lstStyle/>
          <a:p>
            <a:pPr algn="l"/>
            <a:r>
              <a:rPr sz="1400" b="0" i="0">
                <a:solidFill>
                  <a:srgbClr val="2B3440"/>
                </a:solidFill>
                <a:latin typeface="Calibri"/>
              </a:rPr>
              <a:t>Early stopping</a:t>
            </a:r>
          </a:p>
        </p:txBody>
      </p:sp>
      <p:sp>
        <p:nvSpPr>
          <p:cNvPr id="11" name="TextBox 10"/>
          <p:cNvSpPr txBox="1"/>
          <p:nvPr/>
        </p:nvSpPr>
        <p:spPr>
          <a:xfrm>
            <a:off x="2589236" y="2322576"/>
            <a:ext cx="2324697" cy="475488"/>
          </a:xfrm>
          <a:prstGeom prst="rect">
            <a:avLst/>
          </a:prstGeom>
          <a:noFill/>
        </p:spPr>
        <p:txBody>
          <a:bodyPr wrap="square" lIns="0" tIns="0" rIns="0" bIns="0" anchor="ctr">
            <a:spAutoFit/>
          </a:bodyPr>
          <a:lstStyle/>
          <a:p>
            <a:pPr algn="l"/>
            <a:r>
              <a:rPr sz="1400" b="0" i="0">
                <a:solidFill>
                  <a:srgbClr val="2B3440"/>
                </a:solidFill>
                <a:latin typeface="Calibri"/>
              </a:rPr>
              <a:t>on continue après le minimum</a:t>
            </a:r>
          </a:p>
        </p:txBody>
      </p:sp>
      <p:sp>
        <p:nvSpPr>
          <p:cNvPr id="12" name="TextBox 11"/>
          <p:cNvSpPr txBox="1"/>
          <p:nvPr/>
        </p:nvSpPr>
        <p:spPr>
          <a:xfrm>
            <a:off x="5243118" y="2322576"/>
            <a:ext cx="3386249" cy="475488"/>
          </a:xfrm>
          <a:prstGeom prst="rect">
            <a:avLst/>
          </a:prstGeom>
          <a:noFill/>
        </p:spPr>
        <p:txBody>
          <a:bodyPr wrap="square" lIns="0" tIns="0" rIns="0" bIns="0" anchor="ctr">
            <a:spAutoFit/>
          </a:bodyPr>
          <a:lstStyle/>
          <a:p>
            <a:pPr algn="l"/>
            <a:r>
              <a:rPr sz="1400" b="0" i="0">
                <a:solidFill>
                  <a:srgbClr val="2B3440"/>
                </a:solidFill>
                <a:latin typeface="Calibri"/>
              </a:rPr>
              <a:t>stopper, restaurer la meilleure epoch</a:t>
            </a:r>
          </a:p>
        </p:txBody>
      </p:sp>
      <p:sp>
        <p:nvSpPr>
          <p:cNvPr id="13" name="TextBox 12"/>
          <p:cNvSpPr txBox="1"/>
          <p:nvPr/>
        </p:nvSpPr>
        <p:spPr>
          <a:xfrm>
            <a:off x="8958552" y="2322576"/>
            <a:ext cx="2501622" cy="475488"/>
          </a:xfrm>
          <a:prstGeom prst="rect">
            <a:avLst/>
          </a:prstGeom>
          <a:noFill/>
        </p:spPr>
        <p:txBody>
          <a:bodyPr wrap="square" lIns="0" tIns="0" rIns="0" bIns="0" anchor="ctr">
            <a:spAutoFit/>
          </a:bodyPr>
          <a:lstStyle/>
          <a:p>
            <a:pPr algn="l"/>
            <a:r>
              <a:rPr sz="1400" b="0" i="0">
                <a:solidFill>
                  <a:srgbClr val="2B3440"/>
                </a:solidFill>
                <a:latin typeface="Calibri"/>
              </a:rPr>
              <a:t>une validation, une patience</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1528532" cy="475488"/>
          </a:xfrm>
          <a:prstGeom prst="rect">
            <a:avLst/>
          </a:prstGeom>
          <a:noFill/>
        </p:spPr>
        <p:txBody>
          <a:bodyPr wrap="square" lIns="0" tIns="0" rIns="0" bIns="0" anchor="ctr">
            <a:spAutoFit/>
          </a:bodyPr>
          <a:lstStyle/>
          <a:p>
            <a:pPr algn="l"/>
            <a:r>
              <a:rPr sz="1400" b="0" i="0">
                <a:solidFill>
                  <a:srgbClr val="2B3440"/>
                </a:solidFill>
                <a:latin typeface="Calibri"/>
              </a:rPr>
              <a:t>Weight decay</a:t>
            </a:r>
          </a:p>
        </p:txBody>
      </p:sp>
      <p:sp>
        <p:nvSpPr>
          <p:cNvPr id="16" name="TextBox 15"/>
          <p:cNvSpPr txBox="1"/>
          <p:nvPr/>
        </p:nvSpPr>
        <p:spPr>
          <a:xfrm>
            <a:off x="2589236" y="2907792"/>
            <a:ext cx="2324697" cy="475488"/>
          </a:xfrm>
          <a:prstGeom prst="rect">
            <a:avLst/>
          </a:prstGeom>
          <a:noFill/>
        </p:spPr>
        <p:txBody>
          <a:bodyPr wrap="square" lIns="0" tIns="0" rIns="0" bIns="0" anchor="ctr">
            <a:spAutoFit/>
          </a:bodyPr>
          <a:lstStyle/>
          <a:p>
            <a:pPr algn="l"/>
            <a:r>
              <a:rPr sz="1400" b="0" i="0">
                <a:solidFill>
                  <a:srgbClr val="2B3440"/>
                </a:solidFill>
                <a:latin typeface="Calibri"/>
              </a:rPr>
              <a:t>des poids trop grands</a:t>
            </a:r>
          </a:p>
        </p:txBody>
      </p:sp>
      <p:sp>
        <p:nvSpPr>
          <p:cNvPr id="17" name="TextBox 16"/>
          <p:cNvSpPr txBox="1"/>
          <p:nvPr/>
        </p:nvSpPr>
        <p:spPr>
          <a:xfrm>
            <a:off x="5243118" y="2907792"/>
            <a:ext cx="3386249" cy="475488"/>
          </a:xfrm>
          <a:prstGeom prst="rect">
            <a:avLst/>
          </a:prstGeom>
          <a:noFill/>
        </p:spPr>
        <p:txBody>
          <a:bodyPr wrap="square" lIns="0" tIns="0" rIns="0" bIns="0" anchor="ctr">
            <a:spAutoFit/>
          </a:bodyPr>
          <a:lstStyle/>
          <a:p>
            <a:pPr algn="l"/>
            <a:r>
              <a:rPr sz="1400" b="0" i="0">
                <a:solidFill>
                  <a:srgbClr val="2B3440"/>
                </a:solidFill>
                <a:latin typeface="Calibri"/>
              </a:rPr>
              <a:t>pénalité λ‖θ‖² : c'est Ridge</a:t>
            </a:r>
          </a:p>
        </p:txBody>
      </p:sp>
      <p:sp>
        <p:nvSpPr>
          <p:cNvPr id="18" name="TextBox 17"/>
          <p:cNvSpPr txBox="1"/>
          <p:nvPr/>
        </p:nvSpPr>
        <p:spPr>
          <a:xfrm>
            <a:off x="8958552" y="2907792"/>
            <a:ext cx="2501622" cy="475488"/>
          </a:xfrm>
          <a:prstGeom prst="rect">
            <a:avLst/>
          </a:prstGeom>
          <a:noFill/>
        </p:spPr>
        <p:txBody>
          <a:bodyPr wrap="square" lIns="0" tIns="0" rIns="0" bIns="0" anchor="ctr">
            <a:spAutoFit/>
          </a:bodyPr>
          <a:lstStyle/>
          <a:p>
            <a:pPr algn="l"/>
            <a:r>
              <a:rPr sz="1400" b="0" i="0">
                <a:solidFill>
                  <a:srgbClr val="2B3440"/>
                </a:solidFill>
                <a:latin typeface="Calibri"/>
              </a:rPr>
              <a:t>une force à régler</a:t>
            </a:r>
          </a:p>
        </p:txBody>
      </p:sp>
      <p:sp>
        <p:nvSpPr>
          <p:cNvPr id="19" name="Rectangle 18"/>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93008"/>
            <a:ext cx="1528532" cy="475488"/>
          </a:xfrm>
          <a:prstGeom prst="rect">
            <a:avLst/>
          </a:prstGeom>
          <a:noFill/>
        </p:spPr>
        <p:txBody>
          <a:bodyPr wrap="square" lIns="0" tIns="0" rIns="0" bIns="0" anchor="ctr">
            <a:spAutoFit/>
          </a:bodyPr>
          <a:lstStyle/>
          <a:p>
            <a:pPr algn="l"/>
            <a:r>
              <a:rPr sz="1400" b="0" i="0">
                <a:solidFill>
                  <a:srgbClr val="2B3440"/>
                </a:solidFill>
                <a:latin typeface="Calibri"/>
              </a:rPr>
              <a:t>Dropout</a:t>
            </a:r>
          </a:p>
        </p:txBody>
      </p:sp>
      <p:sp>
        <p:nvSpPr>
          <p:cNvPr id="21" name="TextBox 20"/>
          <p:cNvSpPr txBox="1"/>
          <p:nvPr/>
        </p:nvSpPr>
        <p:spPr>
          <a:xfrm>
            <a:off x="2589236" y="3493008"/>
            <a:ext cx="2324697" cy="475488"/>
          </a:xfrm>
          <a:prstGeom prst="rect">
            <a:avLst/>
          </a:prstGeom>
          <a:noFill/>
        </p:spPr>
        <p:txBody>
          <a:bodyPr wrap="square" lIns="0" tIns="0" rIns="0" bIns="0" anchor="ctr">
            <a:spAutoFit/>
          </a:bodyPr>
          <a:lstStyle/>
          <a:p>
            <a:pPr algn="l"/>
            <a:r>
              <a:rPr sz="1400" b="0" i="0">
                <a:solidFill>
                  <a:srgbClr val="2B3440"/>
                </a:solidFill>
                <a:latin typeface="Calibri"/>
              </a:rPr>
              <a:t>des unités co-adaptées</a:t>
            </a:r>
          </a:p>
        </p:txBody>
      </p:sp>
      <p:sp>
        <p:nvSpPr>
          <p:cNvPr id="22" name="TextBox 21"/>
          <p:cNvSpPr txBox="1"/>
          <p:nvPr/>
        </p:nvSpPr>
        <p:spPr>
          <a:xfrm>
            <a:off x="5243118" y="3493008"/>
            <a:ext cx="3386249" cy="475488"/>
          </a:xfrm>
          <a:prstGeom prst="rect">
            <a:avLst/>
          </a:prstGeom>
          <a:noFill/>
        </p:spPr>
        <p:txBody>
          <a:bodyPr wrap="square" lIns="0" tIns="0" rIns="0" bIns="0" anchor="ctr">
            <a:spAutoFit/>
          </a:bodyPr>
          <a:lstStyle/>
          <a:p>
            <a:pPr algn="l"/>
            <a:r>
              <a:rPr sz="1400" b="0" i="0">
                <a:solidFill>
                  <a:srgbClr val="2B3440"/>
                </a:solidFill>
                <a:latin typeface="Calibri"/>
              </a:rPr>
              <a:t>éteindre chaque unité avec la probabilité p</a:t>
            </a:r>
          </a:p>
        </p:txBody>
      </p:sp>
      <p:sp>
        <p:nvSpPr>
          <p:cNvPr id="23" name="TextBox 22"/>
          <p:cNvSpPr txBox="1"/>
          <p:nvPr/>
        </p:nvSpPr>
        <p:spPr>
          <a:xfrm>
            <a:off x="8958552" y="3493008"/>
            <a:ext cx="2501622" cy="475488"/>
          </a:xfrm>
          <a:prstGeom prst="rect">
            <a:avLst/>
          </a:prstGeom>
          <a:noFill/>
        </p:spPr>
        <p:txBody>
          <a:bodyPr wrap="square" lIns="0" tIns="0" rIns="0" bIns="0" anchor="ctr">
            <a:spAutoFit/>
          </a:bodyPr>
          <a:lstStyle/>
          <a:p>
            <a:pPr algn="l"/>
            <a:r>
              <a:rPr sz="1400" b="0" i="0">
                <a:solidFill>
                  <a:srgbClr val="2B3440"/>
                </a:solidFill>
                <a:latin typeface="Calibri"/>
              </a:rPr>
              <a:t>convergence plus lente</a:t>
            </a:r>
          </a:p>
        </p:txBody>
      </p:sp>
      <p:sp>
        <p:nvSpPr>
          <p:cNvPr id="24" name="Rectangle 23"/>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078224"/>
            <a:ext cx="1528532" cy="475488"/>
          </a:xfrm>
          <a:prstGeom prst="rect">
            <a:avLst/>
          </a:prstGeom>
          <a:noFill/>
        </p:spPr>
        <p:txBody>
          <a:bodyPr wrap="square" lIns="0" tIns="0" rIns="0" bIns="0" anchor="ctr">
            <a:spAutoFit/>
          </a:bodyPr>
          <a:lstStyle/>
          <a:p>
            <a:pPr algn="l"/>
            <a:r>
              <a:rPr sz="1400" b="0" i="0">
                <a:solidFill>
                  <a:srgbClr val="2B3440"/>
                </a:solidFill>
                <a:latin typeface="Calibri"/>
              </a:rPr>
              <a:t>Batch norm</a:t>
            </a:r>
          </a:p>
        </p:txBody>
      </p:sp>
      <p:sp>
        <p:nvSpPr>
          <p:cNvPr id="26" name="TextBox 25"/>
          <p:cNvSpPr txBox="1"/>
          <p:nvPr/>
        </p:nvSpPr>
        <p:spPr>
          <a:xfrm>
            <a:off x="2589236" y="4078224"/>
            <a:ext cx="2324697" cy="475488"/>
          </a:xfrm>
          <a:prstGeom prst="rect">
            <a:avLst/>
          </a:prstGeom>
          <a:noFill/>
        </p:spPr>
        <p:txBody>
          <a:bodyPr wrap="square" lIns="0" tIns="0" rIns="0" bIns="0" anchor="ctr">
            <a:spAutoFit/>
          </a:bodyPr>
          <a:lstStyle/>
          <a:p>
            <a:pPr algn="l"/>
            <a:r>
              <a:rPr sz="1400" b="0" i="0">
                <a:solidFill>
                  <a:srgbClr val="2B3440"/>
                </a:solidFill>
                <a:latin typeface="Calibri"/>
              </a:rPr>
              <a:t>activations mal échelonnées</a:t>
            </a:r>
          </a:p>
        </p:txBody>
      </p:sp>
      <p:sp>
        <p:nvSpPr>
          <p:cNvPr id="27" name="TextBox 26"/>
          <p:cNvSpPr txBox="1"/>
          <p:nvPr/>
        </p:nvSpPr>
        <p:spPr>
          <a:xfrm>
            <a:off x="5243118" y="4078224"/>
            <a:ext cx="3386249" cy="475488"/>
          </a:xfrm>
          <a:prstGeom prst="rect">
            <a:avLst/>
          </a:prstGeom>
          <a:noFill/>
        </p:spPr>
        <p:txBody>
          <a:bodyPr wrap="square" lIns="0" tIns="0" rIns="0" bIns="0" anchor="ctr">
            <a:spAutoFit/>
          </a:bodyPr>
          <a:lstStyle/>
          <a:p>
            <a:pPr algn="l"/>
            <a:r>
              <a:rPr sz="1400" b="0" i="0">
                <a:solidFill>
                  <a:srgbClr val="2B3440"/>
                </a:solidFill>
                <a:latin typeface="Calibri"/>
              </a:rPr>
              <a:t>normaliser chaque unité sur le batch</a:t>
            </a:r>
          </a:p>
        </p:txBody>
      </p:sp>
      <p:sp>
        <p:nvSpPr>
          <p:cNvPr id="28" name="TextBox 27"/>
          <p:cNvSpPr txBox="1"/>
          <p:nvPr/>
        </p:nvSpPr>
        <p:spPr>
          <a:xfrm>
            <a:off x="8958552" y="4078224"/>
            <a:ext cx="2501622" cy="475488"/>
          </a:xfrm>
          <a:prstGeom prst="rect">
            <a:avLst/>
          </a:prstGeom>
          <a:noFill/>
        </p:spPr>
        <p:txBody>
          <a:bodyPr wrap="square" lIns="0" tIns="0" rIns="0" bIns="0" anchor="ctr">
            <a:spAutoFit/>
          </a:bodyPr>
          <a:lstStyle/>
          <a:p>
            <a:pPr algn="l"/>
            <a:r>
              <a:rPr sz="1400" b="0" i="0">
                <a:solidFill>
                  <a:srgbClr val="2B3440"/>
                </a:solidFill>
                <a:latin typeface="Calibri"/>
              </a:rPr>
              <a:t>dépend du batch ; mécanisme débattu</a:t>
            </a:r>
          </a:p>
        </p:txBody>
      </p:sp>
      <p:sp>
        <p:nvSpPr>
          <p:cNvPr id="29" name="Rectangle 28"/>
          <p:cNvSpPr/>
          <p:nvPr/>
        </p:nvSpPr>
        <p:spPr>
          <a:xfrm>
            <a:off x="566928" y="4608576"/>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663440"/>
            <a:ext cx="1528532" cy="475488"/>
          </a:xfrm>
          <a:prstGeom prst="rect">
            <a:avLst/>
          </a:prstGeom>
          <a:noFill/>
        </p:spPr>
        <p:txBody>
          <a:bodyPr wrap="square" lIns="0" tIns="0" rIns="0" bIns="0" anchor="ctr">
            <a:spAutoFit/>
          </a:bodyPr>
          <a:lstStyle/>
          <a:p>
            <a:pPr algn="l"/>
            <a:r>
              <a:rPr sz="1400" b="0" i="0">
                <a:solidFill>
                  <a:srgbClr val="2B3440"/>
                </a:solidFill>
                <a:latin typeface="Calibri"/>
              </a:rPr>
              <a:t>Layer norm</a:t>
            </a:r>
          </a:p>
        </p:txBody>
      </p:sp>
      <p:sp>
        <p:nvSpPr>
          <p:cNvPr id="31" name="TextBox 30"/>
          <p:cNvSpPr txBox="1"/>
          <p:nvPr/>
        </p:nvSpPr>
        <p:spPr>
          <a:xfrm>
            <a:off x="2589236" y="4663440"/>
            <a:ext cx="2324697" cy="475488"/>
          </a:xfrm>
          <a:prstGeom prst="rect">
            <a:avLst/>
          </a:prstGeom>
          <a:noFill/>
        </p:spPr>
        <p:txBody>
          <a:bodyPr wrap="square" lIns="0" tIns="0" rIns="0" bIns="0" anchor="ctr">
            <a:spAutoFit/>
          </a:bodyPr>
          <a:lstStyle/>
          <a:p>
            <a:pPr algn="l"/>
            <a:r>
              <a:rPr sz="1400" b="0" i="0">
                <a:solidFill>
                  <a:srgbClr val="2B3440"/>
                </a:solidFill>
                <a:latin typeface="Calibri"/>
              </a:rPr>
              <a:t>idem, sans dépendre du batch</a:t>
            </a:r>
          </a:p>
        </p:txBody>
      </p:sp>
      <p:sp>
        <p:nvSpPr>
          <p:cNvPr id="32" name="TextBox 31"/>
          <p:cNvSpPr txBox="1"/>
          <p:nvPr/>
        </p:nvSpPr>
        <p:spPr>
          <a:xfrm>
            <a:off x="5243118" y="4663440"/>
            <a:ext cx="3386249" cy="475488"/>
          </a:xfrm>
          <a:prstGeom prst="rect">
            <a:avLst/>
          </a:prstGeom>
          <a:noFill/>
        </p:spPr>
        <p:txBody>
          <a:bodyPr wrap="square" lIns="0" tIns="0" rIns="0" bIns="0" anchor="ctr">
            <a:spAutoFit/>
          </a:bodyPr>
          <a:lstStyle/>
          <a:p>
            <a:pPr algn="l"/>
            <a:r>
              <a:rPr sz="1400" b="0" i="0">
                <a:solidFill>
                  <a:srgbClr val="2B3440"/>
                </a:solidFill>
                <a:latin typeface="Calibri"/>
              </a:rPr>
              <a:t>normaliser chaque exemple sur ses unités</a:t>
            </a:r>
          </a:p>
        </p:txBody>
      </p:sp>
      <p:sp>
        <p:nvSpPr>
          <p:cNvPr id="33" name="TextBox 32"/>
          <p:cNvSpPr txBox="1"/>
          <p:nvPr/>
        </p:nvSpPr>
        <p:spPr>
          <a:xfrm>
            <a:off x="8958552" y="4663440"/>
            <a:ext cx="2501622" cy="475488"/>
          </a:xfrm>
          <a:prstGeom prst="rect">
            <a:avLst/>
          </a:prstGeom>
          <a:noFill/>
        </p:spPr>
        <p:txBody>
          <a:bodyPr wrap="square" lIns="0" tIns="0" rIns="0" bIns="0" anchor="ctr">
            <a:spAutoFit/>
          </a:bodyPr>
          <a:lstStyle/>
          <a:p>
            <a:pPr algn="l"/>
            <a:r>
              <a:rPr sz="1400" b="0" i="0">
                <a:solidFill>
                  <a:srgbClr val="2B3440"/>
                </a:solidFill>
                <a:latin typeface="Calibri"/>
              </a:rPr>
              <a:t>presque aucun</a:t>
            </a:r>
          </a:p>
        </p:txBody>
      </p:sp>
      <p:sp>
        <p:nvSpPr>
          <p:cNvPr id="34" name="Rectangle 33"/>
          <p:cNvSpPr/>
          <p:nvPr/>
        </p:nvSpPr>
        <p:spPr>
          <a:xfrm>
            <a:off x="566928" y="5193792"/>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5248655"/>
            <a:ext cx="1528532" cy="475488"/>
          </a:xfrm>
          <a:prstGeom prst="rect">
            <a:avLst/>
          </a:prstGeom>
          <a:noFill/>
        </p:spPr>
        <p:txBody>
          <a:bodyPr wrap="square" lIns="0" tIns="0" rIns="0" bIns="0" anchor="ctr">
            <a:spAutoFit/>
          </a:bodyPr>
          <a:lstStyle/>
          <a:p>
            <a:pPr algn="l"/>
            <a:r>
              <a:rPr sz="1400" b="0" i="0">
                <a:solidFill>
                  <a:srgbClr val="2B3440"/>
                </a:solidFill>
                <a:latin typeface="Calibri"/>
              </a:rPr>
              <a:t>Data augmentation</a:t>
            </a:r>
          </a:p>
        </p:txBody>
      </p:sp>
      <p:sp>
        <p:nvSpPr>
          <p:cNvPr id="36" name="TextBox 35"/>
          <p:cNvSpPr txBox="1"/>
          <p:nvPr/>
        </p:nvSpPr>
        <p:spPr>
          <a:xfrm>
            <a:off x="2589236" y="5248655"/>
            <a:ext cx="2324697" cy="475488"/>
          </a:xfrm>
          <a:prstGeom prst="rect">
            <a:avLst/>
          </a:prstGeom>
          <a:noFill/>
        </p:spPr>
        <p:txBody>
          <a:bodyPr wrap="square" lIns="0" tIns="0" rIns="0" bIns="0" anchor="ctr">
            <a:spAutoFit/>
          </a:bodyPr>
          <a:lstStyle/>
          <a:p>
            <a:pPr algn="l"/>
            <a:r>
              <a:rPr sz="1400" b="0" i="0">
                <a:solidFill>
                  <a:srgbClr val="2B3440"/>
                </a:solidFill>
                <a:latin typeface="Calibri"/>
              </a:rPr>
              <a:t>trop peu de diversité</a:t>
            </a:r>
          </a:p>
        </p:txBody>
      </p:sp>
      <p:sp>
        <p:nvSpPr>
          <p:cNvPr id="37" name="TextBox 36"/>
          <p:cNvSpPr txBox="1"/>
          <p:nvPr/>
        </p:nvSpPr>
        <p:spPr>
          <a:xfrm>
            <a:off x="5243118" y="5248655"/>
            <a:ext cx="3386249" cy="475488"/>
          </a:xfrm>
          <a:prstGeom prst="rect">
            <a:avLst/>
          </a:prstGeom>
          <a:noFill/>
        </p:spPr>
        <p:txBody>
          <a:bodyPr wrap="square" lIns="0" tIns="0" rIns="0" bIns="0" anchor="ctr">
            <a:spAutoFit/>
          </a:bodyPr>
          <a:lstStyle/>
          <a:p>
            <a:pPr algn="l"/>
            <a:r>
              <a:rPr sz="1400" b="0" i="0">
                <a:solidFill>
                  <a:srgbClr val="2B3440"/>
                </a:solidFill>
                <a:latin typeface="Calibri"/>
              </a:rPr>
              <a:t>transformer l'entrée sans changer la cible</a:t>
            </a:r>
          </a:p>
        </p:txBody>
      </p:sp>
      <p:sp>
        <p:nvSpPr>
          <p:cNvPr id="38" name="TextBox 37"/>
          <p:cNvSpPr txBox="1"/>
          <p:nvPr/>
        </p:nvSpPr>
        <p:spPr>
          <a:xfrm>
            <a:off x="8958552" y="5248655"/>
            <a:ext cx="2501622" cy="475488"/>
          </a:xfrm>
          <a:prstGeom prst="rect">
            <a:avLst/>
          </a:prstGeom>
          <a:noFill/>
        </p:spPr>
        <p:txBody>
          <a:bodyPr wrap="square" lIns="0" tIns="0" rIns="0" bIns="0" anchor="ctr">
            <a:spAutoFit/>
          </a:bodyPr>
          <a:lstStyle/>
          <a:p>
            <a:pPr algn="l"/>
            <a:r>
              <a:rPr sz="1400" b="0" i="0">
                <a:solidFill>
                  <a:srgbClr val="2B3440"/>
                </a:solidFill>
                <a:latin typeface="Calibri"/>
              </a:rPr>
              <a:t>exige une invariance connue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Early stopping : s'arrêter, et revenir en arrière</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Règle  </a:t>
            </a:r>
            <a:r>
              <a:rPr sz="1600" b="0" i="0">
                <a:solidFill>
                  <a:srgbClr val="2B3440"/>
                </a:solidFill>
                <a:latin typeface="Calibri"/>
              </a:rPr>
              <a:t>arrêter quand la validation n'a pas progressé depuis k epochs (la </a:t>
            </a:r>
            <a:r>
              <a:rPr sz="1600" b="1" i="0">
                <a:solidFill>
                  <a:srgbClr val="6D2E46"/>
                </a:solidFill>
                <a:latin typeface="Calibri"/>
              </a:rPr>
              <a:t>patience</a:t>
            </a:r>
            <a:r>
              <a:rPr sz="1600" b="0" i="0">
                <a:solidFill>
                  <a:srgbClr val="2B3440"/>
                </a:solidFill>
                <a:latin typeface="Calibri"/>
              </a:rPr>
              <a:t>).</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Le geste oublié  restaurer</a:t>
            </a:r>
            <a:r>
              <a:rPr sz="1600" b="0" i="0">
                <a:solidFill>
                  <a:srgbClr val="2B3440"/>
                </a:solidFill>
                <a:latin typeface="Calibri"/>
              </a:rPr>
              <a:t> les poids de la meilleure epoch : sinon on garde le modèle en overfitting.</a:t>
            </a:r>
          </a:p>
        </p:txBody>
      </p:sp>
      <p:sp>
        <p:nvSpPr>
          <p:cNvPr id="8" name="Rounded Rectangle 7"/>
          <p:cNvSpPr/>
          <p:nvPr/>
        </p:nvSpPr>
        <p:spPr>
          <a:xfrm>
            <a:off x="566928" y="3675887"/>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67327"/>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Mesuré en séance 10  +0,0455</a:t>
            </a:r>
            <a:r>
              <a:rPr sz="1600" b="0" i="0">
                <a:solidFill>
                  <a:srgbClr val="2B3440"/>
                </a:solidFill>
                <a:latin typeface="Calibri"/>
              </a:rPr>
              <a:t> d'AUC, et l'entraînement passe de 40 epochs à 8 à 10.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Weight decay : c'est Ridge</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1882383" cy="310896"/>
          </a:xfrm>
          <a:prstGeom prst="rect">
            <a:avLst/>
          </a:prstGeom>
          <a:noFill/>
        </p:spPr>
        <p:txBody>
          <a:bodyPr wrap="square" lIns="0" tIns="0" rIns="0" bIns="0" anchor="ctr">
            <a:spAutoFit/>
          </a:bodyPr>
          <a:lstStyle/>
          <a:p>
            <a:pPr algn="l"/>
            <a:endParaRPr/>
          </a:p>
        </p:txBody>
      </p:sp>
      <p:sp>
        <p:nvSpPr>
          <p:cNvPr id="6" name="TextBox 5"/>
          <p:cNvSpPr txBox="1"/>
          <p:nvPr/>
        </p:nvSpPr>
        <p:spPr>
          <a:xfrm>
            <a:off x="2943087" y="1901952"/>
            <a:ext cx="3725357" cy="310896"/>
          </a:xfrm>
          <a:prstGeom prst="rect">
            <a:avLst/>
          </a:prstGeom>
          <a:noFill/>
        </p:spPr>
        <p:txBody>
          <a:bodyPr wrap="square" lIns="0" tIns="0" rIns="0" bIns="0" anchor="ctr">
            <a:spAutoFit/>
          </a:bodyPr>
          <a:lstStyle/>
          <a:p>
            <a:pPr algn="l"/>
            <a:r>
              <a:rPr sz="1300" b="1" i="0">
                <a:solidFill>
                  <a:srgbClr val="6D2E46"/>
                </a:solidFill>
                <a:latin typeface="Calibri"/>
              </a:rPr>
              <a:t>Séance 4 : Ridge</a:t>
            </a:r>
          </a:p>
        </p:txBody>
      </p:sp>
      <p:sp>
        <p:nvSpPr>
          <p:cNvPr id="7" name="TextBox 6"/>
          <p:cNvSpPr txBox="1"/>
          <p:nvPr/>
        </p:nvSpPr>
        <p:spPr>
          <a:xfrm>
            <a:off x="6997628" y="1901952"/>
            <a:ext cx="4462546" cy="310896"/>
          </a:xfrm>
          <a:prstGeom prst="rect">
            <a:avLst/>
          </a:prstGeom>
          <a:noFill/>
        </p:spPr>
        <p:txBody>
          <a:bodyPr wrap="square" lIns="0" tIns="0" rIns="0" bIns="0" anchor="ctr">
            <a:spAutoFit/>
          </a:bodyPr>
          <a:lstStyle/>
          <a:p>
            <a:pPr algn="l"/>
            <a:r>
              <a:rPr sz="1300" b="1" i="0">
                <a:solidFill>
                  <a:srgbClr val="6D2E46"/>
                </a:solidFill>
                <a:latin typeface="Calibri"/>
              </a:rPr>
              <a:t>Séance 10 : weight decay</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1882383" cy="475488"/>
          </a:xfrm>
          <a:prstGeom prst="rect">
            <a:avLst/>
          </a:prstGeom>
          <a:noFill/>
        </p:spPr>
        <p:txBody>
          <a:bodyPr wrap="square" lIns="0" tIns="0" rIns="0" bIns="0" anchor="ctr">
            <a:spAutoFit/>
          </a:bodyPr>
          <a:lstStyle/>
          <a:p>
            <a:pPr algn="l"/>
            <a:r>
              <a:rPr sz="1400" b="0" i="0">
                <a:solidFill>
                  <a:srgbClr val="2B3440"/>
                </a:solidFill>
                <a:latin typeface="Calibri"/>
              </a:rPr>
              <a:t>La pénalité</a:t>
            </a:r>
          </a:p>
        </p:txBody>
      </p:sp>
      <p:sp>
        <p:nvSpPr>
          <p:cNvPr id="10" name="TextBox 9"/>
          <p:cNvSpPr txBox="1"/>
          <p:nvPr/>
        </p:nvSpPr>
        <p:spPr>
          <a:xfrm>
            <a:off x="2943087" y="2322576"/>
            <a:ext cx="3725357" cy="475488"/>
          </a:xfrm>
          <a:prstGeom prst="rect">
            <a:avLst/>
          </a:prstGeom>
          <a:noFill/>
        </p:spPr>
        <p:txBody>
          <a:bodyPr wrap="square" lIns="0" tIns="0" rIns="0" bIns="0" anchor="ctr">
            <a:spAutoFit/>
          </a:bodyPr>
          <a:lstStyle/>
          <a:p>
            <a:pPr algn="l"/>
            <a:r>
              <a:rPr sz="1400" b="0" i="0">
                <a:solidFill>
                  <a:srgbClr val="2B3440"/>
                </a:solidFill>
                <a:latin typeface="Calibri"/>
              </a:rPr>
              <a:t>λ‖β‖² sur les coefficients</a:t>
            </a:r>
          </a:p>
        </p:txBody>
      </p:sp>
      <p:sp>
        <p:nvSpPr>
          <p:cNvPr id="11" name="TextBox 10"/>
          <p:cNvSpPr txBox="1"/>
          <p:nvPr/>
        </p:nvSpPr>
        <p:spPr>
          <a:xfrm>
            <a:off x="6997628" y="2322576"/>
            <a:ext cx="4462546" cy="475488"/>
          </a:xfrm>
          <a:prstGeom prst="rect">
            <a:avLst/>
          </a:prstGeom>
          <a:noFill/>
        </p:spPr>
        <p:txBody>
          <a:bodyPr wrap="square" lIns="0" tIns="0" rIns="0" bIns="0" anchor="ctr">
            <a:spAutoFit/>
          </a:bodyPr>
          <a:lstStyle/>
          <a:p>
            <a:pPr algn="l"/>
            <a:r>
              <a:rPr sz="1400" b="0" i="0">
                <a:solidFill>
                  <a:srgbClr val="2B3440"/>
                </a:solidFill>
                <a:latin typeface="Calibri"/>
              </a:rPr>
              <a:t>λ‖θ‖² sur tous les paramètres</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1882383" cy="475488"/>
          </a:xfrm>
          <a:prstGeom prst="rect">
            <a:avLst/>
          </a:prstGeom>
          <a:noFill/>
        </p:spPr>
        <p:txBody>
          <a:bodyPr wrap="square" lIns="0" tIns="0" rIns="0" bIns="0" anchor="ctr">
            <a:spAutoFit/>
          </a:bodyPr>
          <a:lstStyle/>
          <a:p>
            <a:pPr algn="l"/>
            <a:r>
              <a:rPr sz="1400" b="0" i="0">
                <a:solidFill>
                  <a:srgbClr val="2B3440"/>
                </a:solidFill>
                <a:latin typeface="Calibri"/>
              </a:rPr>
              <a:t>Le gradient</a:t>
            </a:r>
          </a:p>
        </p:txBody>
      </p:sp>
      <p:sp>
        <p:nvSpPr>
          <p:cNvPr id="14" name="TextBox 13"/>
          <p:cNvSpPr txBox="1"/>
          <p:nvPr/>
        </p:nvSpPr>
        <p:spPr>
          <a:xfrm>
            <a:off x="2943087" y="2907792"/>
            <a:ext cx="3725357" cy="475488"/>
          </a:xfrm>
          <a:prstGeom prst="rect">
            <a:avLst/>
          </a:prstGeom>
          <a:noFill/>
        </p:spPr>
        <p:txBody>
          <a:bodyPr wrap="square" lIns="0" tIns="0" rIns="0" bIns="0" anchor="ctr">
            <a:spAutoFit/>
          </a:bodyPr>
          <a:lstStyle/>
          <a:p>
            <a:pPr algn="l"/>
            <a:r>
              <a:rPr sz="1400" b="0" i="0">
                <a:solidFill>
                  <a:srgbClr val="2B3440"/>
                </a:solidFill>
                <a:latin typeface="Calibri"/>
              </a:rPr>
              <a:t>un terme 2λβ tire chaque coefficient vers zéro</a:t>
            </a:r>
          </a:p>
        </p:txBody>
      </p:sp>
      <p:sp>
        <p:nvSpPr>
          <p:cNvPr id="15" name="TextBox 14"/>
          <p:cNvSpPr txBox="1"/>
          <p:nvPr/>
        </p:nvSpPr>
        <p:spPr>
          <a:xfrm>
            <a:off x="6997628" y="2907792"/>
            <a:ext cx="4462546" cy="475488"/>
          </a:xfrm>
          <a:prstGeom prst="rect">
            <a:avLst/>
          </a:prstGeom>
          <a:noFill/>
        </p:spPr>
        <p:txBody>
          <a:bodyPr wrap="square" lIns="0" tIns="0" rIns="0" bIns="0" anchor="ctr">
            <a:spAutoFit/>
          </a:bodyPr>
          <a:lstStyle/>
          <a:p>
            <a:pPr algn="l"/>
            <a:r>
              <a:rPr sz="1400" b="0" i="0">
                <a:solidFill>
                  <a:srgbClr val="2B3440"/>
                </a:solidFill>
                <a:latin typeface="Calibri"/>
              </a:rPr>
              <a:t>avec SGD, weight_decay = wd vaut (wd / 2)·‖θ‖² : mêmes poids au TD 5</a:t>
            </a:r>
          </a:p>
        </p:txBody>
      </p:sp>
      <p:sp>
        <p:nvSpPr>
          <p:cNvPr id="16" name="Rectangle 15"/>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1882383" cy="475488"/>
          </a:xfrm>
          <a:prstGeom prst="rect">
            <a:avLst/>
          </a:prstGeom>
          <a:noFill/>
        </p:spPr>
        <p:txBody>
          <a:bodyPr wrap="square" lIns="0" tIns="0" rIns="0" bIns="0" anchor="ctr">
            <a:spAutoFit/>
          </a:bodyPr>
          <a:lstStyle/>
          <a:p>
            <a:pPr algn="l"/>
            <a:r>
              <a:rPr sz="1400" b="0" i="0">
                <a:solidFill>
                  <a:srgbClr val="2B3440"/>
                </a:solidFill>
                <a:latin typeface="Calibri"/>
              </a:rPr>
              <a:t>L'effet mesuré</a:t>
            </a:r>
          </a:p>
        </p:txBody>
      </p:sp>
      <p:sp>
        <p:nvSpPr>
          <p:cNvPr id="18" name="TextBox 17"/>
          <p:cNvSpPr txBox="1"/>
          <p:nvPr/>
        </p:nvSpPr>
        <p:spPr>
          <a:xfrm>
            <a:off x="2943087" y="3493008"/>
            <a:ext cx="3725357" cy="475488"/>
          </a:xfrm>
          <a:prstGeom prst="rect">
            <a:avLst/>
          </a:prstGeom>
          <a:noFill/>
        </p:spPr>
        <p:txBody>
          <a:bodyPr wrap="square" lIns="0" tIns="0" rIns="0" bIns="0" anchor="ctr">
            <a:spAutoFit/>
          </a:bodyPr>
          <a:lstStyle/>
          <a:p>
            <a:pPr algn="l"/>
            <a:r>
              <a:rPr sz="1400" b="0" i="0">
                <a:solidFill>
                  <a:srgbClr val="2B3440"/>
                </a:solidFill>
                <a:latin typeface="Calibri"/>
              </a:rPr>
              <a:t>R² changé de 0,0002 : rien à traiter</a:t>
            </a:r>
          </a:p>
        </p:txBody>
      </p:sp>
      <p:sp>
        <p:nvSpPr>
          <p:cNvPr id="19" name="TextBox 18"/>
          <p:cNvSpPr txBox="1"/>
          <p:nvPr/>
        </p:nvSpPr>
        <p:spPr>
          <a:xfrm>
            <a:off x="6997628" y="3493008"/>
            <a:ext cx="4462546" cy="475488"/>
          </a:xfrm>
          <a:prstGeom prst="rect">
            <a:avLst/>
          </a:prstGeom>
          <a:noFill/>
        </p:spPr>
        <p:txBody>
          <a:bodyPr wrap="square" lIns="0" tIns="0" rIns="0" bIns="0" anchor="ctr">
            <a:spAutoFit/>
          </a:bodyPr>
          <a:lstStyle/>
          <a:p>
            <a:pPr algn="l"/>
            <a:r>
              <a:rPr sz="1400" b="0" i="0">
                <a:solidFill>
                  <a:srgbClr val="2B3440"/>
                </a:solidFill>
                <a:latin typeface="Calibri"/>
              </a:rPr>
              <a:t>+0,0524 d'AUC : le meilleur traitement seul</a:t>
            </a:r>
          </a:p>
        </p:txBody>
      </p:sp>
      <p:sp>
        <p:nvSpPr>
          <p:cNvPr id="20" name="Rectangle 19"/>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1882383" cy="475488"/>
          </a:xfrm>
          <a:prstGeom prst="rect">
            <a:avLst/>
          </a:prstGeom>
          <a:noFill/>
        </p:spPr>
        <p:txBody>
          <a:bodyPr wrap="square" lIns="0" tIns="0" rIns="0" bIns="0" anchor="ctr">
            <a:spAutoFit/>
          </a:bodyPr>
          <a:lstStyle/>
          <a:p>
            <a:pPr algn="l"/>
            <a:r>
              <a:rPr sz="1400" b="0" i="0">
                <a:solidFill>
                  <a:srgbClr val="2B3440"/>
                </a:solidFill>
                <a:latin typeface="Calibri"/>
              </a:rPr>
              <a:t>Trop fort</a:t>
            </a:r>
          </a:p>
        </p:txBody>
      </p:sp>
      <p:sp>
        <p:nvSpPr>
          <p:cNvPr id="22" name="TextBox 21"/>
          <p:cNvSpPr txBox="1"/>
          <p:nvPr/>
        </p:nvSpPr>
        <p:spPr>
          <a:xfrm>
            <a:off x="2943087" y="4078224"/>
            <a:ext cx="3725357" cy="475488"/>
          </a:xfrm>
          <a:prstGeom prst="rect">
            <a:avLst/>
          </a:prstGeom>
          <a:noFill/>
        </p:spPr>
        <p:txBody>
          <a:bodyPr wrap="square" lIns="0" tIns="0" rIns="0" bIns="0" anchor="ctr">
            <a:spAutoFit/>
          </a:bodyPr>
          <a:lstStyle/>
          <a:p>
            <a:pPr algn="l"/>
            <a:r>
              <a:rPr sz="1400" b="0" i="0">
                <a:solidFill>
                  <a:srgbClr val="2B3440"/>
                </a:solidFill>
                <a:latin typeface="Calibri"/>
              </a:rPr>
              <a:t>underfitting</a:t>
            </a:r>
          </a:p>
        </p:txBody>
      </p:sp>
      <p:sp>
        <p:nvSpPr>
          <p:cNvPr id="23" name="TextBox 22"/>
          <p:cNvSpPr txBox="1"/>
          <p:nvPr/>
        </p:nvSpPr>
        <p:spPr>
          <a:xfrm>
            <a:off x="6997628" y="4078224"/>
            <a:ext cx="4462546" cy="475488"/>
          </a:xfrm>
          <a:prstGeom prst="rect">
            <a:avLst/>
          </a:prstGeom>
          <a:noFill/>
        </p:spPr>
        <p:txBody>
          <a:bodyPr wrap="square" lIns="0" tIns="0" rIns="0" bIns="0" anchor="ctr">
            <a:spAutoFit/>
          </a:bodyPr>
          <a:lstStyle/>
          <a:p>
            <a:pPr algn="l"/>
            <a:r>
              <a:rPr sz="1400" b="0" i="0">
                <a:solidFill>
                  <a:srgbClr val="2B3440"/>
                </a:solidFill>
                <a:latin typeface="Calibri"/>
              </a:rPr>
              <a:t>wd = 0,1 : AUC </a:t>
            </a:r>
            <a:r>
              <a:rPr sz="1400" b="1" i="0">
                <a:solidFill>
                  <a:srgbClr val="6D2E46"/>
                </a:solidFill>
                <a:latin typeface="Calibri"/>
              </a:rPr>
              <a:t>0,5000</a:t>
            </a:r>
            <a:r>
              <a:rPr sz="1400" b="0" i="0">
                <a:solidFill>
                  <a:srgbClr val="2B3440"/>
                </a:solidFill>
                <a:latin typeface="Calibri"/>
              </a:rPr>
              <a:t>, plus rien d'utile (TD 5)</a:t>
            </a:r>
          </a:p>
        </p:txBody>
      </p:sp>
      <p:sp>
        <p:nvSpPr>
          <p:cNvPr id="24" name="Rounded Rectangle 23"/>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7" y="5852160"/>
            <a:ext cx="10509199" cy="457200"/>
          </a:xfrm>
          <a:prstGeom prst="rect">
            <a:avLst/>
          </a:prstGeom>
          <a:noFill/>
        </p:spPr>
        <p:txBody>
          <a:bodyPr wrap="square" lIns="0" tIns="0" rIns="0" bIns="0" anchor="ctr">
            <a:spAutoFit/>
          </a:bodyPr>
          <a:lstStyle/>
          <a:p>
            <a:pPr algn="l"/>
            <a:r>
              <a:rPr sz="1400" b="0" i="1">
                <a:solidFill>
                  <a:srgbClr val="2B3440"/>
                </a:solidFill>
                <a:latin typeface="Calibri"/>
              </a:rPr>
              <a:t>Avec Adam, le terme passe par la normalisation adaptative : AdamW le découple (Loshchilov et Hutter, 2019).</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Dropout</a:t>
            </a:r>
          </a:p>
        </p:txBody>
      </p:sp>
      <p:sp>
        <p:nvSpPr>
          <p:cNvPr id="4" name="Rounded Rectangle 3"/>
          <p:cNvSpPr/>
          <p:nvPr/>
        </p:nvSpPr>
        <p:spPr>
          <a:xfrm>
            <a:off x="566928" y="1883664"/>
            <a:ext cx="11057839" cy="3380994"/>
          </a:xfrm>
          <a:prstGeom prst="roundRect">
            <a:avLst>
              <a:gd name="adj" fmla="val 3786"/>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n_dropout.png"/>
          <p:cNvPicPr>
            <a:picLocks noChangeAspect="1"/>
          </p:cNvPicPr>
          <p:nvPr/>
        </p:nvPicPr>
        <p:blipFill>
          <a:blip r:embed="rId3"/>
          <a:stretch>
            <a:fillRect/>
          </a:stretch>
        </p:blipFill>
        <p:spPr>
          <a:xfrm>
            <a:off x="3312521" y="2011680"/>
            <a:ext cx="5566652" cy="3124961"/>
          </a:xfrm>
          <a:prstGeom prst="rect">
            <a:avLst/>
          </a:prstGeom>
        </p:spPr>
      </p:pic>
      <p:sp>
        <p:nvSpPr>
          <p:cNvPr id="6" name="Rounded Rectangle 5"/>
          <p:cNvSpPr/>
          <p:nvPr/>
        </p:nvSpPr>
        <p:spPr>
          <a:xfrm>
            <a:off x="566928" y="5447538"/>
            <a:ext cx="11057839" cy="934974"/>
          </a:xfrm>
          <a:prstGeom prst="roundRect">
            <a:avLst>
              <a:gd name="adj" fmla="val 13691"/>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529833"/>
            <a:ext cx="10472623" cy="770382"/>
          </a:xfrm>
          <a:prstGeom prst="rect">
            <a:avLst/>
          </a:prstGeom>
          <a:noFill/>
        </p:spPr>
        <p:txBody>
          <a:bodyPr wrap="square" lIns="0" tIns="0" rIns="0" bIns="0" anchor="ctr">
            <a:spAutoFit/>
          </a:bodyPr>
          <a:lstStyle/>
          <a:p>
            <a:pPr algn="l">
              <a:lnSpc>
                <a:spcPct val="122000"/>
              </a:lnSpc>
            </a:pPr>
            <a:r>
              <a:rPr sz="1500" b="0" i="0">
                <a:solidFill>
                  <a:srgbClr val="2B3440"/>
                </a:solidFill>
                <a:latin typeface="Calibri"/>
              </a:rPr>
              <a:t>Deux tirages sur le même réseau : à chaque step, une unité est éteinte avec la probabilité p et les survivantes sont amplifiées pour compenser (multipliées par 2 quand p = 0,5). À l'évaluation, toutes travaillent. Séance 10 : </a:t>
            </a:r>
            <a:r>
              <a:rPr sz="1500" b="1" i="0">
                <a:solidFill>
                  <a:srgbClr val="6D2E46"/>
                </a:solidFill>
                <a:latin typeface="Calibri"/>
              </a:rPr>
              <a:t>+0,0403</a:t>
            </a:r>
            <a:r>
              <a:rPr sz="1500" b="0" i="0">
                <a:solidFill>
                  <a:srgbClr val="2B3440"/>
                </a:solidFill>
                <a:latin typeface="Calibri"/>
              </a:rPr>
              <a:t> d'AUC, mais un gap final encore de </a:t>
            </a:r>
            <a:r>
              <a:rPr sz="1500" b="1" i="0">
                <a:solidFill>
                  <a:srgbClr val="6D2E46"/>
                </a:solidFill>
                <a:latin typeface="Calibri"/>
              </a:rPr>
              <a:t>0,347</a:t>
            </a:r>
            <a:r>
              <a:rPr sz="1500" b="0" i="0">
                <a:solidFill>
                  <a:srgbClr val="2B3440"/>
                </a:solidFill>
                <a:latin typeface="Calibri"/>
              </a:rPr>
              <a:t> : le dropout aide, il ne « corrige » pas.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Batch norm et layer norm</a:t>
            </a:r>
          </a:p>
        </p:txBody>
      </p:sp>
      <p:sp>
        <p:nvSpPr>
          <p:cNvPr id="4" name="Rounded Rectangle 3"/>
          <p:cNvSpPr/>
          <p:nvPr/>
        </p:nvSpPr>
        <p:spPr>
          <a:xfrm>
            <a:off x="566928" y="1700784"/>
            <a:ext cx="11057839" cy="3926204"/>
          </a:xfrm>
          <a:prstGeom prst="roundRect">
            <a:avLst>
              <a:gd name="adj" fmla="val 3260"/>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5_normalisation.png"/>
          <p:cNvPicPr>
            <a:picLocks noChangeAspect="1"/>
          </p:cNvPicPr>
          <p:nvPr/>
        </p:nvPicPr>
        <p:blipFill>
          <a:blip r:embed="rId3"/>
          <a:stretch>
            <a:fillRect/>
          </a:stretch>
        </p:blipFill>
        <p:spPr>
          <a:xfrm>
            <a:off x="1925771" y="1828800"/>
            <a:ext cx="8340151" cy="3670172"/>
          </a:xfrm>
          <a:prstGeom prst="rect">
            <a:avLst/>
          </a:prstGeom>
        </p:spPr>
      </p:pic>
      <p:sp>
        <p:nvSpPr>
          <p:cNvPr id="6" name="Rounded Rectangle 5"/>
          <p:cNvSpPr/>
          <p:nvPr/>
        </p:nvSpPr>
        <p:spPr>
          <a:xfrm>
            <a:off x="566928" y="5736717"/>
            <a:ext cx="11057839" cy="865250"/>
          </a:xfrm>
          <a:prstGeom prst="roundRect">
            <a:avLst>
              <a:gd name="adj" fmla="val 14795"/>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5819013"/>
            <a:ext cx="10472623" cy="700658"/>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Même calcul (moyenne 0, variance 1, puis échelle et décalage appris), axes différents. La </a:t>
            </a:r>
            <a:r>
              <a:rPr sz="1350" b="1" i="0">
                <a:solidFill>
                  <a:srgbClr val="6D2E46"/>
                </a:solidFill>
                <a:latin typeface="Calibri"/>
              </a:rPr>
              <a:t>batch norm</a:t>
            </a:r>
            <a:r>
              <a:rPr sz="1350" b="0" i="0">
                <a:solidFill>
                  <a:srgbClr val="2B3440"/>
                </a:solidFill>
                <a:latin typeface="Calibri"/>
              </a:rPr>
              <a:t> normalise chaque unité sur le batch : la sortie d'un exemple dépend de ses voisins, et l'évaluation utilise des running statistics. La </a:t>
            </a:r>
            <a:r>
              <a:rPr sz="1350" b="1" i="0">
                <a:solidFill>
                  <a:srgbClr val="6D2E46"/>
                </a:solidFill>
                <a:latin typeface="Calibri"/>
              </a:rPr>
              <a:t>layer norm</a:t>
            </a:r>
            <a:r>
              <a:rPr sz="1350" b="0" i="0">
                <a:solidFill>
                  <a:srgbClr val="2B3440"/>
                </a:solidFill>
                <a:latin typeface="Calibri"/>
              </a:rPr>
              <a:t> normalise chaque exemple : aucune dépendance au batch.</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Data augmentation</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Images  </a:t>
            </a:r>
            <a:r>
              <a:rPr sz="1600" b="0" i="0">
                <a:solidFill>
                  <a:srgbClr val="2B3440"/>
                </a:solidFill>
                <a:latin typeface="Calibri"/>
              </a:rPr>
              <a:t>retourner, recadrer, faire pivoter : la classe ne change pas (une </a:t>
            </a:r>
            <a:r>
              <a:rPr sz="1600" b="1" i="0">
                <a:solidFill>
                  <a:srgbClr val="6D2E46"/>
                </a:solidFill>
                <a:latin typeface="Calibri"/>
              </a:rPr>
              <a:t>invariance</a:t>
            </a:r>
            <a:r>
              <a:rPr sz="1600" b="0" i="0">
                <a:solidFill>
                  <a:srgbClr val="2B3440"/>
                </a:solidFill>
                <a:latin typeface="Calibri"/>
              </a:rPr>
              <a:t> connue).</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Texte et son  </a:t>
            </a:r>
            <a:r>
              <a:rPr sz="1600" b="0" i="0">
                <a:solidFill>
                  <a:srgbClr val="2B3440"/>
                </a:solidFill>
                <a:latin typeface="Calibri"/>
              </a:rPr>
              <a:t>synonymes, rétro-traduction ; bruit de fond, décalage temporel.</a:t>
            </a:r>
          </a:p>
        </p:txBody>
      </p:sp>
      <p:sp>
        <p:nvSpPr>
          <p:cNvPr id="8" name="Rounded Rectangle 7"/>
          <p:cNvSpPr/>
          <p:nvPr/>
        </p:nvSpPr>
        <p:spPr>
          <a:xfrm>
            <a:off x="566928" y="3675887"/>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67327"/>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Tableaux  </a:t>
            </a:r>
            <a:r>
              <a:rPr sz="1600" b="0" i="0">
                <a:solidFill>
                  <a:srgbClr val="2B3440"/>
                </a:solidFill>
                <a:latin typeface="Calibri"/>
              </a:rPr>
              <a:t>pas d'invariance évidente ; le plus simple est un léger bruit gaussien sur les features numériques.</a:t>
            </a:r>
          </a:p>
        </p:txBody>
      </p:sp>
      <p:sp>
        <p:nvSpPr>
          <p:cNvPr id="10" name="Rounded Rectangle 9"/>
          <p:cNvSpPr/>
          <p:nvPr/>
        </p:nvSpPr>
        <p:spPr>
          <a:xfrm>
            <a:off x="566928" y="460857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700016"/>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Mesuré au TD 5  </a:t>
            </a:r>
            <a:r>
              <a:rPr sz="1600" b="0" i="0">
                <a:solidFill>
                  <a:srgbClr val="2B3440"/>
                </a:solidFill>
                <a:latin typeface="Calibri"/>
              </a:rPr>
              <a:t>bruit 0,3 : AUC </a:t>
            </a:r>
            <a:r>
              <a:rPr sz="1600" b="1" i="0">
                <a:solidFill>
                  <a:srgbClr val="6D2E46"/>
                </a:solidFill>
                <a:latin typeface="Calibri"/>
              </a:rPr>
              <a:t>0,7998</a:t>
            </a:r>
            <a:r>
              <a:rPr sz="1600" b="0" i="0">
                <a:solidFill>
                  <a:srgbClr val="2B3440"/>
                </a:solidFill>
                <a:latin typeface="Calibri"/>
              </a:rPr>
              <a:t> contre 0,8023, dans le bruit ; mais la validation loss passe de </a:t>
            </a:r>
            <a:r>
              <a:rPr sz="1600" b="1" i="0">
                <a:solidFill>
                  <a:srgbClr val="6D2E46"/>
                </a:solidFill>
                <a:latin typeface="Calibri"/>
              </a:rPr>
              <a:t>1,013</a:t>
            </a:r>
            <a:r>
              <a:rPr sz="1600" b="0" i="0">
                <a:solidFill>
                  <a:srgbClr val="2B3440"/>
                </a:solidFill>
                <a:latin typeface="Calibri"/>
              </a:rPr>
              <a:t> à </a:t>
            </a:r>
            <a:r>
              <a:rPr sz="1600" b="1" i="0">
                <a:solidFill>
                  <a:srgbClr val="6D2E46"/>
                </a:solidFill>
                <a:latin typeface="Calibri"/>
              </a:rPr>
              <a:t>0,707</a:t>
            </a:r>
            <a:r>
              <a:rPr sz="1600" b="0" i="0">
                <a:solidFill>
                  <a:srgbClr val="2B3440"/>
                </a:solidFill>
                <a:latin typeface="Calibri"/>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Prédisez le classement</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Du plus utile au moins utile ; et lequel, selon vous, n'aidera pas du tout ?</a:t>
            </a:r>
          </a:p>
        </p:txBody>
      </p:sp>
      <p:sp>
        <p:nvSpPr>
          <p:cNvPr id="5" name="Rounded Rectangle 4"/>
          <p:cNvSpPr/>
          <p:nvPr/>
        </p:nvSpPr>
        <p:spPr>
          <a:xfrm>
            <a:off x="566928" y="2103120"/>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A  </a:t>
            </a:r>
            <a:r>
              <a:rPr sz="1600" b="0" i="0">
                <a:solidFill>
                  <a:srgbClr val="2B3440"/>
                </a:solidFill>
                <a:latin typeface="Calibri"/>
              </a:rPr>
              <a:t>early stopping</a:t>
            </a:r>
          </a:p>
        </p:txBody>
      </p:sp>
      <p:sp>
        <p:nvSpPr>
          <p:cNvPr id="7" name="Rounded Rectangle 6"/>
          <p:cNvSpPr/>
          <p:nvPr/>
        </p:nvSpPr>
        <p:spPr>
          <a:xfrm>
            <a:off x="566928" y="2982772"/>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074212"/>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B  </a:t>
            </a:r>
            <a:r>
              <a:rPr sz="1600" b="0" i="0">
                <a:solidFill>
                  <a:srgbClr val="2B3440"/>
                </a:solidFill>
                <a:latin typeface="Calibri"/>
              </a:rPr>
              <a:t>weight decay 1e-2</a:t>
            </a:r>
          </a:p>
        </p:txBody>
      </p:sp>
      <p:sp>
        <p:nvSpPr>
          <p:cNvPr id="9" name="Rounded Rectangle 8"/>
          <p:cNvSpPr/>
          <p:nvPr/>
        </p:nvSpPr>
        <p:spPr>
          <a:xfrm>
            <a:off x="566928" y="3862425"/>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3953865"/>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C  </a:t>
            </a:r>
            <a:r>
              <a:rPr sz="1600" b="0" i="0">
                <a:solidFill>
                  <a:srgbClr val="2B3440"/>
                </a:solidFill>
                <a:latin typeface="Calibri"/>
              </a:rPr>
              <a:t>dropout 0,5</a:t>
            </a:r>
          </a:p>
        </p:txBody>
      </p:sp>
      <p:sp>
        <p:nvSpPr>
          <p:cNvPr id="11" name="Rounded Rectangle 10"/>
          <p:cNvSpPr/>
          <p:nvPr/>
        </p:nvSpPr>
        <p:spPr>
          <a:xfrm>
            <a:off x="566928" y="4742078"/>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833518"/>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D  </a:t>
            </a:r>
            <a:r>
              <a:rPr sz="1600" b="0" i="0">
                <a:solidFill>
                  <a:srgbClr val="2B3440"/>
                </a:solidFill>
                <a:latin typeface="Calibri"/>
              </a:rPr>
              <a:t>batch norm</a:t>
            </a:r>
          </a:p>
        </p:txBody>
      </p:sp>
      <p:sp>
        <p:nvSpPr>
          <p:cNvPr id="13" name="Rounded Rectangle 12"/>
          <p:cNvSpPr/>
          <p:nvPr/>
        </p:nvSpPr>
        <p:spPr>
          <a:xfrm>
            <a:off x="566928" y="5621731"/>
            <a:ext cx="11057839" cy="733348"/>
          </a:xfrm>
          <a:prstGeom prst="roundRect">
            <a:avLst>
              <a:gd name="adj" fmla="val 17456"/>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5713171"/>
            <a:ext cx="10472623" cy="550468"/>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E  </a:t>
            </a:r>
            <a:r>
              <a:rPr sz="1600" b="0" i="0">
                <a:solidFill>
                  <a:srgbClr val="2B3440"/>
                </a:solidFill>
                <a:latin typeface="Calibri"/>
              </a:rPr>
              <a:t>les quatre combinés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L'ablation contrôlée</a:t>
            </a:r>
          </a:p>
        </p:txBody>
      </p:sp>
      <p:sp>
        <p:nvSpPr>
          <p:cNvPr id="4" name="Rounded Rectangle 3"/>
          <p:cNvSpPr/>
          <p:nvPr/>
        </p:nvSpPr>
        <p:spPr>
          <a:xfrm>
            <a:off x="566928"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22960"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1</a:t>
            </a:r>
          </a:p>
        </p:txBody>
      </p:sp>
      <p:sp>
        <p:nvSpPr>
          <p:cNvPr id="6" name="TextBox 5"/>
          <p:cNvSpPr txBox="1"/>
          <p:nvPr/>
        </p:nvSpPr>
        <p:spPr>
          <a:xfrm>
            <a:off x="822960"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Un facteur</a:t>
            </a:r>
          </a:p>
        </p:txBody>
      </p:sp>
      <p:sp>
        <p:nvSpPr>
          <p:cNvPr id="7" name="TextBox 6"/>
          <p:cNvSpPr txBox="1"/>
          <p:nvPr/>
        </p:nvSpPr>
        <p:spPr>
          <a:xfrm>
            <a:off x="822960"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chaque configuration change </a:t>
            </a:r>
            <a:r>
              <a:rPr sz="1350" b="1" i="0">
                <a:solidFill>
                  <a:srgbClr val="6D2E46"/>
                </a:solidFill>
                <a:latin typeface="Calibri"/>
              </a:rPr>
              <a:t>une</a:t>
            </a:r>
            <a:r>
              <a:rPr sz="1350" b="0" i="0">
                <a:solidFill>
                  <a:srgbClr val="2B3440"/>
                </a:solidFill>
                <a:latin typeface="Calibri"/>
              </a:rPr>
              <a:t> chose par rapport à la baseline</a:t>
            </a:r>
          </a:p>
        </p:txBody>
      </p:sp>
      <p:sp>
        <p:nvSpPr>
          <p:cNvPr id="8" name="TextBox 7"/>
          <p:cNvSpPr txBox="1"/>
          <p:nvPr/>
        </p:nvSpPr>
        <p:spPr>
          <a:xfrm>
            <a:off x="3171367" y="3191256"/>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9" name="Rounded Rectangle 8"/>
          <p:cNvSpPr/>
          <p:nvPr/>
        </p:nvSpPr>
        <p:spPr>
          <a:xfrm>
            <a:off x="3390823"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646855"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2</a:t>
            </a:r>
          </a:p>
        </p:txBody>
      </p:sp>
      <p:sp>
        <p:nvSpPr>
          <p:cNvPr id="11" name="TextBox 10"/>
          <p:cNvSpPr txBox="1"/>
          <p:nvPr/>
        </p:nvSpPr>
        <p:spPr>
          <a:xfrm>
            <a:off x="3646855"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Des seeds</a:t>
            </a:r>
          </a:p>
        </p:txBody>
      </p:sp>
      <p:sp>
        <p:nvSpPr>
          <p:cNvPr id="12" name="TextBox 11"/>
          <p:cNvSpPr txBox="1"/>
          <p:nvPr/>
        </p:nvSpPr>
        <p:spPr>
          <a:xfrm>
            <a:off x="3646855"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trois par configuration : le bruit de l'initialisation et de l'ordre des batches</a:t>
            </a:r>
          </a:p>
        </p:txBody>
      </p:sp>
      <p:sp>
        <p:nvSpPr>
          <p:cNvPr id="13" name="TextBox 12"/>
          <p:cNvSpPr txBox="1"/>
          <p:nvPr/>
        </p:nvSpPr>
        <p:spPr>
          <a:xfrm>
            <a:off x="5995263" y="3191256"/>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4" name="Rounded Rectangle 13"/>
          <p:cNvSpPr/>
          <p:nvPr/>
        </p:nvSpPr>
        <p:spPr>
          <a:xfrm>
            <a:off x="6214719"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70751"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3</a:t>
            </a:r>
          </a:p>
        </p:txBody>
      </p:sp>
      <p:sp>
        <p:nvSpPr>
          <p:cNvPr id="16" name="TextBox 15"/>
          <p:cNvSpPr txBox="1"/>
          <p:nvPr/>
        </p:nvSpPr>
        <p:spPr>
          <a:xfrm>
            <a:off x="6470751"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Un seuil</a:t>
            </a:r>
          </a:p>
        </p:txBody>
      </p:sp>
      <p:sp>
        <p:nvSpPr>
          <p:cNvPr id="17" name="TextBox 16"/>
          <p:cNvSpPr txBox="1"/>
          <p:nvPr/>
        </p:nvSpPr>
        <p:spPr>
          <a:xfrm>
            <a:off x="6470751"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fixé </a:t>
            </a:r>
            <a:r>
              <a:rPr sz="1350" b="1" i="0">
                <a:solidFill>
                  <a:srgbClr val="6D2E46"/>
                </a:solidFill>
                <a:latin typeface="Calibri"/>
              </a:rPr>
              <a:t>avant</a:t>
            </a:r>
            <a:r>
              <a:rPr sz="1350" b="0" i="0">
                <a:solidFill>
                  <a:srgbClr val="2B3440"/>
                </a:solidFill>
                <a:latin typeface="Calibri"/>
              </a:rPr>
              <a:t> de regarder : |Δ| &gt; 2 écarts-types de la baseline</a:t>
            </a:r>
          </a:p>
        </p:txBody>
      </p:sp>
      <p:sp>
        <p:nvSpPr>
          <p:cNvPr id="18" name="TextBox 17"/>
          <p:cNvSpPr txBox="1"/>
          <p:nvPr/>
        </p:nvSpPr>
        <p:spPr>
          <a:xfrm>
            <a:off x="8819159" y="3191256"/>
            <a:ext cx="201168" cy="365760"/>
          </a:xfrm>
          <a:prstGeom prst="rect">
            <a:avLst/>
          </a:prstGeom>
          <a:noFill/>
        </p:spPr>
        <p:txBody>
          <a:bodyPr wrap="square" lIns="0" tIns="0" rIns="0" bIns="0" anchor="t">
            <a:spAutoFit/>
          </a:bodyPr>
          <a:lstStyle/>
          <a:p>
            <a:pPr algn="ctr"/>
            <a:r>
              <a:rPr sz="2200" b="0" i="0">
                <a:solidFill>
                  <a:srgbClr val="B696A2"/>
                </a:solidFill>
                <a:latin typeface="Calibri"/>
              </a:rPr>
              <a:t>›</a:t>
            </a:r>
          </a:p>
        </p:txBody>
      </p:sp>
      <p:sp>
        <p:nvSpPr>
          <p:cNvPr id="19" name="Rounded Rectangle 18"/>
          <p:cNvSpPr/>
          <p:nvPr/>
        </p:nvSpPr>
        <p:spPr>
          <a:xfrm>
            <a:off x="9038615" y="2139696"/>
            <a:ext cx="2586151" cy="2514600"/>
          </a:xfrm>
          <a:prstGeom prst="roundRect">
            <a:avLst>
              <a:gd name="adj" fmla="val 509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294647" y="2377439"/>
            <a:ext cx="457200" cy="457200"/>
          </a:xfrm>
          <a:prstGeom prst="ellipse">
            <a:avLst/>
          </a:prstGeom>
          <a:solidFill>
            <a:srgbClr val="6D2E4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i="0">
                <a:solidFill>
                  <a:srgbClr val="FFFFFF"/>
                </a:solidFill>
                <a:latin typeface="Calibri"/>
              </a:rPr>
              <a:t>4</a:t>
            </a:r>
          </a:p>
        </p:txBody>
      </p:sp>
      <p:sp>
        <p:nvSpPr>
          <p:cNvPr id="21" name="TextBox 20"/>
          <p:cNvSpPr txBox="1"/>
          <p:nvPr/>
        </p:nvSpPr>
        <p:spPr>
          <a:xfrm>
            <a:off x="9294647" y="2980944"/>
            <a:ext cx="2074087" cy="548640"/>
          </a:xfrm>
          <a:prstGeom prst="rect">
            <a:avLst/>
          </a:prstGeom>
          <a:noFill/>
        </p:spPr>
        <p:txBody>
          <a:bodyPr wrap="square" lIns="0" tIns="0" rIns="0" bIns="0" anchor="t">
            <a:spAutoFit/>
          </a:bodyPr>
          <a:lstStyle/>
          <a:p>
            <a:pPr algn="l"/>
            <a:r>
              <a:rPr sz="1600" b="1" i="0">
                <a:solidFill>
                  <a:srgbClr val="6D2E46"/>
                </a:solidFill>
                <a:latin typeface="Cambria"/>
              </a:rPr>
              <a:t>Une portée</a:t>
            </a:r>
          </a:p>
        </p:txBody>
      </p:sp>
      <p:sp>
        <p:nvSpPr>
          <p:cNvPr id="22" name="TextBox 21"/>
          <p:cNvSpPr txBox="1"/>
          <p:nvPr/>
        </p:nvSpPr>
        <p:spPr>
          <a:xfrm>
            <a:off x="9294647" y="3566160"/>
            <a:ext cx="2074087" cy="960120"/>
          </a:xfrm>
          <a:prstGeom prst="rect">
            <a:avLst/>
          </a:prstGeom>
          <a:noFill/>
        </p:spPr>
        <p:txBody>
          <a:bodyPr wrap="square" lIns="0" tIns="0" rIns="0" bIns="0" anchor="t">
            <a:spAutoFit/>
          </a:bodyPr>
          <a:lstStyle/>
          <a:p>
            <a:pPr algn="l">
              <a:lnSpc>
                <a:spcPct val="120000"/>
              </a:lnSpc>
            </a:pPr>
            <a:r>
              <a:rPr sz="1350" b="0" i="0">
                <a:solidFill>
                  <a:srgbClr val="2B3440"/>
                </a:solidFill>
                <a:latin typeface="Calibri"/>
              </a:rPr>
              <a:t>un fold, une architecture, un budget : la conclusion ne va pas plus loin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seuil, écrit avant de regarder</a:t>
            </a:r>
          </a:p>
        </p:txBody>
      </p:sp>
      <p:sp>
        <p:nvSpPr>
          <p:cNvPr id="4" name="Rounded Rectangle 3"/>
          <p:cNvSpPr/>
          <p:nvPr/>
        </p:nvSpPr>
        <p:spPr>
          <a:xfrm>
            <a:off x="566928" y="1956816"/>
            <a:ext cx="4617720" cy="4398264"/>
          </a:xfrm>
          <a:prstGeom prst="roundRect">
            <a:avLst>
              <a:gd name="adj" fmla="val 291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0,0224</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2 × 0,0112 : deux écarts-types de la baseline</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La baseline varie de 0,0112 d'une seed à l'autre, sans rien changer.</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Un traitement dont l'effet ne dépasse pas 0,0224 n'a pas d'effet démontré.</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C'est une pre-registration : elle va nous refuser une conclusion que nous aurions aimé tirer.</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Ce que l'ablation a trouvé</a:t>
            </a:r>
          </a:p>
        </p:txBody>
      </p:sp>
      <p:sp>
        <p:nvSpPr>
          <p:cNvPr id="4" name="Rounded Rectangle 3"/>
          <p:cNvSpPr/>
          <p:nvPr/>
        </p:nvSpPr>
        <p:spPr>
          <a:xfrm>
            <a:off x="566928" y="1700784"/>
            <a:ext cx="11057839" cy="4133087"/>
          </a:xfrm>
          <a:prstGeom prst="roundRect">
            <a:avLst>
              <a:gd name="adj" fmla="val 3097"/>
            </a:avLst>
          </a:prstGeom>
          <a:solidFill>
            <a:srgbClr val="F9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14_ablation.png"/>
          <p:cNvPicPr>
            <a:picLocks noChangeAspect="1"/>
          </p:cNvPicPr>
          <p:nvPr/>
        </p:nvPicPr>
        <p:blipFill>
          <a:blip r:embed="rId3"/>
          <a:stretch>
            <a:fillRect/>
          </a:stretch>
        </p:blipFill>
        <p:spPr>
          <a:xfrm>
            <a:off x="1052759" y="1828800"/>
            <a:ext cx="10086175" cy="3877055"/>
          </a:xfrm>
          <a:prstGeom prst="rect">
            <a:avLst/>
          </a:prstGeom>
        </p:spPr>
      </p:pic>
      <p:sp>
        <p:nvSpPr>
          <p:cNvPr id="6" name="Rounded Rectangle 5"/>
          <p:cNvSpPr/>
          <p:nvPr/>
        </p:nvSpPr>
        <p:spPr>
          <a:xfrm>
            <a:off x="566928" y="5943600"/>
            <a:ext cx="11057839" cy="658368"/>
          </a:xfrm>
          <a:prstGeom prst="roundRect">
            <a:avLst>
              <a:gd name="adj" fmla="val 19444"/>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6025896"/>
            <a:ext cx="10472623" cy="493776"/>
          </a:xfrm>
          <a:prstGeom prst="rect">
            <a:avLst/>
          </a:prstGeom>
          <a:noFill/>
        </p:spPr>
        <p:txBody>
          <a:bodyPr wrap="square" lIns="0" tIns="0" rIns="0" bIns="0" anchor="ctr">
            <a:spAutoFit/>
          </a:bodyPr>
          <a:lstStyle/>
          <a:p>
            <a:pPr algn="l">
              <a:lnSpc>
                <a:spcPct val="122000"/>
              </a:lnSpc>
            </a:pPr>
            <a:r>
              <a:rPr sz="1350" b="0" i="0">
                <a:solidFill>
                  <a:srgbClr val="2B3440"/>
                </a:solidFill>
                <a:latin typeface="Calibri"/>
              </a:rPr>
              <a:t>Early stopping </a:t>
            </a:r>
            <a:r>
              <a:rPr sz="1350" b="1" i="0">
                <a:solidFill>
                  <a:srgbClr val="6D2E46"/>
                </a:solidFill>
                <a:latin typeface="Calibri"/>
              </a:rPr>
              <a:t>+0,0455</a:t>
            </a:r>
            <a:r>
              <a:rPr sz="1350" b="0" i="0">
                <a:solidFill>
                  <a:srgbClr val="2B3440"/>
                </a:solidFill>
                <a:latin typeface="Calibri"/>
              </a:rPr>
              <a:t>, weight decay </a:t>
            </a:r>
            <a:r>
              <a:rPr sz="1350" b="1" i="0">
                <a:solidFill>
                  <a:srgbClr val="6D2E46"/>
                </a:solidFill>
                <a:latin typeface="Calibri"/>
              </a:rPr>
              <a:t>+0,0524</a:t>
            </a:r>
            <a:r>
              <a:rPr sz="1350" b="0" i="0">
                <a:solidFill>
                  <a:srgbClr val="2B3440"/>
                </a:solidFill>
                <a:latin typeface="Calibri"/>
              </a:rPr>
              <a:t>, dropout </a:t>
            </a:r>
            <a:r>
              <a:rPr sz="1350" b="1" i="0">
                <a:solidFill>
                  <a:srgbClr val="6D2E46"/>
                </a:solidFill>
                <a:latin typeface="Calibri"/>
              </a:rPr>
              <a:t>+0,0403</a:t>
            </a:r>
            <a:r>
              <a:rPr sz="1350" b="0" i="0">
                <a:solidFill>
                  <a:srgbClr val="2B3440"/>
                </a:solidFill>
                <a:latin typeface="Calibri"/>
              </a:rPr>
              <a:t> : réels. Batch norm </a:t>
            </a:r>
            <a:r>
              <a:rPr sz="1350" b="1" i="0">
                <a:solidFill>
                  <a:srgbClr val="6D2E46"/>
                </a:solidFill>
                <a:latin typeface="Calibri"/>
              </a:rPr>
              <a:t>-0,0142</a:t>
            </a:r>
            <a:r>
              <a:rPr sz="1350" b="0" i="0">
                <a:solidFill>
                  <a:srgbClr val="2B3440"/>
                </a:solidFill>
                <a:latin typeface="Calibri"/>
              </a:rPr>
              <a:t> : dans le bruit. Tout combiné (</a:t>
            </a:r>
            <a:r>
              <a:rPr sz="1350" b="1" i="0">
                <a:solidFill>
                  <a:srgbClr val="6D2E46"/>
                </a:solidFill>
                <a:latin typeface="Calibri"/>
              </a:rPr>
              <a:t>0,8532</a:t>
            </a:r>
            <a:r>
              <a:rPr sz="1350" b="0" i="0">
                <a:solidFill>
                  <a:srgbClr val="2B3440"/>
                </a:solidFill>
                <a:latin typeface="Calibri"/>
              </a:rPr>
              <a:t>) ne bat pas le weight decay seul (</a:t>
            </a:r>
            <a:r>
              <a:rPr sz="1350" b="1" i="0">
                <a:solidFill>
                  <a:srgbClr val="6D2E46"/>
                </a:solidFill>
                <a:latin typeface="Calibri"/>
              </a:rPr>
              <a:t>0,8547</a:t>
            </a:r>
            <a:r>
              <a:rPr sz="1350" b="0" i="0">
                <a:solidFill>
                  <a:srgbClr val="2B3440"/>
                </a:solidFill>
                <a:latin typeface="Calibri"/>
              </a:rPr>
              <a:t>). Valeurs de la séance 10, reproduites exactement au TD 5.</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12233A"/>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BDA1AC"/>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endParaRPr/>
          </a:p>
        </p:txBody>
      </p:sp>
      <p:sp>
        <p:nvSpPr>
          <p:cNvPr id="4" name="TextBox 3"/>
          <p:cNvSpPr txBox="1"/>
          <p:nvPr/>
        </p:nvSpPr>
        <p:spPr>
          <a:xfrm>
            <a:off x="566928" y="2121408"/>
            <a:ext cx="11057839" cy="1828800"/>
          </a:xfrm>
          <a:prstGeom prst="rect">
            <a:avLst/>
          </a:prstGeom>
          <a:noFill/>
        </p:spPr>
        <p:txBody>
          <a:bodyPr wrap="square" lIns="0" tIns="0" rIns="0" bIns="0" anchor="t">
            <a:spAutoFit/>
          </a:bodyPr>
          <a:lstStyle/>
          <a:p>
            <a:pPr algn="l">
              <a:lnSpc>
                <a:spcPct val="116000"/>
              </a:lnSpc>
            </a:pPr>
            <a:r>
              <a:rPr sz="3600" b="1" i="0">
                <a:solidFill>
                  <a:srgbClr val="FFFFFF"/>
                </a:solidFill>
                <a:latin typeface="Cambria"/>
              </a:rPr>
              <a:t>La batch norm n'a pas aidé. Elle n'a pas été démontrée nuisible.</a:t>
            </a:r>
          </a:p>
        </p:txBody>
      </p:sp>
      <p:cxnSp>
        <p:nvCxnSpPr>
          <p:cNvPr id="5" name="Connector 4"/>
          <p:cNvCxnSpPr/>
          <p:nvPr/>
        </p:nvCxnSpPr>
        <p:spPr>
          <a:xfrm>
            <a:off x="566928" y="4224528"/>
            <a:ext cx="2011680" cy="0"/>
          </a:xfrm>
          <a:prstGeom prst="line">
            <a:avLst/>
          </a:prstGeom>
          <a:ln w="25400">
            <a:solidFill>
              <a:srgbClr val="E9A93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4443984"/>
            <a:ext cx="11057839" cy="1463040"/>
          </a:xfrm>
          <a:prstGeom prst="rect">
            <a:avLst/>
          </a:prstGeom>
          <a:noFill/>
        </p:spPr>
        <p:txBody>
          <a:bodyPr wrap="square" lIns="0" tIns="0" rIns="0" bIns="0" anchor="t">
            <a:spAutoFit/>
          </a:bodyPr>
          <a:lstStyle/>
          <a:p>
            <a:pPr algn="l">
              <a:lnSpc>
                <a:spcPct val="135000"/>
              </a:lnSpc>
            </a:pPr>
            <a:r>
              <a:rPr sz="1700" b="0" i="0">
                <a:solidFill>
                  <a:srgbClr val="9FB0C4"/>
                </a:solidFill>
                <a:latin typeface="Calibri"/>
              </a:rPr>
              <a:t>-0,0142 contre un seuil de 0,0224 : pas de nuisance démontrée. Ce qui est établi : c'est le seul traitement sur quatre qui n'a pas aidé, avec la plus grande variance entre seeds (</a:t>
            </a:r>
            <a:r>
              <a:rPr sz="1700" b="1" i="0">
                <a:solidFill>
                  <a:srgbClr val="FFFFFF"/>
                </a:solidFill>
                <a:latin typeface="Calibri"/>
              </a:rPr>
              <a:t>0,0181</a:t>
            </a:r>
            <a:r>
              <a:rPr sz="1700" b="0" i="0">
                <a:solidFill>
                  <a:srgbClr val="9FB0C4"/>
                </a:solidFill>
                <a:latin typeface="Calibri"/>
              </a:rPr>
              <a:t>) et le gap le plus large (</a:t>
            </a:r>
            <a:r>
              <a:rPr sz="1700" b="1" i="0">
                <a:solidFill>
                  <a:srgbClr val="FFFFFF"/>
                </a:solidFill>
                <a:latin typeface="Calibri"/>
              </a:rPr>
              <a:t>1,042</a:t>
            </a:r>
            <a:r>
              <a:rPr sz="1700" b="0" i="0">
                <a:solidFill>
                  <a:srgbClr val="9FB0C4"/>
                </a:solidFill>
                <a:latin typeface="Calibri"/>
              </a:rPr>
              <a:t>). Un fait sur </a:t>
            </a:r>
            <a:r>
              <a:rPr sz="1700" b="1" i="0">
                <a:solidFill>
                  <a:srgbClr val="FFFFFF"/>
                </a:solidFill>
                <a:latin typeface="Calibri"/>
              </a:rPr>
              <a:t>ce</a:t>
            </a:r>
            <a:r>
              <a:rPr sz="1700" b="0" i="0">
                <a:solidFill>
                  <a:srgbClr val="9FB0C4"/>
                </a:solidFill>
                <a:latin typeface="Calibri"/>
              </a:rPr>
              <a:t> problème : une architecture, une batch size, trois seeds.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Empiler n'est pas mieux</a:t>
            </a:r>
          </a:p>
        </p:txBody>
      </p:sp>
      <p:sp>
        <p:nvSpPr>
          <p:cNvPr id="4" name="Rounded Rectangle 3"/>
          <p:cNvSpPr/>
          <p:nvPr/>
        </p:nvSpPr>
        <p:spPr>
          <a:xfrm>
            <a:off x="566928" y="1883664"/>
            <a:ext cx="5373471" cy="4471416"/>
          </a:xfrm>
          <a:prstGeom prst="roundRect">
            <a:avLst>
              <a:gd name="adj" fmla="val 2862"/>
            </a:avLst>
          </a:prstGeom>
          <a:solidFill>
            <a:srgbClr val="F8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066544"/>
            <a:ext cx="4824831" cy="493776"/>
          </a:xfrm>
          <a:prstGeom prst="rect">
            <a:avLst/>
          </a:prstGeom>
          <a:noFill/>
        </p:spPr>
        <p:txBody>
          <a:bodyPr wrap="square" lIns="0" tIns="0" rIns="0" bIns="0" anchor="ctr">
            <a:spAutoFit/>
          </a:bodyPr>
          <a:lstStyle/>
          <a:p>
            <a:pPr algn="l"/>
            <a:r>
              <a:rPr sz="1700" b="1" i="0">
                <a:solidFill>
                  <a:srgbClr val="9E2B25"/>
                </a:solidFill>
                <a:latin typeface="Cambria"/>
              </a:rPr>
              <a:t>Tout combiné</a:t>
            </a:r>
          </a:p>
        </p:txBody>
      </p:sp>
      <p:sp>
        <p:nvSpPr>
          <p:cNvPr id="6" name="TextBox 5"/>
          <p:cNvSpPr txBox="1"/>
          <p:nvPr/>
        </p:nvSpPr>
        <p:spPr>
          <a:xfrm>
            <a:off x="841247" y="2596896"/>
            <a:ext cx="4824831" cy="822960"/>
          </a:xfrm>
          <a:prstGeom prst="rect">
            <a:avLst/>
          </a:prstGeom>
          <a:noFill/>
        </p:spPr>
        <p:txBody>
          <a:bodyPr wrap="square" lIns="0" tIns="0" rIns="0" bIns="0" anchor="ctr">
            <a:spAutoFit/>
          </a:bodyPr>
          <a:lstStyle/>
          <a:p>
            <a:pPr algn="l"/>
            <a:r>
              <a:rPr sz="3400" b="1" i="0">
                <a:solidFill>
                  <a:srgbClr val="9E2B25"/>
                </a:solidFill>
                <a:latin typeface="Cambria"/>
              </a:rPr>
              <a:t>0,8532</a:t>
            </a:r>
          </a:p>
        </p:txBody>
      </p:sp>
      <p:sp>
        <p:nvSpPr>
          <p:cNvPr id="7" name="TextBox 6"/>
          <p:cNvSpPr txBox="1"/>
          <p:nvPr/>
        </p:nvSpPr>
        <p:spPr>
          <a:xfrm>
            <a:off x="841247"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Early stopping, weight decay 1e-3, dropout 0,2, batch norm.</a:t>
            </a:r>
          </a:p>
        </p:txBody>
      </p:sp>
      <p:sp>
        <p:nvSpPr>
          <p:cNvPr id="8" name="TextBox 7"/>
          <p:cNvSpPr txBox="1"/>
          <p:nvPr/>
        </p:nvSpPr>
        <p:spPr>
          <a:xfrm>
            <a:off x="841247"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Sans la batch norm : </a:t>
            </a:r>
            <a:r>
              <a:rPr sz="1450" b="1" i="0">
                <a:solidFill>
                  <a:srgbClr val="6D2E46"/>
                </a:solidFill>
                <a:latin typeface="Calibri"/>
              </a:rPr>
              <a:t>0,8522</a:t>
            </a:r>
            <a:r>
              <a:rPr sz="1450" b="0" i="0">
                <a:solidFill>
                  <a:srgbClr val="2B3440"/>
                </a:solidFill>
                <a:latin typeface="Calibri"/>
              </a:rPr>
              <a:t>, pas mieux.</a:t>
            </a:r>
          </a:p>
        </p:txBody>
      </p:sp>
      <p:sp>
        <p:nvSpPr>
          <p:cNvPr id="9" name="TextBox 8"/>
          <p:cNvSpPr txBox="1"/>
          <p:nvPr/>
        </p:nvSpPr>
        <p:spPr>
          <a:xfrm>
            <a:off x="841247"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Les régularisateurs ne s'additionnent pas.</a:t>
            </a:r>
          </a:p>
        </p:txBody>
      </p:sp>
      <p:sp>
        <p:nvSpPr>
          <p:cNvPr id="10" name="Rounded Rectangle 9"/>
          <p:cNvSpPr/>
          <p:nvPr/>
        </p:nvSpPr>
        <p:spPr>
          <a:xfrm>
            <a:off x="6251295" y="1883664"/>
            <a:ext cx="5373471" cy="4471416"/>
          </a:xfrm>
          <a:prstGeom prst="roundRect">
            <a:avLst>
              <a:gd name="adj" fmla="val 2862"/>
            </a:avLst>
          </a:prstGeom>
          <a:solidFill>
            <a:srgbClr val="EF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25615" y="2066544"/>
            <a:ext cx="4824831" cy="493776"/>
          </a:xfrm>
          <a:prstGeom prst="rect">
            <a:avLst/>
          </a:prstGeom>
          <a:noFill/>
        </p:spPr>
        <p:txBody>
          <a:bodyPr wrap="square" lIns="0" tIns="0" rIns="0" bIns="0" anchor="ctr">
            <a:spAutoFit/>
          </a:bodyPr>
          <a:lstStyle/>
          <a:p>
            <a:pPr algn="l"/>
            <a:r>
              <a:rPr sz="1700" b="1" i="0">
                <a:solidFill>
                  <a:srgbClr val="1F6F5C"/>
                </a:solidFill>
                <a:latin typeface="Cambria"/>
              </a:rPr>
              <a:t>Le meilleur seul</a:t>
            </a:r>
          </a:p>
        </p:txBody>
      </p:sp>
      <p:sp>
        <p:nvSpPr>
          <p:cNvPr id="12" name="TextBox 11"/>
          <p:cNvSpPr txBox="1"/>
          <p:nvPr/>
        </p:nvSpPr>
        <p:spPr>
          <a:xfrm>
            <a:off x="6525615" y="2596896"/>
            <a:ext cx="4824831" cy="822960"/>
          </a:xfrm>
          <a:prstGeom prst="rect">
            <a:avLst/>
          </a:prstGeom>
          <a:noFill/>
        </p:spPr>
        <p:txBody>
          <a:bodyPr wrap="square" lIns="0" tIns="0" rIns="0" bIns="0" anchor="ctr">
            <a:spAutoFit/>
          </a:bodyPr>
          <a:lstStyle/>
          <a:p>
            <a:pPr algn="l"/>
            <a:r>
              <a:rPr sz="3400" b="1" i="0">
                <a:solidFill>
                  <a:srgbClr val="1F6F5C"/>
                </a:solidFill>
                <a:latin typeface="Cambria"/>
              </a:rPr>
              <a:t>0,8547</a:t>
            </a:r>
          </a:p>
        </p:txBody>
      </p:sp>
      <p:sp>
        <p:nvSpPr>
          <p:cNvPr id="13" name="TextBox 12"/>
          <p:cNvSpPr txBox="1"/>
          <p:nvPr/>
        </p:nvSpPr>
        <p:spPr>
          <a:xfrm>
            <a:off x="6525615" y="3584448"/>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Weight decay 1e-2, sans rien d'autre.</a:t>
            </a:r>
          </a:p>
        </p:txBody>
      </p:sp>
      <p:sp>
        <p:nvSpPr>
          <p:cNvPr id="14" name="TextBox 13"/>
          <p:cNvSpPr txBox="1"/>
          <p:nvPr/>
        </p:nvSpPr>
        <p:spPr>
          <a:xfrm>
            <a:off x="6525615" y="4450080"/>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40 epochs.</a:t>
            </a:r>
          </a:p>
        </p:txBody>
      </p:sp>
      <p:sp>
        <p:nvSpPr>
          <p:cNvPr id="15" name="TextBox 14"/>
          <p:cNvSpPr txBox="1"/>
          <p:nvPr/>
        </p:nvSpPr>
        <p:spPr>
          <a:xfrm>
            <a:off x="6525615" y="5315712"/>
            <a:ext cx="4824831" cy="792480"/>
          </a:xfrm>
          <a:prstGeom prst="rect">
            <a:avLst/>
          </a:prstGeom>
          <a:noFill/>
        </p:spPr>
        <p:txBody>
          <a:bodyPr wrap="square" lIns="0" tIns="0" rIns="0" bIns="0" anchor="t">
            <a:spAutoFit/>
          </a:bodyPr>
          <a:lstStyle/>
          <a:p>
            <a:pPr algn="l">
              <a:lnSpc>
                <a:spcPct val="120000"/>
              </a:lnSpc>
            </a:pPr>
            <a:r>
              <a:rPr sz="1450" b="0" i="0">
                <a:solidFill>
                  <a:srgbClr val="2B3440"/>
                </a:solidFill>
                <a:latin typeface="Calibri"/>
              </a:rPr>
              <a:t>Écart-type 0,0042.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Deux constats de plus</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L'early stopping est le meilleur rapport  </a:t>
            </a:r>
            <a:r>
              <a:rPr sz="1600" b="0" i="0">
                <a:solidFill>
                  <a:srgbClr val="2B3440"/>
                </a:solidFill>
                <a:latin typeface="Calibri"/>
              </a:rPr>
              <a:t>+0,0455 sans fine-tuning, et un entraînement quatre fois plus court.</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Régulariser stabilise  </a:t>
            </a:r>
            <a:r>
              <a:rPr sz="1600" b="0" i="0">
                <a:solidFill>
                  <a:srgbClr val="2B3440"/>
                </a:solidFill>
                <a:latin typeface="Calibri"/>
              </a:rPr>
              <a:t>l'écart-type entre seeds passe de </a:t>
            </a:r>
            <a:r>
              <a:rPr sz="1600" b="1" i="0">
                <a:solidFill>
                  <a:srgbClr val="6D2E46"/>
                </a:solidFill>
                <a:latin typeface="Calibri"/>
              </a:rPr>
              <a:t>0,0112</a:t>
            </a:r>
            <a:r>
              <a:rPr sz="1600" b="0" i="0">
                <a:solidFill>
                  <a:srgbClr val="2B3440"/>
                </a:solidFill>
                <a:latin typeface="Calibri"/>
              </a:rPr>
              <a:t> à </a:t>
            </a:r>
            <a:r>
              <a:rPr sz="1600" b="1" i="0">
                <a:solidFill>
                  <a:srgbClr val="6D2E46"/>
                </a:solidFill>
                <a:latin typeface="Calibri"/>
              </a:rPr>
              <a:t>0,0013</a:t>
            </a:r>
            <a:r>
              <a:rPr sz="1600" b="0" i="0">
                <a:solidFill>
                  <a:srgbClr val="2B3440"/>
                </a:solidFill>
                <a:latin typeface="Calibri"/>
              </a:rPr>
              <a:t> : un modèle dont la qualité dépend de sa seed ne se déploie pas sereinement.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bug silencieux</a:t>
            </a:r>
          </a:p>
        </p:txBody>
      </p:sp>
      <p:sp>
        <p:nvSpPr>
          <p:cNvPr id="4" name="Rounded Rectangle 3"/>
          <p:cNvSpPr/>
          <p:nvPr/>
        </p:nvSpPr>
        <p:spPr>
          <a:xfrm>
            <a:off x="566928" y="1956816"/>
            <a:ext cx="4617720" cy="4398264"/>
          </a:xfrm>
          <a:prstGeom prst="roundRect">
            <a:avLst>
              <a:gd name="adj" fmla="val 2910"/>
            </a:avLst>
          </a:prstGeom>
          <a:solidFill>
            <a:srgbClr val="F5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924434"/>
            <a:ext cx="4069080" cy="1371600"/>
          </a:xfrm>
          <a:prstGeom prst="rect">
            <a:avLst/>
          </a:prstGeom>
          <a:noFill/>
        </p:spPr>
        <p:txBody>
          <a:bodyPr wrap="square" lIns="0" tIns="0" rIns="0" bIns="0" anchor="ctr">
            <a:spAutoFit/>
          </a:bodyPr>
          <a:lstStyle/>
          <a:p>
            <a:pPr algn="ctr"/>
            <a:r>
              <a:rPr sz="6600" b="1" i="0">
                <a:solidFill>
                  <a:srgbClr val="A9660B"/>
                </a:solidFill>
                <a:latin typeface="Cambria"/>
              </a:rPr>
              <a:t>0,0280</a:t>
            </a:r>
          </a:p>
        </p:txBody>
      </p:sp>
      <p:sp>
        <p:nvSpPr>
          <p:cNvPr id="6" name="TextBox 5"/>
          <p:cNvSpPr txBox="1"/>
          <p:nvPr/>
        </p:nvSpPr>
        <p:spPr>
          <a:xfrm>
            <a:off x="841247" y="4683739"/>
            <a:ext cx="4069080" cy="914400"/>
          </a:xfrm>
          <a:prstGeom prst="rect">
            <a:avLst/>
          </a:prstGeom>
          <a:noFill/>
        </p:spPr>
        <p:txBody>
          <a:bodyPr wrap="square" lIns="0" tIns="0" rIns="0" bIns="0" anchor="t">
            <a:spAutoFit/>
          </a:bodyPr>
          <a:lstStyle/>
          <a:p>
            <a:pPr algn="ctr">
              <a:lnSpc>
                <a:spcPct val="125000"/>
              </a:lnSpc>
            </a:pPr>
            <a:r>
              <a:rPr sz="1450" b="0" i="0">
                <a:solidFill>
                  <a:srgbClr val="6E7A8A"/>
                </a:solidFill>
                <a:latin typeface="Calibri"/>
              </a:rPr>
              <a:t>d'AUC perdus en oubliant model.eval()</a:t>
            </a:r>
          </a:p>
        </p:txBody>
      </p:sp>
      <p:sp>
        <p:nvSpPr>
          <p:cNvPr id="7" name="TextBox 6"/>
          <p:cNvSpPr txBox="1"/>
          <p:nvPr/>
        </p:nvSpPr>
        <p:spPr>
          <a:xfrm>
            <a:off x="5504688" y="1956816"/>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Même modèle, mêmes données : </a:t>
            </a:r>
            <a:r>
              <a:rPr sz="1600" b="1" i="0">
                <a:solidFill>
                  <a:srgbClr val="6D2E46"/>
                </a:solidFill>
                <a:latin typeface="Calibri"/>
              </a:rPr>
              <a:t>0,8442</a:t>
            </a:r>
            <a:r>
              <a:rPr sz="1600" b="0" i="0">
                <a:solidFill>
                  <a:srgbClr val="2B3440"/>
                </a:solidFill>
                <a:latin typeface="Calibri"/>
              </a:rPr>
              <a:t> en eval mode, </a:t>
            </a:r>
            <a:r>
              <a:rPr sz="1600" b="1" i="0">
                <a:solidFill>
                  <a:srgbClr val="6D2E46"/>
                </a:solidFill>
                <a:latin typeface="Calibri"/>
              </a:rPr>
              <a:t>0,8162</a:t>
            </a:r>
            <a:r>
              <a:rPr sz="1600" b="0" i="0">
                <a:solidFill>
                  <a:srgbClr val="2B3440"/>
                </a:solidFill>
                <a:latin typeface="Calibri"/>
              </a:rPr>
              <a:t> en train mode.</a:t>
            </a:r>
          </a:p>
        </p:txBody>
      </p:sp>
      <p:sp>
        <p:nvSpPr>
          <p:cNvPr id="8" name="TextBox 7"/>
          <p:cNvSpPr txBox="1"/>
          <p:nvPr/>
        </p:nvSpPr>
        <p:spPr>
          <a:xfrm>
            <a:off x="5504688" y="3422904"/>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Aucune erreur, aucun avertissement : le dropout tire encore des masques, la batch norm utilise le batch courant.</a:t>
            </a:r>
          </a:p>
        </p:txBody>
      </p:sp>
      <p:sp>
        <p:nvSpPr>
          <p:cNvPr id="9" name="TextBox 8"/>
          <p:cNvSpPr txBox="1"/>
          <p:nvPr/>
        </p:nvSpPr>
        <p:spPr>
          <a:xfrm>
            <a:off x="5504688" y="4888992"/>
            <a:ext cx="6120079" cy="1356360"/>
          </a:xfrm>
          <a:prstGeom prst="rect">
            <a:avLst/>
          </a:prstGeom>
          <a:noFill/>
        </p:spPr>
        <p:txBody>
          <a:bodyPr wrap="square" lIns="0" tIns="0" rIns="0" bIns="0" anchor="ctr">
            <a:spAutoFit/>
          </a:bodyPr>
          <a:lstStyle/>
          <a:p>
            <a:pPr algn="l">
              <a:lnSpc>
                <a:spcPct val="128000"/>
              </a:lnSpc>
            </a:pPr>
            <a:r>
              <a:rPr sz="1600" b="0" i="0">
                <a:solidFill>
                  <a:srgbClr val="2B3440"/>
                </a:solidFill>
                <a:latin typeface="Calibri"/>
              </a:rPr>
              <a:t>Le test : évaluer deux fois le même modèle ; sans eval(), les deux AUC diffèrent.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Du diagnostic au remède</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3356762" cy="310896"/>
          </a:xfrm>
          <a:prstGeom prst="rect">
            <a:avLst/>
          </a:prstGeom>
          <a:noFill/>
        </p:spPr>
        <p:txBody>
          <a:bodyPr wrap="square" lIns="0" tIns="0" rIns="0" bIns="0" anchor="ctr">
            <a:spAutoFit/>
          </a:bodyPr>
          <a:lstStyle/>
          <a:p>
            <a:pPr algn="l"/>
            <a:r>
              <a:rPr sz="1300" b="1" i="0">
                <a:solidFill>
                  <a:srgbClr val="6D2E46"/>
                </a:solidFill>
                <a:latin typeface="Calibri"/>
              </a:rPr>
              <a:t>Ce que l'on observe</a:t>
            </a:r>
          </a:p>
        </p:txBody>
      </p:sp>
      <p:sp>
        <p:nvSpPr>
          <p:cNvPr id="6" name="TextBox 5"/>
          <p:cNvSpPr txBox="1"/>
          <p:nvPr/>
        </p:nvSpPr>
        <p:spPr>
          <a:xfrm>
            <a:off x="4417466" y="1901952"/>
            <a:ext cx="4132751" cy="310896"/>
          </a:xfrm>
          <a:prstGeom prst="rect">
            <a:avLst/>
          </a:prstGeom>
          <a:noFill/>
        </p:spPr>
        <p:txBody>
          <a:bodyPr wrap="square" lIns="0" tIns="0" rIns="0" bIns="0" anchor="ctr">
            <a:spAutoFit/>
          </a:bodyPr>
          <a:lstStyle/>
          <a:p>
            <a:pPr algn="l"/>
            <a:r>
              <a:rPr sz="1300" b="1" i="0">
                <a:solidFill>
                  <a:srgbClr val="6D2E46"/>
                </a:solidFill>
                <a:latin typeface="Calibri"/>
              </a:rPr>
              <a:t>Première action</a:t>
            </a:r>
          </a:p>
        </p:txBody>
      </p:sp>
      <p:sp>
        <p:nvSpPr>
          <p:cNvPr id="7" name="TextBox 6"/>
          <p:cNvSpPr txBox="1"/>
          <p:nvPr/>
        </p:nvSpPr>
        <p:spPr>
          <a:xfrm>
            <a:off x="8879401" y="1901952"/>
            <a:ext cx="2580773" cy="310896"/>
          </a:xfrm>
          <a:prstGeom prst="rect">
            <a:avLst/>
          </a:prstGeom>
          <a:noFill/>
        </p:spPr>
        <p:txBody>
          <a:bodyPr wrap="square" lIns="0" tIns="0" rIns="0" bIns="0" anchor="ctr">
            <a:spAutoFit/>
          </a:bodyPr>
          <a:lstStyle/>
          <a:p>
            <a:pPr algn="l"/>
            <a:r>
              <a:rPr sz="1300" b="1" i="0">
                <a:solidFill>
                  <a:srgbClr val="6D2E46"/>
                </a:solidFill>
                <a:latin typeface="Calibri"/>
              </a:rPr>
              <a:t>À ne pas faire</a:t>
            </a:r>
          </a:p>
        </p:txBody>
      </p:sp>
      <p:sp>
        <p:nvSpPr>
          <p:cNvPr id="8" name="Rectangle 7"/>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322576"/>
            <a:ext cx="3356762" cy="475488"/>
          </a:xfrm>
          <a:prstGeom prst="rect">
            <a:avLst/>
          </a:prstGeom>
          <a:noFill/>
        </p:spPr>
        <p:txBody>
          <a:bodyPr wrap="square" lIns="0" tIns="0" rIns="0" bIns="0" anchor="ctr">
            <a:spAutoFit/>
          </a:bodyPr>
          <a:lstStyle/>
          <a:p>
            <a:pPr algn="l"/>
            <a:r>
              <a:rPr sz="1400" b="0" i="0">
                <a:solidFill>
                  <a:srgbClr val="2B3440"/>
                </a:solidFill>
                <a:latin typeface="Calibri"/>
              </a:rPr>
              <a:t>erratique, explosion</a:t>
            </a:r>
          </a:p>
        </p:txBody>
      </p:sp>
      <p:sp>
        <p:nvSpPr>
          <p:cNvPr id="10" name="TextBox 9"/>
          <p:cNvSpPr txBox="1"/>
          <p:nvPr/>
        </p:nvSpPr>
        <p:spPr>
          <a:xfrm>
            <a:off x="4417466" y="2322576"/>
            <a:ext cx="4132751" cy="475488"/>
          </a:xfrm>
          <a:prstGeom prst="rect">
            <a:avLst/>
          </a:prstGeom>
          <a:noFill/>
        </p:spPr>
        <p:txBody>
          <a:bodyPr wrap="square" lIns="0" tIns="0" rIns="0" bIns="0" anchor="ctr">
            <a:spAutoFit/>
          </a:bodyPr>
          <a:lstStyle/>
          <a:p>
            <a:pPr algn="l"/>
            <a:r>
              <a:rPr sz="1400" b="0" i="0">
                <a:solidFill>
                  <a:srgbClr val="2B3440"/>
                </a:solidFill>
                <a:latin typeface="Calibri"/>
              </a:rPr>
              <a:t>déboguer : learning rate, échelle, formes, 20 lignes</a:t>
            </a:r>
          </a:p>
        </p:txBody>
      </p:sp>
      <p:sp>
        <p:nvSpPr>
          <p:cNvPr id="11" name="TextBox 10"/>
          <p:cNvSpPr txBox="1"/>
          <p:nvPr/>
        </p:nvSpPr>
        <p:spPr>
          <a:xfrm>
            <a:off x="8879401" y="2322576"/>
            <a:ext cx="2580773" cy="475488"/>
          </a:xfrm>
          <a:prstGeom prst="rect">
            <a:avLst/>
          </a:prstGeom>
          <a:noFill/>
        </p:spPr>
        <p:txBody>
          <a:bodyPr wrap="square" lIns="0" tIns="0" rIns="0" bIns="0" anchor="ctr">
            <a:spAutoFit/>
          </a:bodyPr>
          <a:lstStyle/>
          <a:p>
            <a:pPr algn="l"/>
            <a:r>
              <a:rPr sz="1400" b="0" i="0">
                <a:solidFill>
                  <a:srgbClr val="2B3440"/>
                </a:solidFill>
                <a:latin typeface="Calibri"/>
              </a:rPr>
              <a:t>ajouter des couches</a:t>
            </a:r>
          </a:p>
        </p:txBody>
      </p:sp>
      <p:sp>
        <p:nvSpPr>
          <p:cNvPr id="12" name="Rectangle 11"/>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907792"/>
            <a:ext cx="3356762" cy="475488"/>
          </a:xfrm>
          <a:prstGeom prst="rect">
            <a:avLst/>
          </a:prstGeom>
          <a:noFill/>
        </p:spPr>
        <p:txBody>
          <a:bodyPr wrap="square" lIns="0" tIns="0" rIns="0" bIns="0" anchor="ctr">
            <a:spAutoFit/>
          </a:bodyPr>
          <a:lstStyle/>
          <a:p>
            <a:pPr algn="l"/>
            <a:r>
              <a:rPr sz="1400" b="0" i="0">
                <a:solidFill>
                  <a:srgbClr val="2B3440"/>
                </a:solidFill>
                <a:latin typeface="Calibri"/>
              </a:rPr>
              <a:t>hautes, plates, ensemble</a:t>
            </a:r>
          </a:p>
        </p:txBody>
      </p:sp>
      <p:sp>
        <p:nvSpPr>
          <p:cNvPr id="14" name="TextBox 13"/>
          <p:cNvSpPr txBox="1"/>
          <p:nvPr/>
        </p:nvSpPr>
        <p:spPr>
          <a:xfrm>
            <a:off x="4417466" y="2907792"/>
            <a:ext cx="4132751" cy="475488"/>
          </a:xfrm>
          <a:prstGeom prst="rect">
            <a:avLst/>
          </a:prstGeom>
          <a:noFill/>
        </p:spPr>
        <p:txBody>
          <a:bodyPr wrap="square" lIns="0" tIns="0" rIns="0" bIns="0" anchor="ctr">
            <a:spAutoFit/>
          </a:bodyPr>
          <a:lstStyle/>
          <a:p>
            <a:pPr algn="l"/>
            <a:r>
              <a:rPr sz="1400" b="0" i="0">
                <a:solidFill>
                  <a:srgbClr val="2B3440"/>
                </a:solidFill>
                <a:latin typeface="Calibri"/>
              </a:rPr>
              <a:t>vérifier, puis plus de capacité ou de learning rate</a:t>
            </a:r>
          </a:p>
        </p:txBody>
      </p:sp>
      <p:sp>
        <p:nvSpPr>
          <p:cNvPr id="15" name="TextBox 14"/>
          <p:cNvSpPr txBox="1"/>
          <p:nvPr/>
        </p:nvSpPr>
        <p:spPr>
          <a:xfrm>
            <a:off x="8879401" y="2907792"/>
            <a:ext cx="2580773" cy="475488"/>
          </a:xfrm>
          <a:prstGeom prst="rect">
            <a:avLst/>
          </a:prstGeom>
          <a:noFill/>
        </p:spPr>
        <p:txBody>
          <a:bodyPr wrap="square" lIns="0" tIns="0" rIns="0" bIns="0" anchor="ctr">
            <a:spAutoFit/>
          </a:bodyPr>
          <a:lstStyle/>
          <a:p>
            <a:pPr algn="l"/>
            <a:r>
              <a:rPr sz="1400" b="0" i="0">
                <a:solidFill>
                  <a:srgbClr val="2B3440"/>
                </a:solidFill>
                <a:latin typeface="Calibri"/>
              </a:rPr>
              <a:t>régulariser davantage</a:t>
            </a:r>
          </a:p>
        </p:txBody>
      </p:sp>
      <p:sp>
        <p:nvSpPr>
          <p:cNvPr id="16" name="Rectangle 15"/>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493008"/>
            <a:ext cx="3356762" cy="475488"/>
          </a:xfrm>
          <a:prstGeom prst="rect">
            <a:avLst/>
          </a:prstGeom>
          <a:noFill/>
        </p:spPr>
        <p:txBody>
          <a:bodyPr wrap="square" lIns="0" tIns="0" rIns="0" bIns="0" anchor="ctr">
            <a:spAutoFit/>
          </a:bodyPr>
          <a:lstStyle/>
          <a:p>
            <a:pPr algn="l"/>
            <a:r>
              <a:rPr sz="1400" b="0" i="0">
                <a:solidFill>
                  <a:srgbClr val="2B3440"/>
                </a:solidFill>
                <a:latin typeface="Calibri"/>
              </a:rPr>
              <a:t>descente propre, plateau médiocre</a:t>
            </a:r>
          </a:p>
        </p:txBody>
      </p:sp>
      <p:sp>
        <p:nvSpPr>
          <p:cNvPr id="18" name="TextBox 17"/>
          <p:cNvSpPr txBox="1"/>
          <p:nvPr/>
        </p:nvSpPr>
        <p:spPr>
          <a:xfrm>
            <a:off x="4417466" y="3493008"/>
            <a:ext cx="4132751" cy="475488"/>
          </a:xfrm>
          <a:prstGeom prst="rect">
            <a:avLst/>
          </a:prstGeom>
          <a:noFill/>
        </p:spPr>
        <p:txBody>
          <a:bodyPr wrap="square" lIns="0" tIns="0" rIns="0" bIns="0" anchor="ctr">
            <a:spAutoFit/>
          </a:bodyPr>
          <a:lstStyle/>
          <a:p>
            <a:pPr algn="l"/>
            <a:r>
              <a:rPr sz="1400" b="0" i="0">
                <a:solidFill>
                  <a:srgbClr val="2B3440"/>
                </a:solidFill>
                <a:latin typeface="Calibri"/>
              </a:rPr>
              <a:t>compter les unités vivantes</a:t>
            </a:r>
          </a:p>
        </p:txBody>
      </p:sp>
      <p:sp>
        <p:nvSpPr>
          <p:cNvPr id="19" name="TextBox 18"/>
          <p:cNvSpPr txBox="1"/>
          <p:nvPr/>
        </p:nvSpPr>
        <p:spPr>
          <a:xfrm>
            <a:off x="8879401" y="3493008"/>
            <a:ext cx="2580773" cy="475488"/>
          </a:xfrm>
          <a:prstGeom prst="rect">
            <a:avLst/>
          </a:prstGeom>
          <a:noFill/>
        </p:spPr>
        <p:txBody>
          <a:bodyPr wrap="square" lIns="0" tIns="0" rIns="0" bIns="0" anchor="ctr">
            <a:spAutoFit/>
          </a:bodyPr>
          <a:lstStyle/>
          <a:p>
            <a:pPr algn="l"/>
            <a:r>
              <a:rPr sz="1400" b="0" i="0">
                <a:solidFill>
                  <a:srgbClr val="2B3440"/>
                </a:solidFill>
                <a:latin typeface="Calibri"/>
              </a:rPr>
              <a:t>conclure trop vite</a:t>
            </a:r>
          </a:p>
        </p:txBody>
      </p:sp>
      <p:sp>
        <p:nvSpPr>
          <p:cNvPr id="20" name="Rectangle 19"/>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078224"/>
            <a:ext cx="3356762" cy="475488"/>
          </a:xfrm>
          <a:prstGeom prst="rect">
            <a:avLst/>
          </a:prstGeom>
          <a:noFill/>
        </p:spPr>
        <p:txBody>
          <a:bodyPr wrap="square" lIns="0" tIns="0" rIns="0" bIns="0" anchor="ctr">
            <a:spAutoFit/>
          </a:bodyPr>
          <a:lstStyle/>
          <a:p>
            <a:pPr algn="l"/>
            <a:r>
              <a:rPr sz="1400" b="0" i="0">
                <a:solidFill>
                  <a:srgbClr val="2B3440"/>
                </a:solidFill>
                <a:latin typeface="Calibri"/>
              </a:rPr>
              <a:t>la validation remonte</a:t>
            </a:r>
          </a:p>
        </p:txBody>
      </p:sp>
      <p:sp>
        <p:nvSpPr>
          <p:cNvPr id="22" name="TextBox 21"/>
          <p:cNvSpPr txBox="1"/>
          <p:nvPr/>
        </p:nvSpPr>
        <p:spPr>
          <a:xfrm>
            <a:off x="4417466" y="4078224"/>
            <a:ext cx="4132751" cy="475488"/>
          </a:xfrm>
          <a:prstGeom prst="rect">
            <a:avLst/>
          </a:prstGeom>
          <a:noFill/>
        </p:spPr>
        <p:txBody>
          <a:bodyPr wrap="square" lIns="0" tIns="0" rIns="0" bIns="0" anchor="ctr">
            <a:spAutoFit/>
          </a:bodyPr>
          <a:lstStyle/>
          <a:p>
            <a:pPr algn="l"/>
            <a:r>
              <a:rPr sz="1400" b="0" i="0">
                <a:solidFill>
                  <a:srgbClr val="2B3440"/>
                </a:solidFill>
                <a:latin typeface="Calibri"/>
              </a:rPr>
              <a:t>early stopping, puis weight decay, un par un</a:t>
            </a:r>
          </a:p>
        </p:txBody>
      </p:sp>
      <p:sp>
        <p:nvSpPr>
          <p:cNvPr id="23" name="TextBox 22"/>
          <p:cNvSpPr txBox="1"/>
          <p:nvPr/>
        </p:nvSpPr>
        <p:spPr>
          <a:xfrm>
            <a:off x="8879401" y="4078224"/>
            <a:ext cx="2580773" cy="475488"/>
          </a:xfrm>
          <a:prstGeom prst="rect">
            <a:avLst/>
          </a:prstGeom>
          <a:noFill/>
        </p:spPr>
        <p:txBody>
          <a:bodyPr wrap="square" lIns="0" tIns="0" rIns="0" bIns="0" anchor="ctr">
            <a:spAutoFit/>
          </a:bodyPr>
          <a:lstStyle/>
          <a:p>
            <a:pPr algn="l"/>
            <a:r>
              <a:rPr sz="1400" b="0" i="0">
                <a:solidFill>
                  <a:srgbClr val="2B3440"/>
                </a:solidFill>
                <a:latin typeface="Calibri"/>
              </a:rPr>
              <a:t>tout empiler</a:t>
            </a:r>
          </a:p>
        </p:txBody>
      </p:sp>
      <p:sp>
        <p:nvSpPr>
          <p:cNvPr id="24" name="Rectangle 23"/>
          <p:cNvSpPr/>
          <p:nvPr/>
        </p:nvSpPr>
        <p:spPr>
          <a:xfrm>
            <a:off x="566928" y="4608576"/>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663440"/>
            <a:ext cx="3356762" cy="475488"/>
          </a:xfrm>
          <a:prstGeom prst="rect">
            <a:avLst/>
          </a:prstGeom>
          <a:noFill/>
        </p:spPr>
        <p:txBody>
          <a:bodyPr wrap="square" lIns="0" tIns="0" rIns="0" bIns="0" anchor="ctr">
            <a:spAutoFit/>
          </a:bodyPr>
          <a:lstStyle/>
          <a:p>
            <a:pPr algn="l"/>
            <a:r>
              <a:rPr sz="1400" b="0" i="0">
                <a:solidFill>
                  <a:srgbClr val="2B3440"/>
                </a:solidFill>
                <a:latin typeface="Calibri"/>
              </a:rPr>
              <a:t>deux évaluations différentes</a:t>
            </a:r>
          </a:p>
        </p:txBody>
      </p:sp>
      <p:sp>
        <p:nvSpPr>
          <p:cNvPr id="26" name="TextBox 25"/>
          <p:cNvSpPr txBox="1"/>
          <p:nvPr/>
        </p:nvSpPr>
        <p:spPr>
          <a:xfrm>
            <a:off x="4417466" y="4663440"/>
            <a:ext cx="4132751" cy="475488"/>
          </a:xfrm>
          <a:prstGeom prst="rect">
            <a:avLst/>
          </a:prstGeom>
          <a:noFill/>
        </p:spPr>
        <p:txBody>
          <a:bodyPr wrap="square" lIns="0" tIns="0" rIns="0" bIns="0" anchor="ctr">
            <a:spAutoFit/>
          </a:bodyPr>
          <a:lstStyle/>
          <a:p>
            <a:pPr algn="l"/>
            <a:r>
              <a:rPr sz="1400" b="0" i="0">
                <a:solidFill>
                  <a:srgbClr val="2B3440"/>
                </a:solidFill>
                <a:latin typeface="Calibri"/>
              </a:rPr>
              <a:t>model.eval()</a:t>
            </a:r>
          </a:p>
        </p:txBody>
      </p:sp>
      <p:sp>
        <p:nvSpPr>
          <p:cNvPr id="27" name="TextBox 26"/>
          <p:cNvSpPr txBox="1"/>
          <p:nvPr/>
        </p:nvSpPr>
        <p:spPr>
          <a:xfrm>
            <a:off x="8879401" y="4663440"/>
            <a:ext cx="2580773" cy="475488"/>
          </a:xfrm>
          <a:prstGeom prst="rect">
            <a:avLst/>
          </a:prstGeom>
          <a:noFill/>
        </p:spPr>
        <p:txBody>
          <a:bodyPr wrap="square" lIns="0" tIns="0" rIns="0" bIns="0" anchor="ctr">
            <a:spAutoFit/>
          </a:bodyPr>
          <a:lstStyle/>
          <a:p>
            <a:pPr algn="l"/>
            <a:r>
              <a:rPr sz="1400" b="0" i="0">
                <a:solidFill>
                  <a:srgbClr val="2B3440"/>
                </a:solidFill>
                <a:latin typeface="Calibri"/>
              </a:rPr>
              <a:t>chercher dans l'architecture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Synthèse de la partie 3</a:t>
            </a:r>
          </a:p>
        </p:txBody>
      </p:sp>
      <p:sp>
        <p:nvSpPr>
          <p:cNvPr id="4" name="Rounded Rectangle 3"/>
          <p:cNvSpPr/>
          <p:nvPr/>
        </p:nvSpPr>
        <p:spPr>
          <a:xfrm>
            <a:off x="566928" y="181051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Le gap est la quantité à surveiller ; la décision se prend sur la </a:t>
            </a:r>
            <a:r>
              <a:rPr sz="1600" b="1" i="0">
                <a:solidFill>
                  <a:srgbClr val="6D2E46"/>
                </a:solidFill>
                <a:latin typeface="Calibri"/>
              </a:rPr>
              <a:t>métrique du problème</a:t>
            </a:r>
            <a:r>
              <a:rPr sz="1600" b="0" i="0">
                <a:solidFill>
                  <a:srgbClr val="2B3440"/>
                </a:solidFill>
                <a:latin typeface="Calibri"/>
              </a:rPr>
              <a:t>.</a:t>
            </a:r>
          </a:p>
        </p:txBody>
      </p:sp>
      <p:sp>
        <p:nvSpPr>
          <p:cNvPr id="6" name="Rounded Rectangle 5"/>
          <p:cNvSpPr/>
          <p:nvPr/>
        </p:nvSpPr>
        <p:spPr>
          <a:xfrm>
            <a:off x="566928" y="2592324"/>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683764"/>
            <a:ext cx="10472623" cy="452627"/>
          </a:xfrm>
          <a:prstGeom prst="rect">
            <a:avLst/>
          </a:prstGeom>
          <a:noFill/>
        </p:spPr>
        <p:txBody>
          <a:bodyPr wrap="square" lIns="0" tIns="0" rIns="0" bIns="0" anchor="ctr">
            <a:spAutoFit/>
          </a:bodyPr>
          <a:lstStyle/>
          <a:p>
            <a:pPr algn="l">
              <a:lnSpc>
                <a:spcPct val="120000"/>
              </a:lnSpc>
            </a:pPr>
            <a:r>
              <a:rPr sz="1450" b="0" i="0">
                <a:solidFill>
                  <a:srgbClr val="2B3440"/>
                </a:solidFill>
                <a:latin typeface="Calibri"/>
              </a:rPr>
              <a:t>Chaque remède répond à un problème : early stopping, weight decay (</a:t>
            </a:r>
            <a:r>
              <a:rPr sz="1450" b="1" i="0">
                <a:solidFill>
                  <a:srgbClr val="6D2E46"/>
                </a:solidFill>
                <a:latin typeface="Calibri"/>
              </a:rPr>
              <a:t>Ridge</a:t>
            </a:r>
            <a:r>
              <a:rPr sz="1450" b="0" i="0">
                <a:solidFill>
                  <a:srgbClr val="2B3440"/>
                </a:solidFill>
                <a:latin typeface="Calibri"/>
              </a:rPr>
              <a:t>), dropout, normalisations, data augmentation.</a:t>
            </a:r>
          </a:p>
        </p:txBody>
      </p:sp>
      <p:sp>
        <p:nvSpPr>
          <p:cNvPr id="8" name="Rounded Rectangle 7"/>
          <p:cNvSpPr/>
          <p:nvPr/>
        </p:nvSpPr>
        <p:spPr>
          <a:xfrm>
            <a:off x="566928" y="3374136"/>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465576"/>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Un effet plus petit que la variation entre seeds </a:t>
            </a:r>
            <a:r>
              <a:rPr sz="1600" b="1" i="0">
                <a:solidFill>
                  <a:srgbClr val="6D2E46"/>
                </a:solidFill>
                <a:latin typeface="Calibri"/>
              </a:rPr>
              <a:t>n'est pas un effet</a:t>
            </a:r>
            <a:r>
              <a:rPr sz="1600" b="0" i="0">
                <a:solidFill>
                  <a:srgbClr val="2B3440"/>
                </a:solidFill>
                <a:latin typeface="Calibri"/>
              </a:rPr>
              <a:t> ; le seuil se fixe avant de regarder.</a:t>
            </a:r>
          </a:p>
        </p:txBody>
      </p:sp>
      <p:sp>
        <p:nvSpPr>
          <p:cNvPr id="10" name="Rounded Rectangle 9"/>
          <p:cNvSpPr/>
          <p:nvPr/>
        </p:nvSpPr>
        <p:spPr>
          <a:xfrm>
            <a:off x="566928" y="4155948"/>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247388"/>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Mesurer un par un, ne combiner que ce qui a </a:t>
            </a:r>
            <a:r>
              <a:rPr sz="1600" b="1" i="0">
                <a:solidFill>
                  <a:srgbClr val="6D2E46"/>
                </a:solidFill>
                <a:latin typeface="Calibri"/>
              </a:rPr>
              <a:t>mérité sa place</a:t>
            </a:r>
            <a:r>
              <a:rPr sz="1600" b="0" i="0">
                <a:solidFill>
                  <a:srgbClr val="2B3440"/>
                </a:solidFill>
                <a:latin typeface="Calibri"/>
              </a:rPr>
              <a:t>.</a:t>
            </a:r>
          </a:p>
        </p:txBody>
      </p:sp>
      <p:sp>
        <p:nvSpPr>
          <p:cNvPr id="12" name="Rounded Rectangle 11"/>
          <p:cNvSpPr/>
          <p:nvPr/>
        </p:nvSpPr>
        <p:spPr>
          <a:xfrm>
            <a:off x="566928" y="4937760"/>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5029200"/>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La batch norm n'a pas aidé ici ; cela ne dit rien des réseaux convolutifs. </a:t>
            </a:r>
            <a:r>
              <a:rPr sz="1600" b="1" i="0">
                <a:solidFill>
                  <a:srgbClr val="6D2E46"/>
                </a:solidFill>
                <a:latin typeface="Calibri"/>
              </a:rPr>
              <a:t>Énoncer la portée.</a:t>
            </a:r>
          </a:p>
        </p:txBody>
      </p:sp>
      <p:sp>
        <p:nvSpPr>
          <p:cNvPr id="14" name="Rounded Rectangle 13"/>
          <p:cNvSpPr/>
          <p:nvPr/>
        </p:nvSpPr>
        <p:spPr>
          <a:xfrm>
            <a:off x="566928" y="571957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5811012"/>
            <a:ext cx="10472623" cy="452627"/>
          </a:xfrm>
          <a:prstGeom prst="rect">
            <a:avLst/>
          </a:prstGeom>
          <a:noFill/>
        </p:spPr>
        <p:txBody>
          <a:bodyPr wrap="square" lIns="0" tIns="0" rIns="0" bIns="0" anchor="ctr">
            <a:spAutoFit/>
          </a:bodyPr>
          <a:lstStyle/>
          <a:p>
            <a:pPr algn="l">
              <a:lnSpc>
                <a:spcPct val="120000"/>
              </a:lnSpc>
            </a:pPr>
            <a:r>
              <a:rPr sz="1600" b="0" i="0">
                <a:solidFill>
                  <a:srgbClr val="2B3440"/>
                </a:solidFill>
                <a:latin typeface="Calibri"/>
              </a:rPr>
              <a:t>model.eval(), </a:t>
            </a:r>
            <a:r>
              <a:rPr sz="1600" b="1" i="0">
                <a:solidFill>
                  <a:srgbClr val="6D2E46"/>
                </a:solidFill>
                <a:latin typeface="Calibri"/>
              </a:rPr>
              <a:t>toujours</a:t>
            </a:r>
            <a:r>
              <a:rPr sz="1600" b="0" i="0">
                <a:solidFill>
                  <a:srgbClr val="2B3440"/>
                </a:solidFill>
                <a:latin typeface="Calibri"/>
              </a:rPr>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PARTIE 3 · SÉANCE 10 · GÉNÉRALISER</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Mini-quiz 3</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Quatre questions, puis correction.</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1  </a:t>
            </a:r>
            <a:r>
              <a:rPr sz="1600" b="0" i="0">
                <a:solidFill>
                  <a:srgbClr val="2B3440"/>
                </a:solidFill>
                <a:latin typeface="Calibri"/>
              </a:rPr>
              <a:t>Pourquoi l'ablation fait-elle varier les seeds plutôt que les folds ?</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2  </a:t>
            </a:r>
            <a:r>
              <a:rPr sz="1600" b="0" i="0">
                <a:solidFill>
                  <a:srgbClr val="2B3440"/>
                </a:solidFill>
                <a:latin typeface="Calibri"/>
              </a:rPr>
              <a:t>Écrivez l'affirmation la plus forte sur la batch norm que l'expérience autorise.</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3  </a:t>
            </a:r>
            <a:r>
              <a:rPr sz="1600" b="0" i="0">
                <a:solidFill>
                  <a:srgbClr val="2B3440"/>
                </a:solidFill>
                <a:latin typeface="Calibri"/>
              </a:rPr>
              <a:t>Une raison de préférer l'early stopping au weight decay, qui gagne pourtant 0,007 de plus ?</a:t>
            </a:r>
          </a:p>
        </p:txBody>
      </p:sp>
      <p:sp>
        <p:nvSpPr>
          <p:cNvPr id="11" name="Rounded Rectangle 10"/>
          <p:cNvSpPr/>
          <p:nvPr/>
        </p:nvSpPr>
        <p:spPr>
          <a:xfrm>
            <a:off x="566928" y="4901183"/>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4  </a:t>
            </a:r>
            <a:r>
              <a:rPr sz="1600" b="0" i="0">
                <a:solidFill>
                  <a:srgbClr val="2B3440"/>
                </a:solidFill>
                <a:latin typeface="Calibri"/>
              </a:rPr>
              <a:t>Le bruit réduit le gap de 40 % sans changer l'AUC : comment est-ce possible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CLÔTURE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 fil des trois séances</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2435275" cy="310896"/>
          </a:xfrm>
          <a:prstGeom prst="rect">
            <a:avLst/>
          </a:prstGeom>
          <a:noFill/>
        </p:spPr>
        <p:txBody>
          <a:bodyPr wrap="square" lIns="0" tIns="0" rIns="0" bIns="0" anchor="ctr">
            <a:spAutoFit/>
          </a:bodyPr>
          <a:lstStyle/>
          <a:p>
            <a:pPr algn="l"/>
            <a:r>
              <a:rPr sz="1300" b="1" i="0">
                <a:solidFill>
                  <a:srgbClr val="6D2E46"/>
                </a:solidFill>
                <a:latin typeface="Calibri"/>
              </a:rPr>
              <a:t>Question</a:t>
            </a:r>
          </a:p>
        </p:txBody>
      </p:sp>
      <p:sp>
        <p:nvSpPr>
          <p:cNvPr id="6" name="TextBox 5"/>
          <p:cNvSpPr txBox="1"/>
          <p:nvPr/>
        </p:nvSpPr>
        <p:spPr>
          <a:xfrm>
            <a:off x="3495979" y="1901952"/>
            <a:ext cx="2435275" cy="310896"/>
          </a:xfrm>
          <a:prstGeom prst="rect">
            <a:avLst/>
          </a:prstGeom>
          <a:noFill/>
        </p:spPr>
        <p:txBody>
          <a:bodyPr wrap="square" lIns="0" tIns="0" rIns="0" bIns="0" anchor="ctr">
            <a:spAutoFit/>
          </a:bodyPr>
          <a:lstStyle/>
          <a:p>
            <a:pPr algn="l"/>
            <a:r>
              <a:rPr sz="1300" b="1" i="0">
                <a:solidFill>
                  <a:srgbClr val="6D2E46"/>
                </a:solidFill>
                <a:latin typeface="Calibri"/>
              </a:rPr>
              <a:t>Séance 8</a:t>
            </a:r>
          </a:p>
        </p:txBody>
      </p:sp>
      <p:sp>
        <p:nvSpPr>
          <p:cNvPr id="7" name="TextBox 6"/>
          <p:cNvSpPr txBox="1"/>
          <p:nvPr/>
        </p:nvSpPr>
        <p:spPr>
          <a:xfrm>
            <a:off x="6260439" y="1901952"/>
            <a:ext cx="2435275" cy="310896"/>
          </a:xfrm>
          <a:prstGeom prst="rect">
            <a:avLst/>
          </a:prstGeom>
          <a:noFill/>
        </p:spPr>
        <p:txBody>
          <a:bodyPr wrap="square" lIns="0" tIns="0" rIns="0" bIns="0" anchor="ctr">
            <a:spAutoFit/>
          </a:bodyPr>
          <a:lstStyle/>
          <a:p>
            <a:pPr algn="l"/>
            <a:r>
              <a:rPr sz="1300" b="1" i="0">
                <a:solidFill>
                  <a:srgbClr val="6D2E46"/>
                </a:solidFill>
                <a:latin typeface="Calibri"/>
              </a:rPr>
              <a:t>Séance 9</a:t>
            </a:r>
          </a:p>
        </p:txBody>
      </p:sp>
      <p:sp>
        <p:nvSpPr>
          <p:cNvPr id="8" name="TextBox 7"/>
          <p:cNvSpPr txBox="1"/>
          <p:nvPr/>
        </p:nvSpPr>
        <p:spPr>
          <a:xfrm>
            <a:off x="9024899" y="1901952"/>
            <a:ext cx="2435275" cy="310896"/>
          </a:xfrm>
          <a:prstGeom prst="rect">
            <a:avLst/>
          </a:prstGeom>
          <a:noFill/>
        </p:spPr>
        <p:txBody>
          <a:bodyPr wrap="square" lIns="0" tIns="0" rIns="0" bIns="0" anchor="ctr">
            <a:spAutoFit/>
          </a:bodyPr>
          <a:lstStyle/>
          <a:p>
            <a:pPr algn="l"/>
            <a:r>
              <a:rPr sz="1300" b="1" i="0">
                <a:solidFill>
                  <a:srgbClr val="6D2E46"/>
                </a:solidFill>
                <a:latin typeface="Calibri"/>
              </a:rPr>
              <a:t>Séance 10</a:t>
            </a:r>
          </a:p>
        </p:txBody>
      </p:sp>
      <p:sp>
        <p:nvSpPr>
          <p:cNvPr id="9" name="Rectangle 8"/>
          <p:cNvSpPr/>
          <p:nvPr/>
        </p:nvSpPr>
        <p:spPr>
          <a:xfrm>
            <a:off x="566928" y="2267712"/>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2435275" cy="475488"/>
          </a:xfrm>
          <a:prstGeom prst="rect">
            <a:avLst/>
          </a:prstGeom>
          <a:noFill/>
        </p:spPr>
        <p:txBody>
          <a:bodyPr wrap="square" lIns="0" tIns="0" rIns="0" bIns="0" anchor="ctr">
            <a:spAutoFit/>
          </a:bodyPr>
          <a:lstStyle/>
          <a:p>
            <a:pPr algn="l"/>
            <a:r>
              <a:rPr sz="1400" b="0" i="0">
                <a:solidFill>
                  <a:srgbClr val="2B3440"/>
                </a:solidFill>
                <a:latin typeface="Calibri"/>
              </a:rPr>
              <a:t>Que peut calculer le modèle ?</a:t>
            </a:r>
          </a:p>
        </p:txBody>
      </p:sp>
      <p:sp>
        <p:nvSpPr>
          <p:cNvPr id="11" name="TextBox 10"/>
          <p:cNvSpPr txBox="1"/>
          <p:nvPr/>
        </p:nvSpPr>
        <p:spPr>
          <a:xfrm>
            <a:off x="3495979" y="2322576"/>
            <a:ext cx="2435275" cy="475488"/>
          </a:xfrm>
          <a:prstGeom prst="rect">
            <a:avLst/>
          </a:prstGeom>
          <a:noFill/>
        </p:spPr>
        <p:txBody>
          <a:bodyPr wrap="square" lIns="0" tIns="0" rIns="0" bIns="0" anchor="ctr">
            <a:spAutoFit/>
          </a:bodyPr>
          <a:lstStyle/>
          <a:p>
            <a:pPr algn="l"/>
            <a:r>
              <a:rPr sz="1400" b="0" i="0">
                <a:solidFill>
                  <a:srgbClr val="2B3440"/>
                </a:solidFill>
                <a:latin typeface="Calibri"/>
              </a:rPr>
              <a:t>non-linéarité, universal approximation</a:t>
            </a:r>
          </a:p>
        </p:txBody>
      </p:sp>
      <p:sp>
        <p:nvSpPr>
          <p:cNvPr id="12" name="TextBox 11"/>
          <p:cNvSpPr txBox="1"/>
          <p:nvPr/>
        </p:nvSpPr>
        <p:spPr>
          <a:xfrm>
            <a:off x="6260439" y="2322576"/>
            <a:ext cx="2435275" cy="475488"/>
          </a:xfrm>
          <a:prstGeom prst="rect">
            <a:avLst/>
          </a:prstGeom>
          <a:noFill/>
        </p:spPr>
        <p:txBody>
          <a:bodyPr wrap="square" lIns="0" tIns="0" rIns="0" bIns="0" anchor="ctr">
            <a:spAutoFit/>
          </a:bodyPr>
          <a:lstStyle/>
          <a:p>
            <a:pPr algn="l"/>
            <a:r>
              <a:rPr sz="1400" b="0" i="0">
                <a:solidFill>
                  <a:srgbClr val="2B3440"/>
                </a:solidFill>
                <a:latin typeface="Calibri"/>
              </a:rPr>
              <a:t>capacité : plancher et plateau</a:t>
            </a:r>
          </a:p>
        </p:txBody>
      </p:sp>
      <p:sp>
        <p:nvSpPr>
          <p:cNvPr id="13" name="TextBox 12"/>
          <p:cNvSpPr txBox="1"/>
          <p:nvPr/>
        </p:nvSpPr>
        <p:spPr>
          <a:xfrm>
            <a:off x="9024899" y="2322576"/>
            <a:ext cx="2435275" cy="475488"/>
          </a:xfrm>
          <a:prstGeom prst="rect">
            <a:avLst/>
          </a:prstGeom>
          <a:noFill/>
        </p:spPr>
        <p:txBody>
          <a:bodyPr wrap="square" lIns="0" tIns="0" rIns="0" bIns="0" anchor="ctr">
            <a:spAutoFit/>
          </a:bodyPr>
          <a:lstStyle/>
          <a:p>
            <a:pPr algn="l"/>
            <a:r>
              <a:rPr sz="1400" b="0" i="0">
                <a:solidFill>
                  <a:srgbClr val="2B3440"/>
                </a:solidFill>
                <a:latin typeface="Calibri"/>
              </a:rPr>
              <a:t>trop de capacité : overfitting</a:t>
            </a:r>
          </a:p>
        </p:txBody>
      </p:sp>
      <p:sp>
        <p:nvSpPr>
          <p:cNvPr id="14" name="Rectangle 13"/>
          <p:cNvSpPr/>
          <p:nvPr/>
        </p:nvSpPr>
        <p:spPr>
          <a:xfrm>
            <a:off x="566928" y="2852928"/>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907792"/>
            <a:ext cx="2435275" cy="475488"/>
          </a:xfrm>
          <a:prstGeom prst="rect">
            <a:avLst/>
          </a:prstGeom>
          <a:noFill/>
        </p:spPr>
        <p:txBody>
          <a:bodyPr wrap="square" lIns="0" tIns="0" rIns="0" bIns="0" anchor="ctr">
            <a:spAutoFit/>
          </a:bodyPr>
          <a:lstStyle/>
          <a:p>
            <a:pPr algn="l"/>
            <a:r>
              <a:rPr sz="1400" b="0" i="0">
                <a:solidFill>
                  <a:srgbClr val="2B3440"/>
                </a:solidFill>
                <a:latin typeface="Calibri"/>
              </a:rPr>
              <a:t>Comment apprend-il ?</a:t>
            </a:r>
          </a:p>
        </p:txBody>
      </p:sp>
      <p:sp>
        <p:nvSpPr>
          <p:cNvPr id="16" name="TextBox 15"/>
          <p:cNvSpPr txBox="1"/>
          <p:nvPr/>
        </p:nvSpPr>
        <p:spPr>
          <a:xfrm>
            <a:off x="3495979" y="2907792"/>
            <a:ext cx="2435275" cy="475488"/>
          </a:xfrm>
          <a:prstGeom prst="rect">
            <a:avLst/>
          </a:prstGeom>
          <a:noFill/>
        </p:spPr>
        <p:txBody>
          <a:bodyPr wrap="square" lIns="0" tIns="0" rIns="0" bIns="0" anchor="ctr">
            <a:spAutoFit/>
          </a:bodyPr>
          <a:lstStyle/>
          <a:p>
            <a:pPr algn="l"/>
            <a:r>
              <a:rPr sz="1400" b="0" i="0">
                <a:solidFill>
                  <a:srgbClr val="2B3440"/>
                </a:solidFill>
                <a:latin typeface="Calibri"/>
              </a:rPr>
              <a:t>backpropagation, learning rate</a:t>
            </a:r>
          </a:p>
        </p:txBody>
      </p:sp>
      <p:sp>
        <p:nvSpPr>
          <p:cNvPr id="17" name="TextBox 16"/>
          <p:cNvSpPr txBox="1"/>
          <p:nvPr/>
        </p:nvSpPr>
        <p:spPr>
          <a:xfrm>
            <a:off x="6260439" y="2907792"/>
            <a:ext cx="2435275" cy="475488"/>
          </a:xfrm>
          <a:prstGeom prst="rect">
            <a:avLst/>
          </a:prstGeom>
          <a:noFill/>
        </p:spPr>
        <p:txBody>
          <a:bodyPr wrap="square" lIns="0" tIns="0" rIns="0" bIns="0" anchor="ctr">
            <a:spAutoFit/>
          </a:bodyPr>
          <a:lstStyle/>
          <a:p>
            <a:pPr algn="l"/>
            <a:r>
              <a:rPr sz="1400" b="0" i="0">
                <a:solidFill>
                  <a:srgbClr val="2B3440"/>
                </a:solidFill>
                <a:latin typeface="Calibri"/>
              </a:rPr>
              <a:t>optimizers, batches, schedules</a:t>
            </a:r>
          </a:p>
        </p:txBody>
      </p:sp>
      <p:sp>
        <p:nvSpPr>
          <p:cNvPr id="18" name="TextBox 17"/>
          <p:cNvSpPr txBox="1"/>
          <p:nvPr/>
        </p:nvSpPr>
        <p:spPr>
          <a:xfrm>
            <a:off x="9024899" y="2907792"/>
            <a:ext cx="2435275" cy="475488"/>
          </a:xfrm>
          <a:prstGeom prst="rect">
            <a:avLst/>
          </a:prstGeom>
          <a:noFill/>
        </p:spPr>
        <p:txBody>
          <a:bodyPr wrap="square" lIns="0" tIns="0" rIns="0" bIns="0" anchor="ctr">
            <a:spAutoFit/>
          </a:bodyPr>
          <a:lstStyle/>
          <a:p>
            <a:pPr algn="l"/>
            <a:r>
              <a:rPr sz="1400" b="0" i="0">
                <a:solidFill>
                  <a:srgbClr val="2B3440"/>
                </a:solidFill>
                <a:latin typeface="Calibri"/>
              </a:rPr>
              <a:t>early stopping, pénalités</a:t>
            </a:r>
          </a:p>
        </p:txBody>
      </p:sp>
      <p:sp>
        <p:nvSpPr>
          <p:cNvPr id="19" name="Rectangle 18"/>
          <p:cNvSpPr/>
          <p:nvPr/>
        </p:nvSpPr>
        <p:spPr>
          <a:xfrm>
            <a:off x="566928" y="3438144"/>
            <a:ext cx="11057839" cy="585216"/>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93008"/>
            <a:ext cx="2435275" cy="475488"/>
          </a:xfrm>
          <a:prstGeom prst="rect">
            <a:avLst/>
          </a:prstGeom>
          <a:noFill/>
        </p:spPr>
        <p:txBody>
          <a:bodyPr wrap="square" lIns="0" tIns="0" rIns="0" bIns="0" anchor="ctr">
            <a:spAutoFit/>
          </a:bodyPr>
          <a:lstStyle/>
          <a:p>
            <a:pPr algn="l"/>
            <a:r>
              <a:rPr sz="1400" b="0" i="0">
                <a:solidFill>
                  <a:srgbClr val="2B3440"/>
                </a:solidFill>
                <a:latin typeface="Calibri"/>
              </a:rPr>
              <a:t>Comment savoir s'il marche ?</a:t>
            </a:r>
          </a:p>
        </p:txBody>
      </p:sp>
      <p:sp>
        <p:nvSpPr>
          <p:cNvPr id="21" name="TextBox 20"/>
          <p:cNvSpPr txBox="1"/>
          <p:nvPr/>
        </p:nvSpPr>
        <p:spPr>
          <a:xfrm>
            <a:off x="3495979" y="3493008"/>
            <a:ext cx="2435275" cy="475488"/>
          </a:xfrm>
          <a:prstGeom prst="rect">
            <a:avLst/>
          </a:prstGeom>
          <a:noFill/>
        </p:spPr>
        <p:txBody>
          <a:bodyPr wrap="square" lIns="0" tIns="0" rIns="0" bIns="0" anchor="ctr">
            <a:spAutoFit/>
          </a:bodyPr>
          <a:lstStyle/>
          <a:p>
            <a:pPr algn="l"/>
            <a:r>
              <a:rPr sz="1400" b="0" i="0">
                <a:solidFill>
                  <a:srgbClr val="2B3440"/>
                </a:solidFill>
                <a:latin typeface="Calibri"/>
              </a:rPr>
              <a:t>gradient check</a:t>
            </a:r>
          </a:p>
        </p:txBody>
      </p:sp>
      <p:sp>
        <p:nvSpPr>
          <p:cNvPr id="22" name="TextBox 21"/>
          <p:cNvSpPr txBox="1"/>
          <p:nvPr/>
        </p:nvSpPr>
        <p:spPr>
          <a:xfrm>
            <a:off x="6260439" y="3493008"/>
            <a:ext cx="2435275" cy="475488"/>
          </a:xfrm>
          <a:prstGeom prst="rect">
            <a:avLst/>
          </a:prstGeom>
          <a:noFill/>
        </p:spPr>
        <p:txBody>
          <a:bodyPr wrap="square" lIns="0" tIns="0" rIns="0" bIns="0" anchor="ctr">
            <a:spAutoFit/>
          </a:bodyPr>
          <a:lstStyle/>
          <a:p>
            <a:pPr algn="l"/>
            <a:r>
              <a:rPr sz="1400" b="0" i="0">
                <a:solidFill>
                  <a:srgbClr val="2B3440"/>
                </a:solidFill>
                <a:latin typeface="Calibri"/>
              </a:rPr>
              <a:t>lire les courbes, comparer</a:t>
            </a:r>
          </a:p>
        </p:txBody>
      </p:sp>
      <p:sp>
        <p:nvSpPr>
          <p:cNvPr id="23" name="TextBox 22"/>
          <p:cNvSpPr txBox="1"/>
          <p:nvPr/>
        </p:nvSpPr>
        <p:spPr>
          <a:xfrm>
            <a:off x="9024899" y="3493008"/>
            <a:ext cx="2435275" cy="475488"/>
          </a:xfrm>
          <a:prstGeom prst="rect">
            <a:avLst/>
          </a:prstGeom>
          <a:noFill/>
        </p:spPr>
        <p:txBody>
          <a:bodyPr wrap="square" lIns="0" tIns="0" rIns="0" bIns="0" anchor="ctr">
            <a:spAutoFit/>
          </a:bodyPr>
          <a:lstStyle/>
          <a:p>
            <a:pPr algn="l"/>
            <a:r>
              <a:rPr sz="1400" b="0" i="0">
                <a:solidFill>
                  <a:srgbClr val="2B3440"/>
                </a:solidFill>
                <a:latin typeface="Calibri"/>
              </a:rPr>
              <a:t>ablation, seeds, seuil</a:t>
            </a:r>
          </a:p>
        </p:txBody>
      </p:sp>
      <p:sp>
        <p:nvSpPr>
          <p:cNvPr id="24" name="Rectangle 23"/>
          <p:cNvSpPr/>
          <p:nvPr/>
        </p:nvSpPr>
        <p:spPr>
          <a:xfrm>
            <a:off x="566928" y="4023360"/>
            <a:ext cx="11057839"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078224"/>
            <a:ext cx="2435275" cy="475488"/>
          </a:xfrm>
          <a:prstGeom prst="rect">
            <a:avLst/>
          </a:prstGeom>
          <a:noFill/>
        </p:spPr>
        <p:txBody>
          <a:bodyPr wrap="square" lIns="0" tIns="0" rIns="0" bIns="0" anchor="ctr">
            <a:spAutoFit/>
          </a:bodyPr>
          <a:lstStyle/>
          <a:p>
            <a:pPr algn="l"/>
            <a:r>
              <a:rPr sz="1400" b="0" i="0">
                <a:solidFill>
                  <a:srgbClr val="2B3440"/>
                </a:solidFill>
                <a:latin typeface="Calibri"/>
              </a:rPr>
              <a:t>Quand ne pas l'utiliser ?</a:t>
            </a:r>
          </a:p>
        </p:txBody>
      </p:sp>
      <p:sp>
        <p:nvSpPr>
          <p:cNvPr id="26" name="TextBox 25"/>
          <p:cNvSpPr txBox="1"/>
          <p:nvPr/>
        </p:nvSpPr>
        <p:spPr>
          <a:xfrm>
            <a:off x="3495979" y="4078224"/>
            <a:ext cx="2435275" cy="475488"/>
          </a:xfrm>
          <a:prstGeom prst="rect">
            <a:avLst/>
          </a:prstGeom>
          <a:noFill/>
        </p:spPr>
        <p:txBody>
          <a:bodyPr wrap="square" lIns="0" tIns="0" rIns="0" bIns="0" anchor="ctr">
            <a:spAutoFit/>
          </a:bodyPr>
          <a:lstStyle/>
          <a:p>
            <a:pPr algn="l"/>
            <a:r>
              <a:rPr sz="1400" b="0" i="0">
                <a:solidFill>
                  <a:srgbClr val="2B3440"/>
                </a:solidFill>
                <a:latin typeface="Calibri"/>
              </a:rPr>
              <a:t>quand une droite suffit</a:t>
            </a:r>
          </a:p>
        </p:txBody>
      </p:sp>
      <p:sp>
        <p:nvSpPr>
          <p:cNvPr id="27" name="TextBox 26"/>
          <p:cNvSpPr txBox="1"/>
          <p:nvPr/>
        </p:nvSpPr>
        <p:spPr>
          <a:xfrm>
            <a:off x="6260439" y="4078224"/>
            <a:ext cx="2435275" cy="475488"/>
          </a:xfrm>
          <a:prstGeom prst="rect">
            <a:avLst/>
          </a:prstGeom>
          <a:noFill/>
        </p:spPr>
        <p:txBody>
          <a:bodyPr wrap="square" lIns="0" tIns="0" rIns="0" bIns="0" anchor="ctr">
            <a:spAutoFit/>
          </a:bodyPr>
          <a:lstStyle/>
          <a:p>
            <a:pPr algn="l"/>
            <a:r>
              <a:rPr sz="1400" b="0" i="0">
                <a:solidFill>
                  <a:srgbClr val="2B3440"/>
                </a:solidFill>
                <a:latin typeface="Calibri"/>
              </a:rPr>
              <a:t>sur ces tableaux</a:t>
            </a:r>
          </a:p>
        </p:txBody>
      </p:sp>
      <p:sp>
        <p:nvSpPr>
          <p:cNvPr id="28" name="TextBox 27"/>
          <p:cNvSpPr txBox="1"/>
          <p:nvPr/>
        </p:nvSpPr>
        <p:spPr>
          <a:xfrm>
            <a:off x="9024899" y="4078224"/>
            <a:ext cx="2435275" cy="475488"/>
          </a:xfrm>
          <a:prstGeom prst="rect">
            <a:avLst/>
          </a:prstGeom>
          <a:noFill/>
        </p:spPr>
        <p:txBody>
          <a:bodyPr wrap="square" lIns="0" tIns="0" rIns="0" bIns="0" anchor="ctr">
            <a:spAutoFit/>
          </a:bodyPr>
          <a:lstStyle/>
          <a:p>
            <a:pPr algn="l"/>
            <a:r>
              <a:rPr sz="1400" b="0" i="0">
                <a:solidFill>
                  <a:srgbClr val="2B3440"/>
                </a:solidFill>
                <a:latin typeface="Calibri"/>
              </a:rPr>
              <a:t>quand la preuve manque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CLÔTURE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Six phrases à retenir</a:t>
            </a:r>
          </a:p>
        </p:txBody>
      </p:sp>
      <p:sp>
        <p:nvSpPr>
          <p:cNvPr id="4" name="Rounded Rectangle 3"/>
          <p:cNvSpPr/>
          <p:nvPr/>
        </p:nvSpPr>
        <p:spPr>
          <a:xfrm>
            <a:off x="566928" y="181051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452627"/>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1  </a:t>
            </a:r>
            <a:r>
              <a:rPr sz="1600" b="0" i="0">
                <a:solidFill>
                  <a:srgbClr val="2B3440"/>
                </a:solidFill>
                <a:latin typeface="Calibri"/>
              </a:rPr>
              <a:t>Sans non-linéarité, la profondeur ne sert à rien.</a:t>
            </a:r>
          </a:p>
        </p:txBody>
      </p:sp>
      <p:sp>
        <p:nvSpPr>
          <p:cNvPr id="6" name="Rounded Rectangle 5"/>
          <p:cNvSpPr/>
          <p:nvPr/>
        </p:nvSpPr>
        <p:spPr>
          <a:xfrm>
            <a:off x="566928" y="2592324"/>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683764"/>
            <a:ext cx="10472623" cy="452627"/>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2  </a:t>
            </a:r>
            <a:r>
              <a:rPr sz="1600" b="0" i="0">
                <a:solidFill>
                  <a:srgbClr val="2B3440"/>
                </a:solidFill>
                <a:latin typeface="Calibri"/>
              </a:rPr>
              <a:t>loss.backward() fait ce que vous savez faire à la main.</a:t>
            </a:r>
          </a:p>
        </p:txBody>
      </p:sp>
      <p:sp>
        <p:nvSpPr>
          <p:cNvPr id="8" name="Rounded Rectangle 7"/>
          <p:cNvSpPr/>
          <p:nvPr/>
        </p:nvSpPr>
        <p:spPr>
          <a:xfrm>
            <a:off x="566928" y="3374136"/>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465576"/>
            <a:ext cx="10472623" cy="452627"/>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3  </a:t>
            </a:r>
            <a:r>
              <a:rPr sz="1600" b="0" i="0">
                <a:solidFill>
                  <a:srgbClr val="2B3440"/>
                </a:solidFill>
                <a:latin typeface="Calibri"/>
              </a:rPr>
              <a:t>Lire les courbes et déboguer avant de régler.</a:t>
            </a:r>
          </a:p>
        </p:txBody>
      </p:sp>
      <p:sp>
        <p:nvSpPr>
          <p:cNvPr id="10" name="Rounded Rectangle 9"/>
          <p:cNvSpPr/>
          <p:nvPr/>
        </p:nvSpPr>
        <p:spPr>
          <a:xfrm>
            <a:off x="566928" y="4155948"/>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247388"/>
            <a:ext cx="10472623" cy="452627"/>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4  </a:t>
            </a:r>
            <a:r>
              <a:rPr sz="1600" b="0" i="0">
                <a:solidFill>
                  <a:srgbClr val="2B3440"/>
                </a:solidFill>
                <a:latin typeface="Calibri"/>
              </a:rPr>
              <a:t>Un résultat négatif établi rigoureusement est un résultat.</a:t>
            </a:r>
          </a:p>
        </p:txBody>
      </p:sp>
      <p:sp>
        <p:nvSpPr>
          <p:cNvPr id="12" name="Rounded Rectangle 11"/>
          <p:cNvSpPr/>
          <p:nvPr/>
        </p:nvSpPr>
        <p:spPr>
          <a:xfrm>
            <a:off x="566928" y="4937760"/>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5029200"/>
            <a:ext cx="10472623" cy="452627"/>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5  </a:t>
            </a:r>
            <a:r>
              <a:rPr sz="1600" b="0" i="0">
                <a:solidFill>
                  <a:srgbClr val="2B3440"/>
                </a:solidFill>
                <a:latin typeface="Calibri"/>
              </a:rPr>
              <a:t>Un effet plus petit que le bruit n'est pas un effet.</a:t>
            </a:r>
          </a:p>
        </p:txBody>
      </p:sp>
      <p:sp>
        <p:nvSpPr>
          <p:cNvPr id="14" name="Rounded Rectangle 13"/>
          <p:cNvSpPr/>
          <p:nvPr/>
        </p:nvSpPr>
        <p:spPr>
          <a:xfrm>
            <a:off x="566928" y="5719572"/>
            <a:ext cx="11057839" cy="635508"/>
          </a:xfrm>
          <a:prstGeom prst="roundRect">
            <a:avLst>
              <a:gd name="adj" fmla="val 20143"/>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5811012"/>
            <a:ext cx="10472623" cy="452627"/>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6  </a:t>
            </a:r>
            <a:r>
              <a:rPr sz="1600" b="0" i="0">
                <a:solidFill>
                  <a:srgbClr val="2B3440"/>
                </a:solidFill>
                <a:latin typeface="Calibri"/>
              </a:rPr>
              <a:t>Toute conclusion a une portée : dites-la.</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CLÔTURE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Situations réelles : que faites-vous ?</a:t>
            </a:r>
          </a:p>
        </p:txBody>
      </p:sp>
      <p:sp>
        <p:nvSpPr>
          <p:cNvPr id="4" name="TextBox 3"/>
          <p:cNvSpPr txBox="1"/>
          <p:nvPr/>
        </p:nvSpPr>
        <p:spPr>
          <a:xfrm>
            <a:off x="566928" y="1335024"/>
            <a:ext cx="11057839" cy="237744"/>
          </a:xfrm>
          <a:prstGeom prst="rect">
            <a:avLst/>
          </a:prstGeom>
          <a:noFill/>
        </p:spPr>
        <p:txBody>
          <a:bodyPr wrap="square" lIns="0" tIns="0" rIns="0" bIns="0" anchor="t">
            <a:spAutoFit/>
          </a:bodyPr>
          <a:lstStyle/>
          <a:p>
            <a:pPr algn="l"/>
            <a:r>
              <a:rPr sz="1300" b="0" i="1">
                <a:solidFill>
                  <a:srgbClr val="6E7A8A"/>
                </a:solidFill>
                <a:latin typeface="Calibri"/>
              </a:rPr>
              <a:t>Par groupes de trois : une situation chacun, deux minutes.</a:t>
            </a:r>
          </a:p>
        </p:txBody>
      </p:sp>
      <p:sp>
        <p:nvSpPr>
          <p:cNvPr id="5" name="Rounded Rectangle 4"/>
          <p:cNvSpPr/>
          <p:nvPr/>
        </p:nvSpPr>
        <p:spPr>
          <a:xfrm>
            <a:off x="566928" y="210312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9456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A  </a:t>
            </a:r>
            <a:r>
              <a:rPr sz="1600" b="0" i="0">
                <a:solidFill>
                  <a:srgbClr val="2B3440"/>
                </a:solidFill>
                <a:latin typeface="Calibri"/>
              </a:rPr>
              <a:t>Votre validation loss explose dès l'epoch 2.</a:t>
            </a:r>
          </a:p>
        </p:txBody>
      </p:sp>
      <p:sp>
        <p:nvSpPr>
          <p:cNvPr id="7" name="Rounded Rectangle 6"/>
          <p:cNvSpPr/>
          <p:nvPr/>
        </p:nvSpPr>
        <p:spPr>
          <a:xfrm>
            <a:off x="566928" y="3035808"/>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127248"/>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B  </a:t>
            </a:r>
            <a:r>
              <a:rPr sz="1600" b="0" i="0">
                <a:solidFill>
                  <a:srgbClr val="2B3440"/>
                </a:solidFill>
                <a:latin typeface="Calibri"/>
              </a:rPr>
              <a:t>Un collègue annonce « +0,01 d'AUC grâce au dropout » sur une seule seed.</a:t>
            </a:r>
          </a:p>
        </p:txBody>
      </p:sp>
      <p:sp>
        <p:nvSpPr>
          <p:cNvPr id="9" name="Rounded Rectangle 8"/>
          <p:cNvSpPr/>
          <p:nvPr/>
        </p:nvSpPr>
        <p:spPr>
          <a:xfrm>
            <a:off x="566928" y="396849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059935"/>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C  </a:t>
            </a:r>
            <a:r>
              <a:rPr sz="1600" b="0" i="0">
                <a:solidFill>
                  <a:srgbClr val="2B3440"/>
                </a:solidFill>
                <a:latin typeface="Calibri"/>
              </a:rPr>
              <a:t>Un client veut un réseau de neurones pour 5 000 lignes de données tabulaires.</a:t>
            </a:r>
          </a:p>
        </p:txBody>
      </p:sp>
      <p:sp>
        <p:nvSpPr>
          <p:cNvPr id="11" name="Rounded Rectangle 10"/>
          <p:cNvSpPr/>
          <p:nvPr/>
        </p:nvSpPr>
        <p:spPr>
          <a:xfrm>
            <a:off x="566928" y="4901183"/>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4992623"/>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D  </a:t>
            </a:r>
            <a:r>
              <a:rPr sz="1600" b="0" i="0">
                <a:solidFill>
                  <a:srgbClr val="2B3440"/>
                </a:solidFill>
                <a:latin typeface="Calibri"/>
              </a:rPr>
              <a:t>Votre modèle donne deux AUC différentes sur le même validation set.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CLÔTURE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Les TD : huit heures pour tout refaire</a:t>
            </a:r>
          </a:p>
        </p:txBody>
      </p:sp>
      <p:sp>
        <p:nvSpPr>
          <p:cNvPr id="4" name="Rectangle 3"/>
          <p:cNvSpPr/>
          <p:nvPr/>
        </p:nvSpPr>
        <p:spPr>
          <a:xfrm>
            <a:off x="566928" y="1847088"/>
            <a:ext cx="11057839" cy="420624"/>
          </a:xfrm>
          <a:prstGeom prst="rect">
            <a:avLst/>
          </a:prstGeom>
          <a:solidFill>
            <a:srgbClr val="EB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901952"/>
            <a:ext cx="685296" cy="310896"/>
          </a:xfrm>
          <a:prstGeom prst="rect">
            <a:avLst/>
          </a:prstGeom>
          <a:noFill/>
        </p:spPr>
        <p:txBody>
          <a:bodyPr wrap="square" lIns="0" tIns="0" rIns="0" bIns="0" anchor="ctr">
            <a:spAutoFit/>
          </a:bodyPr>
          <a:lstStyle/>
          <a:p>
            <a:pPr algn="l"/>
            <a:r>
              <a:rPr sz="1300" b="1" i="0">
                <a:solidFill>
                  <a:srgbClr val="6D2E46"/>
                </a:solidFill>
                <a:latin typeface="Calibri"/>
              </a:rPr>
              <a:t>TD</a:t>
            </a:r>
          </a:p>
        </p:txBody>
      </p:sp>
      <p:sp>
        <p:nvSpPr>
          <p:cNvPr id="6" name="TextBox 5"/>
          <p:cNvSpPr txBox="1"/>
          <p:nvPr/>
        </p:nvSpPr>
        <p:spPr>
          <a:xfrm>
            <a:off x="1746000" y="1901952"/>
            <a:ext cx="6873628" cy="310896"/>
          </a:xfrm>
          <a:prstGeom prst="rect">
            <a:avLst/>
          </a:prstGeom>
          <a:noFill/>
        </p:spPr>
        <p:txBody>
          <a:bodyPr wrap="square" lIns="0" tIns="0" rIns="0" bIns="0" anchor="ctr">
            <a:spAutoFit/>
          </a:bodyPr>
          <a:lstStyle/>
          <a:p>
            <a:pPr algn="l"/>
            <a:r>
              <a:rPr sz="1300" b="1" i="0">
                <a:solidFill>
                  <a:srgbClr val="6D2E46"/>
                </a:solidFill>
                <a:latin typeface="Calibri"/>
              </a:rPr>
              <a:t>Contenu</a:t>
            </a:r>
          </a:p>
        </p:txBody>
      </p:sp>
      <p:sp>
        <p:nvSpPr>
          <p:cNvPr id="7" name="TextBox 6"/>
          <p:cNvSpPr txBox="1"/>
          <p:nvPr/>
        </p:nvSpPr>
        <p:spPr>
          <a:xfrm>
            <a:off x="8948813" y="1901952"/>
            <a:ext cx="1192536" cy="310896"/>
          </a:xfrm>
          <a:prstGeom prst="rect">
            <a:avLst/>
          </a:prstGeom>
          <a:noFill/>
        </p:spPr>
        <p:txBody>
          <a:bodyPr wrap="square" lIns="0" tIns="0" rIns="0" bIns="0" anchor="ctr">
            <a:spAutoFit/>
          </a:bodyPr>
          <a:lstStyle/>
          <a:p>
            <a:pPr algn="l"/>
            <a:r>
              <a:rPr sz="1300" b="1" i="0">
                <a:solidFill>
                  <a:srgbClr val="6D2E46"/>
                </a:solidFill>
                <a:latin typeface="Calibri"/>
              </a:rPr>
              <a:t>Séance</a:t>
            </a:r>
          </a:p>
        </p:txBody>
      </p:sp>
      <p:sp>
        <p:nvSpPr>
          <p:cNvPr id="8" name="TextBox 7"/>
          <p:cNvSpPr txBox="1"/>
          <p:nvPr/>
        </p:nvSpPr>
        <p:spPr>
          <a:xfrm>
            <a:off x="10470534" y="1901952"/>
            <a:ext cx="989640" cy="310896"/>
          </a:xfrm>
          <a:prstGeom prst="rect">
            <a:avLst/>
          </a:prstGeom>
          <a:noFill/>
        </p:spPr>
        <p:txBody>
          <a:bodyPr wrap="square" lIns="0" tIns="0" rIns="0" bIns="0" anchor="ctr">
            <a:spAutoFit/>
          </a:bodyPr>
          <a:lstStyle/>
          <a:p>
            <a:pPr algn="l"/>
            <a:r>
              <a:rPr sz="1300" b="1" i="0">
                <a:solidFill>
                  <a:srgbClr val="6D2E46"/>
                </a:solidFill>
                <a:latin typeface="Calibri"/>
              </a:rPr>
              <a:t>Durée</a:t>
            </a:r>
          </a:p>
        </p:txBody>
      </p:sp>
      <p:sp>
        <p:nvSpPr>
          <p:cNvPr id="9" name="Rectangle 8"/>
          <p:cNvSpPr/>
          <p:nvPr/>
        </p:nvSpPr>
        <p:spPr>
          <a:xfrm>
            <a:off x="566928" y="2267712"/>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22576"/>
            <a:ext cx="685296" cy="464820"/>
          </a:xfrm>
          <a:prstGeom prst="rect">
            <a:avLst/>
          </a:prstGeom>
          <a:noFill/>
        </p:spPr>
        <p:txBody>
          <a:bodyPr wrap="square" lIns="0" tIns="0" rIns="0" bIns="0" anchor="ctr">
            <a:spAutoFit/>
          </a:bodyPr>
          <a:lstStyle/>
          <a:p>
            <a:pPr algn="l"/>
            <a:r>
              <a:rPr sz="1400" b="0" i="0">
                <a:solidFill>
                  <a:srgbClr val="2B3440"/>
                </a:solidFill>
                <a:latin typeface="Calibri"/>
              </a:rPr>
              <a:t>TD 1</a:t>
            </a:r>
          </a:p>
        </p:txBody>
      </p:sp>
      <p:sp>
        <p:nvSpPr>
          <p:cNvPr id="11" name="TextBox 10"/>
          <p:cNvSpPr txBox="1"/>
          <p:nvPr/>
        </p:nvSpPr>
        <p:spPr>
          <a:xfrm>
            <a:off x="1746000" y="2322576"/>
            <a:ext cx="6873628" cy="464820"/>
          </a:xfrm>
          <a:prstGeom prst="rect">
            <a:avLst/>
          </a:prstGeom>
          <a:noFill/>
        </p:spPr>
        <p:txBody>
          <a:bodyPr wrap="square" lIns="0" tIns="0" rIns="0" bIns="0" anchor="ctr">
            <a:spAutoFit/>
          </a:bodyPr>
          <a:lstStyle/>
          <a:p>
            <a:pPr algn="l"/>
            <a:r>
              <a:rPr sz="1400" b="0" i="0">
                <a:solidFill>
                  <a:srgbClr val="2B3440"/>
                </a:solidFill>
                <a:latin typeface="Calibri"/>
              </a:rPr>
              <a:t>Représenter : XOR, neurone, activations, universal approximation</a:t>
            </a:r>
          </a:p>
        </p:txBody>
      </p:sp>
      <p:sp>
        <p:nvSpPr>
          <p:cNvPr id="12" name="TextBox 11"/>
          <p:cNvSpPr txBox="1"/>
          <p:nvPr/>
        </p:nvSpPr>
        <p:spPr>
          <a:xfrm>
            <a:off x="8948813" y="2322576"/>
            <a:ext cx="1192536" cy="464820"/>
          </a:xfrm>
          <a:prstGeom prst="rect">
            <a:avLst/>
          </a:prstGeom>
          <a:noFill/>
        </p:spPr>
        <p:txBody>
          <a:bodyPr wrap="square" lIns="0" tIns="0" rIns="0" bIns="0" anchor="ctr">
            <a:spAutoFit/>
          </a:bodyPr>
          <a:lstStyle/>
          <a:p>
            <a:pPr algn="l"/>
            <a:r>
              <a:rPr sz="1400" b="0" i="0">
                <a:solidFill>
                  <a:srgbClr val="2B3440"/>
                </a:solidFill>
                <a:latin typeface="Calibri"/>
              </a:rPr>
              <a:t>S8</a:t>
            </a:r>
          </a:p>
        </p:txBody>
      </p:sp>
      <p:sp>
        <p:nvSpPr>
          <p:cNvPr id="13" name="TextBox 12"/>
          <p:cNvSpPr txBox="1"/>
          <p:nvPr/>
        </p:nvSpPr>
        <p:spPr>
          <a:xfrm>
            <a:off x="10470534" y="2322576"/>
            <a:ext cx="989640" cy="464820"/>
          </a:xfrm>
          <a:prstGeom prst="rect">
            <a:avLst/>
          </a:prstGeom>
          <a:noFill/>
        </p:spPr>
        <p:txBody>
          <a:bodyPr wrap="square" lIns="0" tIns="0" rIns="0" bIns="0" anchor="ctr">
            <a:spAutoFit/>
          </a:bodyPr>
          <a:lstStyle/>
          <a:p>
            <a:pPr algn="l"/>
            <a:r>
              <a:rPr sz="1400" b="0" i="0">
                <a:solidFill>
                  <a:srgbClr val="2B3440"/>
                </a:solidFill>
                <a:latin typeface="Calibri"/>
              </a:rPr>
              <a:t>80 min</a:t>
            </a:r>
          </a:p>
        </p:txBody>
      </p:sp>
      <p:sp>
        <p:nvSpPr>
          <p:cNvPr id="14" name="Rectangle 13"/>
          <p:cNvSpPr/>
          <p:nvPr/>
        </p:nvSpPr>
        <p:spPr>
          <a:xfrm>
            <a:off x="566928" y="2842260"/>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897124"/>
            <a:ext cx="685296" cy="464820"/>
          </a:xfrm>
          <a:prstGeom prst="rect">
            <a:avLst/>
          </a:prstGeom>
          <a:noFill/>
        </p:spPr>
        <p:txBody>
          <a:bodyPr wrap="square" lIns="0" tIns="0" rIns="0" bIns="0" anchor="ctr">
            <a:spAutoFit/>
          </a:bodyPr>
          <a:lstStyle/>
          <a:p>
            <a:pPr algn="l"/>
            <a:r>
              <a:rPr sz="1400" b="0" i="0">
                <a:solidFill>
                  <a:srgbClr val="2B3440"/>
                </a:solidFill>
                <a:latin typeface="Calibri"/>
              </a:rPr>
              <a:t>TD 2</a:t>
            </a:r>
          </a:p>
        </p:txBody>
      </p:sp>
      <p:sp>
        <p:nvSpPr>
          <p:cNvPr id="16" name="TextBox 15"/>
          <p:cNvSpPr txBox="1"/>
          <p:nvPr/>
        </p:nvSpPr>
        <p:spPr>
          <a:xfrm>
            <a:off x="1746000" y="2897124"/>
            <a:ext cx="6873628" cy="464820"/>
          </a:xfrm>
          <a:prstGeom prst="rect">
            <a:avLst/>
          </a:prstGeom>
          <a:noFill/>
        </p:spPr>
        <p:txBody>
          <a:bodyPr wrap="square" lIns="0" tIns="0" rIns="0" bIns="0" anchor="ctr">
            <a:spAutoFit/>
          </a:bodyPr>
          <a:lstStyle/>
          <a:p>
            <a:pPr algn="l"/>
            <a:r>
              <a:rPr sz="1400" b="0" i="0">
                <a:solidFill>
                  <a:srgbClr val="2B3440"/>
                </a:solidFill>
                <a:latin typeface="Calibri"/>
              </a:rPr>
              <a:t>Apprendre : finite differences, backpropagation, NumPy puis PyTorch</a:t>
            </a:r>
          </a:p>
        </p:txBody>
      </p:sp>
      <p:sp>
        <p:nvSpPr>
          <p:cNvPr id="17" name="TextBox 16"/>
          <p:cNvSpPr txBox="1"/>
          <p:nvPr/>
        </p:nvSpPr>
        <p:spPr>
          <a:xfrm>
            <a:off x="8948813" y="2897124"/>
            <a:ext cx="1192536" cy="464820"/>
          </a:xfrm>
          <a:prstGeom prst="rect">
            <a:avLst/>
          </a:prstGeom>
          <a:noFill/>
        </p:spPr>
        <p:txBody>
          <a:bodyPr wrap="square" lIns="0" tIns="0" rIns="0" bIns="0" anchor="ctr">
            <a:spAutoFit/>
          </a:bodyPr>
          <a:lstStyle/>
          <a:p>
            <a:pPr algn="l"/>
            <a:r>
              <a:rPr sz="1400" b="0" i="0">
                <a:solidFill>
                  <a:srgbClr val="2B3440"/>
                </a:solidFill>
                <a:latin typeface="Calibri"/>
              </a:rPr>
              <a:t>S8</a:t>
            </a:r>
          </a:p>
        </p:txBody>
      </p:sp>
      <p:sp>
        <p:nvSpPr>
          <p:cNvPr id="18" name="TextBox 17"/>
          <p:cNvSpPr txBox="1"/>
          <p:nvPr/>
        </p:nvSpPr>
        <p:spPr>
          <a:xfrm>
            <a:off x="10470534" y="2897124"/>
            <a:ext cx="989640" cy="464820"/>
          </a:xfrm>
          <a:prstGeom prst="rect">
            <a:avLst/>
          </a:prstGeom>
          <a:noFill/>
        </p:spPr>
        <p:txBody>
          <a:bodyPr wrap="square" lIns="0" tIns="0" rIns="0" bIns="0" anchor="ctr">
            <a:spAutoFit/>
          </a:bodyPr>
          <a:lstStyle/>
          <a:p>
            <a:pPr algn="l"/>
            <a:r>
              <a:rPr sz="1400" b="0" i="0">
                <a:solidFill>
                  <a:srgbClr val="2B3440"/>
                </a:solidFill>
                <a:latin typeface="Calibri"/>
              </a:rPr>
              <a:t>90 min</a:t>
            </a:r>
          </a:p>
        </p:txBody>
      </p:sp>
      <p:sp>
        <p:nvSpPr>
          <p:cNvPr id="19" name="Rectangle 18"/>
          <p:cNvSpPr/>
          <p:nvPr/>
        </p:nvSpPr>
        <p:spPr>
          <a:xfrm>
            <a:off x="566928" y="3416808"/>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471672"/>
            <a:ext cx="685296" cy="464820"/>
          </a:xfrm>
          <a:prstGeom prst="rect">
            <a:avLst/>
          </a:prstGeom>
          <a:noFill/>
        </p:spPr>
        <p:txBody>
          <a:bodyPr wrap="square" lIns="0" tIns="0" rIns="0" bIns="0" anchor="ctr">
            <a:spAutoFit/>
          </a:bodyPr>
          <a:lstStyle/>
          <a:p>
            <a:pPr algn="l"/>
            <a:r>
              <a:rPr sz="1400" b="0" i="0">
                <a:solidFill>
                  <a:srgbClr val="2B3440"/>
                </a:solidFill>
                <a:latin typeface="Calibri"/>
              </a:rPr>
              <a:t>TD 3</a:t>
            </a:r>
          </a:p>
        </p:txBody>
      </p:sp>
      <p:sp>
        <p:nvSpPr>
          <p:cNvPr id="21" name="TextBox 20"/>
          <p:cNvSpPr txBox="1"/>
          <p:nvPr/>
        </p:nvSpPr>
        <p:spPr>
          <a:xfrm>
            <a:off x="1746000" y="3471672"/>
            <a:ext cx="6873628" cy="464820"/>
          </a:xfrm>
          <a:prstGeom prst="rect">
            <a:avLst/>
          </a:prstGeom>
          <a:noFill/>
        </p:spPr>
        <p:txBody>
          <a:bodyPr wrap="square" lIns="0" tIns="0" rIns="0" bIns="0" anchor="ctr">
            <a:spAutoFit/>
          </a:bodyPr>
          <a:lstStyle/>
          <a:p>
            <a:pPr algn="l"/>
            <a:r>
              <a:rPr sz="1400" b="0" i="0">
                <a:solidFill>
                  <a:srgbClr val="2B3440"/>
                </a:solidFill>
                <a:latin typeface="Calibri"/>
              </a:rPr>
              <a:t>Le pipeline PyTorch : données, training loop, optimizers, initialisation</a:t>
            </a:r>
          </a:p>
        </p:txBody>
      </p:sp>
      <p:sp>
        <p:nvSpPr>
          <p:cNvPr id="22" name="TextBox 21"/>
          <p:cNvSpPr txBox="1"/>
          <p:nvPr/>
        </p:nvSpPr>
        <p:spPr>
          <a:xfrm>
            <a:off x="8948813" y="3471672"/>
            <a:ext cx="1192536" cy="464820"/>
          </a:xfrm>
          <a:prstGeom prst="rect">
            <a:avLst/>
          </a:prstGeom>
          <a:noFill/>
        </p:spPr>
        <p:txBody>
          <a:bodyPr wrap="square" lIns="0" tIns="0" rIns="0" bIns="0" anchor="ctr">
            <a:spAutoFit/>
          </a:bodyPr>
          <a:lstStyle/>
          <a:p>
            <a:pPr algn="l"/>
            <a:r>
              <a:rPr sz="1400" b="0" i="0">
                <a:solidFill>
                  <a:srgbClr val="2B3440"/>
                </a:solidFill>
                <a:latin typeface="Calibri"/>
              </a:rPr>
              <a:t>S9</a:t>
            </a:r>
          </a:p>
        </p:txBody>
      </p:sp>
      <p:sp>
        <p:nvSpPr>
          <p:cNvPr id="23" name="TextBox 22"/>
          <p:cNvSpPr txBox="1"/>
          <p:nvPr/>
        </p:nvSpPr>
        <p:spPr>
          <a:xfrm>
            <a:off x="10470534" y="3471672"/>
            <a:ext cx="989640" cy="464820"/>
          </a:xfrm>
          <a:prstGeom prst="rect">
            <a:avLst/>
          </a:prstGeom>
          <a:noFill/>
        </p:spPr>
        <p:txBody>
          <a:bodyPr wrap="square" lIns="0" tIns="0" rIns="0" bIns="0" anchor="ctr">
            <a:spAutoFit/>
          </a:bodyPr>
          <a:lstStyle/>
          <a:p>
            <a:pPr algn="l"/>
            <a:r>
              <a:rPr sz="1400" b="0" i="0">
                <a:solidFill>
                  <a:srgbClr val="2B3440"/>
                </a:solidFill>
                <a:latin typeface="Calibri"/>
              </a:rPr>
              <a:t>90 min</a:t>
            </a:r>
          </a:p>
        </p:txBody>
      </p:sp>
      <p:sp>
        <p:nvSpPr>
          <p:cNvPr id="24" name="Rectangle 23"/>
          <p:cNvSpPr/>
          <p:nvPr/>
        </p:nvSpPr>
        <p:spPr>
          <a:xfrm>
            <a:off x="566928" y="3991356"/>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046220"/>
            <a:ext cx="685296" cy="464820"/>
          </a:xfrm>
          <a:prstGeom prst="rect">
            <a:avLst/>
          </a:prstGeom>
          <a:noFill/>
        </p:spPr>
        <p:txBody>
          <a:bodyPr wrap="square" lIns="0" tIns="0" rIns="0" bIns="0" anchor="ctr">
            <a:spAutoFit/>
          </a:bodyPr>
          <a:lstStyle/>
          <a:p>
            <a:pPr algn="l"/>
            <a:r>
              <a:rPr sz="1400" b="0" i="0">
                <a:solidFill>
                  <a:srgbClr val="2B3440"/>
                </a:solidFill>
                <a:latin typeface="Calibri"/>
              </a:rPr>
              <a:t>TD 4</a:t>
            </a:r>
          </a:p>
        </p:txBody>
      </p:sp>
      <p:sp>
        <p:nvSpPr>
          <p:cNvPr id="26" name="TextBox 25"/>
          <p:cNvSpPr txBox="1"/>
          <p:nvPr/>
        </p:nvSpPr>
        <p:spPr>
          <a:xfrm>
            <a:off x="1746000" y="4046220"/>
            <a:ext cx="6873628" cy="464820"/>
          </a:xfrm>
          <a:prstGeom prst="rect">
            <a:avLst/>
          </a:prstGeom>
          <a:noFill/>
        </p:spPr>
        <p:txBody>
          <a:bodyPr wrap="square" lIns="0" tIns="0" rIns="0" bIns="0" anchor="ctr">
            <a:spAutoFit/>
          </a:bodyPr>
          <a:lstStyle/>
          <a:p>
            <a:pPr algn="l"/>
            <a:r>
              <a:rPr sz="1400" b="0" i="0">
                <a:solidFill>
                  <a:srgbClr val="2B3440"/>
                </a:solidFill>
                <a:latin typeface="Calibri"/>
              </a:rPr>
              <a:t>Diagnostiquer, dimensionner, comparer au booster</a:t>
            </a:r>
          </a:p>
        </p:txBody>
      </p:sp>
      <p:sp>
        <p:nvSpPr>
          <p:cNvPr id="27" name="TextBox 26"/>
          <p:cNvSpPr txBox="1"/>
          <p:nvPr/>
        </p:nvSpPr>
        <p:spPr>
          <a:xfrm>
            <a:off x="8948813" y="4046220"/>
            <a:ext cx="1192536" cy="464820"/>
          </a:xfrm>
          <a:prstGeom prst="rect">
            <a:avLst/>
          </a:prstGeom>
          <a:noFill/>
        </p:spPr>
        <p:txBody>
          <a:bodyPr wrap="square" lIns="0" tIns="0" rIns="0" bIns="0" anchor="ctr">
            <a:spAutoFit/>
          </a:bodyPr>
          <a:lstStyle/>
          <a:p>
            <a:pPr algn="l"/>
            <a:r>
              <a:rPr sz="1400" b="0" i="0">
                <a:solidFill>
                  <a:srgbClr val="2B3440"/>
                </a:solidFill>
                <a:latin typeface="Calibri"/>
              </a:rPr>
              <a:t>S9</a:t>
            </a:r>
          </a:p>
        </p:txBody>
      </p:sp>
      <p:sp>
        <p:nvSpPr>
          <p:cNvPr id="28" name="TextBox 27"/>
          <p:cNvSpPr txBox="1"/>
          <p:nvPr/>
        </p:nvSpPr>
        <p:spPr>
          <a:xfrm>
            <a:off x="10470534" y="4046220"/>
            <a:ext cx="989640" cy="464820"/>
          </a:xfrm>
          <a:prstGeom prst="rect">
            <a:avLst/>
          </a:prstGeom>
          <a:noFill/>
        </p:spPr>
        <p:txBody>
          <a:bodyPr wrap="square" lIns="0" tIns="0" rIns="0" bIns="0" anchor="ctr">
            <a:spAutoFit/>
          </a:bodyPr>
          <a:lstStyle/>
          <a:p>
            <a:pPr algn="l"/>
            <a:r>
              <a:rPr sz="1400" b="0" i="0">
                <a:solidFill>
                  <a:srgbClr val="2B3440"/>
                </a:solidFill>
                <a:latin typeface="Calibri"/>
              </a:rPr>
              <a:t>80 min</a:t>
            </a:r>
          </a:p>
        </p:txBody>
      </p:sp>
      <p:sp>
        <p:nvSpPr>
          <p:cNvPr id="29" name="Rectangle 28"/>
          <p:cNvSpPr/>
          <p:nvPr/>
        </p:nvSpPr>
        <p:spPr>
          <a:xfrm>
            <a:off x="566928" y="4565904"/>
            <a:ext cx="11057839" cy="574548"/>
          </a:xfrm>
          <a:prstGeom prst="rect">
            <a:avLst/>
          </a:prstGeom>
          <a:solidFill>
            <a:srgbClr val="FA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620767"/>
            <a:ext cx="685296" cy="464820"/>
          </a:xfrm>
          <a:prstGeom prst="rect">
            <a:avLst/>
          </a:prstGeom>
          <a:noFill/>
        </p:spPr>
        <p:txBody>
          <a:bodyPr wrap="square" lIns="0" tIns="0" rIns="0" bIns="0" anchor="ctr">
            <a:spAutoFit/>
          </a:bodyPr>
          <a:lstStyle/>
          <a:p>
            <a:pPr algn="l"/>
            <a:r>
              <a:rPr sz="1400" b="0" i="0">
                <a:solidFill>
                  <a:srgbClr val="2B3440"/>
                </a:solidFill>
                <a:latin typeface="Calibri"/>
              </a:rPr>
              <a:t>TD 5</a:t>
            </a:r>
          </a:p>
        </p:txBody>
      </p:sp>
      <p:sp>
        <p:nvSpPr>
          <p:cNvPr id="31" name="TextBox 30"/>
          <p:cNvSpPr txBox="1"/>
          <p:nvPr/>
        </p:nvSpPr>
        <p:spPr>
          <a:xfrm>
            <a:off x="1746000" y="4620767"/>
            <a:ext cx="6873628" cy="464820"/>
          </a:xfrm>
          <a:prstGeom prst="rect">
            <a:avLst/>
          </a:prstGeom>
          <a:noFill/>
        </p:spPr>
        <p:txBody>
          <a:bodyPr wrap="square" lIns="0" tIns="0" rIns="0" bIns="0" anchor="ctr">
            <a:spAutoFit/>
          </a:bodyPr>
          <a:lstStyle/>
          <a:p>
            <a:pPr algn="l"/>
            <a:r>
              <a:rPr sz="1400" b="0" i="0">
                <a:solidFill>
                  <a:srgbClr val="2B3440"/>
                </a:solidFill>
                <a:latin typeface="Calibri"/>
              </a:rPr>
              <a:t>Régulariser et le prouver par une ablation</a:t>
            </a:r>
          </a:p>
        </p:txBody>
      </p:sp>
      <p:sp>
        <p:nvSpPr>
          <p:cNvPr id="32" name="TextBox 31"/>
          <p:cNvSpPr txBox="1"/>
          <p:nvPr/>
        </p:nvSpPr>
        <p:spPr>
          <a:xfrm>
            <a:off x="8948813" y="4620767"/>
            <a:ext cx="1192536" cy="464820"/>
          </a:xfrm>
          <a:prstGeom prst="rect">
            <a:avLst/>
          </a:prstGeom>
          <a:noFill/>
        </p:spPr>
        <p:txBody>
          <a:bodyPr wrap="square" lIns="0" tIns="0" rIns="0" bIns="0" anchor="ctr">
            <a:spAutoFit/>
          </a:bodyPr>
          <a:lstStyle/>
          <a:p>
            <a:pPr algn="l"/>
            <a:r>
              <a:rPr sz="1400" b="0" i="0">
                <a:solidFill>
                  <a:srgbClr val="2B3440"/>
                </a:solidFill>
                <a:latin typeface="Calibri"/>
              </a:rPr>
              <a:t>S10</a:t>
            </a:r>
          </a:p>
        </p:txBody>
      </p:sp>
      <p:sp>
        <p:nvSpPr>
          <p:cNvPr id="33" name="TextBox 32"/>
          <p:cNvSpPr txBox="1"/>
          <p:nvPr/>
        </p:nvSpPr>
        <p:spPr>
          <a:xfrm>
            <a:off x="10470534" y="4620767"/>
            <a:ext cx="989640" cy="464820"/>
          </a:xfrm>
          <a:prstGeom prst="rect">
            <a:avLst/>
          </a:prstGeom>
          <a:noFill/>
        </p:spPr>
        <p:txBody>
          <a:bodyPr wrap="square" lIns="0" tIns="0" rIns="0" bIns="0" anchor="ctr">
            <a:spAutoFit/>
          </a:bodyPr>
          <a:lstStyle/>
          <a:p>
            <a:pPr algn="l"/>
            <a:r>
              <a:rPr sz="1400" b="0" i="0">
                <a:solidFill>
                  <a:srgbClr val="2B3440"/>
                </a:solidFill>
                <a:latin typeface="Calibri"/>
              </a:rPr>
              <a:t>85 min</a:t>
            </a:r>
          </a:p>
        </p:txBody>
      </p:sp>
      <p:sp>
        <p:nvSpPr>
          <p:cNvPr id="34" name="Rectangle 33"/>
          <p:cNvSpPr/>
          <p:nvPr/>
        </p:nvSpPr>
        <p:spPr>
          <a:xfrm>
            <a:off x="566928" y="5140451"/>
            <a:ext cx="11057839" cy="574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5195315"/>
            <a:ext cx="685296" cy="464820"/>
          </a:xfrm>
          <a:prstGeom prst="rect">
            <a:avLst/>
          </a:prstGeom>
          <a:noFill/>
        </p:spPr>
        <p:txBody>
          <a:bodyPr wrap="square" lIns="0" tIns="0" rIns="0" bIns="0" anchor="ctr">
            <a:spAutoFit/>
          </a:bodyPr>
          <a:lstStyle/>
          <a:p>
            <a:pPr algn="l"/>
            <a:r>
              <a:rPr sz="1400" b="0" i="0">
                <a:solidFill>
                  <a:srgbClr val="2B3440"/>
                </a:solidFill>
                <a:latin typeface="Calibri"/>
              </a:rPr>
              <a:t>TD 6</a:t>
            </a:r>
          </a:p>
        </p:txBody>
      </p:sp>
      <p:sp>
        <p:nvSpPr>
          <p:cNvPr id="36" name="TextBox 35"/>
          <p:cNvSpPr txBox="1"/>
          <p:nvPr/>
        </p:nvSpPr>
        <p:spPr>
          <a:xfrm>
            <a:off x="1746000" y="5195315"/>
            <a:ext cx="6873628" cy="464820"/>
          </a:xfrm>
          <a:prstGeom prst="rect">
            <a:avLst/>
          </a:prstGeom>
          <a:noFill/>
        </p:spPr>
        <p:txBody>
          <a:bodyPr wrap="square" lIns="0" tIns="0" rIns="0" bIns="0" anchor="ctr">
            <a:spAutoFit/>
          </a:bodyPr>
          <a:lstStyle/>
          <a:p>
            <a:pPr algn="l"/>
            <a:r>
              <a:rPr sz="1400" b="0" i="0">
                <a:solidFill>
                  <a:srgbClr val="2B3440"/>
                </a:solidFill>
                <a:latin typeface="Calibri"/>
              </a:rPr>
              <a:t>Mini-défis en autonomie</a:t>
            </a:r>
          </a:p>
        </p:txBody>
      </p:sp>
      <p:sp>
        <p:nvSpPr>
          <p:cNvPr id="37" name="TextBox 36"/>
          <p:cNvSpPr txBox="1"/>
          <p:nvPr/>
        </p:nvSpPr>
        <p:spPr>
          <a:xfrm>
            <a:off x="8948813" y="5195315"/>
            <a:ext cx="1192536" cy="464820"/>
          </a:xfrm>
          <a:prstGeom prst="rect">
            <a:avLst/>
          </a:prstGeom>
          <a:noFill/>
        </p:spPr>
        <p:txBody>
          <a:bodyPr wrap="square" lIns="0" tIns="0" rIns="0" bIns="0" anchor="ctr">
            <a:spAutoFit/>
          </a:bodyPr>
          <a:lstStyle/>
          <a:p>
            <a:pPr algn="l"/>
            <a:r>
              <a:rPr sz="1400" b="0" i="0">
                <a:solidFill>
                  <a:srgbClr val="2B3440"/>
                </a:solidFill>
                <a:latin typeface="Calibri"/>
              </a:rPr>
              <a:t>S8 à S10</a:t>
            </a:r>
          </a:p>
        </p:txBody>
      </p:sp>
      <p:sp>
        <p:nvSpPr>
          <p:cNvPr id="38" name="TextBox 37"/>
          <p:cNvSpPr txBox="1"/>
          <p:nvPr/>
        </p:nvSpPr>
        <p:spPr>
          <a:xfrm>
            <a:off x="10470534" y="5195315"/>
            <a:ext cx="989640" cy="464820"/>
          </a:xfrm>
          <a:prstGeom prst="rect">
            <a:avLst/>
          </a:prstGeom>
          <a:noFill/>
        </p:spPr>
        <p:txBody>
          <a:bodyPr wrap="square" lIns="0" tIns="0" rIns="0" bIns="0" anchor="ctr">
            <a:spAutoFit/>
          </a:bodyPr>
          <a:lstStyle/>
          <a:p>
            <a:pPr algn="l"/>
            <a:r>
              <a:rPr sz="1400" b="0" i="0">
                <a:solidFill>
                  <a:srgbClr val="2B3440"/>
                </a:solidFill>
                <a:latin typeface="Calibri"/>
              </a:rPr>
              <a:t>55 min</a:t>
            </a:r>
          </a:p>
        </p:txBody>
      </p:sp>
      <p:sp>
        <p:nvSpPr>
          <p:cNvPr id="39" name="Rounded Rectangle 38"/>
          <p:cNvSpPr/>
          <p:nvPr/>
        </p:nvSpPr>
        <p:spPr>
          <a:xfrm>
            <a:off x="566928" y="5779008"/>
            <a:ext cx="11057839" cy="603504"/>
          </a:xfrm>
          <a:prstGeom prst="roundRect">
            <a:avLst>
              <a:gd name="adj" fmla="val 21212"/>
            </a:avLst>
          </a:prstGeom>
          <a:solidFill>
            <a:srgbClr val="F3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20624"/>
            <a:ext cx="11057839" cy="219456"/>
          </a:xfrm>
          <a:prstGeom prst="rect">
            <a:avLst/>
          </a:prstGeom>
          <a:noFill/>
        </p:spPr>
        <p:txBody>
          <a:bodyPr wrap="square" lIns="0" tIns="0" rIns="0" bIns="0" anchor="t">
            <a:spAutoFit/>
          </a:bodyPr>
          <a:lstStyle/>
          <a:p>
            <a:pPr algn="l"/>
            <a:r>
              <a:rPr sz="1150" b="1" i="0">
                <a:solidFill>
                  <a:srgbClr val="6D2E46"/>
                </a:solidFill>
                <a:latin typeface="Calibri"/>
              </a:rPr>
              <a:t>CLÔTURE · SÉANCES 8 À 10</a:t>
            </a:r>
          </a:p>
        </p:txBody>
      </p:sp>
      <p:sp>
        <p:nvSpPr>
          <p:cNvPr id="3" name="TextBox 2"/>
          <p:cNvSpPr txBox="1"/>
          <p:nvPr/>
        </p:nvSpPr>
        <p:spPr>
          <a:xfrm>
            <a:off x="566928" y="694944"/>
            <a:ext cx="11057839" cy="658368"/>
          </a:xfrm>
          <a:prstGeom prst="rect">
            <a:avLst/>
          </a:prstGeom>
          <a:noFill/>
        </p:spPr>
        <p:txBody>
          <a:bodyPr wrap="square" lIns="0" tIns="0" rIns="0" bIns="0" anchor="t">
            <a:spAutoFit/>
          </a:bodyPr>
          <a:lstStyle/>
          <a:p>
            <a:pPr algn="l"/>
            <a:r>
              <a:rPr sz="3300" b="1" i="0">
                <a:solidFill>
                  <a:srgbClr val="12233A"/>
                </a:solidFill>
                <a:latin typeface="Cambria"/>
              </a:rPr>
              <a:t>Pour aller plus loin</a:t>
            </a:r>
          </a:p>
        </p:txBody>
      </p:sp>
      <p:sp>
        <p:nvSpPr>
          <p:cNvPr id="4" name="Rounded Rectangle 3"/>
          <p:cNvSpPr/>
          <p:nvPr/>
        </p:nvSpPr>
        <p:spPr>
          <a:xfrm>
            <a:off x="566928" y="1810512"/>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901952"/>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Livre  </a:t>
            </a:r>
            <a:r>
              <a:rPr sz="1600" b="0" i="0">
                <a:solidFill>
                  <a:srgbClr val="2B3440"/>
                </a:solidFill>
                <a:latin typeface="Calibri"/>
              </a:rPr>
              <a:t>Goodfellow, Bengio et Courville (2016), Deep Learning, chapitres 6 à 8, en accès libre.</a:t>
            </a:r>
          </a:p>
        </p:txBody>
      </p:sp>
      <p:sp>
        <p:nvSpPr>
          <p:cNvPr id="6" name="Rounded Rectangle 5"/>
          <p:cNvSpPr/>
          <p:nvPr/>
        </p:nvSpPr>
        <p:spPr>
          <a:xfrm>
            <a:off x="566928" y="2743200"/>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834640"/>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Backpropagation  </a:t>
            </a:r>
            <a:r>
              <a:rPr sz="1600" b="0" i="0">
                <a:solidFill>
                  <a:srgbClr val="2B3440"/>
                </a:solidFill>
                <a:latin typeface="Calibri"/>
              </a:rPr>
              <a:t>Rumelhart, Hinton et Williams (1986) ; Karpathy (2016, 2019).</a:t>
            </a:r>
          </a:p>
        </p:txBody>
      </p:sp>
      <p:sp>
        <p:nvSpPr>
          <p:cNvPr id="8" name="Rounded Rectangle 7"/>
          <p:cNvSpPr/>
          <p:nvPr/>
        </p:nvSpPr>
        <p:spPr>
          <a:xfrm>
            <a:off x="566928" y="3675887"/>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3767327"/>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Optimisation  </a:t>
            </a:r>
            <a:r>
              <a:rPr sz="1600" b="0" i="0">
                <a:solidFill>
                  <a:srgbClr val="2B3440"/>
                </a:solidFill>
                <a:latin typeface="Calibri"/>
              </a:rPr>
              <a:t>Kingma et Ba (2015) pour Adam ; Goh (2017), Distill, pour le momentum.</a:t>
            </a:r>
          </a:p>
        </p:txBody>
      </p:sp>
      <p:sp>
        <p:nvSpPr>
          <p:cNvPr id="10" name="Rounded Rectangle 9"/>
          <p:cNvSpPr/>
          <p:nvPr/>
        </p:nvSpPr>
        <p:spPr>
          <a:xfrm>
            <a:off x="566928" y="4608576"/>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700016"/>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Tableaux  </a:t>
            </a:r>
            <a:r>
              <a:rPr sz="1600" b="0" i="0">
                <a:solidFill>
                  <a:srgbClr val="2B3440"/>
                </a:solidFill>
                <a:latin typeface="Calibri"/>
              </a:rPr>
              <a:t>Grinsztajn et al. (2022) ; Shwartz-Ziv et Armon (2022).</a:t>
            </a:r>
          </a:p>
        </p:txBody>
      </p:sp>
      <p:sp>
        <p:nvSpPr>
          <p:cNvPr id="12" name="Rounded Rectangle 11"/>
          <p:cNvSpPr/>
          <p:nvPr/>
        </p:nvSpPr>
        <p:spPr>
          <a:xfrm>
            <a:off x="566928" y="5541264"/>
            <a:ext cx="11057839" cy="786384"/>
          </a:xfrm>
          <a:prstGeom prst="roundRect">
            <a:avLst>
              <a:gd name="adj" fmla="val 16279"/>
            </a:avLst>
          </a:prstGeom>
          <a:solidFill>
            <a:srgbClr val="F6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9536" y="5632704"/>
            <a:ext cx="10472623" cy="603503"/>
          </a:xfrm>
          <a:prstGeom prst="rect">
            <a:avLst/>
          </a:prstGeom>
          <a:noFill/>
        </p:spPr>
        <p:txBody>
          <a:bodyPr wrap="square" lIns="0" tIns="0" rIns="0" bIns="0" anchor="ctr">
            <a:spAutoFit/>
          </a:bodyPr>
          <a:lstStyle/>
          <a:p>
            <a:pPr algn="l">
              <a:lnSpc>
                <a:spcPct val="120000"/>
              </a:lnSpc>
            </a:pPr>
            <a:r>
              <a:rPr sz="1600" b="1" i="0">
                <a:solidFill>
                  <a:srgbClr val="6D2E46"/>
                </a:solidFill>
                <a:latin typeface="Calibri"/>
              </a:rPr>
              <a:t>Régularisation  </a:t>
            </a:r>
            <a:r>
              <a:rPr sz="1600" b="0" i="0">
                <a:solidFill>
                  <a:srgbClr val="2B3440"/>
                </a:solidFill>
                <a:latin typeface="Calibri"/>
              </a:rPr>
              <a:t>Srivastava et al. (2014) ; Ioffe et Szegedy (2015) ; Santurkar et al. (2018) ; Zhang et al. (2017).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772</TotalTime>
  <Words>14911</Words>
  <Application>Microsoft Office PowerPoint</Application>
  <PresentationFormat>Widescreen</PresentationFormat>
  <Paragraphs>1338</Paragraphs>
  <Slides>93</Slides>
  <Notes>93</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93</vt:i4>
      </vt:variant>
    </vt:vector>
  </HeadingPairs>
  <TitlesOfParts>
    <vt:vector size="9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Mamadou BALDE</cp:lastModifiedBy>
  <cp:revision>3</cp:revision>
  <dcterms:created xsi:type="dcterms:W3CDTF">2013-01-27T09:14:16Z</dcterms:created>
  <dcterms:modified xsi:type="dcterms:W3CDTF">2026-10-01T09:17:16Z</dcterms:modified>
  <cp:category/>
</cp:coreProperties>
</file>