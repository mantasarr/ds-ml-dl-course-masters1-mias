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7" r:id="rId5"/>
    <p:sldId id="258" r:id="rId6"/>
    <p:sldId id="260" r:id="rId7"/>
    <p:sldId id="256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3507"/>
    <a:srgbClr val="FF4106"/>
    <a:srgbClr val="FFE2D6"/>
    <a:srgbClr val="FF8D5C"/>
    <a:srgbClr val="FB6457"/>
    <a:srgbClr val="6C8EFF"/>
    <a:srgbClr val="253155"/>
    <a:srgbClr val="0E2457"/>
    <a:srgbClr val="FFF5C9"/>
    <a:srgbClr val="FFDA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9"/>
  </p:normalViewPr>
  <p:slideViewPr>
    <p:cSldViewPr snapToGrid="0" snapToObjects="1">
      <p:cViewPr>
        <p:scale>
          <a:sx n="80" d="100"/>
          <a:sy n="80" d="100"/>
        </p:scale>
        <p:origin x="75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D0EAC-DF42-BB45-B524-F089D4A74385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8E471-052B-7449-91AD-60B73A55CAF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68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8E471-052B-7449-91AD-60B73A55CA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73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8E471-052B-7449-91AD-60B73A55CA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18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8E471-052B-7449-91AD-60B73A55CA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30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63303-EA79-9243-912A-68095A424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84EE8-57EC-9347-B4CA-7129104EB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AA313-1AF3-C647-9067-5F988142C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437F-91D0-1542-A8B9-ADA9FE39935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834DA-9373-3B44-B336-C926C80A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ED6B5-0FA2-AA4F-9A3A-B31B57C2E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5C29-2778-4C4D-AA92-7D5F85B0240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31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A2CC3-49E1-2F4E-B454-117DACCDE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5BD1A-3AAA-FF45-B961-4001D2C3F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3ED64-B729-2B44-B795-38E0BC871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437F-91D0-1542-A8B9-ADA9FE39935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FFF40-C0C7-6A4D-8D21-19BE4FF8A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570A3-616E-0146-8B98-8B9EFD8C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5C29-2778-4C4D-AA92-7D5F85B0240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A0007-AF9C-4C46-8F3E-F6E1BC515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D7B73-8B66-4644-ADA4-5D751110E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DDE50-BA13-344A-8414-B157FE46B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437F-91D0-1542-A8B9-ADA9FE39935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BEAA-60F1-9D44-BB89-E111F8C78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A57F5-FAFB-5445-9A39-971959EB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5C29-2778-4C4D-AA92-7D5F85B0240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95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7102-C3B8-3446-9DE4-4E8F86BB1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DF3D6-4DD4-B640-AA12-FE8DE040D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0B9F3-D141-E746-84AE-D93188B7A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B4D51-86EA-9B49-ACC7-4D7020451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437F-91D0-1542-A8B9-ADA9FE39935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23EFD-49A9-1F43-BBDE-0314073B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CF4A5-C776-9C42-BF12-4A84FC4A5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5C29-2778-4C4D-AA92-7D5F85B0240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09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D7E47-AD56-6848-BB65-9D7EC1E8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B109A-B624-4647-9468-6C4FB603D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21A4C2-8A56-F04F-BA61-C8FA6C263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C2D415-2046-DA47-B8FD-E688FB5AE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9C0149-E703-DF49-BFD0-49820FB384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273422-E4A5-8149-B10E-A5DFA082B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437F-91D0-1542-A8B9-ADA9FE39935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086543-6D7A-A742-9B5E-929F9DF63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A3F55E-17AE-A545-86F7-FB8FE7BC0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5C29-2778-4C4D-AA92-7D5F85B0240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2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A692F-0269-4E48-BDD6-7256A7927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B87BA2-7170-7443-8863-41E529BD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437F-91D0-1542-A8B9-ADA9FE39935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692F6-EA84-5E4F-B059-4F67E7BEB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B8B4B-8869-5D46-BFFE-53125266D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5C29-2778-4C4D-AA92-7D5F85B0240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485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F300D4-B221-0F4E-ACBE-71EE6FA81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437F-91D0-1542-A8B9-ADA9FE39935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EDDE9E-844E-FA4A-A78E-DF77E6F5C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60771-0025-C84C-BBF2-C5AD0AE09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5C29-2778-4C4D-AA92-7D5F85B0240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506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91B23-853D-234C-9711-714F3ECA4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FE09D-A67E-0744-B844-F86615AC0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28A55-85F6-DE45-BFA8-618D93BA4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11AD1-2B74-4C43-A000-23A77F121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437F-91D0-1542-A8B9-ADA9FE39935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9C09B-EE95-1344-A007-839A24B3F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297F3-8A1F-634E-BE20-0F63495B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5C29-2778-4C4D-AA92-7D5F85B0240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845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C2D96-ABE2-804D-A31A-C74A25E47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A93032-7164-804A-812C-4FAEFFED9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CC67B-0D70-D64B-A122-36BD4A05C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174A3-DC35-A946-9E44-C78F1A8C2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437F-91D0-1542-A8B9-ADA9FE39935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852FF-DA90-9B4C-BF38-B3C7B8D6C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12CA0-C096-6248-9EFA-81119C1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5C29-2778-4C4D-AA92-7D5F85B0240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7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4DFA8-5E55-CA4E-AC31-8CF5EB35A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526F2A-6A4A-484A-94F7-80C6814B2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F83E5-B077-A04F-BA42-20824A8D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437F-91D0-1542-A8B9-ADA9FE39935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ED8F6-F47C-3149-AD8D-2333A36AA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9E8A0-FF49-704F-BDEF-D0C5FDE2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5C29-2778-4C4D-AA92-7D5F85B0240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95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B1ABAD-5E6D-3848-86EE-605B49537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E75DE6-34DC-F54E-BA0F-CFDE55FE4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00E49-5309-2841-9FE0-44FD1BF6D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437F-91D0-1542-A8B9-ADA9FE39935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E4DE6-AD1D-5F45-818E-E33ABD06A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37142-9E31-1844-8C20-79F28652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C5C29-2778-4C4D-AA92-7D5F85B0240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23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68997D-522E-2B4F-872C-DB7C12F54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FF626-1392-AD4C-B1FA-D21311CC5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F15B6-A749-FA41-BF4B-3917781687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D437F-91D0-1542-A8B9-ADA9FE39935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4D1A6-3BC3-B545-957B-C402E83FA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1931B-A253-B047-A2B9-1000AB5F3D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C5C29-2778-4C4D-AA92-7D5F85B0240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527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tif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B6713A-34DD-DC45-90B9-48B7F0554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496805"/>
              </p:ext>
            </p:extLst>
          </p:nvPr>
        </p:nvGraphicFramePr>
        <p:xfrm>
          <a:off x="132734" y="41451"/>
          <a:ext cx="11877204" cy="6414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61696">
                  <a:extLst>
                    <a:ext uri="{9D8B030D-6E8A-4147-A177-3AD203B41FA5}">
                      <a16:colId xmlns:a16="http://schemas.microsoft.com/office/drawing/2014/main" val="3054397344"/>
                    </a:ext>
                  </a:extLst>
                </a:gridCol>
                <a:gridCol w="4815508">
                  <a:extLst>
                    <a:ext uri="{9D8B030D-6E8A-4147-A177-3AD203B41FA5}">
                      <a16:colId xmlns:a16="http://schemas.microsoft.com/office/drawing/2014/main" val="316105954"/>
                    </a:ext>
                  </a:extLst>
                </a:gridCol>
              </a:tblGrid>
              <a:tr h="551673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Clustering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1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78517610"/>
                  </a:ext>
                </a:extLst>
              </a:tr>
              <a:tr h="38306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Clustering is the process of grouping similar entities together. 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178545254"/>
                  </a:ext>
                </a:extLst>
              </a:tr>
              <a:tr h="418688">
                <a:tc gridSpan="2"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K-Means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8EFF">
                        <a:alpha val="12157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285182"/>
                  </a:ext>
                </a:extLst>
              </a:tr>
              <a:tr h="35978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algorithm picks centroid locations to minimize the cumulative </a:t>
                      </a:r>
                      <a:r>
                        <a:rPr lang="en-MY" sz="16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square</a:t>
                      </a: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of the distances from each example to its closest centroid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2157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119760"/>
                  </a:ext>
                </a:extLst>
              </a:tr>
              <a:tr h="1921709">
                <a:tc rowSpan="2"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sng" dirty="0">
                          <a:solidFill>
                            <a:schemeClr val="tx1"/>
                          </a:solidFill>
                        </a:rPr>
                        <a:t>Advantages</a:t>
                      </a:r>
                    </a:p>
                    <a:p>
                      <a:pPr marL="285750" indent="-285750">
                        <a:buFont typeface="Wingdings" pitchFamily="2" charset="2"/>
                        <a:buChar char="ü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Simple and easy to implement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Scales to large data sets</a:t>
                      </a:r>
                    </a:p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400" b="1" u="sng" dirty="0">
                          <a:solidFill>
                            <a:schemeClr val="tx1"/>
                          </a:solidFill>
                        </a:rPr>
                        <a:t>Disadvantages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MY" sz="1400" b="0" u="none" dirty="0"/>
                        <a:t>✘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It is limited to linear cluster boundaries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MY" sz="1400" b="0" u="none" dirty="0"/>
                        <a:t>✘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The globally optimal result may not be achieved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MY" sz="1400" b="0" u="none" dirty="0"/>
                        <a:t>✘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The number of clusters must be selected beforehand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MY" sz="1400" b="0" u="none" dirty="0"/>
                        <a:t>✘ </a:t>
                      </a:r>
                      <a:r>
                        <a:rPr lang="en-MY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efficient if data contains outliers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396454"/>
                  </a:ext>
                </a:extLst>
              </a:tr>
              <a:tr h="405020">
                <a:tc vMerge="1"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How to find the optimal number of clusters?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24613"/>
                  </a:ext>
                </a:extLst>
              </a:tr>
              <a:tr h="325677">
                <a:tc>
                  <a:txBody>
                    <a:bodyPr/>
                    <a:lstStyle/>
                    <a:p>
                      <a:pPr algn="ctr"/>
                      <a:r>
                        <a:rPr lang="en-MY" sz="1800" b="1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Parameters in K-Means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Elbow Method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Sillhouette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Coefficient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Field/Domain Knowledge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265940"/>
                  </a:ext>
                </a:extLst>
              </a:tr>
              <a:tr h="383108">
                <a:tc rowSpan="3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87212"/>
                  </a:ext>
                </a:extLst>
              </a:tr>
              <a:tr h="310956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600" i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How to Apply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904500"/>
                  </a:ext>
                </a:extLst>
              </a:tr>
              <a:tr h="11875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from </a:t>
                      </a:r>
                      <a:r>
                        <a:rPr lang="en-MY" sz="14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sklearn.cluster</a:t>
                      </a:r>
                      <a:r>
                        <a:rPr lang="en-MY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import </a:t>
                      </a:r>
                      <a:r>
                        <a:rPr lang="en-MY" sz="14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KMeans</a:t>
                      </a:r>
                      <a:r>
                        <a:rPr lang="en-MY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MY" sz="14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kmeans</a:t>
                      </a:r>
                      <a:r>
                        <a:rPr lang="en-MY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MY" sz="14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KMeans</a:t>
                      </a:r>
                      <a:r>
                        <a:rPr lang="en-MY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(</a:t>
                      </a:r>
                      <a:r>
                        <a:rPr lang="en-MY" sz="14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n_clusters</a:t>
                      </a:r>
                      <a:r>
                        <a:rPr lang="en-MY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=3).</a:t>
                      </a:r>
                      <a:r>
                        <a:rPr lang="en-MY" sz="14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fit_predict</a:t>
                      </a:r>
                      <a:r>
                        <a:rPr lang="en-MY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(</a:t>
                      </a:r>
                      <a:r>
                        <a:rPr lang="en-MY" sz="14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X_scaled</a:t>
                      </a:r>
                      <a:r>
                        <a:rPr lang="en-MY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endParaRPr lang="en-MY" sz="14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print(</a:t>
                      </a:r>
                      <a:r>
                        <a:rPr lang="en-MY" sz="14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kmeans.cluster_centers</a:t>
                      </a:r>
                      <a:r>
                        <a:rPr lang="en-MY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_) </a:t>
                      </a:r>
                      <a:r>
                        <a:rPr lang="en-MY" sz="1400" i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# Get the cluster centroids </a:t>
                      </a:r>
                      <a:endParaRPr lang="en-MY" sz="14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print(</a:t>
                      </a:r>
                      <a:r>
                        <a:rPr lang="en-MY" sz="14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kmeans.labels</a:t>
                      </a:r>
                      <a:r>
                        <a:rPr lang="en-MY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_) </a:t>
                      </a:r>
                      <a:r>
                        <a:rPr lang="en-MY" sz="1400" i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# Get the cluster labels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75581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AE69DBB-3346-4B42-8A12-CE0609897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06" y="1915844"/>
            <a:ext cx="6403992" cy="2001248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2C8AAE1-F83A-2C44-87F3-044E61437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703234"/>
              </p:ext>
            </p:extLst>
          </p:nvPr>
        </p:nvGraphicFramePr>
        <p:xfrm>
          <a:off x="157348" y="4460791"/>
          <a:ext cx="7034284" cy="1936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3637">
                  <a:extLst>
                    <a:ext uri="{9D8B030D-6E8A-4147-A177-3AD203B41FA5}">
                      <a16:colId xmlns:a16="http://schemas.microsoft.com/office/drawing/2014/main" val="2388354957"/>
                    </a:ext>
                  </a:extLst>
                </a:gridCol>
                <a:gridCol w="4500647">
                  <a:extLst>
                    <a:ext uri="{9D8B030D-6E8A-4147-A177-3AD203B41FA5}">
                      <a16:colId xmlns:a16="http://schemas.microsoft.com/office/drawing/2014/main" val="4060174270"/>
                    </a:ext>
                  </a:extLst>
                </a:gridCol>
              </a:tblGrid>
              <a:tr h="67429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n_clusters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400" b="0" dirty="0">
                          <a:solidFill>
                            <a:schemeClr val="tx1"/>
                          </a:solidFill>
                        </a:rPr>
                        <a:t>The number of clusters to form as well as the number of centroids to generate </a:t>
                      </a:r>
                      <a:r>
                        <a:rPr lang="en-MY" sz="1400" b="0" i="1" dirty="0">
                          <a:solidFill>
                            <a:schemeClr val="tx1"/>
                          </a:solidFill>
                        </a:rPr>
                        <a:t>(int, optional, default: 8)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713134"/>
                  </a:ext>
                </a:extLst>
              </a:tr>
              <a:tr h="606655">
                <a:tc>
                  <a:txBody>
                    <a:bodyPr/>
                    <a:lstStyle/>
                    <a:p>
                      <a:r>
                        <a:rPr lang="en-MY" sz="1400" b="1" dirty="0" err="1">
                          <a:solidFill>
                            <a:schemeClr val="tx1"/>
                          </a:solidFill>
                        </a:rPr>
                        <a:t>min_samples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/>
                      </a:pPr>
                      <a:r>
                        <a:rPr lang="en-MY" sz="1400" dirty="0"/>
                        <a:t>Method for initialization </a:t>
                      </a:r>
                      <a:r>
                        <a:rPr lang="en-MY" sz="1400" i="1" dirty="0"/>
                        <a:t>(‘k-means++’, ‘random’, default: ‘k-means++’)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933563"/>
                  </a:ext>
                </a:extLst>
              </a:tr>
              <a:tr h="655426">
                <a:tc>
                  <a:txBody>
                    <a:bodyPr/>
                    <a:lstStyle/>
                    <a:p>
                      <a:r>
                        <a:rPr lang="en-MY" sz="1400" b="1" dirty="0" err="1">
                          <a:effectLst/>
                        </a:rPr>
                        <a:t>max_iter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400" dirty="0">
                          <a:effectLst/>
                        </a:rPr>
                        <a:t>Maximum number of iterations of the k-means algorithm for a single run </a:t>
                      </a:r>
                      <a:r>
                        <a:rPr lang="en-MY" sz="1400" dirty="0"/>
                        <a:t> (</a:t>
                      </a:r>
                      <a:r>
                        <a:rPr lang="en-MY" sz="1400" i="1" dirty="0">
                          <a:effectLst/>
                        </a:rPr>
                        <a:t>int, default: 300)</a:t>
                      </a:r>
                      <a:endParaRPr lang="en-MY" sz="1400" dirty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699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2641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948E2E2-0269-1740-8DBF-73DB3711F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951263"/>
              </p:ext>
            </p:extLst>
          </p:nvPr>
        </p:nvGraphicFramePr>
        <p:xfrm>
          <a:off x="132734" y="185347"/>
          <a:ext cx="11877204" cy="63482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4146">
                  <a:extLst>
                    <a:ext uri="{9D8B030D-6E8A-4147-A177-3AD203B41FA5}">
                      <a16:colId xmlns:a16="http://schemas.microsoft.com/office/drawing/2014/main" val="3054397344"/>
                    </a:ext>
                  </a:extLst>
                </a:gridCol>
                <a:gridCol w="1677550">
                  <a:extLst>
                    <a:ext uri="{9D8B030D-6E8A-4147-A177-3AD203B41FA5}">
                      <a16:colId xmlns:a16="http://schemas.microsoft.com/office/drawing/2014/main" val="618493017"/>
                    </a:ext>
                  </a:extLst>
                </a:gridCol>
                <a:gridCol w="4815508">
                  <a:extLst>
                    <a:ext uri="{9D8B030D-6E8A-4147-A177-3AD203B41FA5}">
                      <a16:colId xmlns:a16="http://schemas.microsoft.com/office/drawing/2014/main" val="316105954"/>
                    </a:ext>
                  </a:extLst>
                </a:gridCol>
              </a:tblGrid>
              <a:tr h="618534"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Clustering (Cont’d)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1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78517610"/>
                  </a:ext>
                </a:extLst>
              </a:tr>
              <a:tr h="570916">
                <a:tc gridSpan="3"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DBSCAN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(Density-Based Spatial Clustering of Applications with Noise) 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8EFF">
                        <a:alpha val="12157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285182"/>
                  </a:ext>
                </a:extLst>
              </a:tr>
              <a:tr h="526999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MY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separate clusters of high density from clusters of low density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2157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760182"/>
                  </a:ext>
                </a:extLst>
              </a:tr>
              <a:tr h="2713249">
                <a:tc gridSpan="2"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Advantages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 at separating clusters of high density versus clusters of low density within a given dataset.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handle outliers within the dataset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Capable of removing noise points if they fall too far from significant clusters</a:t>
                      </a:r>
                    </a:p>
                    <a:p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Disadvantages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MY" sz="1600" b="0" u="none" dirty="0"/>
                        <a:t>✘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Does not work well when dealing with clusters of varying densities.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MY" sz="1600" b="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396454"/>
                  </a:ext>
                </a:extLst>
              </a:tr>
              <a:tr h="38142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How to Apply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Parameters in DBSCAN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24613"/>
                  </a:ext>
                </a:extLst>
              </a:tr>
              <a:tr h="1537081">
                <a:tc>
                  <a:txBody>
                    <a:bodyPr/>
                    <a:lstStyle/>
                    <a:p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from </a:t>
                      </a:r>
                      <a:r>
                        <a:rPr lang="en-MY" sz="16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sklearn.cluster</a:t>
                      </a: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import DBSCAN</a:t>
                      </a:r>
                    </a:p>
                    <a:p>
                      <a:b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en-MY" sz="16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dbscan</a:t>
                      </a: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= DBSCAN(eps=0.3, </a:t>
                      </a:r>
                      <a:r>
                        <a:rPr lang="en-MY" sz="16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min_samples</a:t>
                      </a: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= 2)</a:t>
                      </a:r>
                      <a:b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clusters = </a:t>
                      </a:r>
                      <a:r>
                        <a:rPr lang="en-MY" sz="16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dbscan.fit_predict</a:t>
                      </a: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</a:t>
                      </a:r>
                      <a:r>
                        <a:rPr lang="en-MY" sz="16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X_scaled</a:t>
                      </a: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  <a:endParaRPr lang="en-MY" sz="1600" i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600" i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265940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2F702638-6D91-2B45-A72D-3AF5A8D9A7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3" r="3121"/>
          <a:stretch/>
        </p:blipFill>
        <p:spPr>
          <a:xfrm>
            <a:off x="184774" y="1927746"/>
            <a:ext cx="2750127" cy="23125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BC200A-A17B-8042-884B-AAC1065F1B75}"/>
              </a:ext>
            </a:extLst>
          </p:cNvPr>
          <p:cNvSpPr txBox="1"/>
          <p:nvPr/>
        </p:nvSpPr>
        <p:spPr>
          <a:xfrm>
            <a:off x="2893921" y="2378608"/>
            <a:ext cx="4349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DBSCAN assign label to each point using criteria: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B23286-2F85-154A-98CC-B1266E9D9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020" y="2801109"/>
            <a:ext cx="4198266" cy="1315995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B5A3227-3856-3844-9270-00EA4401B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824940"/>
              </p:ext>
            </p:extLst>
          </p:nvPr>
        </p:nvGraphicFramePr>
        <p:xfrm>
          <a:off x="5527371" y="4995032"/>
          <a:ext cx="6477818" cy="1537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175">
                  <a:extLst>
                    <a:ext uri="{9D8B030D-6E8A-4147-A177-3AD203B41FA5}">
                      <a16:colId xmlns:a16="http://schemas.microsoft.com/office/drawing/2014/main" val="2388354957"/>
                    </a:ext>
                  </a:extLst>
                </a:gridCol>
                <a:gridCol w="5252643">
                  <a:extLst>
                    <a:ext uri="{9D8B030D-6E8A-4147-A177-3AD203B41FA5}">
                      <a16:colId xmlns:a16="http://schemas.microsoft.com/office/drawing/2014/main" val="4060174270"/>
                    </a:ext>
                  </a:extLst>
                </a:gridCol>
              </a:tblGrid>
              <a:tr h="960937">
                <a:tc>
                  <a:txBody>
                    <a:bodyPr/>
                    <a:lstStyle/>
                    <a:p>
                      <a:r>
                        <a:rPr lang="en-MY" sz="1200" b="1" dirty="0">
                          <a:solidFill>
                            <a:schemeClr val="tx1"/>
                          </a:solidFill>
                        </a:rPr>
                        <a:t>eps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0" dirty="0">
                          <a:solidFill>
                            <a:schemeClr val="tx1"/>
                          </a:solidFill>
                        </a:rPr>
                        <a:t>The maximum distance between two samples for one to be considered as in the </a:t>
                      </a:r>
                      <a:r>
                        <a:rPr lang="en-MY" sz="1200" b="0" dirty="0" err="1">
                          <a:solidFill>
                            <a:schemeClr val="tx1"/>
                          </a:solidFill>
                        </a:rPr>
                        <a:t>neighborhood</a:t>
                      </a:r>
                      <a:r>
                        <a:rPr lang="en-MY" sz="1200" b="0" dirty="0">
                          <a:solidFill>
                            <a:schemeClr val="tx1"/>
                          </a:solidFill>
                        </a:rPr>
                        <a:t> of the other.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0" dirty="0">
                          <a:solidFill>
                            <a:schemeClr val="tx1"/>
                          </a:solidFill>
                        </a:rPr>
                        <a:t>Setting eps implicitly controls how many clusters will be found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713134"/>
                  </a:ext>
                </a:extLst>
              </a:tr>
              <a:tr h="576368">
                <a:tc>
                  <a:txBody>
                    <a:bodyPr/>
                    <a:lstStyle/>
                    <a:p>
                      <a:r>
                        <a:rPr lang="en-MY" sz="1200" b="1" dirty="0" err="1">
                          <a:solidFill>
                            <a:schemeClr val="tx1"/>
                          </a:solidFill>
                        </a:rPr>
                        <a:t>min_samples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/>
                      </a:pPr>
                      <a:r>
                        <a:rPr lang="en-MY" sz="1200" dirty="0"/>
                        <a:t>The number of samples (or total weight) in a </a:t>
                      </a:r>
                      <a:r>
                        <a:rPr lang="en-MY" sz="1200" dirty="0" err="1"/>
                        <a:t>neighborhood</a:t>
                      </a:r>
                      <a:r>
                        <a:rPr lang="en-MY" sz="1200" dirty="0"/>
                        <a:t> for a point to be considered as a core point. This includes the point itself.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933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6813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948E2E2-0269-1740-8DBF-73DB3711F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218981"/>
              </p:ext>
            </p:extLst>
          </p:nvPr>
        </p:nvGraphicFramePr>
        <p:xfrm>
          <a:off x="132734" y="185347"/>
          <a:ext cx="11877204" cy="6286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9201">
                  <a:extLst>
                    <a:ext uri="{9D8B030D-6E8A-4147-A177-3AD203B41FA5}">
                      <a16:colId xmlns:a16="http://schemas.microsoft.com/office/drawing/2014/main" val="3054397344"/>
                    </a:ext>
                  </a:extLst>
                </a:gridCol>
                <a:gridCol w="1359243">
                  <a:extLst>
                    <a:ext uri="{9D8B030D-6E8A-4147-A177-3AD203B41FA5}">
                      <a16:colId xmlns:a16="http://schemas.microsoft.com/office/drawing/2014/main" val="2346228283"/>
                    </a:ext>
                  </a:extLst>
                </a:gridCol>
                <a:gridCol w="6288760">
                  <a:extLst>
                    <a:ext uri="{9D8B030D-6E8A-4147-A177-3AD203B41FA5}">
                      <a16:colId xmlns:a16="http://schemas.microsoft.com/office/drawing/2014/main" val="618493017"/>
                    </a:ext>
                  </a:extLst>
                </a:gridCol>
              </a:tblGrid>
              <a:tr h="618534"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Clustering (Cont’d)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1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517610"/>
                  </a:ext>
                </a:extLst>
              </a:tr>
              <a:tr h="370011">
                <a:tc gridSpan="3"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Agglomerative Clustering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8EFF">
                        <a:alpha val="12157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285182"/>
                  </a:ext>
                </a:extLst>
              </a:tr>
              <a:tr h="526999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MY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this technique, initially each data point is considered as an individual cluster. At each iteration, the similar clusters merge with other clusters until one cluster or K clusters are formed.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2157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760182"/>
                  </a:ext>
                </a:extLst>
              </a:tr>
              <a:tr h="2713249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Advantages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en-MY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Dendograms</a:t>
                      </a: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provide an interesting and informative way of visualization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resulting </a:t>
                      </a:r>
                      <a:r>
                        <a:rPr lang="en-MY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hierarchichal</a:t>
                      </a: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representations can be very informative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 not need to specify the number of clusters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600" b="1" u="sng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600" b="1" u="sng" dirty="0">
                          <a:solidFill>
                            <a:schemeClr val="tx1"/>
                          </a:solidFill>
                        </a:rPr>
                        <a:t>Disadvantages</a:t>
                      </a:r>
                    </a:p>
                    <a:p>
                      <a:r>
                        <a:rPr lang="en-MY" sz="1600" b="0" u="none" dirty="0"/>
                        <a:t>✘ </a:t>
                      </a: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They are very sensitive to outliers and, in their presence, the model performance decreases significantly.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 b="0" u="none" dirty="0"/>
                        <a:t>✘ </a:t>
                      </a: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They are very expensive, computationally speaking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396454"/>
                  </a:ext>
                </a:extLst>
              </a:tr>
              <a:tr h="381427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How to Apply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Parameters in Agglomerative Clustering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24613"/>
                  </a:ext>
                </a:extLst>
              </a:tr>
              <a:tr h="1537081">
                <a:tc gridSpan="2">
                  <a:txBody>
                    <a:bodyPr/>
                    <a:lstStyle/>
                    <a:p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from </a:t>
                      </a:r>
                      <a:r>
                        <a:rPr lang="en-MY" sz="16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sklearn.cluster</a:t>
                      </a: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import </a:t>
                      </a:r>
                      <a:r>
                        <a:rPr lang="en-MY" sz="16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AgglomerativeClustering</a:t>
                      </a:r>
                      <a:endParaRPr lang="en-MY" sz="1600" b="0" i="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# linkage: {“ward”, “complete”, “average”, “single”}</a:t>
                      </a:r>
                    </a:p>
                    <a:p>
                      <a:r>
                        <a:rPr lang="en-MY" sz="1600" i="1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agg</a:t>
                      </a:r>
                      <a:r>
                        <a:rPr lang="en-MY" sz="1600" i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MY" sz="1600" i="1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AgglomerativeClustering</a:t>
                      </a:r>
                      <a:r>
                        <a:rPr lang="en-MY" sz="1600" i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(</a:t>
                      </a:r>
                      <a:r>
                        <a:rPr lang="en-MY" sz="1600" i="1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n_clusters</a:t>
                      </a:r>
                      <a:r>
                        <a:rPr lang="en-MY" sz="1600" i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=2, linkage='complete')</a:t>
                      </a:r>
                    </a:p>
                    <a:p>
                      <a:r>
                        <a:rPr lang="en-MY" sz="1600" i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assignment = </a:t>
                      </a:r>
                      <a:r>
                        <a:rPr lang="en-MY" sz="1600" i="1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agg.fit_predict</a:t>
                      </a:r>
                      <a:r>
                        <a:rPr lang="en-MY" sz="1600" i="1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(X)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 sz="1600" i="1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600" i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265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B5A3227-3856-3844-9270-00EA4401B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426537"/>
              </p:ext>
            </p:extLst>
          </p:nvPr>
        </p:nvGraphicFramePr>
        <p:xfrm>
          <a:off x="5714182" y="4934652"/>
          <a:ext cx="6295756" cy="1537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741">
                  <a:extLst>
                    <a:ext uri="{9D8B030D-6E8A-4147-A177-3AD203B41FA5}">
                      <a16:colId xmlns:a16="http://schemas.microsoft.com/office/drawing/2014/main" val="2388354957"/>
                    </a:ext>
                  </a:extLst>
                </a:gridCol>
                <a:gridCol w="5105015">
                  <a:extLst>
                    <a:ext uri="{9D8B030D-6E8A-4147-A177-3AD203B41FA5}">
                      <a16:colId xmlns:a16="http://schemas.microsoft.com/office/drawing/2014/main" val="4060174270"/>
                    </a:ext>
                  </a:extLst>
                </a:gridCol>
              </a:tblGrid>
              <a:tr h="339030"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tx1"/>
                          </a:solidFill>
                        </a:rPr>
                        <a:t>n_clusters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0" dirty="0">
                          <a:solidFill>
                            <a:schemeClr val="tx1"/>
                          </a:solidFill>
                        </a:rPr>
                        <a:t>The number of clusters to find (default = 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713134"/>
                  </a:ext>
                </a:extLst>
              </a:tr>
              <a:tr h="663841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affinity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/>
                      </a:pPr>
                      <a:r>
                        <a:rPr lang="en-MY" sz="1200" dirty="0"/>
                        <a:t>Metric used to compute the linkage. </a:t>
                      </a:r>
                    </a:p>
                    <a:p>
                      <a:pPr lvl="0" defTabSz="914400">
                        <a:defRPr/>
                      </a:pPr>
                      <a:r>
                        <a:rPr lang="en-MY" sz="1200" dirty="0"/>
                        <a:t>{‘</a:t>
                      </a:r>
                      <a:r>
                        <a:rPr lang="en-MY" sz="1200" dirty="0" err="1"/>
                        <a:t>euclidean</a:t>
                      </a:r>
                      <a:r>
                        <a:rPr lang="en-MY" sz="1200" dirty="0"/>
                        <a:t>’, ‘l1’, ‘l2’, ‘</a:t>
                      </a:r>
                      <a:r>
                        <a:rPr lang="en-MY" sz="1200" dirty="0" err="1"/>
                        <a:t>manhattan</a:t>
                      </a:r>
                      <a:r>
                        <a:rPr lang="en-MY" sz="1200" dirty="0"/>
                        <a:t>’, ‘cosine’, or ‘precomputed’}</a:t>
                      </a:r>
                    </a:p>
                    <a:p>
                      <a:pPr lvl="0" defTabSz="914400">
                        <a:defRPr/>
                      </a:pPr>
                      <a:r>
                        <a:rPr lang="en-MY" sz="1200" dirty="0"/>
                        <a:t> (default = ‘Euclidean’)</a:t>
                      </a:r>
                      <a:endParaRPr lang="en-MY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933563"/>
                  </a:ext>
                </a:extLst>
              </a:tr>
              <a:tr h="534434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linkage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defRPr/>
                      </a:pPr>
                      <a:r>
                        <a:rPr lang="en-MY" sz="1200" dirty="0"/>
                        <a:t>Which linkage criterion to use, {"ward", "complete", "average", "single"}</a:t>
                      </a:r>
                    </a:p>
                    <a:p>
                      <a:pPr lvl="0" defTabSz="914400">
                        <a:defRPr/>
                      </a:pPr>
                      <a:r>
                        <a:rPr lang="en-MY" sz="1200" dirty="0"/>
                        <a:t>(default="ward")</a:t>
                      </a:r>
                      <a:endParaRPr lang="en-MY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53213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0B5F30B-0246-584D-8232-3ECB28D75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05" y="1900971"/>
            <a:ext cx="3599039" cy="262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359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595208-9EC2-2F4F-9B6F-41A53341F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337400"/>
              </p:ext>
            </p:extLst>
          </p:nvPr>
        </p:nvGraphicFramePr>
        <p:xfrm>
          <a:off x="132734" y="47815"/>
          <a:ext cx="11877204" cy="6635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2575">
                  <a:extLst>
                    <a:ext uri="{9D8B030D-6E8A-4147-A177-3AD203B41FA5}">
                      <a16:colId xmlns:a16="http://schemas.microsoft.com/office/drawing/2014/main" val="3054397344"/>
                    </a:ext>
                  </a:extLst>
                </a:gridCol>
                <a:gridCol w="4281055">
                  <a:extLst>
                    <a:ext uri="{9D8B030D-6E8A-4147-A177-3AD203B41FA5}">
                      <a16:colId xmlns:a16="http://schemas.microsoft.com/office/drawing/2014/main" val="35350675"/>
                    </a:ext>
                  </a:extLst>
                </a:gridCol>
                <a:gridCol w="4043574">
                  <a:extLst>
                    <a:ext uri="{9D8B030D-6E8A-4147-A177-3AD203B41FA5}">
                      <a16:colId xmlns:a16="http://schemas.microsoft.com/office/drawing/2014/main" val="348669743"/>
                    </a:ext>
                  </a:extLst>
                </a:gridCol>
              </a:tblGrid>
              <a:tr h="624164"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Principal Component Analysis (PCA)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517610"/>
                  </a:ext>
                </a:extLst>
              </a:tr>
              <a:tr h="394726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a </a:t>
                      </a:r>
                      <a:r>
                        <a:rPr lang="en-MY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dimension reduction </a:t>
                      </a: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technique, resulting in a lower-dimensional projection of the data that preserves the maximal data variance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8545254"/>
                  </a:ext>
                </a:extLst>
              </a:tr>
              <a:tr h="1010957">
                <a:tc rowSpan="3"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MY" sz="1800" b="1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PCA Applications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MY" sz="400" b="1" i="0" u="sng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MY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Visualizing high-dimensional data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MY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Noise filtering</a:t>
                      </a: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C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285182"/>
                  </a:ext>
                </a:extLst>
              </a:tr>
              <a:tr h="427277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How to Apply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238276"/>
                  </a:ext>
                </a:extLst>
              </a:tr>
              <a:tr h="18935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from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+mj-lt"/>
                        </a:rPr>
                        <a:t>sklearn.preprocessing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 import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+mj-lt"/>
                        </a:rPr>
                        <a:t>StandardScaler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4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from </a:t>
                      </a:r>
                      <a:r>
                        <a:rPr lang="en-MY" sz="14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sklearn.decomposition</a:t>
                      </a:r>
                      <a:r>
                        <a:rPr lang="en-MY" sz="14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import PCA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MY" sz="400" b="0" dirty="0">
                          <a:latin typeface="+mj-lt"/>
                        </a:rPr>
                      </a:b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scaler = </a:t>
                      </a: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StandardScaler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()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+mj-lt"/>
                        </a:rPr>
                        <a:t>X_train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 =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+mj-lt"/>
                        </a:rPr>
                        <a:t>sc.fit_transform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+mj-lt"/>
                        </a:rPr>
                        <a:t>X_train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+mj-lt"/>
                        </a:rPr>
                        <a:t>X_test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 =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+mj-lt"/>
                        </a:rPr>
                        <a:t>sc.transform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+mj-lt"/>
                        </a:rPr>
                        <a:t>X_test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j-lt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4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pca</a:t>
                      </a:r>
                      <a:r>
                        <a:rPr lang="en-MY" sz="14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= PCA(</a:t>
                      </a:r>
                      <a:r>
                        <a:rPr lang="en-MY" sz="14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n_components</a:t>
                      </a:r>
                      <a:r>
                        <a:rPr lang="en-MY" sz="14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=2)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4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X_train</a:t>
                      </a:r>
                      <a:r>
                        <a:rPr lang="en-MY" sz="14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MY" sz="14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pca.fit_transform</a:t>
                      </a:r>
                      <a:r>
                        <a:rPr lang="en-MY" sz="14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</a:t>
                      </a:r>
                      <a:r>
                        <a:rPr lang="en-MY" sz="14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X_train</a:t>
                      </a:r>
                      <a:r>
                        <a:rPr lang="en-MY" sz="14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4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X_test</a:t>
                      </a:r>
                      <a:r>
                        <a:rPr lang="en-MY" sz="14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MY" sz="14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pca.transform</a:t>
                      </a:r>
                      <a:r>
                        <a:rPr lang="en-MY" sz="14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</a:t>
                      </a:r>
                      <a:r>
                        <a:rPr lang="en-MY" sz="1400" b="0" i="0" kern="1200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X_test</a:t>
                      </a:r>
                      <a:r>
                        <a:rPr lang="en-MY" sz="14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817237"/>
                  </a:ext>
                </a:extLst>
              </a:tr>
              <a:tr h="2227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dirty="0">
                          <a:solidFill>
                            <a:schemeClr val="tx1"/>
                          </a:solidFill>
                        </a:rPr>
                        <a:t>How to </a:t>
                      </a:r>
                      <a:r>
                        <a:rPr lang="en-MY" sz="1600" b="1" i="0" u="non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 the optimal number of principal components</a:t>
                      </a:r>
                      <a:endParaRPr lang="en-US" sz="1600" b="1" i="0" u="none" dirty="0">
                        <a:solidFill>
                          <a:schemeClr val="tx1"/>
                        </a:solidFill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optimal number of principal components is determined by looking at the cumulative explained variance ratio as a function of the number of components</a:t>
                      </a:r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i="0" u="non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578298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AAE37A17-3403-0748-909F-FDF9DD380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04" y="1380757"/>
            <a:ext cx="3368755" cy="286976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0335270B-152A-7248-885F-FF8C4E69074D}"/>
              </a:ext>
            </a:extLst>
          </p:cNvPr>
          <p:cNvGrpSpPr/>
          <p:nvPr/>
        </p:nvGrpSpPr>
        <p:grpSpPr>
          <a:xfrm>
            <a:off x="6497783" y="3200394"/>
            <a:ext cx="1963881" cy="1169082"/>
            <a:chOff x="6497783" y="3352798"/>
            <a:chExt cx="1963881" cy="1286345"/>
          </a:xfrm>
        </p:grpSpPr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BED74680-928F-FB4D-BDB3-2254E3D6C188}"/>
                </a:ext>
              </a:extLst>
            </p:cNvPr>
            <p:cNvSpPr/>
            <p:nvPr/>
          </p:nvSpPr>
          <p:spPr>
            <a:xfrm>
              <a:off x="6497783" y="3352798"/>
              <a:ext cx="138544" cy="533401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CC564F9D-FEB2-9D40-A2D1-D54EA093DDE2}"/>
                </a:ext>
              </a:extLst>
            </p:cNvPr>
            <p:cNvSpPr/>
            <p:nvPr/>
          </p:nvSpPr>
          <p:spPr>
            <a:xfrm>
              <a:off x="6497784" y="4105742"/>
              <a:ext cx="138543" cy="533401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9984AC2-387A-5840-8507-94E7EE730ADF}"/>
                </a:ext>
              </a:extLst>
            </p:cNvPr>
            <p:cNvSpPr/>
            <p:nvPr/>
          </p:nvSpPr>
          <p:spPr>
            <a:xfrm>
              <a:off x="6781793" y="3429000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3182B42-F066-D647-B170-1E3D3BF23360}"/>
                </a:ext>
              </a:extLst>
            </p:cNvPr>
            <p:cNvSpPr/>
            <p:nvPr/>
          </p:nvSpPr>
          <p:spPr>
            <a:xfrm>
              <a:off x="6809503" y="4242297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7111B1E-83FD-D841-A825-88D3A205C5A1}"/>
                </a:ext>
              </a:extLst>
            </p:cNvPr>
            <p:cNvSpPr txBox="1"/>
            <p:nvPr/>
          </p:nvSpPr>
          <p:spPr>
            <a:xfrm>
              <a:off x="7111358" y="3387435"/>
              <a:ext cx="13503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Scale the data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43B7F09-1622-FE4E-ACE5-7792E4B71573}"/>
                </a:ext>
              </a:extLst>
            </p:cNvPr>
            <p:cNvSpPr txBox="1"/>
            <p:nvPr/>
          </p:nvSpPr>
          <p:spPr>
            <a:xfrm>
              <a:off x="7111358" y="4191743"/>
              <a:ext cx="10374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Apply PCA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C57BB4D1-789C-DF46-A59D-406D8CA58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6674" y="4517745"/>
            <a:ext cx="3148613" cy="214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133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595208-9EC2-2F4F-9B6F-41A53341F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3280"/>
              </p:ext>
            </p:extLst>
          </p:nvPr>
        </p:nvGraphicFramePr>
        <p:xfrm>
          <a:off x="132734" y="122764"/>
          <a:ext cx="11877204" cy="6444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3273">
                  <a:extLst>
                    <a:ext uri="{9D8B030D-6E8A-4147-A177-3AD203B41FA5}">
                      <a16:colId xmlns:a16="http://schemas.microsoft.com/office/drawing/2014/main" val="3054397344"/>
                    </a:ext>
                  </a:extLst>
                </a:gridCol>
                <a:gridCol w="5923931">
                  <a:extLst>
                    <a:ext uri="{9D8B030D-6E8A-4147-A177-3AD203B41FA5}">
                      <a16:colId xmlns:a16="http://schemas.microsoft.com/office/drawing/2014/main" val="35350675"/>
                    </a:ext>
                  </a:extLst>
                </a:gridCol>
              </a:tblGrid>
              <a:tr h="590999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Evaluation of Clustering (True Label is known)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D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517610"/>
                  </a:ext>
                </a:extLst>
              </a:tr>
              <a:tr h="3909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MY" b="1" dirty="0"/>
                        <a:t>Adjusted Rand Index (ARI)</a:t>
                      </a:r>
                      <a:endParaRPr lang="en-MY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MY" b="1" dirty="0"/>
                        <a:t>V-measure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285182"/>
                  </a:ext>
                </a:extLst>
              </a:tr>
              <a:tr h="4334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 dirty="0"/>
                        <a:t>Measures the similarity between </a:t>
                      </a:r>
                      <a:r>
                        <a:rPr lang="en-MY" sz="1600" dirty="0" err="1"/>
                        <a:t>y_true</a:t>
                      </a:r>
                      <a:r>
                        <a:rPr lang="en-MY" sz="1600" dirty="0"/>
                        <a:t> and </a:t>
                      </a:r>
                      <a:r>
                        <a:rPr lang="en-MY" sz="1600" dirty="0" err="1"/>
                        <a:t>y_pred</a:t>
                      </a:r>
                      <a:endParaRPr lang="en-MY" sz="16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 dirty="0"/>
                        <a:t>Measures the harmonic mean of homogeneity and completeness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578298"/>
                  </a:ext>
                </a:extLst>
              </a:tr>
              <a:tr h="3245060">
                <a:tc>
                  <a:txBody>
                    <a:bodyPr/>
                    <a:lstStyle/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MY" sz="1600" dirty="0"/>
                        <a:t>The ARI can get values ranging from -1 to 1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MY" sz="1600" dirty="0"/>
                        <a:t>The higher the value, the better it matches the original data</a:t>
                      </a:r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447390"/>
                  </a:ext>
                </a:extLst>
              </a:tr>
              <a:tr h="358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How to Apply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How to Apply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773667"/>
                  </a:ext>
                </a:extLst>
              </a:tr>
              <a:tr h="9595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from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sklearn.cluster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 import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KMeans</a:t>
                      </a:r>
                      <a:endParaRPr kumimoji="0" lang="en-MY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 Light" panose="020F030202020403020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from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sklearn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 import metrics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digit_km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 =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KMeans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n_clusters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=10,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random_state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=0)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clusters =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digit_km.fit_predict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digits.data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metrics.adjusted_rand_score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digits.target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, clusters) 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from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sklearn.cluster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 import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KMeans</a:t>
                      </a:r>
                      <a:endParaRPr kumimoji="0" lang="en-MY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 Light" panose="020F030202020403020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from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sklearn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 import metrics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digit_km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 =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KMeans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n_clusters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=10,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random_state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=0)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clusters =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digit_km.fit_predict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digits.data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metrics.v_measure_score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digits.target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, clusters)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866194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ABA497A0-B8C9-1745-B36D-D429EBAA6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023" y="1664926"/>
            <a:ext cx="1930400" cy="889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1EA7394-2436-A745-A852-D1701BF12B9F}"/>
              </a:ext>
            </a:extLst>
          </p:cNvPr>
          <p:cNvSpPr/>
          <p:nvPr/>
        </p:nvSpPr>
        <p:spPr>
          <a:xfrm>
            <a:off x="182062" y="2634111"/>
            <a:ext cx="597389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400" b="1" dirty="0">
                <a:latin typeface="medium-content-serif-font"/>
              </a:rPr>
              <a:t>a</a:t>
            </a:r>
            <a:r>
              <a:rPr lang="en-MY" sz="1400" dirty="0">
                <a:latin typeface="medium-content-serif-font"/>
              </a:rPr>
              <a:t>: is the number of points that are in the same cluster both in C and in 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400" b="1" dirty="0">
                <a:latin typeface="medium-content-serif-font"/>
              </a:rPr>
              <a:t>b</a:t>
            </a:r>
            <a:r>
              <a:rPr lang="en-MY" sz="1400" dirty="0">
                <a:latin typeface="medium-content-serif-font"/>
              </a:rPr>
              <a:t>: is the number of points that are in the different cluster both in C and in 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400" b="1" dirty="0">
                <a:latin typeface="medium-content-serif-font"/>
              </a:rPr>
              <a:t>n</a:t>
            </a:r>
            <a:r>
              <a:rPr lang="en-MY" sz="1400" dirty="0">
                <a:latin typeface="medium-content-serif-font"/>
              </a:rPr>
              <a:t>: is the total number of samples</a:t>
            </a:r>
            <a:endParaRPr lang="en-MY" sz="1400" b="0" i="0" dirty="0">
              <a:effectLst/>
              <a:latin typeface="medium-content-serif-font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E89B2C3-6D69-AB45-B9D6-AE12773EA57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730"/>
          <a:stretch/>
        </p:blipFill>
        <p:spPr>
          <a:xfrm>
            <a:off x="1861541" y="3463715"/>
            <a:ext cx="2231364" cy="94693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6B874FA-3137-F640-A3A1-6F7D5FDCE8B4}"/>
              </a:ext>
            </a:extLst>
          </p:cNvPr>
          <p:cNvSpPr/>
          <p:nvPr/>
        </p:nvSpPr>
        <p:spPr>
          <a:xfrm>
            <a:off x="6205288" y="1712166"/>
            <a:ext cx="511164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400" b="1" i="0" dirty="0">
                <a:effectLst/>
                <a:latin typeface="medium-content-serif-font"/>
              </a:rPr>
              <a:t>Homogeneity</a:t>
            </a:r>
            <a:r>
              <a:rPr lang="en-MY" sz="1400" b="0" i="0" dirty="0">
                <a:effectLst/>
                <a:latin typeface="medium-content-serif-font"/>
              </a:rPr>
              <a:t>: </a:t>
            </a:r>
            <a:r>
              <a:rPr lang="en-MY" sz="1400" dirty="0">
                <a:latin typeface="medium-content-serif-font"/>
              </a:rPr>
              <a:t>is a measure of the ratio of samples of a single class pertaining to a single cluster</a:t>
            </a:r>
          </a:p>
          <a:p>
            <a:endParaRPr lang="en-MY" sz="1400" dirty="0">
              <a:latin typeface="medium-content-serif-fon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400" b="1" i="0" dirty="0">
                <a:effectLst/>
                <a:latin typeface="medium-content-serif-font"/>
              </a:rPr>
              <a:t>Completeness</a:t>
            </a:r>
            <a:r>
              <a:rPr lang="en-MY" sz="1400" dirty="0">
                <a:latin typeface="medium-content-serif-font"/>
              </a:rPr>
              <a:t>: measures the ratio of the member of a given class that is assigned to the same cluster</a:t>
            </a:r>
            <a:endParaRPr lang="en-MY" sz="1400" b="0" i="0" dirty="0">
              <a:effectLst/>
              <a:latin typeface="medium-content-serif-font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7274E87-366E-9044-AE6B-245CD44B2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2143" y="3065640"/>
            <a:ext cx="1993900" cy="558800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88181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595208-9EC2-2F4F-9B6F-41A53341F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849998"/>
              </p:ext>
            </p:extLst>
          </p:nvPr>
        </p:nvGraphicFramePr>
        <p:xfrm>
          <a:off x="30481" y="46564"/>
          <a:ext cx="12117658" cy="6654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3797">
                  <a:extLst>
                    <a:ext uri="{9D8B030D-6E8A-4147-A177-3AD203B41FA5}">
                      <a16:colId xmlns:a16="http://schemas.microsoft.com/office/drawing/2014/main" val="3054397344"/>
                    </a:ext>
                  </a:extLst>
                </a:gridCol>
                <a:gridCol w="6043861">
                  <a:extLst>
                    <a:ext uri="{9D8B030D-6E8A-4147-A177-3AD203B41FA5}">
                      <a16:colId xmlns:a16="http://schemas.microsoft.com/office/drawing/2014/main" val="35350675"/>
                    </a:ext>
                  </a:extLst>
                </a:gridCol>
              </a:tblGrid>
              <a:tr h="590999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Evaluation of Clustering (True Label is unknown)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350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517610"/>
                  </a:ext>
                </a:extLst>
              </a:tr>
              <a:tr h="4554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MY" b="1" dirty="0"/>
                        <a:t>Silhouette Coefficient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MY" b="1" dirty="0"/>
                        <a:t>Davies-Bouldin 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285182"/>
                  </a:ext>
                </a:extLst>
              </a:tr>
              <a:tr h="4334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 dirty="0"/>
                        <a:t>This measure of evaluates how similar an object is to its own cluster (cohesion) compared to other clusters (separation)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 dirty="0"/>
                        <a:t>Measures the average similarity between each cluster 𝐶</a:t>
                      </a:r>
                      <a:r>
                        <a:rPr lang="en-MY" sz="1600" baseline="-25000" dirty="0"/>
                        <a:t>𝑖</a:t>
                      </a:r>
                      <a:r>
                        <a:rPr lang="en-MY" sz="1600" dirty="0"/>
                        <a:t>  for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 dirty="0"/>
                        <a:t> 𝑖 = 1,2,…,k and its most similar one 𝐶</a:t>
                      </a:r>
                      <a:r>
                        <a:rPr lang="en-MY" sz="1600" baseline="-25000" dirty="0"/>
                        <a:t>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578298"/>
                  </a:ext>
                </a:extLst>
              </a:tr>
              <a:tr h="3245060">
                <a:tc>
                  <a:txBody>
                    <a:bodyPr/>
                    <a:lstStyle/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MY" sz="1600" dirty="0"/>
                        <a:t>The score is bounded between -1 and +1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MY" sz="1600" dirty="0"/>
                        <a:t>The higher the value, the better the K (clusters) selected is</a:t>
                      </a:r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stem Font Regular"/>
                        <a:buChar char="⁃"/>
                        <a:tabLst/>
                        <a:defRPr/>
                      </a:pPr>
                      <a:endParaRPr lang="en-MY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stem Font Regular"/>
                        <a:buChar char="⁃"/>
                        <a:tabLst/>
                        <a:defRPr/>
                      </a:pPr>
                      <a:endParaRPr lang="en-MY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stem Font Regular"/>
                        <a:buChar char="⁃"/>
                        <a:tabLst/>
                        <a:defRPr/>
                      </a:pPr>
                      <a:endParaRPr lang="en-MY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stem Font Regular"/>
                        <a:buChar char="⁃"/>
                        <a:tabLst/>
                        <a:defRPr/>
                      </a:pPr>
                      <a:endParaRPr lang="en-MY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stem Font Regular"/>
                        <a:buChar char="⁃"/>
                        <a:tabLst/>
                        <a:defRPr/>
                      </a:pPr>
                      <a:endParaRPr lang="en-MY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stem Font Regular"/>
                        <a:buChar char="⁃"/>
                        <a:tabLst/>
                        <a:defRPr/>
                      </a:pPr>
                      <a:endParaRPr lang="en-MY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stem Font Regular"/>
                        <a:buChar char="⁃"/>
                        <a:tabLst/>
                        <a:defRPr/>
                      </a:pPr>
                      <a:endParaRPr lang="en-MY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stem Font Regular"/>
                        <a:buChar char="⁃"/>
                        <a:tabLst/>
                        <a:defRPr/>
                      </a:pPr>
                      <a:endParaRPr lang="en-MY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stem Font Regular"/>
                        <a:buChar char="⁃"/>
                        <a:tabLst/>
                        <a:defRPr/>
                      </a:pPr>
                      <a:endParaRPr lang="en-MY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stem Font Regular"/>
                        <a:buChar char="⁃"/>
                        <a:tabLst/>
                        <a:defRPr/>
                      </a:pPr>
                      <a:endParaRPr lang="en-MY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stem Font Regular"/>
                        <a:buChar char="⁃"/>
                        <a:tabLst/>
                        <a:defRPr/>
                      </a:pPr>
                      <a:endParaRPr lang="en-MY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stem Font Regular"/>
                        <a:buChar char="⁃"/>
                        <a:tabLst/>
                        <a:defRPr/>
                      </a:pPr>
                      <a:endParaRPr lang="en-MY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stem Font Regular"/>
                        <a:buChar char="⁃"/>
                        <a:tabLst/>
                        <a:defRPr/>
                      </a:pPr>
                      <a:r>
                        <a:rPr lang="en-MY" sz="1600" b="0" dirty="0"/>
                        <a:t>For good clustering, the value is close to 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600" b="0" i="0" u="non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447390"/>
                  </a:ext>
                </a:extLst>
              </a:tr>
              <a:tr h="358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How to Apply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How to Apply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773667"/>
                  </a:ext>
                </a:extLst>
              </a:tr>
              <a:tr h="9595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from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sklearn.cluster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 import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KMeans</a:t>
                      </a:r>
                      <a:endParaRPr kumimoji="0" lang="en-MY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 Light" panose="020F030202020403020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from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sklearn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 import metrics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digit_km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 =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KMeans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n_clusters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=10,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random_state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=0)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clusters =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digit_km.fit_predict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digits.data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metrics.silhouette_score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digits.data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, clusters, metric='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euclidean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')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from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sklearn.cluster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 import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KMeans</a:t>
                      </a:r>
                      <a:endParaRPr kumimoji="0" lang="en-MY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 Light" panose="020F030202020403020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from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sklearn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 import metrics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digit_km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 =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KMeans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n_clusters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=10,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random_state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=0)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clusters = 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digit_km.fit_predict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digits.data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metrics.davies_bouldin_score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MY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digits.data</a:t>
                      </a:r>
                      <a:r>
                        <a:rPr kumimoji="0" lang="en-MY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, clusters)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8661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E383A1-9918-F04F-BF54-A6020EDE1112}"/>
                  </a:ext>
                </a:extLst>
              </p:cNvPr>
              <p:cNvSpPr txBox="1"/>
              <p:nvPr/>
            </p:nvSpPr>
            <p:spPr>
              <a:xfrm>
                <a:off x="991703" y="1878286"/>
                <a:ext cx="4032000" cy="756000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𝑆𝑖𝑙h𝑜𝑢𝑒𝑡𝑡𝑒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𝐶𝑜𝑒𝑓𝑓𝑖𝑐𝑖𝑒𝑛𝑡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FE383A1-9918-F04F-BF54-A6020EDE1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03" y="1878286"/>
                <a:ext cx="4032000" cy="75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0164FBF1-E500-DD4B-842F-4F91397D3BD4}"/>
              </a:ext>
            </a:extLst>
          </p:cNvPr>
          <p:cNvSpPr/>
          <p:nvPr/>
        </p:nvSpPr>
        <p:spPr>
          <a:xfrm>
            <a:off x="134910" y="2877451"/>
            <a:ext cx="59438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400" b="1" dirty="0">
                <a:latin typeface="medium-content-serif-font"/>
              </a:rPr>
              <a:t>a</a:t>
            </a:r>
            <a:r>
              <a:rPr lang="en-MY" sz="1400" dirty="0">
                <a:latin typeface="medium-content-serif-font"/>
              </a:rPr>
              <a:t>: </a:t>
            </a:r>
            <a:r>
              <a:rPr lang="en-MY" sz="1400" dirty="0"/>
              <a:t>The mean distance between a sample and all other points in its cluster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400" b="1" dirty="0">
                <a:latin typeface="medium-content-serif-font"/>
              </a:rPr>
              <a:t>b</a:t>
            </a:r>
            <a:r>
              <a:rPr lang="en-MY" sz="1400" dirty="0">
                <a:latin typeface="medium-content-serif-font"/>
              </a:rPr>
              <a:t>: </a:t>
            </a:r>
            <a:r>
              <a:rPr lang="en-MY" sz="1400" dirty="0"/>
              <a:t>The mean distance between a sample and all other points in the next nearest cluster</a:t>
            </a:r>
            <a:endParaRPr lang="en-MY" sz="1400" dirty="0">
              <a:latin typeface="medium-content-serif-fon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856E094-EDF8-AC4A-B101-5C6A2485BF61}"/>
              </a:ext>
            </a:extLst>
          </p:cNvPr>
          <p:cNvGrpSpPr/>
          <p:nvPr/>
        </p:nvGrpSpPr>
        <p:grpSpPr>
          <a:xfrm>
            <a:off x="6999455" y="1878286"/>
            <a:ext cx="3924300" cy="1474514"/>
            <a:chOff x="6999455" y="1908266"/>
            <a:chExt cx="3924300" cy="14745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22CE09B-5682-F74C-BBD3-CC833C137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93255" y="1908266"/>
              <a:ext cx="1536700" cy="7112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6FB54C-4346-0F48-B202-DD3F4A8A6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99455" y="2823980"/>
              <a:ext cx="3924300" cy="5588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1E459B7E-A699-B949-9648-D81EB5348558}"/>
              </a:ext>
            </a:extLst>
          </p:cNvPr>
          <p:cNvSpPr/>
          <p:nvPr/>
        </p:nvSpPr>
        <p:spPr>
          <a:xfrm>
            <a:off x="6183148" y="3539915"/>
            <a:ext cx="587394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400" b="1" dirty="0"/>
              <a:t>𝑠</a:t>
            </a:r>
            <a:r>
              <a:rPr lang="en-MY" sz="1400" b="1" baseline="-25000" dirty="0"/>
              <a:t>𝑖</a:t>
            </a:r>
            <a:r>
              <a:rPr lang="en-MY" sz="1400" baseline="-25000" dirty="0"/>
              <a:t> </a:t>
            </a:r>
            <a:r>
              <a:rPr lang="en-MY" sz="1400" dirty="0"/>
              <a:t>: the average distance between each point of cluster </a:t>
            </a:r>
            <a:r>
              <a:rPr lang="en-MY" sz="1400" dirty="0" err="1"/>
              <a:t>i</a:t>
            </a:r>
            <a:r>
              <a:rPr lang="en-MY" sz="1400" dirty="0"/>
              <a:t> and the centroid of that cluster – also known as cluster diameter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MY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400" b="1" dirty="0"/>
              <a:t>𝑑</a:t>
            </a:r>
            <a:r>
              <a:rPr lang="en-MY" sz="1400" b="1" baseline="-25000" dirty="0"/>
              <a:t>𝑖𝑗</a:t>
            </a:r>
            <a:r>
              <a:rPr lang="en-MY" sz="1400" baseline="-25000" dirty="0"/>
              <a:t> </a:t>
            </a:r>
            <a:r>
              <a:rPr lang="en-MY" sz="1400" dirty="0"/>
              <a:t>: the distance between cluster centroids 𝐶</a:t>
            </a:r>
            <a:r>
              <a:rPr lang="en-MY" sz="1400" baseline="-25000" dirty="0"/>
              <a:t>𝑖</a:t>
            </a:r>
            <a:r>
              <a:rPr lang="en-MY" sz="1400" dirty="0"/>
              <a:t> and 𝐶</a:t>
            </a:r>
            <a:r>
              <a:rPr lang="en-MY" sz="1400" baseline="-25000" dirty="0"/>
              <a:t>𝑗</a:t>
            </a:r>
          </a:p>
        </p:txBody>
      </p:sp>
    </p:spTree>
    <p:extLst>
      <p:ext uri="{BB962C8B-B14F-4D97-AF65-F5344CB8AC3E}">
        <p14:creationId xmlns:p14="http://schemas.microsoft.com/office/powerpoint/2010/main" val="1196149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68CFA1518443BE16D0FD628441E3" ma:contentTypeVersion="13" ma:contentTypeDescription="Create a new document." ma:contentTypeScope="" ma:versionID="c33ebad330d308baed443c138939a924">
  <xsd:schema xmlns:xsd="http://www.w3.org/2001/XMLSchema" xmlns:xs="http://www.w3.org/2001/XMLSchema" xmlns:p="http://schemas.microsoft.com/office/2006/metadata/properties" xmlns:ns1="http://schemas.microsoft.com/sharepoint/v3" xmlns:ns2="b9aa1da2-e6ea-40ce-b435-c038772223b2" xmlns:ns3="016a01f8-8005-4a43-8983-039792797ec5" targetNamespace="http://schemas.microsoft.com/office/2006/metadata/properties" ma:root="true" ma:fieldsID="fa15bec35a5423471a42d24c486e8b6a" ns1:_="" ns2:_="" ns3:_="">
    <xsd:import namespace="http://schemas.microsoft.com/sharepoint/v3"/>
    <xsd:import namespace="b9aa1da2-e6ea-40ce-b435-c038772223b2"/>
    <xsd:import namespace="016a01f8-8005-4a43-8983-039792797e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a1da2-e6ea-40ce-b435-c038772223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6a01f8-8005-4a43-8983-039792797ec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1CD0E8-44DF-4B09-B2EE-6BA24992C1D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0655D05B-22C5-4915-863F-BD43ADC1F7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9B8CAF-A6F9-445A-B7AB-185E846925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9aa1da2-e6ea-40ce-b435-c038772223b2"/>
    <ds:schemaRef ds:uri="016a01f8-8005-4a43-8983-039792797e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9188</TotalTime>
  <Words>1323</Words>
  <Application>Microsoft Office PowerPoint</Application>
  <PresentationFormat>Grand écran</PresentationFormat>
  <Paragraphs>188</Paragraphs>
  <Slides>6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medium-content-serif-font</vt:lpstr>
      <vt:lpstr>System Font Regular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Support TheCADS</dc:creator>
  <cp:lastModifiedBy>Mamadou BALDE</cp:lastModifiedBy>
  <cp:revision>50</cp:revision>
  <dcterms:created xsi:type="dcterms:W3CDTF">2019-09-12T15:53:26Z</dcterms:created>
  <dcterms:modified xsi:type="dcterms:W3CDTF">2025-10-08T18:32:40Z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0x010100CD4068CFA1518443BE16D0FD628441E3</vt:lpwstr>
  </property>
</Properties>
</file>